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7" r:id="rId4"/>
    <p:sldMasterId id="2147484114" r:id="rId5"/>
  </p:sldMasterIdLst>
  <p:notesMasterIdLst>
    <p:notesMasterId r:id="rId55"/>
  </p:notesMasterIdLst>
  <p:sldIdLst>
    <p:sldId id="257" r:id="rId6"/>
    <p:sldId id="269" r:id="rId7"/>
    <p:sldId id="258" r:id="rId8"/>
    <p:sldId id="259" r:id="rId9"/>
    <p:sldId id="260" r:id="rId10"/>
    <p:sldId id="261" r:id="rId11"/>
    <p:sldId id="270" r:id="rId12"/>
    <p:sldId id="272" r:id="rId13"/>
    <p:sldId id="290" r:id="rId14"/>
    <p:sldId id="273" r:id="rId15"/>
    <p:sldId id="291" r:id="rId16"/>
    <p:sldId id="274" r:id="rId17"/>
    <p:sldId id="275" r:id="rId18"/>
    <p:sldId id="292" r:id="rId19"/>
    <p:sldId id="276" r:id="rId20"/>
    <p:sldId id="277" r:id="rId21"/>
    <p:sldId id="293" r:id="rId22"/>
    <p:sldId id="278" r:id="rId23"/>
    <p:sldId id="279" r:id="rId24"/>
    <p:sldId id="294" r:id="rId25"/>
    <p:sldId id="280" r:id="rId26"/>
    <p:sldId id="295" r:id="rId27"/>
    <p:sldId id="281" r:id="rId28"/>
    <p:sldId id="282" r:id="rId29"/>
    <p:sldId id="296" r:id="rId30"/>
    <p:sldId id="283" r:id="rId31"/>
    <p:sldId id="297" r:id="rId32"/>
    <p:sldId id="284" r:id="rId33"/>
    <p:sldId id="299" r:id="rId34"/>
    <p:sldId id="285" r:id="rId35"/>
    <p:sldId id="300" r:id="rId36"/>
    <p:sldId id="286" r:id="rId37"/>
    <p:sldId id="301" r:id="rId38"/>
    <p:sldId id="287" r:id="rId39"/>
    <p:sldId id="302" r:id="rId40"/>
    <p:sldId id="303" r:id="rId41"/>
    <p:sldId id="288" r:id="rId42"/>
    <p:sldId id="305" r:id="rId43"/>
    <p:sldId id="306" r:id="rId44"/>
    <p:sldId id="307" r:id="rId45"/>
    <p:sldId id="289" r:id="rId46"/>
    <p:sldId id="298" r:id="rId47"/>
    <p:sldId id="271" r:id="rId48"/>
    <p:sldId id="262" r:id="rId49"/>
    <p:sldId id="265" r:id="rId50"/>
    <p:sldId id="266" r:id="rId51"/>
    <p:sldId id="267" r:id="rId52"/>
    <p:sldId id="268" r:id="rId53"/>
    <p:sldId id="264" r:id="rId54"/>
  </p:sldIdLst>
  <p:sldSz cx="12192000" cy="6858000"/>
  <p:notesSz cx="6805613" cy="9944100"/>
  <p:defaultTex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196">
          <p15:clr>
            <a:srgbClr val="A4A3A4"/>
          </p15:clr>
        </p15:guide>
        <p15:guide id="2" orient="horz" pos="3127">
          <p15:clr>
            <a:srgbClr val="A4A3A4"/>
          </p15:clr>
        </p15:guide>
        <p15:guide id="3" pos="197">
          <p15:clr>
            <a:srgbClr val="A4A3A4"/>
          </p15:clr>
        </p15:guide>
        <p15:guide id="4" pos="2144">
          <p15:clr>
            <a:srgbClr val="A4A3A4"/>
          </p15:clr>
        </p15:guide>
        <p15:guide id="5" pos="409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e van Daal" initials="TvD" lastIdx="2" clrIdx="0">
    <p:extLst>
      <p:ext uri="{19B8F6BF-5375-455C-9EA6-DF929625EA0E}">
        <p15:presenceInfo xmlns:p15="http://schemas.microsoft.com/office/powerpoint/2012/main" userId="S::tvdaal@ad.ua.ac.be::ecf543c1-d1bd-4274-b68c-558406766bb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83FF"/>
    <a:srgbClr val="002E65"/>
    <a:srgbClr val="1C00FF"/>
    <a:srgbClr val="2D71B2"/>
    <a:srgbClr val="000000"/>
    <a:srgbClr val="E10C07"/>
    <a:srgbClr val="CE2F21"/>
    <a:srgbClr val="084594"/>
    <a:srgbClr val="9ECAE1"/>
    <a:srgbClr val="D6D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45A56D-5F8C-5246-BFF4-4022CC4EAA23}" v="12" dt="2025-05-21T06:34:18.296"/>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Stijl, thema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8B1032C-EA38-4F05-BA0D-38AFFFC7BED3}" styleName="Stijl, licht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Stijl, licht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Stijl, licht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505E3EF-67EA-436B-97B2-0124C06EBD24}" styleName="Stijl, gemiddeld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Stijl, gemiddeld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1" autoAdjust="0"/>
    <p:restoredTop sz="79178" autoAdjust="0"/>
  </p:normalViewPr>
  <p:slideViewPr>
    <p:cSldViewPr snapToGrid="0" snapToObjects="1" showGuides="1">
      <p:cViewPr varScale="1">
        <p:scale>
          <a:sx n="91" d="100"/>
          <a:sy n="91" d="100"/>
        </p:scale>
        <p:origin x="1368" y="84"/>
      </p:cViewPr>
      <p:guideLst/>
    </p:cSldViewPr>
  </p:slideViewPr>
  <p:notesTextViewPr>
    <p:cViewPr>
      <p:scale>
        <a:sx n="1" d="1"/>
        <a:sy n="1" d="1"/>
      </p:scale>
      <p:origin x="0" y="0"/>
    </p:cViewPr>
  </p:notesTextViewPr>
  <p:notesViewPr>
    <p:cSldViewPr snapToGrid="0" snapToObjects="1" showGuides="1">
      <p:cViewPr varScale="1">
        <p:scale>
          <a:sx n="66" d="100"/>
          <a:sy n="66" d="100"/>
        </p:scale>
        <p:origin x="0" y="0"/>
      </p:cViewPr>
      <p:guideLst>
        <p:guide orient="horz" pos="196"/>
        <p:guide orient="horz" pos="3127"/>
        <p:guide pos="197"/>
        <p:guide pos="2144"/>
        <p:guide pos="40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61"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6.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6.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849233-70E0-4104-84F6-EE1652794597}"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203BCE44-24D8-4343-A57B-BD3D19119435}">
      <dgm:prSet custT="1"/>
      <dgm:spPr>
        <a:xfrm>
          <a:off x="75260" y="3032925"/>
          <a:ext cx="2362500" cy="720000"/>
        </a:xfrm>
        <a:prstGeom prst="rect">
          <a:avLst/>
        </a:prstGeom>
        <a:noFill/>
        <a:ln>
          <a:noFill/>
        </a:ln>
        <a:effectLst/>
      </dgm:spPr>
      <dgm:t>
        <a:bodyPr/>
        <a:lstStyle/>
        <a:p>
          <a:pPr>
            <a:buNone/>
          </a:pPr>
          <a:r>
            <a:rPr lang="nl-BE" sz="2000" dirty="0">
              <a:solidFill>
                <a:sysClr val="windowText" lastClr="000000">
                  <a:hueOff val="0"/>
                  <a:satOff val="0"/>
                  <a:lumOff val="0"/>
                  <a:alphaOff val="0"/>
                </a:sysClr>
              </a:solidFill>
              <a:latin typeface="Calibri"/>
              <a:ea typeface="+mn-ea"/>
              <a:cs typeface="+mn-cs"/>
            </a:rPr>
            <a:t>5 juni 2025 </a:t>
          </a:r>
          <a:endParaRPr lang="en-US" sz="2000" dirty="0">
            <a:solidFill>
              <a:sysClr val="windowText" lastClr="000000">
                <a:hueOff val="0"/>
                <a:satOff val="0"/>
                <a:lumOff val="0"/>
                <a:alphaOff val="0"/>
              </a:sysClr>
            </a:solidFill>
            <a:latin typeface="Calibri"/>
            <a:ea typeface="+mn-ea"/>
            <a:cs typeface="+mn-cs"/>
          </a:endParaRPr>
        </a:p>
      </dgm:t>
    </dgm:pt>
    <dgm:pt modelId="{F7DA2E27-3374-4C80-8855-79E0DD8D647B}" type="parTrans" cxnId="{B6BD146E-E343-46E1-984E-0FD0A2EA5C7A}">
      <dgm:prSet/>
      <dgm:spPr/>
      <dgm:t>
        <a:bodyPr/>
        <a:lstStyle/>
        <a:p>
          <a:endParaRPr lang="en-US"/>
        </a:p>
      </dgm:t>
    </dgm:pt>
    <dgm:pt modelId="{A5FEC50B-BC95-4C7A-8346-95F140BD58E9}" type="sibTrans" cxnId="{B6BD146E-E343-46E1-984E-0FD0A2EA5C7A}">
      <dgm:prSet/>
      <dgm:spPr/>
      <dgm:t>
        <a:bodyPr/>
        <a:lstStyle/>
        <a:p>
          <a:endParaRPr lang="en-US"/>
        </a:p>
      </dgm:t>
    </dgm:pt>
    <dgm:pt modelId="{980D9A61-0EC2-43AA-BD6F-25142AC858B4}">
      <dgm:prSet custT="1"/>
      <dgm:spPr>
        <a:xfrm>
          <a:off x="2851198" y="3032925"/>
          <a:ext cx="2362500" cy="720000"/>
        </a:xfrm>
        <a:prstGeom prst="rect">
          <a:avLst/>
        </a:prstGeom>
        <a:noFill/>
        <a:ln>
          <a:noFill/>
        </a:ln>
        <a:effectLst/>
      </dgm:spPr>
      <dgm:t>
        <a:bodyPr/>
        <a:lstStyle/>
        <a:p>
          <a:pPr>
            <a:buNone/>
          </a:pPr>
          <a:r>
            <a:rPr lang="nl-BE" sz="2000" dirty="0">
              <a:solidFill>
                <a:sysClr val="windowText" lastClr="000000">
                  <a:hueOff val="0"/>
                  <a:satOff val="0"/>
                  <a:lumOff val="0"/>
                  <a:alphaOff val="0"/>
                </a:sysClr>
              </a:solidFill>
              <a:latin typeface="Calibri"/>
              <a:ea typeface="+mn-ea"/>
              <a:cs typeface="+mn-cs"/>
            </a:rPr>
            <a:t>18:00-21:30 uur</a:t>
          </a:r>
          <a:br>
            <a:rPr lang="nl-BE" sz="2000" dirty="0">
              <a:solidFill>
                <a:sysClr val="windowText" lastClr="000000">
                  <a:hueOff val="0"/>
                  <a:satOff val="0"/>
                  <a:lumOff val="0"/>
                  <a:alphaOff val="0"/>
                </a:sysClr>
              </a:solidFill>
              <a:latin typeface="Calibri"/>
              <a:ea typeface="+mn-ea"/>
              <a:cs typeface="+mn-cs"/>
            </a:rPr>
          </a:br>
          <a:r>
            <a:rPr lang="nl-BE" sz="2000" i="1" dirty="0">
              <a:solidFill>
                <a:sysClr val="windowText" lastClr="000000">
                  <a:hueOff val="0"/>
                  <a:satOff val="0"/>
                  <a:lumOff val="0"/>
                  <a:alphaOff val="0"/>
                </a:sysClr>
              </a:solidFill>
              <a:latin typeface="Calibri"/>
              <a:ea typeface="+mn-ea"/>
              <a:cs typeface="+mn-cs"/>
            </a:rPr>
            <a:t>(BF-studenten met de faciliteit ‘extra tijd’ starten al om 17:20)</a:t>
          </a:r>
        </a:p>
        <a:p>
          <a:pPr>
            <a:buNone/>
          </a:pPr>
          <a:endParaRPr lang="nl-BE" sz="2000" dirty="0">
            <a:solidFill>
              <a:sysClr val="windowText" lastClr="000000">
                <a:hueOff val="0"/>
                <a:satOff val="0"/>
                <a:lumOff val="0"/>
                <a:alphaOff val="0"/>
              </a:sysClr>
            </a:solidFill>
            <a:latin typeface="Calibri"/>
            <a:ea typeface="+mn-ea"/>
            <a:cs typeface="+mn-cs"/>
          </a:endParaRPr>
        </a:p>
      </dgm:t>
    </dgm:pt>
    <dgm:pt modelId="{4839B08D-2B10-4AB9-B1FC-481A264AFC71}" type="parTrans" cxnId="{6E6BE6B4-53AD-41E6-9AB2-00B611C75706}">
      <dgm:prSet/>
      <dgm:spPr/>
      <dgm:t>
        <a:bodyPr/>
        <a:lstStyle/>
        <a:p>
          <a:endParaRPr lang="en-US"/>
        </a:p>
      </dgm:t>
    </dgm:pt>
    <dgm:pt modelId="{79F9F666-D3D7-4013-BF29-C321F69F28BE}" type="sibTrans" cxnId="{6E6BE6B4-53AD-41E6-9AB2-00B611C75706}">
      <dgm:prSet/>
      <dgm:spPr/>
      <dgm:t>
        <a:bodyPr/>
        <a:lstStyle/>
        <a:p>
          <a:endParaRPr lang="en-US"/>
        </a:p>
      </dgm:t>
    </dgm:pt>
    <dgm:pt modelId="{56C2A3CE-7C1B-433E-BAB7-4E543E137E24}">
      <dgm:prSet custT="1"/>
      <dgm:spPr>
        <a:xfrm>
          <a:off x="5627135" y="3032925"/>
          <a:ext cx="2362500" cy="720000"/>
        </a:xfrm>
        <a:prstGeom prst="rect">
          <a:avLst/>
        </a:prstGeom>
        <a:noFill/>
        <a:ln>
          <a:noFill/>
        </a:ln>
        <a:effectLst/>
      </dgm:spPr>
      <dgm:t>
        <a:bodyPr/>
        <a:lstStyle/>
        <a:p>
          <a:pPr>
            <a:buNone/>
          </a:pPr>
          <a:r>
            <a:rPr lang="nl-NL" sz="2000" dirty="0">
              <a:solidFill>
                <a:sysClr val="windowText" lastClr="000000">
                  <a:hueOff val="0"/>
                  <a:satOff val="0"/>
                  <a:lumOff val="0"/>
                  <a:alphaOff val="0"/>
                </a:sysClr>
              </a:solidFill>
              <a:latin typeface="Calibri"/>
              <a:ea typeface="+mn-ea"/>
              <a:cs typeface="+mn-cs"/>
            </a:rPr>
            <a:t>S.N.302</a:t>
          </a:r>
          <a:br>
            <a:rPr lang="nl-NL" sz="2000" dirty="0">
              <a:solidFill>
                <a:sysClr val="windowText" lastClr="000000">
                  <a:hueOff val="0"/>
                  <a:satOff val="0"/>
                  <a:lumOff val="0"/>
                  <a:alphaOff val="0"/>
                </a:sysClr>
              </a:solidFill>
              <a:latin typeface="Calibri"/>
              <a:ea typeface="+mn-ea"/>
              <a:cs typeface="+mn-cs"/>
            </a:rPr>
          </a:br>
          <a:r>
            <a:rPr lang="nl-NL" sz="2000" dirty="0">
              <a:solidFill>
                <a:sysClr val="windowText" lastClr="000000">
                  <a:hueOff val="0"/>
                  <a:satOff val="0"/>
                  <a:lumOff val="0"/>
                  <a:alphaOff val="0"/>
                </a:sysClr>
              </a:solidFill>
              <a:latin typeface="Calibri"/>
              <a:ea typeface="+mn-ea"/>
              <a:cs typeface="+mn-cs"/>
            </a:rPr>
            <a:t>S.N.202</a:t>
          </a:r>
          <a:endParaRPr lang="en-US" sz="2000" dirty="0">
            <a:solidFill>
              <a:sysClr val="windowText" lastClr="000000">
                <a:hueOff val="0"/>
                <a:satOff val="0"/>
                <a:lumOff val="0"/>
                <a:alphaOff val="0"/>
              </a:sysClr>
            </a:solidFill>
            <a:latin typeface="Calibri"/>
            <a:ea typeface="+mn-ea"/>
            <a:cs typeface="+mn-cs"/>
          </a:endParaRPr>
        </a:p>
      </dgm:t>
    </dgm:pt>
    <dgm:pt modelId="{16A59520-B0D6-4860-951D-28F7A75E6EB9}" type="parTrans" cxnId="{E9C04E60-70F9-473E-B0B6-5E8472CB073B}">
      <dgm:prSet/>
      <dgm:spPr/>
      <dgm:t>
        <a:bodyPr/>
        <a:lstStyle/>
        <a:p>
          <a:endParaRPr lang="en-US"/>
        </a:p>
      </dgm:t>
    </dgm:pt>
    <dgm:pt modelId="{485EA932-E3A5-4C00-A1A8-D57D58C53B53}" type="sibTrans" cxnId="{E9C04E60-70F9-473E-B0B6-5E8472CB073B}">
      <dgm:prSet/>
      <dgm:spPr/>
      <dgm:t>
        <a:bodyPr/>
        <a:lstStyle/>
        <a:p>
          <a:endParaRPr lang="en-US"/>
        </a:p>
      </dgm:t>
    </dgm:pt>
    <dgm:pt modelId="{5903B271-B961-41BD-82F8-ED429D4F7817}" type="pres">
      <dgm:prSet presAssocID="{1B849233-70E0-4104-84F6-EE1652794597}" presName="root" presStyleCnt="0">
        <dgm:presLayoutVars>
          <dgm:dir/>
          <dgm:resizeHandles val="exact"/>
        </dgm:presLayoutVars>
      </dgm:prSet>
      <dgm:spPr/>
      <dgm:t>
        <a:bodyPr/>
        <a:lstStyle/>
        <a:p>
          <a:endParaRPr lang="nl-NL"/>
        </a:p>
      </dgm:t>
    </dgm:pt>
    <dgm:pt modelId="{199EF4CF-E9BE-455C-B156-E86BEF24905C}" type="pres">
      <dgm:prSet presAssocID="{203BCE44-24D8-4343-A57B-BD3D19119435}" presName="compNode" presStyleCnt="0"/>
      <dgm:spPr/>
    </dgm:pt>
    <dgm:pt modelId="{B67C9257-E868-417B-B6D3-CD198E69541E}" type="pres">
      <dgm:prSet presAssocID="{203BCE44-24D8-4343-A57B-BD3D19119435}" presName="iconBgRect" presStyleLbl="bgShp" presStyleIdx="0" presStyleCnt="3"/>
      <dgm:spPr>
        <a:xfrm>
          <a:off x="535947" y="1142925"/>
          <a:ext cx="1441125" cy="1441125"/>
        </a:xfrm>
        <a:prstGeom prst="ellipse">
          <a:avLst/>
        </a:prstGeom>
        <a:solidFill>
          <a:schemeClr val="bg2"/>
        </a:solidFill>
        <a:ln>
          <a:noFill/>
        </a:ln>
        <a:effectLst/>
      </dgm:spPr>
    </dgm:pt>
    <dgm:pt modelId="{ABA5E98E-776D-4BE9-8EDD-A44E3F08B96A}" type="pres">
      <dgm:prSet presAssocID="{203BCE44-24D8-4343-A57B-BD3D19119435}" presName="iconRect" presStyleLbl="node1" presStyleIdx="0" presStyleCnt="3"/>
      <dgm:spPr>
        <a:xfrm>
          <a:off x="843072" y="1450050"/>
          <a:ext cx="826875" cy="826875"/>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25400" cap="flat" cmpd="sng" algn="ctr">
          <a:noFill/>
          <a:prstDash val="solid"/>
        </a:ln>
        <a:effectLst/>
      </dgm:spPr>
      <dgm:extLst>
        <a:ext uri="{E40237B7-FDA0-4F09-8148-C483321AD2D9}">
          <dgm14:cNvPr xmlns:dgm14="http://schemas.microsoft.com/office/drawing/2010/diagram" id="0" name="" descr="Monthly calendar"/>
        </a:ext>
      </dgm:extLst>
    </dgm:pt>
    <dgm:pt modelId="{3AE4841A-175D-4FC0-8B7D-26D7FDE1E3A1}" type="pres">
      <dgm:prSet presAssocID="{203BCE44-24D8-4343-A57B-BD3D19119435}" presName="spaceRect" presStyleCnt="0"/>
      <dgm:spPr/>
    </dgm:pt>
    <dgm:pt modelId="{FBB040E8-B5E1-4A14-85FF-7A311377EC4D}" type="pres">
      <dgm:prSet presAssocID="{203BCE44-24D8-4343-A57B-BD3D19119435}" presName="textRect" presStyleLbl="revTx" presStyleIdx="0" presStyleCnt="3">
        <dgm:presLayoutVars>
          <dgm:chMax val="1"/>
          <dgm:chPref val="1"/>
        </dgm:presLayoutVars>
      </dgm:prSet>
      <dgm:spPr/>
      <dgm:t>
        <a:bodyPr/>
        <a:lstStyle/>
        <a:p>
          <a:endParaRPr lang="nl-NL"/>
        </a:p>
      </dgm:t>
    </dgm:pt>
    <dgm:pt modelId="{F18BF4DA-7D66-45FC-9F0B-D8102B062408}" type="pres">
      <dgm:prSet presAssocID="{A5FEC50B-BC95-4C7A-8346-95F140BD58E9}" presName="sibTrans" presStyleCnt="0"/>
      <dgm:spPr/>
    </dgm:pt>
    <dgm:pt modelId="{5FB9980A-94DC-43BB-ACBA-EB12EE519EDA}" type="pres">
      <dgm:prSet presAssocID="{980D9A61-0EC2-43AA-BD6F-25142AC858B4}" presName="compNode" presStyleCnt="0"/>
      <dgm:spPr/>
    </dgm:pt>
    <dgm:pt modelId="{CCA837FF-6213-4E6B-BF65-BA9E47F6DA91}" type="pres">
      <dgm:prSet presAssocID="{980D9A61-0EC2-43AA-BD6F-25142AC858B4}" presName="iconBgRect" presStyleLbl="bgShp" presStyleIdx="1" presStyleCnt="3"/>
      <dgm:spPr>
        <a:xfrm>
          <a:off x="3311885" y="1142925"/>
          <a:ext cx="1441125" cy="1441125"/>
        </a:xfrm>
        <a:prstGeom prst="ellipse">
          <a:avLst/>
        </a:prstGeom>
        <a:solidFill>
          <a:schemeClr val="bg2"/>
        </a:solidFill>
        <a:ln>
          <a:noFill/>
        </a:ln>
        <a:effectLst/>
      </dgm:spPr>
    </dgm:pt>
    <dgm:pt modelId="{5C19FAA8-DA59-46B3-9690-FFC99C3C6BE4}" type="pres">
      <dgm:prSet presAssocID="{980D9A61-0EC2-43AA-BD6F-25142AC858B4}" presName="iconRect" presStyleLbl="node1" presStyleIdx="1" presStyleCnt="3"/>
      <dgm:spPr>
        <a:xfrm>
          <a:off x="3619010" y="1450050"/>
          <a:ext cx="826875" cy="826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25400" cap="flat" cmpd="sng" algn="ctr">
          <a:noFill/>
          <a:prstDash val="solid"/>
        </a:ln>
        <a:effectLst/>
      </dgm:spPr>
      <dgm:extLst>
        <a:ext uri="{E40237B7-FDA0-4F09-8148-C483321AD2D9}">
          <dgm14:cNvPr xmlns:dgm14="http://schemas.microsoft.com/office/drawing/2010/diagram" id="0" name="" descr="Clock"/>
        </a:ext>
      </dgm:extLst>
    </dgm:pt>
    <dgm:pt modelId="{8A317E3B-1BFE-47F5-99BC-05160EC3E221}" type="pres">
      <dgm:prSet presAssocID="{980D9A61-0EC2-43AA-BD6F-25142AC858B4}" presName="spaceRect" presStyleCnt="0"/>
      <dgm:spPr/>
    </dgm:pt>
    <dgm:pt modelId="{D2213B33-68CA-43DC-9C07-3D17653F8E32}" type="pres">
      <dgm:prSet presAssocID="{980D9A61-0EC2-43AA-BD6F-25142AC858B4}" presName="textRect" presStyleLbl="revTx" presStyleIdx="1" presStyleCnt="3" custScaleX="211697">
        <dgm:presLayoutVars>
          <dgm:chMax val="1"/>
          <dgm:chPref val="1"/>
        </dgm:presLayoutVars>
      </dgm:prSet>
      <dgm:spPr/>
      <dgm:t>
        <a:bodyPr/>
        <a:lstStyle/>
        <a:p>
          <a:endParaRPr lang="nl-NL"/>
        </a:p>
      </dgm:t>
    </dgm:pt>
    <dgm:pt modelId="{B7B6734A-5B8A-4B07-8BAD-A2DE4F01F979}" type="pres">
      <dgm:prSet presAssocID="{79F9F666-D3D7-4013-BF29-C321F69F28BE}" presName="sibTrans" presStyleCnt="0"/>
      <dgm:spPr/>
    </dgm:pt>
    <dgm:pt modelId="{2C17DE0F-5CF3-435A-86B6-5F4FB36A2579}" type="pres">
      <dgm:prSet presAssocID="{56C2A3CE-7C1B-433E-BAB7-4E543E137E24}" presName="compNode" presStyleCnt="0"/>
      <dgm:spPr/>
    </dgm:pt>
    <dgm:pt modelId="{0C10A799-D9F2-4EC8-BF8C-D4F912DCAD59}" type="pres">
      <dgm:prSet presAssocID="{56C2A3CE-7C1B-433E-BAB7-4E543E137E24}" presName="iconBgRect" presStyleLbl="bgShp" presStyleIdx="2" presStyleCnt="3"/>
      <dgm:spPr>
        <a:xfrm>
          <a:off x="6087823" y="1142925"/>
          <a:ext cx="1441125" cy="1441125"/>
        </a:xfrm>
        <a:prstGeom prst="ellipse">
          <a:avLst/>
        </a:prstGeom>
        <a:solidFill>
          <a:schemeClr val="bg2"/>
        </a:solidFill>
        <a:ln>
          <a:noFill/>
        </a:ln>
        <a:effectLst/>
      </dgm:spPr>
    </dgm:pt>
    <dgm:pt modelId="{DD6E13D5-43B8-4593-9C49-A351CF3E857A}" type="pres">
      <dgm:prSet presAssocID="{56C2A3CE-7C1B-433E-BAB7-4E543E137E24}" presName="iconRect" presStyleLbl="node1" presStyleIdx="2" presStyleCnt="3"/>
      <dgm:spPr>
        <a:xfrm>
          <a:off x="6394948" y="1450050"/>
          <a:ext cx="826875" cy="8268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a:blipFill>
        <a:ln w="25400" cap="flat" cmpd="sng" algn="ctr">
          <a:noFill/>
          <a:prstDash val="solid"/>
        </a:ln>
        <a:effectLst/>
      </dgm:spPr>
      <dgm:extLst>
        <a:ext uri="{E40237B7-FDA0-4F09-8148-C483321AD2D9}">
          <dgm14:cNvPr xmlns:dgm14="http://schemas.microsoft.com/office/drawing/2010/diagram" id="0" name="" descr="Kaart met speld"/>
        </a:ext>
      </dgm:extLst>
    </dgm:pt>
    <dgm:pt modelId="{83DC5D9F-568C-4C9F-8C1B-8BA30AC9F115}" type="pres">
      <dgm:prSet presAssocID="{56C2A3CE-7C1B-433E-BAB7-4E543E137E24}" presName="spaceRect" presStyleCnt="0"/>
      <dgm:spPr/>
    </dgm:pt>
    <dgm:pt modelId="{F2C81017-64EC-4956-AEBF-1A4A6B91E522}" type="pres">
      <dgm:prSet presAssocID="{56C2A3CE-7C1B-433E-BAB7-4E543E137E24}" presName="textRect" presStyleLbl="revTx" presStyleIdx="2" presStyleCnt="3">
        <dgm:presLayoutVars>
          <dgm:chMax val="1"/>
          <dgm:chPref val="1"/>
        </dgm:presLayoutVars>
      </dgm:prSet>
      <dgm:spPr/>
      <dgm:t>
        <a:bodyPr/>
        <a:lstStyle/>
        <a:p>
          <a:endParaRPr lang="nl-NL"/>
        </a:p>
      </dgm:t>
    </dgm:pt>
  </dgm:ptLst>
  <dgm:cxnLst>
    <dgm:cxn modelId="{E9C04E60-70F9-473E-B0B6-5E8472CB073B}" srcId="{1B849233-70E0-4104-84F6-EE1652794597}" destId="{56C2A3CE-7C1B-433E-BAB7-4E543E137E24}" srcOrd="2" destOrd="0" parTransId="{16A59520-B0D6-4860-951D-28F7A75E6EB9}" sibTransId="{485EA932-E3A5-4C00-A1A8-D57D58C53B53}"/>
    <dgm:cxn modelId="{88B9EC92-7E86-4603-9A95-C80AABA9A896}" type="presOf" srcId="{56C2A3CE-7C1B-433E-BAB7-4E543E137E24}" destId="{F2C81017-64EC-4956-AEBF-1A4A6B91E522}" srcOrd="0" destOrd="0" presId="urn:microsoft.com/office/officeart/2018/5/layout/IconCircleLabelList"/>
    <dgm:cxn modelId="{B6BD146E-E343-46E1-984E-0FD0A2EA5C7A}" srcId="{1B849233-70E0-4104-84F6-EE1652794597}" destId="{203BCE44-24D8-4343-A57B-BD3D19119435}" srcOrd="0" destOrd="0" parTransId="{F7DA2E27-3374-4C80-8855-79E0DD8D647B}" sibTransId="{A5FEC50B-BC95-4C7A-8346-95F140BD58E9}"/>
    <dgm:cxn modelId="{81C23E0E-BFD5-4570-B3E1-40028ED6EDAA}" type="presOf" srcId="{203BCE44-24D8-4343-A57B-BD3D19119435}" destId="{FBB040E8-B5E1-4A14-85FF-7A311377EC4D}" srcOrd="0" destOrd="0" presId="urn:microsoft.com/office/officeart/2018/5/layout/IconCircleLabelList"/>
    <dgm:cxn modelId="{9ECF7789-9FF2-4BA5-AC4F-AF75D7A75F9B}" type="presOf" srcId="{980D9A61-0EC2-43AA-BD6F-25142AC858B4}" destId="{D2213B33-68CA-43DC-9C07-3D17653F8E32}" srcOrd="0" destOrd="0" presId="urn:microsoft.com/office/officeart/2018/5/layout/IconCircleLabelList"/>
    <dgm:cxn modelId="{DCFEE494-F33F-4D38-B8CA-392C4212F6C8}" type="presOf" srcId="{1B849233-70E0-4104-84F6-EE1652794597}" destId="{5903B271-B961-41BD-82F8-ED429D4F7817}" srcOrd="0" destOrd="0" presId="urn:microsoft.com/office/officeart/2018/5/layout/IconCircleLabelList"/>
    <dgm:cxn modelId="{6E6BE6B4-53AD-41E6-9AB2-00B611C75706}" srcId="{1B849233-70E0-4104-84F6-EE1652794597}" destId="{980D9A61-0EC2-43AA-BD6F-25142AC858B4}" srcOrd="1" destOrd="0" parTransId="{4839B08D-2B10-4AB9-B1FC-481A264AFC71}" sibTransId="{79F9F666-D3D7-4013-BF29-C321F69F28BE}"/>
    <dgm:cxn modelId="{EE0ADF2D-B1CB-4D58-AC58-B0A91ED0E61D}" type="presParOf" srcId="{5903B271-B961-41BD-82F8-ED429D4F7817}" destId="{199EF4CF-E9BE-455C-B156-E86BEF24905C}" srcOrd="0" destOrd="0" presId="urn:microsoft.com/office/officeart/2018/5/layout/IconCircleLabelList"/>
    <dgm:cxn modelId="{0DD030A1-F6DC-4927-8AB6-9EE0116DC5AC}" type="presParOf" srcId="{199EF4CF-E9BE-455C-B156-E86BEF24905C}" destId="{B67C9257-E868-417B-B6D3-CD198E69541E}" srcOrd="0" destOrd="0" presId="urn:microsoft.com/office/officeart/2018/5/layout/IconCircleLabelList"/>
    <dgm:cxn modelId="{2709017F-BAE9-4079-8263-4D2F29EE2DA8}" type="presParOf" srcId="{199EF4CF-E9BE-455C-B156-E86BEF24905C}" destId="{ABA5E98E-776D-4BE9-8EDD-A44E3F08B96A}" srcOrd="1" destOrd="0" presId="urn:microsoft.com/office/officeart/2018/5/layout/IconCircleLabelList"/>
    <dgm:cxn modelId="{3CF3C82C-2793-4DBD-BDFA-17F4282D5499}" type="presParOf" srcId="{199EF4CF-E9BE-455C-B156-E86BEF24905C}" destId="{3AE4841A-175D-4FC0-8B7D-26D7FDE1E3A1}" srcOrd="2" destOrd="0" presId="urn:microsoft.com/office/officeart/2018/5/layout/IconCircleLabelList"/>
    <dgm:cxn modelId="{947C6BA8-5034-4244-828B-79B59520DBB8}" type="presParOf" srcId="{199EF4CF-E9BE-455C-B156-E86BEF24905C}" destId="{FBB040E8-B5E1-4A14-85FF-7A311377EC4D}" srcOrd="3" destOrd="0" presId="urn:microsoft.com/office/officeart/2018/5/layout/IconCircleLabelList"/>
    <dgm:cxn modelId="{C015CB35-7B4B-4374-B39F-B43C8FEAB604}" type="presParOf" srcId="{5903B271-B961-41BD-82F8-ED429D4F7817}" destId="{F18BF4DA-7D66-45FC-9F0B-D8102B062408}" srcOrd="1" destOrd="0" presId="urn:microsoft.com/office/officeart/2018/5/layout/IconCircleLabelList"/>
    <dgm:cxn modelId="{DB596208-795E-4A34-B726-8344F7228D51}" type="presParOf" srcId="{5903B271-B961-41BD-82F8-ED429D4F7817}" destId="{5FB9980A-94DC-43BB-ACBA-EB12EE519EDA}" srcOrd="2" destOrd="0" presId="urn:microsoft.com/office/officeart/2018/5/layout/IconCircleLabelList"/>
    <dgm:cxn modelId="{20448B2E-C28B-43F6-86FF-1CEEC5F54B3F}" type="presParOf" srcId="{5FB9980A-94DC-43BB-ACBA-EB12EE519EDA}" destId="{CCA837FF-6213-4E6B-BF65-BA9E47F6DA91}" srcOrd="0" destOrd="0" presId="urn:microsoft.com/office/officeart/2018/5/layout/IconCircleLabelList"/>
    <dgm:cxn modelId="{A62B488E-F3F1-4072-A508-FC4A7355924C}" type="presParOf" srcId="{5FB9980A-94DC-43BB-ACBA-EB12EE519EDA}" destId="{5C19FAA8-DA59-46B3-9690-FFC99C3C6BE4}" srcOrd="1" destOrd="0" presId="urn:microsoft.com/office/officeart/2018/5/layout/IconCircleLabelList"/>
    <dgm:cxn modelId="{79B860D6-641E-45A2-83C9-70EED4BF6E4C}" type="presParOf" srcId="{5FB9980A-94DC-43BB-ACBA-EB12EE519EDA}" destId="{8A317E3B-1BFE-47F5-99BC-05160EC3E221}" srcOrd="2" destOrd="0" presId="urn:microsoft.com/office/officeart/2018/5/layout/IconCircleLabelList"/>
    <dgm:cxn modelId="{47697BF2-6586-4450-A8B7-BD90B3810E6B}" type="presParOf" srcId="{5FB9980A-94DC-43BB-ACBA-EB12EE519EDA}" destId="{D2213B33-68CA-43DC-9C07-3D17653F8E32}" srcOrd="3" destOrd="0" presId="urn:microsoft.com/office/officeart/2018/5/layout/IconCircleLabelList"/>
    <dgm:cxn modelId="{238EFF66-E984-4911-A15D-7F9D37998ADD}" type="presParOf" srcId="{5903B271-B961-41BD-82F8-ED429D4F7817}" destId="{B7B6734A-5B8A-4B07-8BAD-A2DE4F01F979}" srcOrd="3" destOrd="0" presId="urn:microsoft.com/office/officeart/2018/5/layout/IconCircleLabelList"/>
    <dgm:cxn modelId="{54B7FC11-B51A-491C-BE27-B6953E89687B}" type="presParOf" srcId="{5903B271-B961-41BD-82F8-ED429D4F7817}" destId="{2C17DE0F-5CF3-435A-86B6-5F4FB36A2579}" srcOrd="4" destOrd="0" presId="urn:microsoft.com/office/officeart/2018/5/layout/IconCircleLabelList"/>
    <dgm:cxn modelId="{4D6F96B1-69FB-4A65-8EBC-4AAABC7D1DAD}" type="presParOf" srcId="{2C17DE0F-5CF3-435A-86B6-5F4FB36A2579}" destId="{0C10A799-D9F2-4EC8-BF8C-D4F912DCAD59}" srcOrd="0" destOrd="0" presId="urn:microsoft.com/office/officeart/2018/5/layout/IconCircleLabelList"/>
    <dgm:cxn modelId="{4B534F9A-48ED-4D2A-8FE8-7DDD0BB3EBD7}" type="presParOf" srcId="{2C17DE0F-5CF3-435A-86B6-5F4FB36A2579}" destId="{DD6E13D5-43B8-4593-9C49-A351CF3E857A}" srcOrd="1" destOrd="0" presId="urn:microsoft.com/office/officeart/2018/5/layout/IconCircleLabelList"/>
    <dgm:cxn modelId="{04948090-B9E1-401C-BADF-4216C9664F43}" type="presParOf" srcId="{2C17DE0F-5CF3-435A-86B6-5F4FB36A2579}" destId="{83DC5D9F-568C-4C9F-8C1B-8BA30AC9F115}" srcOrd="2" destOrd="0" presId="urn:microsoft.com/office/officeart/2018/5/layout/IconCircleLabelList"/>
    <dgm:cxn modelId="{F15894D6-AE51-432F-9FAD-333D0EBCA360}" type="presParOf" srcId="{2C17DE0F-5CF3-435A-86B6-5F4FB36A2579}" destId="{F2C81017-64EC-4956-AEBF-1A4A6B91E522}"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7C9257-E868-417B-B6D3-CD198E69541E}">
      <dsp:nvSpPr>
        <dsp:cNvPr id="0" name=""/>
        <dsp:cNvSpPr/>
      </dsp:nvSpPr>
      <dsp:spPr>
        <a:xfrm>
          <a:off x="606837" y="720"/>
          <a:ext cx="1025085" cy="1025085"/>
        </a:xfrm>
        <a:prstGeom prst="ellipse">
          <a:avLst/>
        </a:prstGeom>
        <a:solidFill>
          <a:schemeClr val="bg2"/>
        </a:solidFill>
        <a:ln>
          <a:noFill/>
        </a:ln>
        <a:effectLst/>
      </dsp:spPr>
      <dsp:style>
        <a:lnRef idx="0">
          <a:scrgbClr r="0" g="0" b="0"/>
        </a:lnRef>
        <a:fillRef idx="1">
          <a:scrgbClr r="0" g="0" b="0"/>
        </a:fillRef>
        <a:effectRef idx="0">
          <a:scrgbClr r="0" g="0" b="0"/>
        </a:effectRef>
        <a:fontRef idx="minor"/>
      </dsp:style>
    </dsp:sp>
    <dsp:sp modelId="{ABA5E98E-776D-4BE9-8EDD-A44E3F08B96A}">
      <dsp:nvSpPr>
        <dsp:cNvPr id="0" name=""/>
        <dsp:cNvSpPr/>
      </dsp:nvSpPr>
      <dsp:spPr>
        <a:xfrm>
          <a:off x="825298" y="219181"/>
          <a:ext cx="588164" cy="58816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B040E8-B5E1-4A14-85FF-7A311377EC4D}">
      <dsp:nvSpPr>
        <dsp:cNvPr id="0" name=""/>
        <dsp:cNvSpPr/>
      </dsp:nvSpPr>
      <dsp:spPr>
        <a:xfrm>
          <a:off x="279146" y="1345095"/>
          <a:ext cx="1680468" cy="984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889000">
            <a:lnSpc>
              <a:spcPct val="90000"/>
            </a:lnSpc>
            <a:spcBef>
              <a:spcPct val="0"/>
            </a:spcBef>
            <a:spcAft>
              <a:spcPct val="35000"/>
            </a:spcAft>
            <a:buNone/>
          </a:pPr>
          <a:r>
            <a:rPr lang="nl-BE" sz="2000" kern="1200" dirty="0">
              <a:solidFill>
                <a:sysClr val="windowText" lastClr="000000">
                  <a:hueOff val="0"/>
                  <a:satOff val="0"/>
                  <a:lumOff val="0"/>
                  <a:alphaOff val="0"/>
                </a:sysClr>
              </a:solidFill>
              <a:latin typeface="Calibri"/>
              <a:ea typeface="+mn-ea"/>
              <a:cs typeface="+mn-cs"/>
            </a:rPr>
            <a:t>5 juni 2025 </a:t>
          </a:r>
          <a:endParaRPr lang="en-US" sz="2000" kern="1200" dirty="0">
            <a:solidFill>
              <a:sysClr val="windowText" lastClr="000000">
                <a:hueOff val="0"/>
                <a:satOff val="0"/>
                <a:lumOff val="0"/>
                <a:alphaOff val="0"/>
              </a:sysClr>
            </a:solidFill>
            <a:latin typeface="Calibri"/>
            <a:ea typeface="+mn-ea"/>
            <a:cs typeface="+mn-cs"/>
          </a:endParaRPr>
        </a:p>
      </dsp:txBody>
      <dsp:txXfrm>
        <a:off x="279146" y="1345095"/>
        <a:ext cx="1680468" cy="984108"/>
      </dsp:txXfrm>
    </dsp:sp>
    <dsp:sp modelId="{CCA837FF-6213-4E6B-BF65-BA9E47F6DA91}">
      <dsp:nvSpPr>
        <dsp:cNvPr id="0" name=""/>
        <dsp:cNvSpPr/>
      </dsp:nvSpPr>
      <dsp:spPr>
        <a:xfrm>
          <a:off x="3519905" y="720"/>
          <a:ext cx="1025085" cy="1025085"/>
        </a:xfrm>
        <a:prstGeom prst="ellipse">
          <a:avLst/>
        </a:prstGeom>
        <a:solidFill>
          <a:schemeClr val="bg2"/>
        </a:solidFill>
        <a:ln>
          <a:noFill/>
        </a:ln>
        <a:effectLst/>
      </dsp:spPr>
      <dsp:style>
        <a:lnRef idx="0">
          <a:scrgbClr r="0" g="0" b="0"/>
        </a:lnRef>
        <a:fillRef idx="1">
          <a:scrgbClr r="0" g="0" b="0"/>
        </a:fillRef>
        <a:effectRef idx="0">
          <a:scrgbClr r="0" g="0" b="0"/>
        </a:effectRef>
        <a:fontRef idx="minor"/>
      </dsp:style>
    </dsp:sp>
    <dsp:sp modelId="{5C19FAA8-DA59-46B3-9690-FFC99C3C6BE4}">
      <dsp:nvSpPr>
        <dsp:cNvPr id="0" name=""/>
        <dsp:cNvSpPr/>
      </dsp:nvSpPr>
      <dsp:spPr>
        <a:xfrm>
          <a:off x="3738365" y="219181"/>
          <a:ext cx="588164" cy="588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213B33-68CA-43DC-9C07-3D17653F8E32}">
      <dsp:nvSpPr>
        <dsp:cNvPr id="0" name=""/>
        <dsp:cNvSpPr/>
      </dsp:nvSpPr>
      <dsp:spPr>
        <a:xfrm>
          <a:off x="2253697" y="1345095"/>
          <a:ext cx="3557501" cy="984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889000">
            <a:lnSpc>
              <a:spcPct val="90000"/>
            </a:lnSpc>
            <a:spcBef>
              <a:spcPct val="0"/>
            </a:spcBef>
            <a:spcAft>
              <a:spcPct val="35000"/>
            </a:spcAft>
            <a:buNone/>
          </a:pPr>
          <a:r>
            <a:rPr lang="nl-BE" sz="2000" kern="1200" dirty="0">
              <a:solidFill>
                <a:sysClr val="windowText" lastClr="000000">
                  <a:hueOff val="0"/>
                  <a:satOff val="0"/>
                  <a:lumOff val="0"/>
                  <a:alphaOff val="0"/>
                </a:sysClr>
              </a:solidFill>
              <a:latin typeface="Calibri"/>
              <a:ea typeface="+mn-ea"/>
              <a:cs typeface="+mn-cs"/>
            </a:rPr>
            <a:t>18:00-21:30 uur</a:t>
          </a:r>
          <a:br>
            <a:rPr lang="nl-BE" sz="2000" kern="1200" dirty="0">
              <a:solidFill>
                <a:sysClr val="windowText" lastClr="000000">
                  <a:hueOff val="0"/>
                  <a:satOff val="0"/>
                  <a:lumOff val="0"/>
                  <a:alphaOff val="0"/>
                </a:sysClr>
              </a:solidFill>
              <a:latin typeface="Calibri"/>
              <a:ea typeface="+mn-ea"/>
              <a:cs typeface="+mn-cs"/>
            </a:rPr>
          </a:br>
          <a:r>
            <a:rPr lang="nl-BE" sz="2000" i="1" kern="1200" dirty="0">
              <a:solidFill>
                <a:sysClr val="windowText" lastClr="000000">
                  <a:hueOff val="0"/>
                  <a:satOff val="0"/>
                  <a:lumOff val="0"/>
                  <a:alphaOff val="0"/>
                </a:sysClr>
              </a:solidFill>
              <a:latin typeface="Calibri"/>
              <a:ea typeface="+mn-ea"/>
              <a:cs typeface="+mn-cs"/>
            </a:rPr>
            <a:t>(BF-studenten met de faciliteit ‘extra tijd’ starten al om 17:20)</a:t>
          </a:r>
        </a:p>
        <a:p>
          <a:pPr lvl="0" algn="ctr" defTabSz="889000">
            <a:lnSpc>
              <a:spcPct val="90000"/>
            </a:lnSpc>
            <a:spcBef>
              <a:spcPct val="0"/>
            </a:spcBef>
            <a:spcAft>
              <a:spcPct val="35000"/>
            </a:spcAft>
            <a:buNone/>
          </a:pPr>
          <a:endParaRPr lang="nl-BE" sz="2000" kern="1200" dirty="0">
            <a:solidFill>
              <a:sysClr val="windowText" lastClr="000000">
                <a:hueOff val="0"/>
                <a:satOff val="0"/>
                <a:lumOff val="0"/>
                <a:alphaOff val="0"/>
              </a:sysClr>
            </a:solidFill>
            <a:latin typeface="Calibri"/>
            <a:ea typeface="+mn-ea"/>
            <a:cs typeface="+mn-cs"/>
          </a:endParaRPr>
        </a:p>
      </dsp:txBody>
      <dsp:txXfrm>
        <a:off x="2253697" y="1345095"/>
        <a:ext cx="3557501" cy="984108"/>
      </dsp:txXfrm>
    </dsp:sp>
    <dsp:sp modelId="{0C10A799-D9F2-4EC8-BF8C-D4F912DCAD59}">
      <dsp:nvSpPr>
        <dsp:cNvPr id="0" name=""/>
        <dsp:cNvSpPr/>
      </dsp:nvSpPr>
      <dsp:spPr>
        <a:xfrm>
          <a:off x="6432972" y="720"/>
          <a:ext cx="1025085" cy="1025085"/>
        </a:xfrm>
        <a:prstGeom prst="ellipse">
          <a:avLst/>
        </a:prstGeom>
        <a:solidFill>
          <a:schemeClr val="bg2"/>
        </a:solidFill>
        <a:ln>
          <a:noFill/>
        </a:ln>
        <a:effectLst/>
      </dsp:spPr>
      <dsp:style>
        <a:lnRef idx="0">
          <a:scrgbClr r="0" g="0" b="0"/>
        </a:lnRef>
        <a:fillRef idx="1">
          <a:scrgbClr r="0" g="0" b="0"/>
        </a:fillRef>
        <a:effectRef idx="0">
          <a:scrgbClr r="0" g="0" b="0"/>
        </a:effectRef>
        <a:fontRef idx="minor"/>
      </dsp:style>
    </dsp:sp>
    <dsp:sp modelId="{DD6E13D5-43B8-4593-9C49-A351CF3E857A}">
      <dsp:nvSpPr>
        <dsp:cNvPr id="0" name=""/>
        <dsp:cNvSpPr/>
      </dsp:nvSpPr>
      <dsp:spPr>
        <a:xfrm>
          <a:off x="6651433" y="219181"/>
          <a:ext cx="588164" cy="5881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C81017-64EC-4956-AEBF-1A4A6B91E522}">
      <dsp:nvSpPr>
        <dsp:cNvPr id="0" name=""/>
        <dsp:cNvSpPr/>
      </dsp:nvSpPr>
      <dsp:spPr>
        <a:xfrm>
          <a:off x="6105280" y="1345095"/>
          <a:ext cx="1680468" cy="984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889000">
            <a:lnSpc>
              <a:spcPct val="90000"/>
            </a:lnSpc>
            <a:spcBef>
              <a:spcPct val="0"/>
            </a:spcBef>
            <a:spcAft>
              <a:spcPct val="35000"/>
            </a:spcAft>
            <a:buNone/>
          </a:pPr>
          <a:r>
            <a:rPr lang="nl-NL" sz="2000" kern="1200" dirty="0">
              <a:solidFill>
                <a:sysClr val="windowText" lastClr="000000">
                  <a:hueOff val="0"/>
                  <a:satOff val="0"/>
                  <a:lumOff val="0"/>
                  <a:alphaOff val="0"/>
                </a:sysClr>
              </a:solidFill>
              <a:latin typeface="Calibri"/>
              <a:ea typeface="+mn-ea"/>
              <a:cs typeface="+mn-cs"/>
            </a:rPr>
            <a:t>S.N.302</a:t>
          </a:r>
          <a:br>
            <a:rPr lang="nl-NL" sz="2000" kern="1200" dirty="0">
              <a:solidFill>
                <a:sysClr val="windowText" lastClr="000000">
                  <a:hueOff val="0"/>
                  <a:satOff val="0"/>
                  <a:lumOff val="0"/>
                  <a:alphaOff val="0"/>
                </a:sysClr>
              </a:solidFill>
              <a:latin typeface="Calibri"/>
              <a:ea typeface="+mn-ea"/>
              <a:cs typeface="+mn-cs"/>
            </a:rPr>
          </a:br>
          <a:r>
            <a:rPr lang="nl-NL" sz="2000" kern="1200" dirty="0">
              <a:solidFill>
                <a:sysClr val="windowText" lastClr="000000">
                  <a:hueOff val="0"/>
                  <a:satOff val="0"/>
                  <a:lumOff val="0"/>
                  <a:alphaOff val="0"/>
                </a:sysClr>
              </a:solidFill>
              <a:latin typeface="Calibri"/>
              <a:ea typeface="+mn-ea"/>
              <a:cs typeface="+mn-cs"/>
            </a:rPr>
            <a:t>S.N.202</a:t>
          </a:r>
          <a:endParaRPr lang="en-US" sz="2000" kern="1200" dirty="0">
            <a:solidFill>
              <a:sysClr val="windowText" lastClr="000000">
                <a:hueOff val="0"/>
                <a:satOff val="0"/>
                <a:lumOff val="0"/>
                <a:alphaOff val="0"/>
              </a:sysClr>
            </a:solidFill>
            <a:latin typeface="Calibri"/>
            <a:ea typeface="+mn-ea"/>
            <a:cs typeface="+mn-cs"/>
          </a:endParaRPr>
        </a:p>
      </dsp:txBody>
      <dsp:txXfrm>
        <a:off x="6105280" y="1345095"/>
        <a:ext cx="1680468" cy="98410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54450" y="0"/>
            <a:ext cx="2949575" cy="498475"/>
          </a:xfrm>
          <a:prstGeom prst="rect">
            <a:avLst/>
          </a:prstGeom>
        </p:spPr>
        <p:txBody>
          <a:bodyPr vert="horz" lIns="91440" tIns="45720" rIns="91440" bIns="45720" rtlCol="0"/>
          <a:lstStyle>
            <a:lvl1pPr algn="r">
              <a:defRPr sz="1200"/>
            </a:lvl1pPr>
          </a:lstStyle>
          <a:p>
            <a:fld id="{1BA024AD-D02E-1148-9813-A0DDE1A9AA61}" type="datetimeFigureOut">
              <a:rPr lang="nl-BE" smtClean="0"/>
              <a:t>21/05/2025</a:t>
            </a:fld>
            <a:endParaRPr lang="nl-BE"/>
          </a:p>
        </p:txBody>
      </p:sp>
      <p:sp>
        <p:nvSpPr>
          <p:cNvPr id="4" name="Tijdelijke aanduiding voor dia-afbeelding 3"/>
          <p:cNvSpPr>
            <a:spLocks noGrp="1" noRot="1" noChangeAspect="1"/>
          </p:cNvSpPr>
          <p:nvPr>
            <p:ph type="sldImg" idx="2"/>
          </p:nvPr>
        </p:nvSpPr>
        <p:spPr>
          <a:xfrm>
            <a:off x="420688" y="1243013"/>
            <a:ext cx="5964237" cy="3355975"/>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1038" y="4786313"/>
            <a:ext cx="5443537" cy="39147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9445625"/>
            <a:ext cx="2949575" cy="498475"/>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54450" y="9445625"/>
            <a:ext cx="2949575" cy="498475"/>
          </a:xfrm>
          <a:prstGeom prst="rect">
            <a:avLst/>
          </a:prstGeom>
        </p:spPr>
        <p:txBody>
          <a:bodyPr vert="horz" lIns="91440" tIns="45720" rIns="91440" bIns="45720" rtlCol="0" anchor="b"/>
          <a:lstStyle>
            <a:lvl1pPr algn="r">
              <a:defRPr sz="1200"/>
            </a:lvl1pPr>
          </a:lstStyle>
          <a:p>
            <a:fld id="{70203808-A6AE-8847-8EC6-9F383425AE8F}" type="slidenum">
              <a:rPr lang="nl-BE" smtClean="0"/>
              <a:t>‹nr.›</a:t>
            </a:fld>
            <a:endParaRPr lang="nl-BE"/>
          </a:p>
        </p:txBody>
      </p:sp>
    </p:spTree>
    <p:extLst>
      <p:ext uri="{BB962C8B-B14F-4D97-AF65-F5344CB8AC3E}">
        <p14:creationId xmlns:p14="http://schemas.microsoft.com/office/powerpoint/2010/main" val="426959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a:t>
            </a:fld>
            <a:endParaRPr lang="nl-BE"/>
          </a:p>
        </p:txBody>
      </p:sp>
    </p:spTree>
    <p:extLst>
      <p:ext uri="{BB962C8B-B14F-4D97-AF65-F5344CB8AC3E}">
        <p14:creationId xmlns:p14="http://schemas.microsoft.com/office/powerpoint/2010/main" val="2381352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a:t>
            </a:fld>
            <a:endParaRPr lang="nl-BE"/>
          </a:p>
        </p:txBody>
      </p:sp>
    </p:spTree>
    <p:extLst>
      <p:ext uri="{BB962C8B-B14F-4D97-AF65-F5344CB8AC3E}">
        <p14:creationId xmlns:p14="http://schemas.microsoft.com/office/powerpoint/2010/main" val="427359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4</a:t>
            </a:fld>
            <a:endParaRPr lang="nl-BE"/>
          </a:p>
        </p:txBody>
      </p:sp>
    </p:spTree>
    <p:extLst>
      <p:ext uri="{BB962C8B-B14F-4D97-AF65-F5344CB8AC3E}">
        <p14:creationId xmlns:p14="http://schemas.microsoft.com/office/powerpoint/2010/main" val="3520471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5</a:t>
            </a:fld>
            <a:endParaRPr lang="nl-BE"/>
          </a:p>
        </p:txBody>
      </p:sp>
    </p:spTree>
    <p:extLst>
      <p:ext uri="{BB962C8B-B14F-4D97-AF65-F5344CB8AC3E}">
        <p14:creationId xmlns:p14="http://schemas.microsoft.com/office/powerpoint/2010/main" val="2976960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6</a:t>
            </a:fld>
            <a:endParaRPr lang="nl-BE"/>
          </a:p>
        </p:txBody>
      </p:sp>
    </p:spTree>
    <p:extLst>
      <p:ext uri="{BB962C8B-B14F-4D97-AF65-F5344CB8AC3E}">
        <p14:creationId xmlns:p14="http://schemas.microsoft.com/office/powerpoint/2010/main" val="2674882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29</a:t>
            </a:fld>
            <a:endParaRPr lang="nl-BE"/>
          </a:p>
        </p:txBody>
      </p:sp>
    </p:spTree>
    <p:extLst>
      <p:ext uri="{BB962C8B-B14F-4D97-AF65-F5344CB8AC3E}">
        <p14:creationId xmlns:p14="http://schemas.microsoft.com/office/powerpoint/2010/main" val="2820159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35</a:t>
            </a:fld>
            <a:endParaRPr lang="nl-BE"/>
          </a:p>
        </p:txBody>
      </p:sp>
    </p:spTree>
    <p:extLst>
      <p:ext uri="{BB962C8B-B14F-4D97-AF65-F5344CB8AC3E}">
        <p14:creationId xmlns:p14="http://schemas.microsoft.com/office/powerpoint/2010/main" val="3917573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37</a:t>
            </a:fld>
            <a:endParaRPr lang="nl-BE"/>
          </a:p>
        </p:txBody>
      </p:sp>
    </p:spTree>
    <p:extLst>
      <p:ext uri="{BB962C8B-B14F-4D97-AF65-F5344CB8AC3E}">
        <p14:creationId xmlns:p14="http://schemas.microsoft.com/office/powerpoint/2010/main" val="906498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38</a:t>
            </a:fld>
            <a:endParaRPr lang="nl-BE"/>
          </a:p>
        </p:txBody>
      </p:sp>
    </p:spTree>
    <p:extLst>
      <p:ext uri="{BB962C8B-B14F-4D97-AF65-F5344CB8AC3E}">
        <p14:creationId xmlns:p14="http://schemas.microsoft.com/office/powerpoint/2010/main" val="3304218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39</a:t>
            </a:fld>
            <a:endParaRPr lang="nl-BE"/>
          </a:p>
        </p:txBody>
      </p:sp>
    </p:spTree>
    <p:extLst>
      <p:ext uri="{BB962C8B-B14F-4D97-AF65-F5344CB8AC3E}">
        <p14:creationId xmlns:p14="http://schemas.microsoft.com/office/powerpoint/2010/main" val="2431096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40</a:t>
            </a:fld>
            <a:endParaRPr lang="nl-BE"/>
          </a:p>
        </p:txBody>
      </p:sp>
    </p:spTree>
    <p:extLst>
      <p:ext uri="{BB962C8B-B14F-4D97-AF65-F5344CB8AC3E}">
        <p14:creationId xmlns:p14="http://schemas.microsoft.com/office/powerpoint/2010/main" val="136342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41</a:t>
            </a:fld>
            <a:endParaRPr lang="nl-BE"/>
          </a:p>
        </p:txBody>
      </p:sp>
    </p:spTree>
    <p:extLst>
      <p:ext uri="{BB962C8B-B14F-4D97-AF65-F5344CB8AC3E}">
        <p14:creationId xmlns:p14="http://schemas.microsoft.com/office/powerpoint/2010/main" val="4116963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DFDE4BDE-62C0-4962-8701-1564DF564F36}" type="slidenum">
              <a:rPr lang="nl-BE" smtClean="0"/>
              <a:t>49</a:t>
            </a:fld>
            <a:endParaRPr lang="nl-BE"/>
          </a:p>
        </p:txBody>
      </p:sp>
    </p:spTree>
    <p:extLst>
      <p:ext uri="{BB962C8B-B14F-4D97-AF65-F5344CB8AC3E}">
        <p14:creationId xmlns:p14="http://schemas.microsoft.com/office/powerpoint/2010/main" val="96111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Antwerpen_enkel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A766-FA6C-4E42-BAD1-58E378599FB5}"/>
              </a:ext>
            </a:extLst>
          </p:cNvPr>
          <p:cNvSpPr>
            <a:spLocks noGrp="1"/>
          </p:cNvSpPr>
          <p:nvPr>
            <p:ph type="title" hasCustomPrompt="1"/>
          </p:nvPr>
        </p:nvSpPr>
        <p:spPr/>
        <p:txBody>
          <a:bodyPr/>
          <a:lstStyle>
            <a:lvl1pPr>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B21DCFB5-39F0-E04F-B592-B890194C076F}"/>
              </a:ext>
            </a:extLst>
          </p:cNvPr>
          <p:cNvSpPr>
            <a:spLocks noGrp="1"/>
          </p:cNvSpPr>
          <p:nvPr>
            <p:ph type="sldNum" sz="quarter" idx="10"/>
          </p:nvPr>
        </p:nvSpPr>
        <p:spPr/>
        <p:txBody>
          <a:bodyPr/>
          <a:lstStyle/>
          <a:p>
            <a:fld id="{E038E271-308C-2E46-A3EC-56326F9084CC}" type="slidenum">
              <a:rPr lang="nl-BE" smtClean="0"/>
              <a:pPr/>
              <a:t>‹nr.›</a:t>
            </a:fld>
            <a:endParaRPr lang="nl-BE" dirty="0"/>
          </a:p>
        </p:txBody>
      </p:sp>
      <p:sp>
        <p:nvSpPr>
          <p:cNvPr id="4" name="Tijdelijke aanduiding voor tekst 2">
            <a:extLst>
              <a:ext uri="{FF2B5EF4-FFF2-40B4-BE49-F238E27FC236}">
                <a16:creationId xmlns:a16="http://schemas.microsoft.com/office/drawing/2014/main" id="{1F0EA669-8677-CD4C-AD8D-C4852AC0E3E4}"/>
              </a:ext>
            </a:extLst>
          </p:cNvPr>
          <p:cNvSpPr>
            <a:spLocks noGrp="1"/>
          </p:cNvSpPr>
          <p:nvPr>
            <p:ph idx="1" hasCustomPrompt="1"/>
          </p:nvPr>
        </p:nvSpPr>
        <p:spPr>
          <a:xfrm>
            <a:off x="623887" y="1577009"/>
            <a:ext cx="10944226" cy="4660279"/>
          </a:xfrm>
          <a:prstGeom prst="rect">
            <a:avLst/>
          </a:prstGeom>
        </p:spPr>
        <p:txBody>
          <a:bodyPr vert="horz" wrap="none" lIns="0" tIns="0" rIns="0" bIns="0" rtlCol="0">
            <a:noAutofit/>
          </a:bodyPr>
          <a:lstStyle>
            <a:lvl1pPr marL="274638" indent="-274638">
              <a:buClr>
                <a:schemeClr val="accent2"/>
              </a:buClr>
              <a:buSzPct val="75000"/>
              <a:buFont typeface="Wingdings" pitchFamily="2" charset="2"/>
              <a:buChar char="§"/>
              <a:tabLst/>
              <a:defRPr b="1" i="0">
                <a:latin typeface="Calibri" panose="020F0502020204030204" pitchFamily="34" charset="0"/>
                <a:cs typeface="Calibri" panose="020F0502020204030204" pitchFamily="34" charset="0"/>
              </a:defRPr>
            </a:lvl1pPr>
            <a:lvl2pPr>
              <a:buSzPct val="75000"/>
              <a:buFont typeface="Wingdings" pitchFamily="2" charset="2"/>
              <a:buChar char="§"/>
              <a:defRPr sz="2400" b="0" i="0">
                <a:solidFill>
                  <a:schemeClr val="tx1"/>
                </a:solidFill>
                <a:latin typeface="Calibri Light" panose="020F0302020204030204" pitchFamily="34" charset="0"/>
                <a:cs typeface="Calibri Light" panose="020F0302020204030204" pitchFamily="34" charset="0"/>
              </a:defRPr>
            </a:lvl2pPr>
            <a:lvl3pPr>
              <a:defRPr>
                <a:solidFill>
                  <a:schemeClr val="tx1"/>
                </a:solidFill>
              </a:defRPr>
            </a:lvl3pPr>
          </a:lstStyle>
          <a:p>
            <a:r>
              <a:rPr lang="nl-NL" dirty="0"/>
              <a:t>Eerste niveau</a:t>
            </a:r>
          </a:p>
          <a:p>
            <a:pPr lvl="1"/>
            <a:r>
              <a:rPr lang="nl-NL" dirty="0"/>
              <a:t>Tweede niveau</a:t>
            </a:r>
          </a:p>
          <a:p>
            <a:pPr lvl="2"/>
            <a:r>
              <a:rPr lang="nl-NL" dirty="0"/>
              <a:t>Derde niveau</a:t>
            </a:r>
            <a:endParaRPr lang="nl-BE" dirty="0"/>
          </a:p>
        </p:txBody>
      </p:sp>
    </p:spTree>
    <p:extLst>
      <p:ext uri="{BB962C8B-B14F-4D97-AF65-F5344CB8AC3E}">
        <p14:creationId xmlns:p14="http://schemas.microsoft.com/office/powerpoint/2010/main" val="188563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Antwerpen_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1B9851-093E-A241-B582-F0998CFFFEA9}"/>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7" name="Titel 4">
            <a:extLst>
              <a:ext uri="{FF2B5EF4-FFF2-40B4-BE49-F238E27FC236}">
                <a16:creationId xmlns:a16="http://schemas.microsoft.com/office/drawing/2014/main" id="{041CBA9C-BD5E-424C-93BC-60164869E1DC}"/>
              </a:ext>
            </a:extLst>
          </p:cNvPr>
          <p:cNvSpPr>
            <a:spLocks noGrp="1"/>
          </p:cNvSpPr>
          <p:nvPr>
            <p:ph type="title" hasCustomPrompt="1"/>
          </p:nvPr>
        </p:nvSpPr>
        <p:spPr>
          <a:xfrm>
            <a:off x="6564313" y="620713"/>
            <a:ext cx="5003800" cy="1385085"/>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inhoud 19">
            <a:extLst>
              <a:ext uri="{FF2B5EF4-FFF2-40B4-BE49-F238E27FC236}">
                <a16:creationId xmlns:a16="http://schemas.microsoft.com/office/drawing/2014/main" id="{BE210D56-4E21-934F-8202-FD47D01F6AAF}"/>
              </a:ext>
            </a:extLst>
          </p:cNvPr>
          <p:cNvSpPr>
            <a:spLocks noGrp="1"/>
          </p:cNvSpPr>
          <p:nvPr>
            <p:ph sz="quarter" idx="11" hasCustomPrompt="1"/>
          </p:nvPr>
        </p:nvSpPr>
        <p:spPr>
          <a:xfrm>
            <a:off x="6564313" y="2272145"/>
            <a:ext cx="5003800" cy="3965142"/>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9" name="Picture Placeholder 32">
            <a:extLst>
              <a:ext uri="{FF2B5EF4-FFF2-40B4-BE49-F238E27FC236}">
                <a16:creationId xmlns:a16="http://schemas.microsoft.com/office/drawing/2014/main" id="{971C9B50-FEE3-1047-A14B-9C8C2F5D606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7914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Antwerpen_beeldenquote">
    <p:spTree>
      <p:nvGrpSpPr>
        <p:cNvPr id="1" name=""/>
        <p:cNvGrpSpPr/>
        <p:nvPr/>
      </p:nvGrpSpPr>
      <p:grpSpPr>
        <a:xfrm>
          <a:off x="0" y="0"/>
          <a:ext cx="0" cy="0"/>
          <a:chOff x="0" y="0"/>
          <a:chExt cx="0" cy="0"/>
        </a:xfrm>
      </p:grpSpPr>
      <p:sp>
        <p:nvSpPr>
          <p:cNvPr id="5" name="Tijdelijke aanduiding voor tekst 5">
            <a:extLst>
              <a:ext uri="{FF2B5EF4-FFF2-40B4-BE49-F238E27FC236}">
                <a16:creationId xmlns:a16="http://schemas.microsoft.com/office/drawing/2014/main" id="{B12DC5D2-C15B-384E-ACE3-F0E40CA5B411}"/>
              </a:ext>
            </a:extLst>
          </p:cNvPr>
          <p:cNvSpPr>
            <a:spLocks noGrp="1"/>
          </p:cNvSpPr>
          <p:nvPr>
            <p:ph type="body" sz="quarter" idx="12" hasCustomPrompt="1"/>
          </p:nvPr>
        </p:nvSpPr>
        <p:spPr>
          <a:xfrm>
            <a:off x="6419850" y="3790950"/>
            <a:ext cx="4679950" cy="728662"/>
          </a:xfrm>
        </p:spPr>
        <p:txBody>
          <a:bodyPr lIns="0" tIns="0" rIns="0" bIns="0">
            <a:noAutofit/>
          </a:bodyPr>
          <a:lstStyle>
            <a:lvl1pPr>
              <a:defRPr sz="2400" b="1" i="0">
                <a:latin typeface="Calibri" panose="020F0502020204030204" pitchFamily="34" charset="0"/>
                <a:cs typeface="Calibri" panose="020F0502020204030204" pitchFamily="34" charset="0"/>
              </a:defRPr>
            </a:lvl1pPr>
          </a:lstStyle>
          <a:p>
            <a:r>
              <a:rPr lang="nl-NL" dirty="0"/>
              <a:t>Voornaam Naam</a:t>
            </a:r>
            <a:endParaRPr lang="nl-BE" dirty="0"/>
          </a:p>
        </p:txBody>
      </p:sp>
      <p:sp>
        <p:nvSpPr>
          <p:cNvPr id="6" name="Tijdelijke aanduiding voor dianummer 3">
            <a:extLst>
              <a:ext uri="{FF2B5EF4-FFF2-40B4-BE49-F238E27FC236}">
                <a16:creationId xmlns:a16="http://schemas.microsoft.com/office/drawing/2014/main" id="{00FD63E4-7A1F-3F45-BEA4-5214676296E8}"/>
              </a:ext>
            </a:extLst>
          </p:cNvPr>
          <p:cNvSpPr txBox="1">
            <a:spLocks/>
          </p:cNvSpPr>
          <p:nvPr userDrawn="1"/>
        </p:nvSpPr>
        <p:spPr>
          <a:xfrm>
            <a:off x="8923493" y="6339173"/>
            <a:ext cx="2743200" cy="365125"/>
          </a:xfrm>
          <a:prstGeom prst="rect">
            <a:avLst/>
          </a:prstGeom>
        </p:spPr>
        <p:txBody>
          <a:bodyPr vert="horz" lIns="91440" tIns="45720" rIns="91440" bIns="45720" rtlCol="0" anchor="ctr"/>
          <a:lstStyle>
            <a:defPPr>
              <a:defRPr lang="nl-BE"/>
            </a:defPPr>
            <a:lvl1pPr algn="r" rtl="0" eaLnBrk="0" fontAlgn="base" hangingPunct="0">
              <a:spcBef>
                <a:spcPct val="0"/>
              </a:spcBef>
              <a:spcAft>
                <a:spcPct val="0"/>
              </a:spcAft>
              <a:defRPr sz="1000" b="0" i="0" kern="1200">
                <a:solidFill>
                  <a:schemeClr val="tx2"/>
                </a:solidFill>
                <a:latin typeface="ITC Officina Sans Std Book" panose="020B0506040203020204" pitchFamily="34" charset="77"/>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fld id="{E038E271-308C-2E46-A3EC-56326F9084CC}" type="slidenum">
              <a:rPr lang="nl-BE" b="0" i="0" smtClean="0">
                <a:latin typeface="Calibri Light" panose="020F0302020204030204" pitchFamily="34" charset="0"/>
                <a:cs typeface="Calibri Light" panose="020F0302020204030204" pitchFamily="34" charset="0"/>
              </a:rPr>
              <a:pPr/>
              <a:t>‹nr.›</a:t>
            </a:fld>
            <a:endParaRPr lang="nl-BE" b="0" i="0" dirty="0">
              <a:latin typeface="Calibri Light" panose="020F0302020204030204" pitchFamily="34" charset="0"/>
              <a:cs typeface="Calibri Light" panose="020F0302020204030204" pitchFamily="34" charset="0"/>
            </a:endParaRPr>
          </a:p>
        </p:txBody>
      </p:sp>
      <p:sp>
        <p:nvSpPr>
          <p:cNvPr id="7" name="Text Placeholder 6">
            <a:extLst>
              <a:ext uri="{FF2B5EF4-FFF2-40B4-BE49-F238E27FC236}">
                <a16:creationId xmlns:a16="http://schemas.microsoft.com/office/drawing/2014/main" id="{028C578B-3D4D-A146-A851-282B51A240E9}"/>
              </a:ext>
            </a:extLst>
          </p:cNvPr>
          <p:cNvSpPr>
            <a:spLocks noGrp="1"/>
          </p:cNvSpPr>
          <p:nvPr>
            <p:ph type="body" sz="quarter" idx="14" hasCustomPrompt="1"/>
          </p:nvPr>
        </p:nvSpPr>
        <p:spPr>
          <a:xfrm>
            <a:off x="6419850" y="1550988"/>
            <a:ext cx="5148263" cy="2009775"/>
          </a:xfrm>
        </p:spPr>
        <p:txBody>
          <a:bodyPr/>
          <a:lstStyle>
            <a:lvl1pPr>
              <a:buFontTx/>
              <a:buNone/>
              <a:defRPr sz="4000" b="1" i="0">
                <a:latin typeface="Calibri" panose="020F0502020204030204" pitchFamily="34" charset="0"/>
                <a:cs typeface="Calibri" panose="020F0502020204030204" pitchFamily="34" charset="0"/>
              </a:defRPr>
            </a:lvl1pPr>
            <a:lvl2pPr>
              <a:buFontTx/>
              <a:buNone/>
              <a:defRPr b="1" i="0">
                <a:latin typeface="ITC Officina Sans Std Book" panose="020B0506040203020204" pitchFamily="34" charset="77"/>
              </a:defRPr>
            </a:lvl2pPr>
            <a:lvl3pPr>
              <a:buFontTx/>
              <a:buNone/>
              <a:defRPr b="1" i="0">
                <a:latin typeface="ITC Officina Sans Std Book" panose="020B0506040203020204" pitchFamily="34" charset="77"/>
              </a:defRPr>
            </a:lvl3pPr>
            <a:lvl4pPr>
              <a:buFontTx/>
              <a:buNone/>
              <a:defRPr b="1" i="0">
                <a:latin typeface="ITC Officina Sans Std Book" panose="020B0506040203020204" pitchFamily="34" charset="77"/>
              </a:defRPr>
            </a:lvl4pPr>
            <a:lvl5pPr>
              <a:buFontTx/>
              <a:buNone/>
              <a:defRPr b="1" i="0">
                <a:latin typeface="ITC Officina Sans Std Book" panose="020B0506040203020204" pitchFamily="34" charset="77"/>
              </a:defRPr>
            </a:lvl5pPr>
          </a:lstStyle>
          <a:p>
            <a:pPr lvl="0"/>
            <a:r>
              <a:rPr lang="en-GB" dirty="0"/>
              <a:t>Quote</a:t>
            </a:r>
            <a:endParaRPr lang="en-BE" dirty="0"/>
          </a:p>
        </p:txBody>
      </p:sp>
      <p:sp>
        <p:nvSpPr>
          <p:cNvPr id="8" name="Picture Placeholder 32">
            <a:extLst>
              <a:ext uri="{FF2B5EF4-FFF2-40B4-BE49-F238E27FC236}">
                <a16:creationId xmlns:a16="http://schemas.microsoft.com/office/drawing/2014/main" id="{EC1F9A97-4534-9843-B646-D059D7C6C13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9" name="TextBox 8">
            <a:extLst>
              <a:ext uri="{FF2B5EF4-FFF2-40B4-BE49-F238E27FC236}">
                <a16:creationId xmlns:a16="http://schemas.microsoft.com/office/drawing/2014/main" id="{6A5BB1C7-FC5A-B946-BB68-C1CE13FA7270}"/>
              </a:ext>
            </a:extLst>
          </p:cNvPr>
          <p:cNvSpPr txBox="1"/>
          <p:nvPr userDrawn="1"/>
        </p:nvSpPr>
        <p:spPr>
          <a:xfrm>
            <a:off x="7758545" y="1939636"/>
            <a:ext cx="0" cy="0"/>
          </a:xfrm>
          <a:prstGeom prst="rect">
            <a:avLst/>
          </a:prstGeom>
        </p:spPr>
        <p:txBody>
          <a:bodyPr vert="horz" wrap="none" lIns="91440" tIns="45720" rIns="91440" bIns="45720" rtlCol="0">
            <a:normAutofit fontScale="25000" lnSpcReduction="20000"/>
          </a:bodyPr>
          <a:lstStyle/>
          <a:p>
            <a:pPr algn="l"/>
            <a:endParaRPr lang="en-BE" sz="1600" b="0" i="0" dirty="0">
              <a:latin typeface="ITC Officina Sans Std Book" panose="020B0506040203020204" pitchFamily="34" charset="77"/>
            </a:endParaRPr>
          </a:p>
        </p:txBody>
      </p:sp>
      <p:pic>
        <p:nvPicPr>
          <p:cNvPr id="10" name="Afbeelding 9">
            <a:extLst>
              <a:ext uri="{FF2B5EF4-FFF2-40B4-BE49-F238E27FC236}">
                <a16:creationId xmlns:a16="http://schemas.microsoft.com/office/drawing/2014/main" id="{B9ECB3C9-12BB-DD49-AC9C-6DE65FEA7EBC}"/>
              </a:ext>
            </a:extLst>
          </p:cNvPr>
          <p:cNvPicPr>
            <a:picLocks noChangeAspect="1"/>
          </p:cNvPicPr>
          <p:nvPr userDrawn="1"/>
        </p:nvPicPr>
        <p:blipFill>
          <a:blip r:embed="rId2"/>
          <a:stretch>
            <a:fillRect/>
          </a:stretch>
        </p:blipFill>
        <p:spPr>
          <a:xfrm>
            <a:off x="6419850" y="620713"/>
            <a:ext cx="457550" cy="432593"/>
          </a:xfrm>
          <a:prstGeom prst="rect">
            <a:avLst/>
          </a:prstGeom>
        </p:spPr>
      </p:pic>
    </p:spTree>
    <p:extLst>
      <p:ext uri="{BB962C8B-B14F-4D97-AF65-F5344CB8AC3E}">
        <p14:creationId xmlns:p14="http://schemas.microsoft.com/office/powerpoint/2010/main" val="183364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Antwerpen_smal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6F1C0-FB41-374F-96D7-91F7C4144D94}"/>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9356378E-A322-0148-887E-E179D9487B69}"/>
              </a:ext>
            </a:extLst>
          </p:cNvPr>
          <p:cNvSpPr>
            <a:spLocks noGrp="1"/>
          </p:cNvSpPr>
          <p:nvPr>
            <p:ph type="title" hasCustomPrompt="1"/>
          </p:nvPr>
        </p:nvSpPr>
        <p:spPr>
          <a:xfrm>
            <a:off x="4187825" y="620713"/>
            <a:ext cx="7380287" cy="1524317"/>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FF5D94AB-D4EB-5448-86E3-3EB6A7057B58}"/>
              </a:ext>
            </a:extLst>
          </p:cNvPr>
          <p:cNvSpPr>
            <a:spLocks noGrp="1"/>
          </p:cNvSpPr>
          <p:nvPr>
            <p:ph sz="quarter" idx="11" hasCustomPrompt="1"/>
          </p:nvPr>
        </p:nvSpPr>
        <p:spPr>
          <a:xfrm>
            <a:off x="4187825" y="2386148"/>
            <a:ext cx="7380287" cy="3851139"/>
          </a:xfrm>
        </p:spPr>
        <p:txBody>
          <a:bodyPr lIns="0" tIns="0" rIns="0" bIns="0"/>
          <a:lstStyle>
            <a:lvl1pPr>
              <a:defRPr b="0" i="0">
                <a:latin typeface="Calibri" panose="020F0502020204030204" pitchFamily="34" charset="0"/>
                <a:cs typeface="Calibri" panose="020F0502020204030204" pitchFamily="34" charset="0"/>
              </a:defRPr>
            </a:lvl1pPr>
          </a:lstStyle>
          <a:p>
            <a:r>
              <a:rPr lang="nl-NL" dirty="0"/>
              <a:t>Inhoud</a:t>
            </a:r>
            <a:endParaRPr lang="nl-BE" dirty="0"/>
          </a:p>
        </p:txBody>
      </p:sp>
      <p:sp>
        <p:nvSpPr>
          <p:cNvPr id="7" name="Picture Placeholder 24">
            <a:extLst>
              <a:ext uri="{FF2B5EF4-FFF2-40B4-BE49-F238E27FC236}">
                <a16:creationId xmlns:a16="http://schemas.microsoft.com/office/drawing/2014/main" id="{68654313-1537-5142-95BA-4A8661FBC4E6}"/>
              </a:ext>
            </a:extLst>
          </p:cNvPr>
          <p:cNvSpPr>
            <a:spLocks noGrp="1"/>
          </p:cNvSpPr>
          <p:nvPr>
            <p:ph type="pic" idx="1" hasCustomPrompt="1"/>
          </p:nvPr>
        </p:nvSpPr>
        <p:spPr>
          <a:xfrm>
            <a:off x="623888" y="620713"/>
            <a:ext cx="2596742" cy="5616575"/>
          </a:xfrm>
          <a:custGeom>
            <a:avLst/>
            <a:gdLst>
              <a:gd name="connsiteX0" fmla="*/ 0 w 2596742"/>
              <a:gd name="connsiteY0" fmla="*/ 0 h 5616575"/>
              <a:gd name="connsiteX1" fmla="*/ 2596742 w 2596742"/>
              <a:gd name="connsiteY1" fmla="*/ 0 h 5616575"/>
              <a:gd name="connsiteX2" fmla="*/ 2596742 w 2596742"/>
              <a:gd name="connsiteY2" fmla="*/ 5616575 h 5616575"/>
              <a:gd name="connsiteX3" fmla="*/ 253304 w 2596742"/>
              <a:gd name="connsiteY3" fmla="*/ 5616575 h 5616575"/>
              <a:gd name="connsiteX4" fmla="*/ 202263 w 2596742"/>
              <a:gd name="connsiteY4" fmla="*/ 5611430 h 5616575"/>
              <a:gd name="connsiteX5" fmla="*/ 0 w 259674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6742" h="5616575">
                <a:moveTo>
                  <a:pt x="0" y="0"/>
                </a:moveTo>
                <a:lnTo>
                  <a:pt x="2596742" y="0"/>
                </a:lnTo>
                <a:lnTo>
                  <a:pt x="2596742" y="5616575"/>
                </a:lnTo>
                <a:lnTo>
                  <a:pt x="253304" y="5616575"/>
                </a:lnTo>
                <a:lnTo>
                  <a:pt x="202263" y="5611430"/>
                </a:lnTo>
                <a:cubicBezTo>
                  <a:pt x="86832" y="5587809"/>
                  <a:pt x="0" y="5485676"/>
                  <a:pt x="0" y="53632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467339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Antwerpen_breed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B888CD-A307-4440-9DD3-B7D11E6E0368}"/>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83767035-9902-FC49-AC72-35DC514AC308}"/>
              </a:ext>
            </a:extLst>
          </p:cNvPr>
          <p:cNvSpPr>
            <a:spLocks noGrp="1"/>
          </p:cNvSpPr>
          <p:nvPr>
            <p:ph type="title" hasCustomPrompt="1"/>
          </p:nvPr>
        </p:nvSpPr>
        <p:spPr>
          <a:xfrm>
            <a:off x="623887" y="3981389"/>
            <a:ext cx="10934529" cy="665480"/>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A4040A68-34E6-9A48-9414-CDB50C7EDBAA}"/>
              </a:ext>
            </a:extLst>
          </p:cNvPr>
          <p:cNvSpPr>
            <a:spLocks noGrp="1"/>
          </p:cNvSpPr>
          <p:nvPr>
            <p:ph sz="quarter" idx="11" hasCustomPrompt="1"/>
          </p:nvPr>
        </p:nvSpPr>
        <p:spPr>
          <a:xfrm>
            <a:off x="623888" y="4857371"/>
            <a:ext cx="10934529" cy="1379915"/>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6" name="Picture Placeholder 6">
            <a:extLst>
              <a:ext uri="{FF2B5EF4-FFF2-40B4-BE49-F238E27FC236}">
                <a16:creationId xmlns:a16="http://schemas.microsoft.com/office/drawing/2014/main" id="{D9E92B83-A16B-FC4F-BC12-7624D8F23711}"/>
              </a:ext>
            </a:extLst>
          </p:cNvPr>
          <p:cNvSpPr>
            <a:spLocks noGrp="1"/>
          </p:cNvSpPr>
          <p:nvPr>
            <p:ph type="pic" idx="1" hasCustomPrompt="1"/>
          </p:nvPr>
        </p:nvSpPr>
        <p:spPr>
          <a:xfrm>
            <a:off x="623888" y="620713"/>
            <a:ext cx="10934529" cy="3150175"/>
          </a:xfrm>
          <a:custGeom>
            <a:avLst/>
            <a:gdLst>
              <a:gd name="connsiteX0" fmla="*/ 0 w 10934529"/>
              <a:gd name="connsiteY0" fmla="*/ 0 h 3150175"/>
              <a:gd name="connsiteX1" fmla="*/ 10934529 w 10934529"/>
              <a:gd name="connsiteY1" fmla="*/ 0 h 3150175"/>
              <a:gd name="connsiteX2" fmla="*/ 10934529 w 10934529"/>
              <a:gd name="connsiteY2" fmla="*/ 3150175 h 3150175"/>
              <a:gd name="connsiteX3" fmla="*/ 253304 w 10934529"/>
              <a:gd name="connsiteY3" fmla="*/ 3150175 h 3150175"/>
              <a:gd name="connsiteX4" fmla="*/ 202263 w 10934529"/>
              <a:gd name="connsiteY4" fmla="*/ 3145030 h 3150175"/>
              <a:gd name="connsiteX5" fmla="*/ 0 w 10934529"/>
              <a:gd name="connsiteY5" fmla="*/ 2896862 h 315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529" h="3150175">
                <a:moveTo>
                  <a:pt x="0" y="0"/>
                </a:moveTo>
                <a:lnTo>
                  <a:pt x="10934529" y="0"/>
                </a:lnTo>
                <a:lnTo>
                  <a:pt x="10934529" y="3150175"/>
                </a:lnTo>
                <a:lnTo>
                  <a:pt x="253304" y="3150175"/>
                </a:lnTo>
                <a:lnTo>
                  <a:pt x="202263" y="3145030"/>
                </a:lnTo>
                <a:cubicBezTo>
                  <a:pt x="86832" y="3121409"/>
                  <a:pt x="0" y="3019276"/>
                  <a:pt x="0" y="28968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60649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UAntwerpen_3beeld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3DA42F-3FB6-ED4E-BB67-A10574D20985}"/>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001DE70-4479-594D-A26D-6DB2E92A0AFD}"/>
              </a:ext>
            </a:extLst>
          </p:cNvPr>
          <p:cNvSpPr>
            <a:spLocks noGrp="1"/>
          </p:cNvSpPr>
          <p:nvPr>
            <p:ph sz="quarter" idx="11" hasCustomPrompt="1"/>
          </p:nvPr>
        </p:nvSpPr>
        <p:spPr>
          <a:xfrm>
            <a:off x="632724" y="4184248"/>
            <a:ext cx="3434216" cy="2050586"/>
          </a:xfrm>
        </p:spPr>
        <p:txBody>
          <a:bodyPr lIns="0" tIns="0" rIns="0" bIns="0"/>
          <a:lstStyle>
            <a:lvl1pP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inhoud 19">
            <a:extLst>
              <a:ext uri="{FF2B5EF4-FFF2-40B4-BE49-F238E27FC236}">
                <a16:creationId xmlns:a16="http://schemas.microsoft.com/office/drawing/2014/main" id="{67FEAD4B-4784-944D-8A3A-6F8F05B24242}"/>
              </a:ext>
            </a:extLst>
          </p:cNvPr>
          <p:cNvSpPr>
            <a:spLocks noGrp="1"/>
          </p:cNvSpPr>
          <p:nvPr>
            <p:ph sz="quarter" idx="16" hasCustomPrompt="1"/>
          </p:nvPr>
        </p:nvSpPr>
        <p:spPr>
          <a:xfrm>
            <a:off x="4379572" y="4184248"/>
            <a:ext cx="3444601"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6" name="Tijdelijke aanduiding voor inhoud 19">
            <a:extLst>
              <a:ext uri="{FF2B5EF4-FFF2-40B4-BE49-F238E27FC236}">
                <a16:creationId xmlns:a16="http://schemas.microsoft.com/office/drawing/2014/main" id="{9200DA6C-1B4D-7949-8FFA-3FD5A35A038A}"/>
              </a:ext>
            </a:extLst>
          </p:cNvPr>
          <p:cNvSpPr>
            <a:spLocks noGrp="1"/>
          </p:cNvSpPr>
          <p:nvPr>
            <p:ph sz="quarter" idx="17" hasCustomPrompt="1"/>
          </p:nvPr>
        </p:nvSpPr>
        <p:spPr>
          <a:xfrm>
            <a:off x="8125016" y="4184248"/>
            <a:ext cx="3422523"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tekst 3">
            <a:extLst>
              <a:ext uri="{FF2B5EF4-FFF2-40B4-BE49-F238E27FC236}">
                <a16:creationId xmlns:a16="http://schemas.microsoft.com/office/drawing/2014/main" id="{AA798DC2-15C2-744D-A0DA-FBAD9971D432}"/>
              </a:ext>
            </a:extLst>
          </p:cNvPr>
          <p:cNvSpPr>
            <a:spLocks noGrp="1"/>
          </p:cNvSpPr>
          <p:nvPr>
            <p:ph type="body" sz="quarter" idx="20" hasCustomPrompt="1"/>
          </p:nvPr>
        </p:nvSpPr>
        <p:spPr>
          <a:xfrm>
            <a:off x="4367770" y="3547641"/>
            <a:ext cx="345701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tekst 3">
            <a:extLst>
              <a:ext uri="{FF2B5EF4-FFF2-40B4-BE49-F238E27FC236}">
                <a16:creationId xmlns:a16="http://schemas.microsoft.com/office/drawing/2014/main" id="{45C6B10F-3A7A-0A4C-A932-1D4E1382BFDF}"/>
              </a:ext>
            </a:extLst>
          </p:cNvPr>
          <p:cNvSpPr>
            <a:spLocks noGrp="1"/>
          </p:cNvSpPr>
          <p:nvPr>
            <p:ph type="body" sz="quarter" idx="21" hasCustomPrompt="1"/>
          </p:nvPr>
        </p:nvSpPr>
        <p:spPr>
          <a:xfrm>
            <a:off x="8123711" y="3547641"/>
            <a:ext cx="342382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9" name="Tijdelijke aanduiding voor tekst 3">
            <a:extLst>
              <a:ext uri="{FF2B5EF4-FFF2-40B4-BE49-F238E27FC236}">
                <a16:creationId xmlns:a16="http://schemas.microsoft.com/office/drawing/2014/main" id="{999ECC60-AB72-8647-A135-FB0CF9808264}"/>
              </a:ext>
            </a:extLst>
          </p:cNvPr>
          <p:cNvSpPr>
            <a:spLocks noGrp="1"/>
          </p:cNvSpPr>
          <p:nvPr>
            <p:ph type="body" sz="quarter" idx="22" hasCustomPrompt="1"/>
          </p:nvPr>
        </p:nvSpPr>
        <p:spPr>
          <a:xfrm>
            <a:off x="632724" y="3547641"/>
            <a:ext cx="3435526"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1" name="Picture Placeholder 18">
            <a:extLst>
              <a:ext uri="{FF2B5EF4-FFF2-40B4-BE49-F238E27FC236}">
                <a16:creationId xmlns:a16="http://schemas.microsoft.com/office/drawing/2014/main" id="{9EEB3BC6-5818-4244-A78C-1A7B9F04BE53}"/>
              </a:ext>
            </a:extLst>
          </p:cNvPr>
          <p:cNvSpPr>
            <a:spLocks noGrp="1"/>
          </p:cNvSpPr>
          <p:nvPr>
            <p:ph type="pic" sz="quarter" idx="12" hasCustomPrompt="1"/>
          </p:nvPr>
        </p:nvSpPr>
        <p:spPr>
          <a:xfrm>
            <a:off x="632723"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2" name="Picture Placeholder 20">
            <a:extLst>
              <a:ext uri="{FF2B5EF4-FFF2-40B4-BE49-F238E27FC236}">
                <a16:creationId xmlns:a16="http://schemas.microsoft.com/office/drawing/2014/main" id="{816787A9-2DFD-A54D-B3D1-B9387B7C8936}"/>
              </a:ext>
            </a:extLst>
          </p:cNvPr>
          <p:cNvSpPr>
            <a:spLocks noGrp="1"/>
          </p:cNvSpPr>
          <p:nvPr>
            <p:ph type="pic" sz="quarter" idx="23" hasCustomPrompt="1"/>
          </p:nvPr>
        </p:nvSpPr>
        <p:spPr>
          <a:xfrm>
            <a:off x="438106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lang="nl-BE" sz="2800" b="0" i="0" kern="1200">
                <a:solidFill>
                  <a:schemeClr val="bg1"/>
                </a:solidFill>
                <a:latin typeface="Calibri Light" panose="020F0302020204030204" pitchFamily="34" charset="0"/>
                <a:ea typeface="Verdana"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3" name="Picture Placeholder 21">
            <a:extLst>
              <a:ext uri="{FF2B5EF4-FFF2-40B4-BE49-F238E27FC236}">
                <a16:creationId xmlns:a16="http://schemas.microsoft.com/office/drawing/2014/main" id="{B04326B7-E91B-9740-A418-C88B2E74C607}"/>
              </a:ext>
            </a:extLst>
          </p:cNvPr>
          <p:cNvSpPr>
            <a:spLocks noGrp="1"/>
          </p:cNvSpPr>
          <p:nvPr>
            <p:ph type="pic" sz="quarter" idx="24" hasCustomPrompt="1"/>
          </p:nvPr>
        </p:nvSpPr>
        <p:spPr>
          <a:xfrm>
            <a:off x="812809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42218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Antwerpen_3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D96712-8A94-CB4B-8CE6-B7A18FB19433}"/>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EE21860-5FC5-0A4C-BF9F-FA989D78CDF1}"/>
              </a:ext>
            </a:extLst>
          </p:cNvPr>
          <p:cNvSpPr>
            <a:spLocks noGrp="1"/>
          </p:cNvSpPr>
          <p:nvPr>
            <p:ph sz="quarter" idx="11" hasCustomPrompt="1"/>
          </p:nvPr>
        </p:nvSpPr>
        <p:spPr>
          <a:xfrm>
            <a:off x="631466" y="4248036"/>
            <a:ext cx="3439464" cy="1989251"/>
          </a:xfrm>
        </p:spPr>
        <p:txBody>
          <a:bodyPr lIns="0" tIns="0" rIns="0" bIns="0"/>
          <a:lstStyle>
            <a:lvl1pPr algn="ct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9BF78AC3-F061-4145-A432-3FB7391D0F0E}"/>
              </a:ext>
            </a:extLst>
          </p:cNvPr>
          <p:cNvSpPr>
            <a:spLocks noGrp="1"/>
          </p:cNvSpPr>
          <p:nvPr>
            <p:ph type="pic" sz="quarter" idx="12" hasCustomPrompt="1"/>
          </p:nvPr>
        </p:nvSpPr>
        <p:spPr>
          <a:xfrm>
            <a:off x="1514198" y="1378339"/>
            <a:ext cx="1674000" cy="1672263"/>
          </a:xfrm>
          <a:prstGeom prst="roundRect">
            <a:avLst>
              <a:gd name="adj" fmla="val 7157"/>
            </a:avLst>
          </a:prstGeom>
          <a:solidFill>
            <a:schemeClr val="accent2"/>
          </a:solidFill>
        </p:spPr>
        <p:txBody>
          <a:bodyPr>
            <a:normAutofit/>
          </a:bodyPr>
          <a:lstStyle>
            <a:lvl1pPr>
              <a:defRPr lang="nl-BE" sz="1600" b="1"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afbeelding 33">
            <a:extLst>
              <a:ext uri="{FF2B5EF4-FFF2-40B4-BE49-F238E27FC236}">
                <a16:creationId xmlns:a16="http://schemas.microsoft.com/office/drawing/2014/main" id="{AAA97E2B-5188-B740-8501-2BF96B4796A0}"/>
              </a:ext>
            </a:extLst>
          </p:cNvPr>
          <p:cNvSpPr>
            <a:spLocks noGrp="1"/>
          </p:cNvSpPr>
          <p:nvPr>
            <p:ph type="pic" sz="quarter" idx="18" hasCustomPrompt="1"/>
          </p:nvPr>
        </p:nvSpPr>
        <p:spPr>
          <a:xfrm>
            <a:off x="5253126"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7" name="Tijdelijke aanduiding voor afbeelding 33">
            <a:extLst>
              <a:ext uri="{FF2B5EF4-FFF2-40B4-BE49-F238E27FC236}">
                <a16:creationId xmlns:a16="http://schemas.microsoft.com/office/drawing/2014/main" id="{6410F448-44B9-E245-8CA2-3AC4F6FCD9F3}"/>
              </a:ext>
            </a:extLst>
          </p:cNvPr>
          <p:cNvSpPr>
            <a:spLocks noGrp="1"/>
          </p:cNvSpPr>
          <p:nvPr>
            <p:ph type="pic" sz="quarter" idx="19" hasCustomPrompt="1"/>
          </p:nvPr>
        </p:nvSpPr>
        <p:spPr>
          <a:xfrm>
            <a:off x="9005909"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tekst 3">
            <a:extLst>
              <a:ext uri="{FF2B5EF4-FFF2-40B4-BE49-F238E27FC236}">
                <a16:creationId xmlns:a16="http://schemas.microsoft.com/office/drawing/2014/main" id="{C9026212-289C-F34A-A4D7-E30D294D4195}"/>
              </a:ext>
            </a:extLst>
          </p:cNvPr>
          <p:cNvSpPr>
            <a:spLocks noGrp="1"/>
          </p:cNvSpPr>
          <p:nvPr>
            <p:ph type="body" sz="quarter" idx="22" hasCustomPrompt="1"/>
          </p:nvPr>
        </p:nvSpPr>
        <p:spPr>
          <a:xfrm>
            <a:off x="630810" y="3725749"/>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0" name="Tijdelijke aanduiding voor inhoud 19">
            <a:extLst>
              <a:ext uri="{FF2B5EF4-FFF2-40B4-BE49-F238E27FC236}">
                <a16:creationId xmlns:a16="http://schemas.microsoft.com/office/drawing/2014/main" id="{BAE77478-3281-CE4C-A99F-3E6F4A49E17C}"/>
              </a:ext>
            </a:extLst>
          </p:cNvPr>
          <p:cNvSpPr>
            <a:spLocks noGrp="1"/>
          </p:cNvSpPr>
          <p:nvPr>
            <p:ph sz="quarter" idx="23" hasCustomPrompt="1"/>
          </p:nvPr>
        </p:nvSpPr>
        <p:spPr>
          <a:xfrm>
            <a:off x="8123177" y="4248037"/>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1" name="Tijdelijke aanduiding voor tekst 3">
            <a:extLst>
              <a:ext uri="{FF2B5EF4-FFF2-40B4-BE49-F238E27FC236}">
                <a16:creationId xmlns:a16="http://schemas.microsoft.com/office/drawing/2014/main" id="{642A680A-1625-824E-8281-465F0A135B3A}"/>
              </a:ext>
            </a:extLst>
          </p:cNvPr>
          <p:cNvSpPr>
            <a:spLocks noGrp="1"/>
          </p:cNvSpPr>
          <p:nvPr>
            <p:ph type="body" sz="quarter" idx="24" hasCustomPrompt="1"/>
          </p:nvPr>
        </p:nvSpPr>
        <p:spPr>
          <a:xfrm>
            <a:off x="8122521" y="3725750"/>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2" name="Tijdelijke aanduiding voor inhoud 19">
            <a:extLst>
              <a:ext uri="{FF2B5EF4-FFF2-40B4-BE49-F238E27FC236}">
                <a16:creationId xmlns:a16="http://schemas.microsoft.com/office/drawing/2014/main" id="{050AED9D-9374-024A-95E7-51259149F7B6}"/>
              </a:ext>
            </a:extLst>
          </p:cNvPr>
          <p:cNvSpPr>
            <a:spLocks noGrp="1"/>
          </p:cNvSpPr>
          <p:nvPr>
            <p:ph sz="quarter" idx="25" hasCustomPrompt="1"/>
          </p:nvPr>
        </p:nvSpPr>
        <p:spPr>
          <a:xfrm>
            <a:off x="4370394" y="4226560"/>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3" name="Tijdelijke aanduiding voor tekst 3">
            <a:extLst>
              <a:ext uri="{FF2B5EF4-FFF2-40B4-BE49-F238E27FC236}">
                <a16:creationId xmlns:a16="http://schemas.microsoft.com/office/drawing/2014/main" id="{466E1215-57EE-734D-95D4-32CDFD6B77AE}"/>
              </a:ext>
            </a:extLst>
          </p:cNvPr>
          <p:cNvSpPr>
            <a:spLocks noGrp="1"/>
          </p:cNvSpPr>
          <p:nvPr>
            <p:ph type="body" sz="quarter" idx="26" hasCustomPrompt="1"/>
          </p:nvPr>
        </p:nvSpPr>
        <p:spPr>
          <a:xfrm>
            <a:off x="4369738" y="3704273"/>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Tree>
    <p:extLst>
      <p:ext uri="{BB962C8B-B14F-4D97-AF65-F5344CB8AC3E}">
        <p14:creationId xmlns:p14="http://schemas.microsoft.com/office/powerpoint/2010/main" val="167923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Antwerpen_6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A64A23-42F4-0341-A372-ED0B454B670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A56CA53A-2F47-F94E-BBC9-739AF3FD799B}"/>
              </a:ext>
            </a:extLst>
          </p:cNvPr>
          <p:cNvSpPr>
            <a:spLocks noGrp="1"/>
          </p:cNvSpPr>
          <p:nvPr>
            <p:ph sz="quarter" idx="11" hasCustomPrompt="1"/>
          </p:nvPr>
        </p:nvSpPr>
        <p:spPr>
          <a:xfrm>
            <a:off x="1339266" y="2133247"/>
            <a:ext cx="2406350" cy="1404432"/>
          </a:xfrm>
        </p:spPr>
        <p:txBody>
          <a:bodyPr lIns="0" tIns="0" rIns="0" bIns="0"/>
          <a:lstStyle>
            <a:lvl1pPr algn="l">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19D3F277-1732-274A-BDAC-F3BB5EB73340}"/>
              </a:ext>
            </a:extLst>
          </p:cNvPr>
          <p:cNvSpPr>
            <a:spLocks noGrp="1"/>
          </p:cNvSpPr>
          <p:nvPr>
            <p:ph type="pic" sz="quarter" idx="12" hasCustomPrompt="1"/>
          </p:nvPr>
        </p:nvSpPr>
        <p:spPr>
          <a:xfrm>
            <a:off x="630664" y="1389094"/>
            <a:ext cx="467313" cy="466828"/>
          </a:xfrm>
          <a:prstGeom prst="roundRect">
            <a:avLst>
              <a:gd name="adj" fmla="val 7157"/>
            </a:avLst>
          </a:prstGeom>
          <a:solidFill>
            <a:schemeClr val="accent2"/>
          </a:solidFill>
        </p:spPr>
        <p:txBody>
          <a:bodyPr>
            <a:normAutofit/>
          </a:bodyPr>
          <a:lstStyle>
            <a:lvl1pPr>
              <a:defRPr sz="800" b="0" i="0">
                <a:solidFill>
                  <a:schemeClr val="bg1"/>
                </a:solidFill>
                <a:latin typeface="Calibri Light" panose="020F0302020204030204" pitchFamily="34"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inhoud 19">
            <a:extLst>
              <a:ext uri="{FF2B5EF4-FFF2-40B4-BE49-F238E27FC236}">
                <a16:creationId xmlns:a16="http://schemas.microsoft.com/office/drawing/2014/main" id="{9D9A0FC3-0D38-0441-BB3C-75F8A95AF946}"/>
              </a:ext>
            </a:extLst>
          </p:cNvPr>
          <p:cNvSpPr>
            <a:spLocks noGrp="1"/>
          </p:cNvSpPr>
          <p:nvPr>
            <p:ph sz="quarter" idx="14" hasCustomPrompt="1"/>
          </p:nvPr>
        </p:nvSpPr>
        <p:spPr>
          <a:xfrm>
            <a:off x="5070977"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afbeelding 33">
            <a:extLst>
              <a:ext uri="{FF2B5EF4-FFF2-40B4-BE49-F238E27FC236}">
                <a16:creationId xmlns:a16="http://schemas.microsoft.com/office/drawing/2014/main" id="{C73DE83C-1825-BF4A-A473-AF62420F8C69}"/>
              </a:ext>
            </a:extLst>
          </p:cNvPr>
          <p:cNvSpPr>
            <a:spLocks noGrp="1"/>
          </p:cNvSpPr>
          <p:nvPr>
            <p:ph type="pic" sz="quarter" idx="15" hasCustomPrompt="1"/>
          </p:nvPr>
        </p:nvSpPr>
        <p:spPr>
          <a:xfrm>
            <a:off x="4410221"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inhoud 19">
            <a:extLst>
              <a:ext uri="{FF2B5EF4-FFF2-40B4-BE49-F238E27FC236}">
                <a16:creationId xmlns:a16="http://schemas.microsoft.com/office/drawing/2014/main" id="{2045FFF3-F25B-614B-A526-AC100D6B9B02}"/>
              </a:ext>
            </a:extLst>
          </p:cNvPr>
          <p:cNvSpPr>
            <a:spLocks noGrp="1"/>
          </p:cNvSpPr>
          <p:nvPr>
            <p:ph sz="quarter" idx="16" hasCustomPrompt="1"/>
          </p:nvPr>
        </p:nvSpPr>
        <p:spPr>
          <a:xfrm>
            <a:off x="8815080"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9" name="Tijdelijke aanduiding voor afbeelding 33">
            <a:extLst>
              <a:ext uri="{FF2B5EF4-FFF2-40B4-BE49-F238E27FC236}">
                <a16:creationId xmlns:a16="http://schemas.microsoft.com/office/drawing/2014/main" id="{64A41B62-3349-A641-9E85-33C3E278DD4F}"/>
              </a:ext>
            </a:extLst>
          </p:cNvPr>
          <p:cNvSpPr>
            <a:spLocks noGrp="1"/>
          </p:cNvSpPr>
          <p:nvPr>
            <p:ph type="pic" sz="quarter" idx="17" hasCustomPrompt="1"/>
          </p:nvPr>
        </p:nvSpPr>
        <p:spPr>
          <a:xfrm>
            <a:off x="8141330"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0" name="Tijdelijke aanduiding voor inhoud 2">
            <a:extLst>
              <a:ext uri="{FF2B5EF4-FFF2-40B4-BE49-F238E27FC236}">
                <a16:creationId xmlns:a16="http://schemas.microsoft.com/office/drawing/2014/main" id="{88F6B30C-94E8-264F-86F5-31D0E47D7244}"/>
              </a:ext>
            </a:extLst>
          </p:cNvPr>
          <p:cNvSpPr>
            <a:spLocks noGrp="1"/>
          </p:cNvSpPr>
          <p:nvPr>
            <p:ph sz="quarter" idx="24" hasCustomPrompt="1"/>
          </p:nvPr>
        </p:nvSpPr>
        <p:spPr>
          <a:xfrm>
            <a:off x="5058585"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1" name="Tijdelijke aanduiding voor inhoud 2">
            <a:extLst>
              <a:ext uri="{FF2B5EF4-FFF2-40B4-BE49-F238E27FC236}">
                <a16:creationId xmlns:a16="http://schemas.microsoft.com/office/drawing/2014/main" id="{261850B4-D4F1-234A-9F22-195572228DA4}"/>
              </a:ext>
            </a:extLst>
          </p:cNvPr>
          <p:cNvSpPr>
            <a:spLocks noGrp="1"/>
          </p:cNvSpPr>
          <p:nvPr>
            <p:ph sz="quarter" idx="25" hasCustomPrompt="1"/>
          </p:nvPr>
        </p:nvSpPr>
        <p:spPr>
          <a:xfrm>
            <a:off x="8802688" y="1411391"/>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12" name="Tijdelijke aanduiding voor inhoud 2">
            <a:extLst>
              <a:ext uri="{FF2B5EF4-FFF2-40B4-BE49-F238E27FC236}">
                <a16:creationId xmlns:a16="http://schemas.microsoft.com/office/drawing/2014/main" id="{DCDD9BD6-DB58-C84C-BD3C-F9652F4D492B}"/>
              </a:ext>
            </a:extLst>
          </p:cNvPr>
          <p:cNvSpPr>
            <a:spLocks noGrp="1"/>
          </p:cNvSpPr>
          <p:nvPr>
            <p:ph sz="quarter" idx="26" hasCustomPrompt="1"/>
          </p:nvPr>
        </p:nvSpPr>
        <p:spPr>
          <a:xfrm>
            <a:off x="1326874"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4" name="Tijdelijke aanduiding voor inhoud 19">
            <a:extLst>
              <a:ext uri="{FF2B5EF4-FFF2-40B4-BE49-F238E27FC236}">
                <a16:creationId xmlns:a16="http://schemas.microsoft.com/office/drawing/2014/main" id="{0385125A-3379-2746-BD83-583F817C5CC6}"/>
              </a:ext>
            </a:extLst>
          </p:cNvPr>
          <p:cNvSpPr>
            <a:spLocks noGrp="1"/>
          </p:cNvSpPr>
          <p:nvPr>
            <p:ph sz="quarter" idx="27" hasCustomPrompt="1"/>
          </p:nvPr>
        </p:nvSpPr>
        <p:spPr>
          <a:xfrm>
            <a:off x="1339266"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5" name="Tijdelijke aanduiding voor afbeelding 33">
            <a:extLst>
              <a:ext uri="{FF2B5EF4-FFF2-40B4-BE49-F238E27FC236}">
                <a16:creationId xmlns:a16="http://schemas.microsoft.com/office/drawing/2014/main" id="{965879DE-F296-964E-A952-9184C5050EF5}"/>
              </a:ext>
            </a:extLst>
          </p:cNvPr>
          <p:cNvSpPr>
            <a:spLocks noGrp="1"/>
          </p:cNvSpPr>
          <p:nvPr>
            <p:ph type="pic" sz="quarter" idx="28" hasCustomPrompt="1"/>
          </p:nvPr>
        </p:nvSpPr>
        <p:spPr>
          <a:xfrm>
            <a:off x="630664"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6" name="Tijdelijke aanduiding voor inhoud 19">
            <a:extLst>
              <a:ext uri="{FF2B5EF4-FFF2-40B4-BE49-F238E27FC236}">
                <a16:creationId xmlns:a16="http://schemas.microsoft.com/office/drawing/2014/main" id="{2459C232-5B0E-134D-B9C4-9B40E0751E2B}"/>
              </a:ext>
            </a:extLst>
          </p:cNvPr>
          <p:cNvSpPr>
            <a:spLocks noGrp="1"/>
          </p:cNvSpPr>
          <p:nvPr>
            <p:ph sz="quarter" idx="29" hasCustomPrompt="1"/>
          </p:nvPr>
        </p:nvSpPr>
        <p:spPr>
          <a:xfrm>
            <a:off x="5070977"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7" name="Tijdelijke aanduiding voor afbeelding 33">
            <a:extLst>
              <a:ext uri="{FF2B5EF4-FFF2-40B4-BE49-F238E27FC236}">
                <a16:creationId xmlns:a16="http://schemas.microsoft.com/office/drawing/2014/main" id="{D15EA347-33D1-EE4E-9464-3CF0EAE3CC0B}"/>
              </a:ext>
            </a:extLst>
          </p:cNvPr>
          <p:cNvSpPr>
            <a:spLocks noGrp="1"/>
          </p:cNvSpPr>
          <p:nvPr>
            <p:ph type="pic" sz="quarter" idx="30" hasCustomPrompt="1"/>
          </p:nvPr>
        </p:nvSpPr>
        <p:spPr>
          <a:xfrm>
            <a:off x="4410221"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8" name="Tijdelijke aanduiding voor inhoud 19">
            <a:extLst>
              <a:ext uri="{FF2B5EF4-FFF2-40B4-BE49-F238E27FC236}">
                <a16:creationId xmlns:a16="http://schemas.microsoft.com/office/drawing/2014/main" id="{FA64A415-5531-2B4D-907A-7C688388BF90}"/>
              </a:ext>
            </a:extLst>
          </p:cNvPr>
          <p:cNvSpPr>
            <a:spLocks noGrp="1"/>
          </p:cNvSpPr>
          <p:nvPr>
            <p:ph sz="quarter" idx="31" hasCustomPrompt="1"/>
          </p:nvPr>
        </p:nvSpPr>
        <p:spPr>
          <a:xfrm>
            <a:off x="8815080"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9" name="Tijdelijke aanduiding voor afbeelding 33">
            <a:extLst>
              <a:ext uri="{FF2B5EF4-FFF2-40B4-BE49-F238E27FC236}">
                <a16:creationId xmlns:a16="http://schemas.microsoft.com/office/drawing/2014/main" id="{4EC1974C-2EB3-274B-A88C-617CC7414E5A}"/>
              </a:ext>
            </a:extLst>
          </p:cNvPr>
          <p:cNvSpPr>
            <a:spLocks noGrp="1"/>
          </p:cNvSpPr>
          <p:nvPr>
            <p:ph type="pic" sz="quarter" idx="32" hasCustomPrompt="1"/>
          </p:nvPr>
        </p:nvSpPr>
        <p:spPr>
          <a:xfrm>
            <a:off x="8141330"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20" name="Tijdelijke aanduiding voor inhoud 2">
            <a:extLst>
              <a:ext uri="{FF2B5EF4-FFF2-40B4-BE49-F238E27FC236}">
                <a16:creationId xmlns:a16="http://schemas.microsoft.com/office/drawing/2014/main" id="{330314A6-BF29-EC42-BF75-622C5286D534}"/>
              </a:ext>
            </a:extLst>
          </p:cNvPr>
          <p:cNvSpPr>
            <a:spLocks noGrp="1"/>
          </p:cNvSpPr>
          <p:nvPr>
            <p:ph sz="quarter" idx="33" hasCustomPrompt="1"/>
          </p:nvPr>
        </p:nvSpPr>
        <p:spPr>
          <a:xfrm>
            <a:off x="5058585"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1" name="Tijdelijke aanduiding voor inhoud 2">
            <a:extLst>
              <a:ext uri="{FF2B5EF4-FFF2-40B4-BE49-F238E27FC236}">
                <a16:creationId xmlns:a16="http://schemas.microsoft.com/office/drawing/2014/main" id="{D6D76FCC-D508-DD4F-BB82-48A5BCC54578}"/>
              </a:ext>
            </a:extLst>
          </p:cNvPr>
          <p:cNvSpPr>
            <a:spLocks noGrp="1"/>
          </p:cNvSpPr>
          <p:nvPr>
            <p:ph sz="quarter" idx="34" hasCustomPrompt="1"/>
          </p:nvPr>
        </p:nvSpPr>
        <p:spPr>
          <a:xfrm>
            <a:off x="8802688"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2" name="Tijdelijke aanduiding voor inhoud 2">
            <a:extLst>
              <a:ext uri="{FF2B5EF4-FFF2-40B4-BE49-F238E27FC236}">
                <a16:creationId xmlns:a16="http://schemas.microsoft.com/office/drawing/2014/main" id="{125E4E80-E44F-EA4F-8054-6AB42A8470B4}"/>
              </a:ext>
            </a:extLst>
          </p:cNvPr>
          <p:cNvSpPr>
            <a:spLocks noGrp="1"/>
          </p:cNvSpPr>
          <p:nvPr>
            <p:ph sz="quarter" idx="35" hasCustomPrompt="1"/>
          </p:nvPr>
        </p:nvSpPr>
        <p:spPr>
          <a:xfrm>
            <a:off x="1326874"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Tree>
    <p:extLst>
      <p:ext uri="{BB962C8B-B14F-4D97-AF65-F5344CB8AC3E}">
        <p14:creationId xmlns:p14="http://schemas.microsoft.com/office/powerpoint/2010/main" val="414916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Antwerpen-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906A4-C8C0-BA4F-A09B-9014BCE49913}"/>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1876E971-EE47-7745-ACA8-1DEF0415F3DA}"/>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967EE9E6-2701-5E4F-A341-5478485FBD82}"/>
              </a:ext>
            </a:extLst>
          </p:cNvPr>
          <p:cNvSpPr>
            <a:spLocks noGrp="1"/>
          </p:cNvSpPr>
          <p:nvPr>
            <p:ph type="chart" sz="quarter" idx="11" hasCustomPrompt="1"/>
          </p:nvPr>
        </p:nvSpPr>
        <p:spPr>
          <a:xfrm>
            <a:off x="623889" y="1578459"/>
            <a:ext cx="10944224" cy="4658829"/>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Tree>
    <p:extLst>
      <p:ext uri="{BB962C8B-B14F-4D97-AF65-F5344CB8AC3E}">
        <p14:creationId xmlns:p14="http://schemas.microsoft.com/office/powerpoint/2010/main" val="308275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Antwerpen_grafieken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6014-7DB0-CF4A-88E9-463AB221AB3E}"/>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0245457A-9933-1149-9392-ABAF631B7C6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3AF460E3-37FD-6B4C-86A1-EEC95DD40B34}"/>
              </a:ext>
            </a:extLst>
          </p:cNvPr>
          <p:cNvSpPr>
            <a:spLocks noGrp="1"/>
          </p:cNvSpPr>
          <p:nvPr>
            <p:ph type="chart" sz="quarter" idx="11" hasCustomPrompt="1"/>
          </p:nvPr>
        </p:nvSpPr>
        <p:spPr>
          <a:xfrm>
            <a:off x="623889" y="2760663"/>
            <a:ext cx="10944224" cy="3476625"/>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
        <p:nvSpPr>
          <p:cNvPr id="5" name="Text Placeholder 3">
            <a:extLst>
              <a:ext uri="{FF2B5EF4-FFF2-40B4-BE49-F238E27FC236}">
                <a16:creationId xmlns:a16="http://schemas.microsoft.com/office/drawing/2014/main" id="{4A507705-E8A5-0A44-A7D0-4ECFDD431F4E}"/>
              </a:ext>
            </a:extLst>
          </p:cNvPr>
          <p:cNvSpPr>
            <a:spLocks noGrp="1"/>
          </p:cNvSpPr>
          <p:nvPr>
            <p:ph type="body" sz="quarter" idx="12" hasCustomPrompt="1"/>
          </p:nvPr>
        </p:nvSpPr>
        <p:spPr>
          <a:xfrm>
            <a:off x="623888" y="1690688"/>
            <a:ext cx="10936287" cy="885825"/>
          </a:xfrm>
        </p:spPr>
        <p:txBody>
          <a:bodyPr/>
          <a:lstStyle>
            <a:lvl1pPr>
              <a:defRPr b="0" i="0">
                <a:latin typeface="+mn-lt"/>
                <a:cs typeface="Calibri Light" panose="020F0302020204030204" pitchFamily="34" charset="0"/>
              </a:defRPr>
            </a:lvl1pPr>
          </a:lstStyle>
          <a:p>
            <a:r>
              <a:rPr lang="nl-NL" dirty="0"/>
              <a:t>Ondertitel</a:t>
            </a:r>
          </a:p>
        </p:txBody>
      </p:sp>
    </p:spTree>
    <p:extLst>
      <p:ext uri="{BB962C8B-B14F-4D97-AF65-F5344CB8AC3E}">
        <p14:creationId xmlns:p14="http://schemas.microsoft.com/office/powerpoint/2010/main" val="3683614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UAntwerpen_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08025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UAntwerpen_imageand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1B9851-093E-A241-B582-F0998CFFFEA9}"/>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a:latin typeface="Calibri Light" panose="020F0302020204030204" pitchFamily="34" charset="0"/>
            </a:endParaRPr>
          </a:p>
        </p:txBody>
      </p:sp>
      <p:sp>
        <p:nvSpPr>
          <p:cNvPr id="7" name="Titel 4">
            <a:extLst>
              <a:ext uri="{FF2B5EF4-FFF2-40B4-BE49-F238E27FC236}">
                <a16:creationId xmlns:a16="http://schemas.microsoft.com/office/drawing/2014/main" id="{041CBA9C-BD5E-424C-93BC-60164869E1DC}"/>
              </a:ext>
            </a:extLst>
          </p:cNvPr>
          <p:cNvSpPr>
            <a:spLocks noGrp="1"/>
          </p:cNvSpPr>
          <p:nvPr>
            <p:ph type="title" hasCustomPrompt="1"/>
          </p:nvPr>
        </p:nvSpPr>
        <p:spPr>
          <a:xfrm>
            <a:off x="6564313" y="620713"/>
            <a:ext cx="5003800" cy="1385085"/>
          </a:xfrm>
        </p:spPr>
        <p:txBody>
          <a:bodyPr/>
          <a:lstStyle>
            <a:lvl1pPr>
              <a:defRPr b="1" i="0">
                <a:latin typeface="Calibri" panose="020F0502020204030204" pitchFamily="34" charset="0"/>
                <a:cs typeface="Calibri" panose="020F0502020204030204" pitchFamily="34" charset="0"/>
              </a:defRPr>
            </a:lvl1pPr>
          </a:lstStyle>
          <a:p>
            <a:r>
              <a:rPr lang="nl-BE" noProof="0"/>
              <a:t>Klik om stijl te bewerken</a:t>
            </a:r>
          </a:p>
        </p:txBody>
      </p:sp>
      <p:sp>
        <p:nvSpPr>
          <p:cNvPr id="9" name="Picture Placeholder 32">
            <a:extLst>
              <a:ext uri="{FF2B5EF4-FFF2-40B4-BE49-F238E27FC236}">
                <a16:creationId xmlns:a16="http://schemas.microsoft.com/office/drawing/2014/main" id="{971C9B50-FEE3-1047-A14B-9C8C2F5D606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BE" noProof="0"/>
              <a:t>Klik op het pictogram om een afbeelding toe te voegen</a:t>
            </a:r>
          </a:p>
        </p:txBody>
      </p:sp>
      <p:sp>
        <p:nvSpPr>
          <p:cNvPr id="6" name="Content Placeholder 5">
            <a:extLst>
              <a:ext uri="{FF2B5EF4-FFF2-40B4-BE49-F238E27FC236}">
                <a16:creationId xmlns:a16="http://schemas.microsoft.com/office/drawing/2014/main" id="{1800C433-47C4-4D3D-A245-AA41DF75B6E3}"/>
              </a:ext>
            </a:extLst>
          </p:cNvPr>
          <p:cNvSpPr>
            <a:spLocks noGrp="1"/>
          </p:cNvSpPr>
          <p:nvPr>
            <p:ph sz="quarter" idx="12" hasCustomPrompt="1"/>
          </p:nvPr>
        </p:nvSpPr>
        <p:spPr>
          <a:xfrm>
            <a:off x="6564313" y="2271713"/>
            <a:ext cx="5004000" cy="3965575"/>
          </a:xfrm>
        </p:spPr>
        <p:txBody>
          <a:bodyPr/>
          <a:lstStyle>
            <a:lvl1pPr>
              <a:defRPr b="0"/>
            </a:lvl1pPr>
          </a:lstStyle>
          <a:p>
            <a:pPr lvl="0"/>
            <a:r>
              <a:rPr lang="nl-BE" noProof="0"/>
              <a:t>Inhoud</a:t>
            </a:r>
          </a:p>
        </p:txBody>
      </p:sp>
    </p:spTree>
    <p:extLst>
      <p:ext uri="{BB962C8B-B14F-4D97-AF65-F5344CB8AC3E}">
        <p14:creationId xmlns:p14="http://schemas.microsoft.com/office/powerpoint/2010/main" val="3826069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Antwerpen_titelroodvolvlak">
    <p:bg>
      <p:bgPr>
        <a:solidFill>
          <a:schemeClr val="accent2"/>
        </a:solidFill>
        <a:effectLst/>
      </p:bgPr>
    </p:bg>
    <p:spTree>
      <p:nvGrpSpPr>
        <p:cNvPr id="1" name=""/>
        <p:cNvGrpSpPr/>
        <p:nvPr/>
      </p:nvGrpSpPr>
      <p:grpSpPr>
        <a:xfrm>
          <a:off x="0" y="0"/>
          <a:ext cx="0" cy="0"/>
          <a:chOff x="0" y="0"/>
          <a:chExt cx="0" cy="0"/>
        </a:xfrm>
      </p:grpSpPr>
      <p:sp>
        <p:nvSpPr>
          <p:cNvPr id="3" name="Tijdelijke aanduiding voor titel 1">
            <a:extLst>
              <a:ext uri="{FF2B5EF4-FFF2-40B4-BE49-F238E27FC236}">
                <a16:creationId xmlns:a16="http://schemas.microsoft.com/office/drawing/2014/main" id="{7ABBDCB5-5D2A-8947-AEB8-B06A6093E366}"/>
              </a:ext>
            </a:extLst>
          </p:cNvPr>
          <p:cNvSpPr>
            <a:spLocks noGrp="1"/>
          </p:cNvSpPr>
          <p:nvPr>
            <p:ph type="title" hasCustomPrompt="1"/>
          </p:nvPr>
        </p:nvSpPr>
        <p:spPr>
          <a:xfrm>
            <a:off x="623888" y="2737623"/>
            <a:ext cx="1094422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pic>
        <p:nvPicPr>
          <p:cNvPr id="4" name="Afbeelding 3">
            <a:extLst>
              <a:ext uri="{FF2B5EF4-FFF2-40B4-BE49-F238E27FC236}">
                <a16:creationId xmlns:a16="http://schemas.microsoft.com/office/drawing/2014/main" id="{835C0A10-7AE5-B54C-981D-2DBA7B6F3497}"/>
              </a:ext>
            </a:extLst>
          </p:cNvPr>
          <p:cNvPicPr>
            <a:picLocks noChangeAspect="1"/>
          </p:cNvPicPr>
          <p:nvPr userDrawn="1"/>
        </p:nvPicPr>
        <p:blipFill>
          <a:blip r:embed="rId2"/>
          <a:stretch>
            <a:fillRect/>
          </a:stretch>
        </p:blipFill>
        <p:spPr>
          <a:xfrm>
            <a:off x="5149850" y="1613587"/>
            <a:ext cx="1892300" cy="533400"/>
          </a:xfrm>
          <a:prstGeom prst="rect">
            <a:avLst/>
          </a:prstGeom>
        </p:spPr>
      </p:pic>
      <p:sp>
        <p:nvSpPr>
          <p:cNvPr id="5" name="Text Placeholder 6">
            <a:extLst>
              <a:ext uri="{FF2B5EF4-FFF2-40B4-BE49-F238E27FC236}">
                <a16:creationId xmlns:a16="http://schemas.microsoft.com/office/drawing/2014/main" id="{DBF08461-C600-4C47-803A-43BF0EAD9B39}"/>
              </a:ext>
            </a:extLst>
          </p:cNvPr>
          <p:cNvSpPr>
            <a:spLocks noGrp="1"/>
          </p:cNvSpPr>
          <p:nvPr>
            <p:ph type="body" sz="quarter" idx="10" hasCustomPrompt="1"/>
          </p:nvPr>
        </p:nvSpPr>
        <p:spPr>
          <a:xfrm>
            <a:off x="623888" y="4471987"/>
            <a:ext cx="10944225" cy="1062037"/>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81238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Antwerpen_titelroo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AABACC8-28A2-D34B-8A1E-5CF7BA9005CC}"/>
              </a:ext>
            </a:extLst>
          </p:cNvPr>
          <p:cNvSpPr/>
          <p:nvPr userDrawn="1"/>
        </p:nvSpPr>
        <p:spPr>
          <a:xfrm>
            <a:off x="623888" y="627478"/>
            <a:ext cx="10954551" cy="5618356"/>
          </a:xfrm>
          <a:custGeom>
            <a:avLst/>
            <a:gdLst>
              <a:gd name="connsiteX0" fmla="*/ 0 w 10296525"/>
              <a:gd name="connsiteY0" fmla="*/ 0 h 4968875"/>
              <a:gd name="connsiteX1" fmla="*/ 10296525 w 10296525"/>
              <a:gd name="connsiteY1" fmla="*/ 0 h 4968875"/>
              <a:gd name="connsiteX2" fmla="*/ 10296525 w 10296525"/>
              <a:gd name="connsiteY2" fmla="*/ 4968875 h 4968875"/>
              <a:gd name="connsiteX3" fmla="*/ 253304 w 10296525"/>
              <a:gd name="connsiteY3" fmla="*/ 4968875 h 4968875"/>
              <a:gd name="connsiteX4" fmla="*/ 202263 w 10296525"/>
              <a:gd name="connsiteY4" fmla="*/ 4963730 h 4968875"/>
              <a:gd name="connsiteX5" fmla="*/ 0 w 10296525"/>
              <a:gd name="connsiteY5" fmla="*/ 4715562 h 4968875"/>
              <a:gd name="connsiteX6" fmla="*/ 0 w 10296525"/>
              <a:gd name="connsiteY6" fmla="*/ 0 h 4968875"/>
              <a:gd name="connsiteX0" fmla="*/ 0 w 10629811"/>
              <a:gd name="connsiteY0" fmla="*/ 0 h 4968875"/>
              <a:gd name="connsiteX1" fmla="*/ 10629811 w 10629811"/>
              <a:gd name="connsiteY1" fmla="*/ 8546 h 4968875"/>
              <a:gd name="connsiteX2" fmla="*/ 10296525 w 10629811"/>
              <a:gd name="connsiteY2" fmla="*/ 4968875 h 4968875"/>
              <a:gd name="connsiteX3" fmla="*/ 253304 w 10629811"/>
              <a:gd name="connsiteY3" fmla="*/ 4968875 h 4968875"/>
              <a:gd name="connsiteX4" fmla="*/ 202263 w 10629811"/>
              <a:gd name="connsiteY4" fmla="*/ 4963730 h 4968875"/>
              <a:gd name="connsiteX5" fmla="*/ 0 w 10629811"/>
              <a:gd name="connsiteY5" fmla="*/ 4715562 h 4968875"/>
              <a:gd name="connsiteX6" fmla="*/ 0 w 10629811"/>
              <a:gd name="connsiteY6" fmla="*/ 0 h 4968875"/>
              <a:gd name="connsiteX0" fmla="*/ 0 w 10629811"/>
              <a:gd name="connsiteY0" fmla="*/ 0 h 4977421"/>
              <a:gd name="connsiteX1" fmla="*/ 10629811 w 10629811"/>
              <a:gd name="connsiteY1" fmla="*/ 8546 h 4977421"/>
              <a:gd name="connsiteX2" fmla="*/ 10629811 w 10629811"/>
              <a:gd name="connsiteY2" fmla="*/ 4977421 h 4977421"/>
              <a:gd name="connsiteX3" fmla="*/ 253304 w 10629811"/>
              <a:gd name="connsiteY3" fmla="*/ 4968875 h 4977421"/>
              <a:gd name="connsiteX4" fmla="*/ 202263 w 10629811"/>
              <a:gd name="connsiteY4" fmla="*/ 4963730 h 4977421"/>
              <a:gd name="connsiteX5" fmla="*/ 0 w 10629811"/>
              <a:gd name="connsiteY5" fmla="*/ 4715562 h 4977421"/>
              <a:gd name="connsiteX6" fmla="*/ 0 w 10629811"/>
              <a:gd name="connsiteY6" fmla="*/ 0 h 4977421"/>
              <a:gd name="connsiteX0" fmla="*/ 8545 w 10629811"/>
              <a:gd name="connsiteY0" fmla="*/ 0 h 5618356"/>
              <a:gd name="connsiteX1" fmla="*/ 10629811 w 10629811"/>
              <a:gd name="connsiteY1" fmla="*/ 649481 h 5618356"/>
              <a:gd name="connsiteX2" fmla="*/ 10629811 w 10629811"/>
              <a:gd name="connsiteY2" fmla="*/ 5618356 h 5618356"/>
              <a:gd name="connsiteX3" fmla="*/ 253304 w 10629811"/>
              <a:gd name="connsiteY3" fmla="*/ 5609810 h 5618356"/>
              <a:gd name="connsiteX4" fmla="*/ 202263 w 10629811"/>
              <a:gd name="connsiteY4" fmla="*/ 5604665 h 5618356"/>
              <a:gd name="connsiteX5" fmla="*/ 0 w 10629811"/>
              <a:gd name="connsiteY5" fmla="*/ 5356497 h 5618356"/>
              <a:gd name="connsiteX6" fmla="*/ 8545 w 10629811"/>
              <a:gd name="connsiteY6" fmla="*/ 0 h 5618356"/>
              <a:gd name="connsiteX0" fmla="*/ 8545 w 10946005"/>
              <a:gd name="connsiteY0" fmla="*/ 0 h 5618356"/>
              <a:gd name="connsiteX1" fmla="*/ 10946005 w 10946005"/>
              <a:gd name="connsiteY1" fmla="*/ 8546 h 5618356"/>
              <a:gd name="connsiteX2" fmla="*/ 10629811 w 10946005"/>
              <a:gd name="connsiteY2" fmla="*/ 5618356 h 5618356"/>
              <a:gd name="connsiteX3" fmla="*/ 253304 w 10946005"/>
              <a:gd name="connsiteY3" fmla="*/ 5609810 h 5618356"/>
              <a:gd name="connsiteX4" fmla="*/ 202263 w 10946005"/>
              <a:gd name="connsiteY4" fmla="*/ 5604665 h 5618356"/>
              <a:gd name="connsiteX5" fmla="*/ 0 w 10946005"/>
              <a:gd name="connsiteY5" fmla="*/ 5356497 h 5618356"/>
              <a:gd name="connsiteX6" fmla="*/ 8545 w 10946005"/>
              <a:gd name="connsiteY6" fmla="*/ 0 h 5618356"/>
              <a:gd name="connsiteX0" fmla="*/ 8545 w 10954551"/>
              <a:gd name="connsiteY0" fmla="*/ 0 h 5618356"/>
              <a:gd name="connsiteX1" fmla="*/ 10946005 w 10954551"/>
              <a:gd name="connsiteY1" fmla="*/ 8546 h 5618356"/>
              <a:gd name="connsiteX2" fmla="*/ 10954551 w 10954551"/>
              <a:gd name="connsiteY2" fmla="*/ 5618356 h 5618356"/>
              <a:gd name="connsiteX3" fmla="*/ 253304 w 10954551"/>
              <a:gd name="connsiteY3" fmla="*/ 5609810 h 5618356"/>
              <a:gd name="connsiteX4" fmla="*/ 202263 w 10954551"/>
              <a:gd name="connsiteY4" fmla="*/ 5604665 h 5618356"/>
              <a:gd name="connsiteX5" fmla="*/ 0 w 10954551"/>
              <a:gd name="connsiteY5" fmla="*/ 5356497 h 5618356"/>
              <a:gd name="connsiteX6" fmla="*/ 8545 w 10954551"/>
              <a:gd name="connsiteY6" fmla="*/ 0 h 56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54551" h="5618356">
                <a:moveTo>
                  <a:pt x="8545" y="0"/>
                </a:moveTo>
                <a:lnTo>
                  <a:pt x="10946005" y="8546"/>
                </a:lnTo>
                <a:cubicBezTo>
                  <a:pt x="10948854" y="1878483"/>
                  <a:pt x="10951702" y="3748419"/>
                  <a:pt x="10954551" y="5618356"/>
                </a:cubicBezTo>
                <a:lnTo>
                  <a:pt x="253304" y="5609810"/>
                </a:lnTo>
                <a:lnTo>
                  <a:pt x="202263" y="5604665"/>
                </a:lnTo>
                <a:cubicBezTo>
                  <a:pt x="86832" y="5581044"/>
                  <a:pt x="0" y="5478911"/>
                  <a:pt x="0" y="5356497"/>
                </a:cubicBezTo>
                <a:cubicBezTo>
                  <a:pt x="2848" y="3570998"/>
                  <a:pt x="5697" y="1785499"/>
                  <a:pt x="85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BE" dirty="0"/>
          </a:p>
        </p:txBody>
      </p:sp>
      <p:pic>
        <p:nvPicPr>
          <p:cNvPr id="4" name="Afbeelding 4">
            <a:extLst>
              <a:ext uri="{FF2B5EF4-FFF2-40B4-BE49-F238E27FC236}">
                <a16:creationId xmlns:a16="http://schemas.microsoft.com/office/drawing/2014/main" id="{3E52E258-A471-1A48-9273-7FE52ACD15DB}"/>
              </a:ext>
            </a:extLst>
          </p:cNvPr>
          <p:cNvPicPr>
            <a:picLocks noChangeAspect="1"/>
          </p:cNvPicPr>
          <p:nvPr userDrawn="1"/>
        </p:nvPicPr>
        <p:blipFill>
          <a:blip r:embed="rId2"/>
          <a:stretch>
            <a:fillRect/>
          </a:stretch>
        </p:blipFill>
        <p:spPr>
          <a:xfrm>
            <a:off x="623888" y="6429781"/>
            <a:ext cx="794485" cy="223949"/>
          </a:xfrm>
          <a:prstGeom prst="rect">
            <a:avLst/>
          </a:prstGeom>
        </p:spPr>
      </p:pic>
      <p:sp>
        <p:nvSpPr>
          <p:cNvPr id="5" name="Tijdelijke aanduiding voor titel 1">
            <a:extLst>
              <a:ext uri="{FF2B5EF4-FFF2-40B4-BE49-F238E27FC236}">
                <a16:creationId xmlns:a16="http://schemas.microsoft.com/office/drawing/2014/main" id="{31D26ADD-50E0-864E-879F-AED5604BF2AB}"/>
              </a:ext>
            </a:extLst>
          </p:cNvPr>
          <p:cNvSpPr>
            <a:spLocks noGrp="1"/>
          </p:cNvSpPr>
          <p:nvPr>
            <p:ph type="title" hasCustomPrompt="1"/>
          </p:nvPr>
        </p:nvSpPr>
        <p:spPr>
          <a:xfrm>
            <a:off x="614453" y="2318879"/>
            <a:ext cx="1096398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sp>
        <p:nvSpPr>
          <p:cNvPr id="6" name="Text Placeholder 6">
            <a:extLst>
              <a:ext uri="{FF2B5EF4-FFF2-40B4-BE49-F238E27FC236}">
                <a16:creationId xmlns:a16="http://schemas.microsoft.com/office/drawing/2014/main" id="{2534ABFA-B94B-7346-9AA3-E2278EC84FE9}"/>
              </a:ext>
            </a:extLst>
          </p:cNvPr>
          <p:cNvSpPr>
            <a:spLocks noGrp="1"/>
          </p:cNvSpPr>
          <p:nvPr>
            <p:ph type="body" sz="quarter" idx="10" hasCustomPrompt="1"/>
          </p:nvPr>
        </p:nvSpPr>
        <p:spPr>
          <a:xfrm>
            <a:off x="614453" y="4071937"/>
            <a:ext cx="10963985" cy="1043343"/>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523788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Antwerpen_1beeldmetU">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C3132F7D-D063-1C4B-8D0F-49AC33221A42}"/>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398203282"/>
      </p:ext>
    </p:extLst>
  </p:cSld>
  <p:clrMapOvr>
    <a:masterClrMapping/>
  </p:clrMapOvr>
  <p:extLst>
    <p:ext uri="{DCECCB84-F9BA-43D5-87BE-67443E8EF086}">
      <p15:sldGuideLst xmlns:p15="http://schemas.microsoft.com/office/powerpoint/2012/main">
        <p15:guide id="1" orient="horz" pos="39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Antwerpen_1bee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999222-05DA-F24F-99F4-A098BCC40D85}"/>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pic>
        <p:nvPicPr>
          <p:cNvPr id="4" name="Afbeelding 4">
            <a:extLst>
              <a:ext uri="{FF2B5EF4-FFF2-40B4-BE49-F238E27FC236}">
                <a16:creationId xmlns:a16="http://schemas.microsoft.com/office/drawing/2014/main" id="{40E03AEB-DCFF-FA42-98DA-C3ACA4374FDD}"/>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4196090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Antwerpen_1beeldenquote">
    <p:spTree>
      <p:nvGrpSpPr>
        <p:cNvPr id="1" name=""/>
        <p:cNvGrpSpPr/>
        <p:nvPr/>
      </p:nvGrpSpPr>
      <p:grpSpPr>
        <a:xfrm>
          <a:off x="0" y="0"/>
          <a:ext cx="0" cy="0"/>
          <a:chOff x="0" y="0"/>
          <a:chExt cx="0" cy="0"/>
        </a:xfrm>
      </p:grpSpPr>
      <p:sp>
        <p:nvSpPr>
          <p:cNvPr id="3" name="Tijdelijke aanduiding voor afbeelding 3">
            <a:extLst>
              <a:ext uri="{FF2B5EF4-FFF2-40B4-BE49-F238E27FC236}">
                <a16:creationId xmlns:a16="http://schemas.microsoft.com/office/drawing/2014/main" id="{BF020726-1AA6-EE4D-9CD8-9B40673609EC}"/>
              </a:ext>
            </a:extLst>
          </p:cNvPr>
          <p:cNvSpPr>
            <a:spLocks noGrp="1"/>
          </p:cNvSpPr>
          <p:nvPr>
            <p:ph type="pic" sz="quarter" idx="10" hasCustomPrompt="1"/>
          </p:nvPr>
        </p:nvSpPr>
        <p:spPr>
          <a:xfrm>
            <a:off x="0" y="0"/>
            <a:ext cx="12192000" cy="6858000"/>
          </a:xfrm>
          <a:prstGeom prst="rect">
            <a:avLst/>
          </a:prstGeom>
          <a:solidFill>
            <a:schemeClr val="accent1"/>
          </a:solidFill>
        </p:spPr>
        <p:txBody>
          <a:bodyPr/>
          <a:lstStyle>
            <a:lvl1pPr marL="0" marR="0" indent="0" algn="l" defTabSz="914400" rtl="0" eaLnBrk="1" fontAlgn="auto" latinLnBrk="0" hangingPunct="1">
              <a:lnSpc>
                <a:spcPct val="90000"/>
              </a:lnSpc>
              <a:spcBef>
                <a:spcPts val="1000"/>
              </a:spcBef>
              <a:spcAft>
                <a:spcPts val="0"/>
              </a:spcAft>
              <a:buClrTx/>
              <a:buSzTx/>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Klik op het pictogram om een afbeelding wilt toevoegen</a:t>
            </a:r>
            <a:endParaRPr lang="nl-BE" dirty="0"/>
          </a:p>
          <a:p>
            <a:endParaRPr lang="nl-BE" dirty="0"/>
          </a:p>
        </p:txBody>
      </p:sp>
      <p:sp>
        <p:nvSpPr>
          <p:cNvPr id="4" name="Tijdelijke aanduiding voor tekst 5">
            <a:extLst>
              <a:ext uri="{FF2B5EF4-FFF2-40B4-BE49-F238E27FC236}">
                <a16:creationId xmlns:a16="http://schemas.microsoft.com/office/drawing/2014/main" id="{89753A3A-E019-254C-9677-C9C519017AAD}"/>
              </a:ext>
            </a:extLst>
          </p:cNvPr>
          <p:cNvSpPr>
            <a:spLocks noGrp="1"/>
          </p:cNvSpPr>
          <p:nvPr>
            <p:ph type="body" sz="quarter" idx="12" hasCustomPrompt="1"/>
          </p:nvPr>
        </p:nvSpPr>
        <p:spPr>
          <a:xfrm>
            <a:off x="7806518" y="3613790"/>
            <a:ext cx="376159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4D01101A-4B64-9146-92CB-AB7133B61F74}"/>
              </a:ext>
            </a:extLst>
          </p:cNvPr>
          <p:cNvSpPr>
            <a:spLocks noGrp="1"/>
          </p:cNvSpPr>
          <p:nvPr>
            <p:ph type="body" sz="quarter" idx="13" hasCustomPrompt="1"/>
          </p:nvPr>
        </p:nvSpPr>
        <p:spPr>
          <a:xfrm>
            <a:off x="7805738" y="1500371"/>
            <a:ext cx="3762375" cy="1945955"/>
          </a:xfrm>
          <a:prstGeom prst="rect">
            <a:avLst/>
          </a:prstGeom>
        </p:spPr>
        <p:txBody>
          <a:bodyPr/>
          <a:lstStyle>
            <a:lvl1pPr>
              <a:spcBef>
                <a:spcPts val="0"/>
              </a:spcBef>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spTree>
    <p:extLst>
      <p:ext uri="{BB962C8B-B14F-4D97-AF65-F5344CB8AC3E}">
        <p14:creationId xmlns:p14="http://schemas.microsoft.com/office/powerpoint/2010/main" val="1092190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UAntwerpen_1beeldquote en logo">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09DBE046-B8F3-D840-ABA8-37DDBE8E14F1}"/>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4" name="Tijdelijke aanduiding voor tekst 5">
            <a:extLst>
              <a:ext uri="{FF2B5EF4-FFF2-40B4-BE49-F238E27FC236}">
                <a16:creationId xmlns:a16="http://schemas.microsoft.com/office/drawing/2014/main" id="{29C33EA9-EAA8-554B-9770-EC4BF96CD42E}"/>
              </a:ext>
            </a:extLst>
          </p:cNvPr>
          <p:cNvSpPr>
            <a:spLocks noGrp="1"/>
          </p:cNvSpPr>
          <p:nvPr>
            <p:ph type="body" sz="quarter" idx="12" hasCustomPrompt="1"/>
          </p:nvPr>
        </p:nvSpPr>
        <p:spPr>
          <a:xfrm>
            <a:off x="7806519" y="3613790"/>
            <a:ext cx="341573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9A2A5195-C3FC-3548-A159-FD845F8D8AB0}"/>
              </a:ext>
            </a:extLst>
          </p:cNvPr>
          <p:cNvSpPr>
            <a:spLocks noGrp="1"/>
          </p:cNvSpPr>
          <p:nvPr>
            <p:ph type="body" sz="quarter" idx="13" hasCustomPrompt="1"/>
          </p:nvPr>
        </p:nvSpPr>
        <p:spPr>
          <a:xfrm>
            <a:off x="7805739" y="1500371"/>
            <a:ext cx="3416443" cy="1945955"/>
          </a:xfrm>
          <a:prstGeom prst="rect">
            <a:avLst/>
          </a:prstGeom>
        </p:spPr>
        <p:txBody>
          <a:bodyPr/>
          <a:lstStyle>
            <a:lvl1pPr>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pic>
        <p:nvPicPr>
          <p:cNvPr id="6" name="Afbeelding 4">
            <a:extLst>
              <a:ext uri="{FF2B5EF4-FFF2-40B4-BE49-F238E27FC236}">
                <a16:creationId xmlns:a16="http://schemas.microsoft.com/office/drawing/2014/main" id="{A0A6BFC5-0BDC-5046-9C6A-AAF1C2A72DA3}"/>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2810974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jdelijke aanduiding voor titel 1">
            <a:extLst>
              <a:ext uri="{FF2B5EF4-FFF2-40B4-BE49-F238E27FC236}">
                <a16:creationId xmlns:a16="http://schemas.microsoft.com/office/drawing/2014/main" id="{1948A336-DFA9-6348-B512-B2BBC75D1D43}"/>
              </a:ext>
            </a:extLst>
          </p:cNvPr>
          <p:cNvSpPr>
            <a:spLocks noGrp="1"/>
          </p:cNvSpPr>
          <p:nvPr>
            <p:ph type="title"/>
          </p:nvPr>
        </p:nvSpPr>
        <p:spPr>
          <a:xfrm>
            <a:off x="623887" y="620713"/>
            <a:ext cx="10944226" cy="791794"/>
          </a:xfrm>
          <a:prstGeom prst="rect">
            <a:avLst/>
          </a:prstGeom>
        </p:spPr>
        <p:txBody>
          <a:bodyPr vert="horz" lIns="0" tIns="0" rIns="0" bIns="0" rtlCol="0" anchor="t" anchorCtr="0">
            <a:normAutofit/>
          </a:bodyPr>
          <a:lstStyle/>
          <a:p>
            <a:r>
              <a:rPr lang="nl-NL" dirty="0"/>
              <a:t>Titel</a:t>
            </a:r>
            <a:endParaRPr lang="nl-BE" dirty="0"/>
          </a:p>
        </p:txBody>
      </p:sp>
      <p:sp>
        <p:nvSpPr>
          <p:cNvPr id="8" name="Tijdelijke aanduiding voor tekst 13">
            <a:extLst>
              <a:ext uri="{FF2B5EF4-FFF2-40B4-BE49-F238E27FC236}">
                <a16:creationId xmlns:a16="http://schemas.microsoft.com/office/drawing/2014/main" id="{FC89CC1E-5699-C54E-83AE-63F796F398B8}"/>
              </a:ext>
            </a:extLst>
          </p:cNvPr>
          <p:cNvSpPr>
            <a:spLocks noGrp="1"/>
          </p:cNvSpPr>
          <p:nvPr>
            <p:ph type="body" idx="1"/>
          </p:nvPr>
        </p:nvSpPr>
        <p:spPr>
          <a:xfrm>
            <a:off x="623888" y="1604479"/>
            <a:ext cx="10944226" cy="621013"/>
          </a:xfrm>
          <a:prstGeom prst="rect">
            <a:avLst/>
          </a:prstGeom>
        </p:spPr>
        <p:txBody>
          <a:bodyPr vert="horz" lIns="0" tIns="0" rIns="0" bIns="0" rtlCol="0">
            <a:normAutofit/>
          </a:bodyPr>
          <a:lstStyle/>
          <a:p>
            <a:r>
              <a:rPr lang="nl-NL" dirty="0"/>
              <a:t>Ondertitel</a:t>
            </a:r>
          </a:p>
        </p:txBody>
      </p:sp>
      <p:sp>
        <p:nvSpPr>
          <p:cNvPr id="9" name="Tijdelijke aanduiding voor dianummer 3">
            <a:extLst>
              <a:ext uri="{FF2B5EF4-FFF2-40B4-BE49-F238E27FC236}">
                <a16:creationId xmlns:a16="http://schemas.microsoft.com/office/drawing/2014/main" id="{ACEE07E0-D229-2548-A4C6-019956C34182}"/>
              </a:ext>
            </a:extLst>
          </p:cNvPr>
          <p:cNvSpPr>
            <a:spLocks noGrp="1"/>
          </p:cNvSpPr>
          <p:nvPr>
            <p:ph type="sldNum" sz="quarter" idx="4"/>
          </p:nvPr>
        </p:nvSpPr>
        <p:spPr>
          <a:xfrm>
            <a:off x="8923493" y="6339173"/>
            <a:ext cx="2743200" cy="365125"/>
          </a:xfrm>
          <a:prstGeom prst="rect">
            <a:avLst/>
          </a:prstGeom>
        </p:spPr>
        <p:txBody>
          <a:bodyPr vert="horz" lIns="91440" tIns="45720" rIns="91440" bIns="45720" rtlCol="0" anchor="ctr"/>
          <a:lstStyle>
            <a:lvl1pPr algn="r">
              <a:defRPr sz="1000" b="0" i="0">
                <a:solidFill>
                  <a:schemeClr val="tx2"/>
                </a:solidFill>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cs typeface="Calibri Light" panose="020F0302020204030204" pitchFamily="34" charset="0"/>
            </a:endParaRPr>
          </a:p>
        </p:txBody>
      </p:sp>
      <p:pic>
        <p:nvPicPr>
          <p:cNvPr id="10" name="Afbeelding 4">
            <a:extLst>
              <a:ext uri="{FF2B5EF4-FFF2-40B4-BE49-F238E27FC236}">
                <a16:creationId xmlns:a16="http://schemas.microsoft.com/office/drawing/2014/main" id="{B2CABEA2-6FA0-0245-B24A-C92832AA0D0A}"/>
              </a:ext>
            </a:extLst>
          </p:cNvPr>
          <p:cNvPicPr>
            <a:picLocks noChangeAspect="1"/>
          </p:cNvPicPr>
          <p:nvPr userDrawn="1"/>
        </p:nvPicPr>
        <p:blipFill>
          <a:blip r:embed="rId14"/>
          <a:stretch>
            <a:fillRect/>
          </a:stretch>
        </p:blipFill>
        <p:spPr>
          <a:xfrm>
            <a:off x="623888" y="6429781"/>
            <a:ext cx="794485" cy="223949"/>
          </a:xfrm>
          <a:prstGeom prst="rect">
            <a:avLst/>
          </a:prstGeom>
        </p:spPr>
      </p:pic>
    </p:spTree>
  </p:cSld>
  <p:clrMap bg1="lt1" tx1="dk1" bg2="lt2" tx2="dk2" accent1="accent1" accent2="accent2" accent3="accent3" accent4="accent4" accent5="accent5" accent6="accent6" hlink="hlink" folHlink="folHlink"/>
  <p:sldLayoutIdLst>
    <p:sldLayoutId id="2147484115" r:id="rId1"/>
    <p:sldLayoutId id="2147484105" r:id="rId2"/>
    <p:sldLayoutId id="2147484106" r:id="rId3"/>
    <p:sldLayoutId id="2147484107" r:id="rId4"/>
    <p:sldLayoutId id="2147484108" r:id="rId5"/>
    <p:sldLayoutId id="2147484109" r:id="rId6"/>
    <p:sldLayoutId id="2147484110" r:id="rId7"/>
    <p:sldLayoutId id="2147484111" r:id="rId8"/>
    <p:sldLayoutId id="2147484113" r:id="rId9"/>
    <p:sldLayoutId id="2147484112" r:id="rId10"/>
    <p:sldLayoutId id="2147484102" r:id="rId11"/>
    <p:sldLayoutId id="2147484116" r:id="rId12"/>
  </p:sldLayoutIdLst>
  <p:hf hdr="0"/>
  <p:txStyles>
    <p:titleStyle>
      <a:lvl1pPr algn="l" defTabSz="1217054" rtl="0" eaLnBrk="1" fontAlgn="base" hangingPunct="1">
        <a:spcBef>
          <a:spcPct val="0"/>
        </a:spcBef>
        <a:spcAft>
          <a:spcPct val="0"/>
        </a:spcAft>
        <a:defRPr sz="3800" b="1" i="0" kern="1200">
          <a:solidFill>
            <a:srgbClr val="FF0000"/>
          </a:solidFill>
          <a:latin typeface="Calibri" panose="020F0502020204030204" pitchFamily="34" charset="0"/>
          <a:ea typeface="Verdana" charset="0"/>
          <a:cs typeface="Calibri" panose="020F0502020204030204" pitchFamily="34" charset="0"/>
        </a:defRPr>
      </a:lvl1pPr>
      <a:lvl2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2pPr>
      <a:lvl3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3pPr>
      <a:lvl4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1217054" rtl="0" eaLnBrk="1" fontAlgn="base" hangingPunct="1">
        <a:spcBef>
          <a:spcPct val="20000"/>
        </a:spcBef>
        <a:spcAft>
          <a:spcPct val="0"/>
        </a:spcAft>
        <a:buClr>
          <a:schemeClr val="accent1"/>
        </a:buClr>
        <a:buFont typeface="Arial" panose="020B0604020202020204" pitchFamily="34" charset="0"/>
        <a:buNone/>
        <a:defRPr sz="2800" b="0" i="0" kern="1200">
          <a:solidFill>
            <a:schemeClr val="tx1"/>
          </a:solidFill>
          <a:latin typeface="+mn-lt"/>
          <a:ea typeface="Verdana" charset="0"/>
          <a:cs typeface="Calibri Light" panose="020F0302020204030204" pitchFamily="34" charset="0"/>
        </a:defRPr>
      </a:lvl1pPr>
      <a:lvl2pPr marL="740815"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nl-B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userDrawn="1">
          <p15:clr>
            <a:srgbClr val="F26B43"/>
          </p15:clr>
        </p15:guide>
        <p15:guide id="2" pos="7287" userDrawn="1">
          <p15:clr>
            <a:srgbClr val="F26B43"/>
          </p15:clr>
        </p15:guide>
        <p15:guide id="3" orient="horz" pos="391" userDrawn="1">
          <p15:clr>
            <a:srgbClr val="F26B43"/>
          </p15:clr>
        </p15:guide>
        <p15:guide id="4" orient="horz" pos="392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5486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C7654-B1F8-CB41-A11C-78EAAE0B4DB9}"/>
              </a:ext>
            </a:extLst>
          </p:cNvPr>
          <p:cNvSpPr>
            <a:spLocks noGrp="1"/>
          </p:cNvSpPr>
          <p:nvPr>
            <p:ph type="title"/>
          </p:nvPr>
        </p:nvSpPr>
        <p:spPr/>
        <p:txBody>
          <a:bodyPr>
            <a:normAutofit fontScale="90000"/>
          </a:bodyPr>
          <a:lstStyle/>
          <a:p>
            <a:r>
              <a:rPr lang="nl-BE" dirty="0"/>
              <a:t>Statistiek B – contactmoment 7</a:t>
            </a:r>
            <a:endParaRPr lang="en-BE" dirty="0"/>
          </a:p>
        </p:txBody>
      </p:sp>
      <p:sp>
        <p:nvSpPr>
          <p:cNvPr id="3" name="Text Placeholder 2">
            <a:extLst>
              <a:ext uri="{FF2B5EF4-FFF2-40B4-BE49-F238E27FC236}">
                <a16:creationId xmlns:a16="http://schemas.microsoft.com/office/drawing/2014/main" id="{BE59F27B-4FA1-1945-B3AE-2234EB3F591F}"/>
              </a:ext>
            </a:extLst>
          </p:cNvPr>
          <p:cNvSpPr>
            <a:spLocks noGrp="1"/>
          </p:cNvSpPr>
          <p:nvPr>
            <p:ph type="body" sz="quarter" idx="10"/>
          </p:nvPr>
        </p:nvSpPr>
        <p:spPr/>
        <p:txBody>
          <a:bodyPr/>
          <a:lstStyle/>
          <a:p>
            <a:r>
              <a:rPr lang="nl-BE" dirty="0"/>
              <a:t>Praktische info examen, proefexamen gesloten gedeelte, </a:t>
            </a:r>
            <a:br>
              <a:rPr lang="nl-BE" dirty="0"/>
            </a:br>
            <a:r>
              <a:rPr lang="nl-BE" dirty="0" err="1"/>
              <a:t>AlephQ</a:t>
            </a:r>
            <a:r>
              <a:rPr lang="nl-BE" dirty="0"/>
              <a:t> &amp; vragenmoment</a:t>
            </a:r>
            <a:endParaRPr lang="en-BE" dirty="0"/>
          </a:p>
        </p:txBody>
      </p:sp>
    </p:spTree>
    <p:extLst>
      <p:ext uri="{BB962C8B-B14F-4D97-AF65-F5344CB8AC3E}">
        <p14:creationId xmlns:p14="http://schemas.microsoft.com/office/powerpoint/2010/main" val="232380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14453" y="2809533"/>
            <a:ext cx="10963985" cy="1325563"/>
          </a:xfrm>
        </p:spPr>
        <p:txBody>
          <a:bodyPr/>
          <a:lstStyle/>
          <a:p>
            <a:r>
              <a:rPr lang="nl-BE" dirty="0"/>
              <a:t>Praktische info examen</a:t>
            </a:r>
          </a:p>
        </p:txBody>
      </p:sp>
    </p:spTree>
    <p:extLst>
      <p:ext uri="{BB962C8B-B14F-4D97-AF65-F5344CB8AC3E}">
        <p14:creationId xmlns:p14="http://schemas.microsoft.com/office/powerpoint/2010/main" val="1772178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Evaluatie</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a:t>
            </a:fld>
            <a:endParaRPr lang="nl-BE" dirty="0"/>
          </a:p>
        </p:txBody>
      </p:sp>
      <p:sp>
        <p:nvSpPr>
          <p:cNvPr id="4" name="Tijdelijke aanduiding voor inhoud 3"/>
          <p:cNvSpPr>
            <a:spLocks noGrp="1"/>
          </p:cNvSpPr>
          <p:nvPr>
            <p:ph idx="1"/>
          </p:nvPr>
        </p:nvSpPr>
        <p:spPr>
          <a:xfrm>
            <a:off x="623886" y="1394182"/>
            <a:ext cx="11324273" cy="4660279"/>
          </a:xfrm>
        </p:spPr>
        <p:txBody>
          <a:bodyPr/>
          <a:lstStyle/>
          <a:p>
            <a:pPr marL="0" indent="0">
              <a:buNone/>
            </a:pPr>
            <a:r>
              <a:rPr lang="nl-BE" dirty="0"/>
              <a:t>Schriftelijk PC-examen in twee delen:</a:t>
            </a:r>
            <a:r>
              <a:rPr lang="en-US" b="0" dirty="0"/>
              <a:t>​</a:t>
            </a:r>
          </a:p>
          <a:p>
            <a:pPr lvl="1"/>
            <a:r>
              <a:rPr lang="nl-BE" b="0" dirty="0"/>
              <a:t>GESLOTEN DEEL (70%): focus op kennis, inzicht en output interpreteren</a:t>
            </a:r>
            <a:r>
              <a:rPr lang="en-US" b="0" dirty="0"/>
              <a:t>​</a:t>
            </a:r>
          </a:p>
          <a:p>
            <a:pPr lvl="1"/>
            <a:r>
              <a:rPr lang="nl-BE" b="0" dirty="0"/>
              <a:t>OPEN DEEL (30%):  focus op analyseren in R (~output genereren)</a:t>
            </a:r>
            <a:r>
              <a:rPr lang="en-US" b="0" dirty="0"/>
              <a:t>​</a:t>
            </a:r>
          </a:p>
          <a:p>
            <a:pPr marL="0" indent="0">
              <a:buNone/>
            </a:pPr>
            <a:endParaRPr lang="nl-BE" b="0" dirty="0"/>
          </a:p>
          <a:p>
            <a:pPr marL="0" indent="0">
              <a:buNone/>
            </a:pPr>
            <a:r>
              <a:rPr lang="nl-BE" b="0" i="1" dirty="0"/>
              <a:t>Je moet minimaal de helft halen op het gesloten deel om te kunnen slagen </a:t>
            </a:r>
            <a:r>
              <a:rPr lang="en-US" b="0" dirty="0"/>
              <a:t>​</a:t>
            </a:r>
          </a:p>
          <a:p>
            <a:pPr marL="0" indent="0">
              <a:buNone/>
            </a:pPr>
            <a:r>
              <a:rPr lang="nl-BE" b="0" i="1" dirty="0"/>
              <a:t>voor Statistiek B. Anders bedraagt de score voor Statistiek B maximaal 8/20.</a:t>
            </a:r>
            <a:endParaRPr lang="en-US" b="0" dirty="0"/>
          </a:p>
          <a:p>
            <a:endParaRPr lang="nl-BE" dirty="0"/>
          </a:p>
        </p:txBody>
      </p:sp>
      <p:graphicFrame>
        <p:nvGraphicFramePr>
          <p:cNvPr id="5" name="Tijdelijke aanduiding voor inhoud 2">
            <a:extLst>
              <a:ext uri="{FF2B5EF4-FFF2-40B4-BE49-F238E27FC236}">
                <a16:creationId xmlns:a16="http://schemas.microsoft.com/office/drawing/2014/main" id="{A79F30B4-A447-43AE-AABE-1109854F3A35}"/>
              </a:ext>
            </a:extLst>
          </p:cNvPr>
          <p:cNvGraphicFramePr>
            <a:graphicFrameLocks/>
          </p:cNvGraphicFramePr>
          <p:nvPr>
            <p:extLst>
              <p:ext uri="{D42A27DB-BD31-4B8C-83A1-F6EECF244321}">
                <p14:modId xmlns:p14="http://schemas.microsoft.com/office/powerpoint/2010/main" val="2074128424"/>
              </p:ext>
            </p:extLst>
          </p:nvPr>
        </p:nvGraphicFramePr>
        <p:xfrm>
          <a:off x="2063552" y="4495882"/>
          <a:ext cx="8064896" cy="2329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854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Gesloten deel</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a:t>
            </a:fld>
            <a:endParaRPr lang="nl-BE" dirty="0"/>
          </a:p>
        </p:txBody>
      </p:sp>
      <p:sp>
        <p:nvSpPr>
          <p:cNvPr id="4" name="Tijdelijke aanduiding voor inhoud 3"/>
          <p:cNvSpPr>
            <a:spLocks noGrp="1"/>
          </p:cNvSpPr>
          <p:nvPr>
            <p:ph idx="1"/>
          </p:nvPr>
        </p:nvSpPr>
        <p:spPr>
          <a:xfrm>
            <a:off x="623886" y="1577009"/>
            <a:ext cx="11324273" cy="4660279"/>
          </a:xfrm>
        </p:spPr>
        <p:txBody>
          <a:bodyPr/>
          <a:lstStyle/>
          <a:p>
            <a:r>
              <a:rPr lang="nl-BE" sz="2000" dirty="0"/>
              <a:t>Eerste deel </a:t>
            </a:r>
            <a:r>
              <a:rPr lang="nl-BE" sz="2000" b="0" dirty="0"/>
              <a:t>van het examen</a:t>
            </a:r>
          </a:p>
          <a:p>
            <a:r>
              <a:rPr lang="nl-BE" sz="2000" b="0" dirty="0"/>
              <a:t>Je hebt hiervoor </a:t>
            </a:r>
            <a:r>
              <a:rPr lang="nl-BE" sz="2000" dirty="0"/>
              <a:t>2 uur</a:t>
            </a:r>
            <a:r>
              <a:rPr lang="nl-BE" sz="2000" b="0" dirty="0"/>
              <a:t> de tijd. </a:t>
            </a:r>
          </a:p>
          <a:p>
            <a:r>
              <a:rPr lang="nl-BE" sz="2000" b="0" dirty="0"/>
              <a:t>Examen vindt plaats in </a:t>
            </a:r>
            <a:r>
              <a:rPr lang="nl-BE" sz="2000" dirty="0" err="1"/>
              <a:t>AlephQ</a:t>
            </a:r>
            <a:r>
              <a:rPr lang="nl-BE" sz="2000" b="0" dirty="0"/>
              <a:t> </a:t>
            </a:r>
            <a:br>
              <a:rPr lang="nl-BE" sz="2000" b="0" dirty="0"/>
            </a:br>
            <a:r>
              <a:rPr lang="nl-BE" sz="2000" b="0" dirty="0"/>
              <a:t>(zowel voor het verkrijgen van de vragen als het beantwoorden van de vragen)</a:t>
            </a:r>
          </a:p>
          <a:p>
            <a:r>
              <a:rPr lang="nl-BE" sz="2000" b="0" dirty="0"/>
              <a:t>Materiaal dat je mag gebruiken:</a:t>
            </a:r>
          </a:p>
          <a:p>
            <a:pPr lvl="1"/>
            <a:r>
              <a:rPr lang="nl-BE" sz="2000" dirty="0"/>
              <a:t>Casus op papier (dit krijg je op papier van docententeam)</a:t>
            </a:r>
          </a:p>
          <a:p>
            <a:pPr lvl="1"/>
            <a:r>
              <a:rPr lang="nl-BE" sz="2000" dirty="0"/>
              <a:t>Document met vuistregels en modellen op papier (dit krijg je op papier van docententeam)</a:t>
            </a:r>
          </a:p>
          <a:p>
            <a:pPr lvl="1"/>
            <a:r>
              <a:rPr lang="nl-BE" sz="2000" dirty="0"/>
              <a:t>Kladpapier (dit krijg je op papier van docententeam)</a:t>
            </a:r>
          </a:p>
          <a:p>
            <a:pPr lvl="1"/>
            <a:r>
              <a:rPr lang="nl-BE" sz="2000" dirty="0"/>
              <a:t>Fysiek rekentoestel of Excel/rekenmachine op pc</a:t>
            </a:r>
          </a:p>
          <a:p>
            <a:r>
              <a:rPr lang="nl-BE" sz="2000" b="0" dirty="0"/>
              <a:t>Combinatie van MC-vragen (geen giscorrectie, geen verhoogde cesuur) en open vragen.</a:t>
            </a:r>
          </a:p>
          <a:p>
            <a:r>
              <a:rPr lang="nl-BE" sz="2000" b="0" dirty="0"/>
              <a:t>Ook enkele </a:t>
            </a:r>
            <a:r>
              <a:rPr lang="nl-BE" sz="2000" b="0" dirty="0" err="1"/>
              <a:t>inzichtsvragen</a:t>
            </a:r>
            <a:r>
              <a:rPr lang="nl-BE" sz="2000" b="0" dirty="0"/>
              <a:t> over de theorie (zie voorbeeldexamenvraag op volgende slide) </a:t>
            </a:r>
            <a:br>
              <a:rPr lang="nl-BE" sz="2000" b="0" dirty="0"/>
            </a:br>
            <a:r>
              <a:rPr lang="nl-BE" sz="2000" b="0" dirty="0"/>
              <a:t>zowel in MC-format als open format</a:t>
            </a:r>
          </a:p>
          <a:p>
            <a:pPr marL="0" indent="0">
              <a:buNone/>
            </a:pPr>
            <a:endParaRPr lang="nl-BE" dirty="0"/>
          </a:p>
        </p:txBody>
      </p:sp>
    </p:spTree>
    <p:extLst>
      <p:ext uri="{BB962C8B-B14F-4D97-AF65-F5344CB8AC3E}">
        <p14:creationId xmlns:p14="http://schemas.microsoft.com/office/powerpoint/2010/main" val="2578401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Voorbeeldexamenvraag m.b.t. theorie</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5</a:t>
            </a:fld>
            <a:endParaRPr lang="nl-BE" dirty="0"/>
          </a:p>
        </p:txBody>
      </p:sp>
      <p:sp>
        <p:nvSpPr>
          <p:cNvPr id="4" name="Tijdelijke aanduiding voor inhoud 3"/>
          <p:cNvSpPr>
            <a:spLocks noGrp="1"/>
          </p:cNvSpPr>
          <p:nvPr>
            <p:ph idx="1"/>
          </p:nvPr>
        </p:nvSpPr>
        <p:spPr>
          <a:xfrm>
            <a:off x="377257" y="1577009"/>
            <a:ext cx="11437485" cy="4660279"/>
          </a:xfrm>
        </p:spPr>
        <p:txBody>
          <a:bodyPr/>
          <a:lstStyle/>
          <a:p>
            <a:pPr marL="0" indent="0">
              <a:buNone/>
            </a:pPr>
            <a:r>
              <a:rPr lang="nl-BE" sz="2000" b="0" dirty="0" err="1"/>
              <a:t>Naïma</a:t>
            </a:r>
            <a:r>
              <a:rPr lang="nl-BE" sz="2000" b="0" dirty="0"/>
              <a:t> doet onderzoek naar het effect van voorbeelden analyseren op leerlingen hun genrekennis over een </a:t>
            </a:r>
            <a:br>
              <a:rPr lang="nl-BE" sz="2000" b="0" dirty="0"/>
            </a:br>
            <a:r>
              <a:rPr lang="nl-BE" sz="2000" b="0" dirty="0"/>
              <a:t>argumentatieve tekst. Tijdens haar literatuurreview komt ze een studie tegen uit Noorwegen die dit eerder </a:t>
            </a:r>
            <a:br>
              <a:rPr lang="nl-BE" sz="2000" b="0" dirty="0"/>
            </a:br>
            <a:r>
              <a:rPr lang="nl-BE" sz="2000" b="0" dirty="0"/>
              <a:t>was nagegaan door een experiment op te zetten met twee groepen. De controlegroep bestond uit 202 </a:t>
            </a:r>
            <a:br>
              <a:rPr lang="nl-BE" sz="2000" b="0" dirty="0"/>
            </a:br>
            <a:r>
              <a:rPr lang="nl-BE" sz="2000" b="0" dirty="0"/>
              <a:t>leerlingen en de experimentele groep uit 206 leerlingen. De onderzoekers in Noorwegen vinden een statistisch </a:t>
            </a:r>
            <a:br>
              <a:rPr lang="nl-BE" sz="2000" b="0" dirty="0"/>
            </a:br>
            <a:r>
              <a:rPr lang="nl-BE" sz="2000" b="0" dirty="0"/>
              <a:t>significant effect van de conditie op genrekennis (p &lt;0.05). </a:t>
            </a:r>
            <a:r>
              <a:rPr lang="nl-BE" sz="2000" b="0" dirty="0" err="1"/>
              <a:t>Naïma</a:t>
            </a:r>
            <a:r>
              <a:rPr lang="nl-BE" sz="2000" b="0" dirty="0"/>
              <a:t> beslist net hetzelfde experiment te herhalen </a:t>
            </a:r>
            <a:br>
              <a:rPr lang="nl-BE" sz="2000" b="0" dirty="0"/>
            </a:br>
            <a:r>
              <a:rPr lang="nl-BE" sz="2000" b="0" dirty="0"/>
              <a:t>in Vlaanderen en ze engageert een steekproef van 105 leerlingen (57 in de controlegroep en 48 in de </a:t>
            </a:r>
            <a:br>
              <a:rPr lang="nl-BE" sz="2000" b="0" dirty="0"/>
            </a:br>
            <a:r>
              <a:rPr lang="nl-BE" sz="2000" b="0" dirty="0"/>
              <a:t>experimentele groep). Na haar experiment komt ze echter tot de constatatie dat bij haar er geen sprake is van </a:t>
            </a:r>
            <a:br>
              <a:rPr lang="nl-BE" sz="2000" b="0" dirty="0"/>
            </a:br>
            <a:r>
              <a:rPr lang="nl-BE" sz="2000" b="0" dirty="0"/>
              <a:t>een statistisch significant effect: p = 0.11. Dit snapt ze niet.</a:t>
            </a:r>
          </a:p>
          <a:p>
            <a:pPr marL="0" indent="0">
              <a:buNone/>
            </a:pPr>
            <a:endParaRPr lang="nl-BE" sz="2000" b="0" dirty="0"/>
          </a:p>
          <a:p>
            <a:pPr marL="0" indent="0">
              <a:buNone/>
            </a:pPr>
            <a:r>
              <a:rPr lang="nl-BE" sz="2000" b="0" dirty="0"/>
              <a:t>Leg aan </a:t>
            </a:r>
            <a:r>
              <a:rPr lang="nl-BE" sz="2000" b="0" dirty="0" err="1"/>
              <a:t>Naïma</a:t>
            </a:r>
            <a:r>
              <a:rPr lang="nl-BE" sz="2000" b="0" dirty="0"/>
              <a:t> uit wat een statistische verklaring kan zijn voor dit verschil tussen beide onderzoeken.</a:t>
            </a:r>
          </a:p>
        </p:txBody>
      </p:sp>
    </p:spTree>
    <p:extLst>
      <p:ext uri="{BB962C8B-B14F-4D97-AF65-F5344CB8AC3E}">
        <p14:creationId xmlns:p14="http://schemas.microsoft.com/office/powerpoint/2010/main" val="264480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Open deel</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6</a:t>
            </a:fld>
            <a:endParaRPr lang="nl-BE" dirty="0"/>
          </a:p>
        </p:txBody>
      </p:sp>
      <p:sp>
        <p:nvSpPr>
          <p:cNvPr id="4" name="Tijdelijke aanduiding voor inhoud 3"/>
          <p:cNvSpPr>
            <a:spLocks noGrp="1"/>
          </p:cNvSpPr>
          <p:nvPr>
            <p:ph idx="1"/>
          </p:nvPr>
        </p:nvSpPr>
        <p:spPr>
          <a:xfrm>
            <a:off x="623886" y="1577009"/>
            <a:ext cx="11324273" cy="4660279"/>
          </a:xfrm>
        </p:spPr>
        <p:txBody>
          <a:bodyPr/>
          <a:lstStyle/>
          <a:p>
            <a:r>
              <a:rPr lang="nl-BE" sz="2000" dirty="0"/>
              <a:t>Tweede deel </a:t>
            </a:r>
            <a:r>
              <a:rPr lang="nl-BE" sz="2000" b="0" dirty="0"/>
              <a:t>van het examen (volgend op het eerste deel na een korte pauze)</a:t>
            </a:r>
          </a:p>
          <a:p>
            <a:r>
              <a:rPr lang="nl-BE" sz="2000" b="0" dirty="0"/>
              <a:t>Je hebt hiervoor </a:t>
            </a:r>
            <a:r>
              <a:rPr lang="nl-BE" sz="2000" dirty="0"/>
              <a:t>1 uur</a:t>
            </a:r>
            <a:r>
              <a:rPr lang="nl-BE" sz="2000" b="0" dirty="0"/>
              <a:t> de tijd. </a:t>
            </a:r>
          </a:p>
          <a:p>
            <a:r>
              <a:rPr lang="nl-BE" sz="2000" b="0" dirty="0"/>
              <a:t>Examen vindt plaats in </a:t>
            </a:r>
            <a:r>
              <a:rPr lang="nl-BE" sz="2000" dirty="0" err="1"/>
              <a:t>AlephQ</a:t>
            </a:r>
            <a:r>
              <a:rPr lang="nl-BE" sz="2000" b="0" dirty="0"/>
              <a:t> (je krijgt de examenvragen daarnaast ook op papier </a:t>
            </a:r>
            <a:br>
              <a:rPr lang="nl-BE" sz="2000" b="0" dirty="0"/>
            </a:br>
            <a:r>
              <a:rPr lang="nl-BE" sz="2000" b="0" dirty="0"/>
              <a:t>maar het beantwoorden gebeurt in de software)</a:t>
            </a:r>
          </a:p>
          <a:p>
            <a:r>
              <a:rPr lang="nl-BE" sz="2000" b="0" dirty="0"/>
              <a:t>Materiaal dat je mag gebruiken:</a:t>
            </a:r>
          </a:p>
          <a:p>
            <a:pPr lvl="1"/>
            <a:r>
              <a:rPr lang="nl-BE" sz="2000" dirty="0"/>
              <a:t>handboek</a:t>
            </a:r>
          </a:p>
          <a:p>
            <a:pPr lvl="1"/>
            <a:r>
              <a:rPr lang="nl-BE" sz="2000" dirty="0"/>
              <a:t>eigen notities, </a:t>
            </a:r>
            <a:r>
              <a:rPr lang="nl-BE" sz="2000" u="sng" dirty="0"/>
              <a:t>eigen script(s) op USB</a:t>
            </a:r>
          </a:p>
          <a:p>
            <a:pPr lvl="1"/>
            <a:r>
              <a:rPr lang="nl-BE" sz="2000" dirty="0" err="1"/>
              <a:t>Rstudio</a:t>
            </a:r>
            <a:endParaRPr lang="nl-BE" sz="2000" dirty="0"/>
          </a:p>
          <a:p>
            <a:pPr lvl="1"/>
            <a:r>
              <a:rPr lang="nl-BE" sz="2000" dirty="0"/>
              <a:t>het databestand voor het examen en ‘OLP2 </a:t>
            </a:r>
            <a:r>
              <a:rPr lang="nl-BE" sz="2000" dirty="0" err="1"/>
              <a:t>Functies.R</a:t>
            </a:r>
            <a:r>
              <a:rPr lang="nl-BE" sz="2000" dirty="0"/>
              <a:t>’ bestand (dit krijg je van docententeam)</a:t>
            </a:r>
          </a:p>
          <a:p>
            <a:pPr lvl="1"/>
            <a:r>
              <a:rPr lang="nl-BE" sz="2000" dirty="0"/>
              <a:t>Document met overzicht van de variabelen (dit krijg je op papier van docententeam)</a:t>
            </a:r>
          </a:p>
          <a:p>
            <a:pPr lvl="1"/>
            <a:endParaRPr lang="nl-BE" sz="2000" dirty="0"/>
          </a:p>
          <a:p>
            <a:pPr lvl="1"/>
            <a:endParaRPr lang="nl-BE" sz="2000" dirty="0"/>
          </a:p>
          <a:p>
            <a:pPr marL="361940" lvl="1" indent="0">
              <a:buNone/>
            </a:pPr>
            <a:endParaRPr lang="nl-BE" sz="2000" dirty="0"/>
          </a:p>
          <a:p>
            <a:pPr marL="0" indent="0">
              <a:buNone/>
            </a:pPr>
            <a:endParaRPr lang="nl-BE" dirty="0"/>
          </a:p>
        </p:txBody>
      </p:sp>
    </p:spTree>
    <p:extLst>
      <p:ext uri="{BB962C8B-B14F-4D97-AF65-F5344CB8AC3E}">
        <p14:creationId xmlns:p14="http://schemas.microsoft.com/office/powerpoint/2010/main" val="3139579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14453" y="2809533"/>
            <a:ext cx="10963985" cy="1325563"/>
          </a:xfrm>
        </p:spPr>
        <p:txBody>
          <a:bodyPr>
            <a:normAutofit fontScale="90000"/>
          </a:bodyPr>
          <a:lstStyle/>
          <a:p>
            <a:r>
              <a:rPr lang="nl-BE" dirty="0"/>
              <a:t>Terugkoppeling proefexamen gesloten gedeelte</a:t>
            </a:r>
          </a:p>
        </p:txBody>
      </p:sp>
    </p:spTree>
    <p:extLst>
      <p:ext uri="{BB962C8B-B14F-4D97-AF65-F5344CB8AC3E}">
        <p14:creationId xmlns:p14="http://schemas.microsoft.com/office/powerpoint/2010/main" val="514150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Vraag 1</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8</a:t>
            </a:fld>
            <a:endParaRPr lang="nl-BE" dirty="0"/>
          </a:p>
        </p:txBody>
      </p:sp>
      <p:sp>
        <p:nvSpPr>
          <p:cNvPr id="6" name="Rechthoek 5"/>
          <p:cNvSpPr/>
          <p:nvPr/>
        </p:nvSpPr>
        <p:spPr>
          <a:xfrm>
            <a:off x="623887" y="1382557"/>
            <a:ext cx="10944226" cy="4027706"/>
          </a:xfrm>
          <a:prstGeom prst="rect">
            <a:avLst/>
          </a:prstGeom>
        </p:spPr>
        <p:txBody>
          <a:bodyPr wrap="square">
            <a:spAutoFit/>
          </a:bodyPr>
          <a:lstStyle/>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Marcel doet onderzoek naar kenmerken die de mate waarin werknemers samenwerken (schaalscore) in organisaties beïnvloeden. Uit de literatuur leert hij dat het aantal jaren werkervaring, de soort functie van de werknemer ("middenkader", "</a:t>
            </a:r>
            <a:r>
              <a:rPr lang="nl-NL" sz="2000" dirty="0" err="1">
                <a:latin typeface="Calibri" panose="020F0502020204030204" pitchFamily="34" charset="0"/>
                <a:ea typeface="Calibri" panose="020F0502020204030204" pitchFamily="34" charset="0"/>
                <a:cs typeface="Times New Roman" panose="02020603050405020304" pitchFamily="18" charset="0"/>
              </a:rPr>
              <a:t>operator","managementfunctie</a:t>
            </a:r>
            <a:r>
              <a:rPr lang="nl-NL" sz="2000" dirty="0">
                <a:latin typeface="Calibri" panose="020F0502020204030204" pitchFamily="34" charset="0"/>
                <a:ea typeface="Calibri" panose="020F0502020204030204" pitchFamily="34" charset="0"/>
                <a:cs typeface="Times New Roman" panose="02020603050405020304" pitchFamily="18" charset="0"/>
              </a:rPr>
              <a:t>") en zijn motivatie (schaalscore) een rol spelen. Bovendien zou het effect van motivatie anders zijn naargelang het aantal jaren werkervaring.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Welke analysetechniek moet Marcel gebruiken om deze hypothese te onderzoeken?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t-test</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sz="2000" dirty="0" err="1">
                <a:latin typeface="Calibri" panose="020F0502020204030204" pitchFamily="34" charset="0"/>
                <a:ea typeface="Calibri" panose="020F0502020204030204" pitchFamily="34" charset="0"/>
                <a:cs typeface="Times New Roman" panose="02020603050405020304" pitchFamily="18" charset="0"/>
              </a:rPr>
              <a:t>anova</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sz="2000" dirty="0" err="1">
                <a:latin typeface="Calibri" panose="020F0502020204030204" pitchFamily="34" charset="0"/>
                <a:ea typeface="Calibri" panose="020F0502020204030204" pitchFamily="34" charset="0"/>
                <a:cs typeface="Times New Roman" panose="02020603050405020304" pitchFamily="18" charset="0"/>
              </a:rPr>
              <a:t>bivariate</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meervoudige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endParaRPr lang="nl-NL"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meervoudige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r>
              <a:rPr lang="nl-NL" sz="2000" dirty="0">
                <a:latin typeface="Calibri" panose="020F0502020204030204" pitchFamily="34" charset="0"/>
                <a:ea typeface="Calibri" panose="020F0502020204030204" pitchFamily="34" charset="0"/>
                <a:cs typeface="Times New Roman" panose="02020603050405020304" pitchFamily="18" charset="0"/>
              </a:rPr>
              <a:t> met dummyvariabelen</a:t>
            </a:r>
            <a:endParaRPr lang="nl-BE" sz="2000" dirty="0"/>
          </a:p>
        </p:txBody>
      </p:sp>
      <p:sp>
        <p:nvSpPr>
          <p:cNvPr id="7" name="Rechthoek 6"/>
          <p:cNvSpPr/>
          <p:nvPr/>
        </p:nvSpPr>
        <p:spPr bwMode="auto">
          <a:xfrm>
            <a:off x="672655" y="4988689"/>
            <a:ext cx="6069521" cy="375791"/>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214254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Vraag 1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9</a:t>
            </a:fld>
            <a:endParaRPr lang="nl-BE" dirty="0"/>
          </a:p>
        </p:txBody>
      </p:sp>
      <p:sp>
        <p:nvSpPr>
          <p:cNvPr id="4" name="Rechthoek 3"/>
          <p:cNvSpPr/>
          <p:nvPr/>
        </p:nvSpPr>
        <p:spPr>
          <a:xfrm>
            <a:off x="623887" y="1449513"/>
            <a:ext cx="10672298" cy="2246769"/>
          </a:xfrm>
          <a:prstGeom prst="rect">
            <a:avLst/>
          </a:prstGeom>
        </p:spPr>
        <p:txBody>
          <a:bodyPr wrap="square">
            <a:spAutoFit/>
          </a:bodyPr>
          <a:lstStyle/>
          <a:p>
            <a:r>
              <a:rPr lang="nl-BE" sz="2000" dirty="0">
                <a:latin typeface="+mn-lt"/>
              </a:rPr>
              <a:t>Om deze hypothese te testen is een meervoudige </a:t>
            </a:r>
            <a:r>
              <a:rPr lang="nl-BE" sz="2000" dirty="0" err="1">
                <a:latin typeface="+mn-lt"/>
              </a:rPr>
              <a:t>regressie-analyse</a:t>
            </a:r>
            <a:r>
              <a:rPr lang="nl-BE" sz="2000" dirty="0">
                <a:latin typeface="+mn-lt"/>
              </a:rPr>
              <a:t> met dummyvariabelen aangewezen. Het gaat immers om een kwantitatieve afhankelijke variabele (mate van samenwerken als schaalscore), twee kwantitatieve onafhankelijke variabelen (werkervaring en motivatie) en één kwalitatieve onafhankelijke variabele (functie). Deze laatste dien je te </a:t>
            </a:r>
            <a:r>
              <a:rPr lang="nl-BE" sz="2000" dirty="0" err="1">
                <a:latin typeface="+mn-lt"/>
              </a:rPr>
              <a:t>hercoderen</a:t>
            </a:r>
            <a:r>
              <a:rPr lang="nl-BE" sz="2000" dirty="0">
                <a:latin typeface="+mn-lt"/>
              </a:rPr>
              <a:t> tot 2 dummyvariabelen om te kunnen opnemen in de </a:t>
            </a:r>
            <a:r>
              <a:rPr lang="nl-BE" sz="2000" dirty="0" err="1">
                <a:latin typeface="+mn-lt"/>
              </a:rPr>
              <a:t>regressie-analyse</a:t>
            </a:r>
            <a:r>
              <a:rPr lang="nl-BE" sz="2000" dirty="0">
                <a:latin typeface="+mn-lt"/>
              </a:rPr>
              <a:t>. Er wordt ook verwezen naar een interactie-effect (het effect van motivatie is anders naargelang het aantal jaren werkervaring), maar dit heeft geen invloed op de keuze voor analysetechniek.</a:t>
            </a:r>
          </a:p>
        </p:txBody>
      </p:sp>
      <p:graphicFrame>
        <p:nvGraphicFramePr>
          <p:cNvPr id="9" name="Tabel 8"/>
          <p:cNvGraphicFramePr>
            <a:graphicFrameLocks noGrp="1"/>
          </p:cNvGraphicFramePr>
          <p:nvPr>
            <p:extLst>
              <p:ext uri="{D42A27DB-BD31-4B8C-83A1-F6EECF244321}">
                <p14:modId xmlns:p14="http://schemas.microsoft.com/office/powerpoint/2010/main" val="1799470533"/>
              </p:ext>
            </p:extLst>
          </p:nvPr>
        </p:nvGraphicFramePr>
        <p:xfrm>
          <a:off x="2653991" y="5332698"/>
          <a:ext cx="1583472" cy="1371600"/>
        </p:xfrm>
        <a:graphic>
          <a:graphicData uri="http://schemas.openxmlformats.org/drawingml/2006/table">
            <a:tbl>
              <a:tblPr firstRow="1" bandRow="1">
                <a:tableStyleId>{69CF1AB2-1976-4502-BF36-3FF5EA218861}</a:tableStyleId>
              </a:tblPr>
              <a:tblGrid>
                <a:gridCol w="1583472">
                  <a:extLst>
                    <a:ext uri="{9D8B030D-6E8A-4147-A177-3AD203B41FA5}">
                      <a16:colId xmlns:a16="http://schemas.microsoft.com/office/drawing/2014/main" val="3552359226"/>
                    </a:ext>
                  </a:extLst>
                </a:gridCol>
              </a:tblGrid>
              <a:tr h="278781">
                <a:tc>
                  <a:txBody>
                    <a:bodyPr/>
                    <a:lstStyle/>
                    <a:p>
                      <a:endParaRPr lang="nl-BE" dirty="0"/>
                    </a:p>
                  </a:txBody>
                  <a:tcPr/>
                </a:tc>
                <a:extLst>
                  <a:ext uri="{0D108BD9-81ED-4DB2-BD59-A6C34878D82A}">
                    <a16:rowId xmlns:a16="http://schemas.microsoft.com/office/drawing/2014/main" val="3301748065"/>
                  </a:ext>
                </a:extLst>
              </a:tr>
              <a:tr h="278781">
                <a:tc>
                  <a:txBody>
                    <a:bodyPr/>
                    <a:lstStyle/>
                    <a:p>
                      <a:endParaRPr lang="nl-BE"/>
                    </a:p>
                  </a:txBody>
                  <a:tcPr/>
                </a:tc>
                <a:extLst>
                  <a:ext uri="{0D108BD9-81ED-4DB2-BD59-A6C34878D82A}">
                    <a16:rowId xmlns:a16="http://schemas.microsoft.com/office/drawing/2014/main" val="702582855"/>
                  </a:ext>
                </a:extLst>
              </a:tr>
              <a:tr h="278781">
                <a:tc>
                  <a:txBody>
                    <a:bodyPr/>
                    <a:lstStyle/>
                    <a:p>
                      <a:endParaRPr lang="nl-BE" dirty="0"/>
                    </a:p>
                  </a:txBody>
                  <a:tcPr/>
                </a:tc>
                <a:extLst>
                  <a:ext uri="{0D108BD9-81ED-4DB2-BD59-A6C34878D82A}">
                    <a16:rowId xmlns:a16="http://schemas.microsoft.com/office/drawing/2014/main" val="2276057494"/>
                  </a:ext>
                </a:extLst>
              </a:tr>
            </a:tbl>
          </a:graphicData>
        </a:graphic>
      </p:graphicFrame>
      <p:graphicFrame>
        <p:nvGraphicFramePr>
          <p:cNvPr id="10" name="Tabel 9"/>
          <p:cNvGraphicFramePr>
            <a:graphicFrameLocks noGrp="1"/>
          </p:cNvGraphicFramePr>
          <p:nvPr>
            <p:extLst>
              <p:ext uri="{D42A27DB-BD31-4B8C-83A1-F6EECF244321}">
                <p14:modId xmlns:p14="http://schemas.microsoft.com/office/powerpoint/2010/main" val="743465083"/>
              </p:ext>
            </p:extLst>
          </p:nvPr>
        </p:nvGraphicFramePr>
        <p:xfrm>
          <a:off x="2382024" y="4560527"/>
          <a:ext cx="2127405" cy="396240"/>
        </p:xfrm>
        <a:graphic>
          <a:graphicData uri="http://schemas.openxmlformats.org/drawingml/2006/table">
            <a:tbl>
              <a:tblPr firstRow="1" bandRow="1">
                <a:tableStyleId>{69CF1AB2-1976-4502-BF36-3FF5EA218861}</a:tableStyleId>
              </a:tblPr>
              <a:tblGrid>
                <a:gridCol w="2127405">
                  <a:extLst>
                    <a:ext uri="{9D8B030D-6E8A-4147-A177-3AD203B41FA5}">
                      <a16:colId xmlns:a16="http://schemas.microsoft.com/office/drawing/2014/main" val="2258528287"/>
                    </a:ext>
                  </a:extLst>
                </a:gridCol>
              </a:tblGrid>
              <a:tr h="370840">
                <a:tc>
                  <a:txBody>
                    <a:bodyPr/>
                    <a:lstStyle/>
                    <a:p>
                      <a:pPr algn="ctr"/>
                      <a:r>
                        <a:rPr lang="nl-BE" sz="2000" dirty="0"/>
                        <a:t>motivatie</a:t>
                      </a:r>
                    </a:p>
                  </a:txBody>
                  <a:tcPr/>
                </a:tc>
                <a:extLst>
                  <a:ext uri="{0D108BD9-81ED-4DB2-BD59-A6C34878D82A}">
                    <a16:rowId xmlns:a16="http://schemas.microsoft.com/office/drawing/2014/main" val="631768503"/>
                  </a:ext>
                </a:extLst>
              </a:tr>
            </a:tbl>
          </a:graphicData>
        </a:graphic>
      </p:graphicFrame>
      <p:graphicFrame>
        <p:nvGraphicFramePr>
          <p:cNvPr id="11" name="Tabel 10"/>
          <p:cNvGraphicFramePr>
            <a:graphicFrameLocks noGrp="1"/>
          </p:cNvGraphicFramePr>
          <p:nvPr>
            <p:extLst>
              <p:ext uri="{D42A27DB-BD31-4B8C-83A1-F6EECF244321}">
                <p14:modId xmlns:p14="http://schemas.microsoft.com/office/powerpoint/2010/main" val="3192583428"/>
              </p:ext>
            </p:extLst>
          </p:nvPr>
        </p:nvGraphicFramePr>
        <p:xfrm>
          <a:off x="2382023" y="3849317"/>
          <a:ext cx="2127405" cy="396240"/>
        </p:xfrm>
        <a:graphic>
          <a:graphicData uri="http://schemas.openxmlformats.org/drawingml/2006/table">
            <a:tbl>
              <a:tblPr firstRow="1" bandRow="1">
                <a:tableStyleId>{69CF1AB2-1976-4502-BF36-3FF5EA218861}</a:tableStyleId>
              </a:tblPr>
              <a:tblGrid>
                <a:gridCol w="2127405">
                  <a:extLst>
                    <a:ext uri="{9D8B030D-6E8A-4147-A177-3AD203B41FA5}">
                      <a16:colId xmlns:a16="http://schemas.microsoft.com/office/drawing/2014/main" val="2258528287"/>
                    </a:ext>
                  </a:extLst>
                </a:gridCol>
              </a:tblGrid>
              <a:tr h="370840">
                <a:tc>
                  <a:txBody>
                    <a:bodyPr/>
                    <a:lstStyle/>
                    <a:p>
                      <a:pPr algn="ctr"/>
                      <a:r>
                        <a:rPr lang="nl-BE" sz="2000" dirty="0"/>
                        <a:t>werkervaring</a:t>
                      </a:r>
                    </a:p>
                  </a:txBody>
                  <a:tcPr/>
                </a:tc>
                <a:extLst>
                  <a:ext uri="{0D108BD9-81ED-4DB2-BD59-A6C34878D82A}">
                    <a16:rowId xmlns:a16="http://schemas.microsoft.com/office/drawing/2014/main" val="631768503"/>
                  </a:ext>
                </a:extLst>
              </a:tr>
            </a:tbl>
          </a:graphicData>
        </a:graphic>
      </p:graphicFrame>
      <p:sp>
        <p:nvSpPr>
          <p:cNvPr id="12" name="Tekstvak 11"/>
          <p:cNvSpPr txBox="1"/>
          <p:nvPr/>
        </p:nvSpPr>
        <p:spPr>
          <a:xfrm>
            <a:off x="1739591" y="5881973"/>
            <a:ext cx="914400" cy="914400"/>
          </a:xfrm>
          <a:prstGeom prst="rect">
            <a:avLst/>
          </a:prstGeom>
          <a:noFill/>
        </p:spPr>
        <p:txBody>
          <a:bodyPr wrap="none" lIns="0" tIns="0" rIns="0" bIns="0" rtlCol="0">
            <a:noAutofit/>
          </a:bodyPr>
          <a:lstStyle/>
          <a:p>
            <a:pPr algn="l"/>
            <a:r>
              <a:rPr lang="nl-BE" sz="2000" b="1" dirty="0">
                <a:solidFill>
                  <a:schemeClr val="accent1"/>
                </a:solidFill>
                <a:latin typeface="+mn-lt"/>
                <a:ea typeface="Verdana" panose="020B0604030504040204" pitchFamily="34" charset="0"/>
                <a:cs typeface="Verdana" panose="020B0604030504040204" pitchFamily="34" charset="0"/>
              </a:rPr>
              <a:t>Functie</a:t>
            </a:r>
          </a:p>
        </p:txBody>
      </p:sp>
      <p:graphicFrame>
        <p:nvGraphicFramePr>
          <p:cNvPr id="13" name="Tabel 12"/>
          <p:cNvGraphicFramePr>
            <a:graphicFrameLocks noGrp="1"/>
          </p:cNvGraphicFramePr>
          <p:nvPr>
            <p:extLst>
              <p:ext uri="{D42A27DB-BD31-4B8C-83A1-F6EECF244321}">
                <p14:modId xmlns:p14="http://schemas.microsoft.com/office/powerpoint/2010/main" val="711784258"/>
              </p:ext>
            </p:extLst>
          </p:nvPr>
        </p:nvGraphicFramePr>
        <p:xfrm>
          <a:off x="6796088" y="4819607"/>
          <a:ext cx="2872019" cy="396240"/>
        </p:xfrm>
        <a:graphic>
          <a:graphicData uri="http://schemas.openxmlformats.org/drawingml/2006/table">
            <a:tbl>
              <a:tblPr firstRow="1" bandRow="1">
                <a:tableStyleId>{69CF1AB2-1976-4502-BF36-3FF5EA218861}</a:tableStyleId>
              </a:tblPr>
              <a:tblGrid>
                <a:gridCol w="2872019">
                  <a:extLst>
                    <a:ext uri="{9D8B030D-6E8A-4147-A177-3AD203B41FA5}">
                      <a16:colId xmlns:a16="http://schemas.microsoft.com/office/drawing/2014/main" val="2258528287"/>
                    </a:ext>
                  </a:extLst>
                </a:gridCol>
              </a:tblGrid>
              <a:tr h="370840">
                <a:tc>
                  <a:txBody>
                    <a:bodyPr/>
                    <a:lstStyle/>
                    <a:p>
                      <a:pPr algn="ctr"/>
                      <a:r>
                        <a:rPr lang="nl-BE" sz="2000" dirty="0"/>
                        <a:t>Mate van samenwerken</a:t>
                      </a:r>
                    </a:p>
                  </a:txBody>
                  <a:tcPr/>
                </a:tc>
                <a:extLst>
                  <a:ext uri="{0D108BD9-81ED-4DB2-BD59-A6C34878D82A}">
                    <a16:rowId xmlns:a16="http://schemas.microsoft.com/office/drawing/2014/main" val="631768503"/>
                  </a:ext>
                </a:extLst>
              </a:tr>
            </a:tbl>
          </a:graphicData>
        </a:graphic>
      </p:graphicFrame>
      <p:cxnSp>
        <p:nvCxnSpPr>
          <p:cNvPr id="16" name="Rechte verbindingslijn met pijl 15"/>
          <p:cNvCxnSpPr/>
          <p:nvPr/>
        </p:nvCxnSpPr>
        <p:spPr>
          <a:xfrm flipV="1">
            <a:off x="4389864" y="5332698"/>
            <a:ext cx="2100146" cy="68580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9" name="Rechte verbindingslijn met pijl 18"/>
          <p:cNvCxnSpPr/>
          <p:nvPr/>
        </p:nvCxnSpPr>
        <p:spPr>
          <a:xfrm>
            <a:off x="4605454" y="4758647"/>
            <a:ext cx="1884556" cy="37593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1" name="Rechte verbindingslijn met pijl 20"/>
          <p:cNvCxnSpPr/>
          <p:nvPr/>
        </p:nvCxnSpPr>
        <p:spPr>
          <a:xfrm>
            <a:off x="4605454" y="3998864"/>
            <a:ext cx="1884556" cy="759783"/>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1" name="Rechte verbindingslijn met pijl 30"/>
          <p:cNvCxnSpPr/>
          <p:nvPr/>
        </p:nvCxnSpPr>
        <p:spPr>
          <a:xfrm>
            <a:off x="4605454" y="4137102"/>
            <a:ext cx="646770" cy="42342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3" name="Rechte verbindingslijn met pijl 32"/>
          <p:cNvCxnSpPr/>
          <p:nvPr/>
        </p:nvCxnSpPr>
        <p:spPr>
          <a:xfrm flipV="1">
            <a:off x="4605454" y="4560527"/>
            <a:ext cx="646770" cy="8546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5" name="Rechte verbindingslijn met pijl 34"/>
          <p:cNvCxnSpPr/>
          <p:nvPr/>
        </p:nvCxnSpPr>
        <p:spPr>
          <a:xfrm>
            <a:off x="5252224" y="4560527"/>
            <a:ext cx="1159727" cy="386085"/>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134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Vraag 2</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10</a:t>
            </a:fld>
            <a:endParaRPr lang="nl-BE" dirty="0"/>
          </a:p>
        </p:txBody>
      </p:sp>
      <p:sp>
        <p:nvSpPr>
          <p:cNvPr id="6" name="Rechthoek 5"/>
          <p:cNvSpPr/>
          <p:nvPr/>
        </p:nvSpPr>
        <p:spPr>
          <a:xfrm>
            <a:off x="623886" y="1447442"/>
            <a:ext cx="10775633" cy="3385542"/>
          </a:xfrm>
          <a:prstGeom prst="rect">
            <a:avLst/>
          </a:prstGeom>
        </p:spPr>
        <p:txBody>
          <a:bodyPr wrap="square">
            <a:spAutoFit/>
          </a:bodyPr>
          <a:lstStyle/>
          <a:p>
            <a:pPr algn="just">
              <a:lnSpc>
                <a:spcPct val="107000"/>
              </a:lnSpc>
              <a:spcAft>
                <a:spcPts val="0"/>
              </a:spcAft>
            </a:pPr>
            <a:r>
              <a:rPr lang="nl-NL" sz="2000" dirty="0" err="1">
                <a:latin typeface="Calibri" panose="020F0502020204030204" pitchFamily="34" charset="0"/>
                <a:ea typeface="Calibri" panose="020F0502020204030204" pitchFamily="34" charset="0"/>
                <a:cs typeface="Times New Roman" panose="02020603050405020304" pitchFamily="18" charset="0"/>
              </a:rPr>
              <a:t>Jerich</a:t>
            </a:r>
            <a:r>
              <a:rPr lang="nl-NL" sz="2000" dirty="0">
                <a:latin typeface="Calibri" panose="020F0502020204030204" pitchFamily="34" charset="0"/>
                <a:ea typeface="Calibri" panose="020F0502020204030204" pitchFamily="34" charset="0"/>
                <a:cs typeface="Times New Roman" panose="02020603050405020304" pitchFamily="18" charset="0"/>
              </a:rPr>
              <a:t> vraagt zich af of het klopt dat schoolcultuur (gemeten a.d.h.v. een schaalscore) beïnvloed wordt door de grootte van de school. Hij verdeelde scholen daarbij in drie groepen ("klein", "</a:t>
            </a:r>
            <a:r>
              <a:rPr lang="nl-NL" sz="2000" dirty="0" err="1">
                <a:latin typeface="Calibri" panose="020F0502020204030204" pitchFamily="34" charset="0"/>
                <a:ea typeface="Calibri" panose="020F0502020204030204" pitchFamily="34" charset="0"/>
                <a:cs typeface="Times New Roman" panose="02020603050405020304" pitchFamily="18" charset="0"/>
              </a:rPr>
              <a:t>middelgroot","groot</a:t>
            </a:r>
            <a:r>
              <a:rPr lang="nl-NL" sz="2000" dirty="0">
                <a:latin typeface="Calibri" panose="020F0502020204030204" pitchFamily="34" charset="0"/>
                <a:ea typeface="Calibri" panose="020F0502020204030204" pitchFamily="34" charset="0"/>
                <a:cs typeface="Times New Roman" panose="02020603050405020304" pitchFamily="18" charset="0"/>
              </a:rPr>
              <a:t>").</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Welke analysetechniek moet </a:t>
            </a:r>
            <a:r>
              <a:rPr lang="nl-NL" sz="2000" dirty="0" err="1">
                <a:latin typeface="Calibri" panose="020F0502020204030204" pitchFamily="34" charset="0"/>
                <a:ea typeface="Calibri" panose="020F0502020204030204" pitchFamily="34" charset="0"/>
                <a:cs typeface="Times New Roman" panose="02020603050405020304" pitchFamily="18" charset="0"/>
              </a:rPr>
              <a:t>Jerich</a:t>
            </a:r>
            <a:r>
              <a:rPr lang="nl-NL" sz="2000" dirty="0">
                <a:latin typeface="Calibri" panose="020F0502020204030204" pitchFamily="34" charset="0"/>
                <a:ea typeface="Calibri" panose="020F0502020204030204" pitchFamily="34" charset="0"/>
                <a:cs typeface="Times New Roman" panose="02020603050405020304" pitchFamily="18" charset="0"/>
              </a:rPr>
              <a:t> gebruiken om deze hypothese te onderzoeken?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t-test</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sz="2000" dirty="0" err="1">
                <a:latin typeface="Calibri" panose="020F0502020204030204" pitchFamily="34" charset="0"/>
                <a:ea typeface="Calibri" panose="020F0502020204030204" pitchFamily="34" charset="0"/>
                <a:cs typeface="Times New Roman" panose="02020603050405020304" pitchFamily="18" charset="0"/>
              </a:rPr>
              <a:t>anova</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sz="2000" dirty="0" err="1">
                <a:latin typeface="Calibri" panose="020F0502020204030204" pitchFamily="34" charset="0"/>
                <a:ea typeface="Calibri" panose="020F0502020204030204" pitchFamily="34" charset="0"/>
                <a:cs typeface="Times New Roman" panose="02020603050405020304" pitchFamily="18" charset="0"/>
              </a:rPr>
              <a:t>bivariate</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meervoudige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sz="2000" dirty="0">
                <a:latin typeface="Calibri" panose="020F0502020204030204" pitchFamily="34" charset="0"/>
                <a:ea typeface="Calibri" panose="020F0502020204030204" pitchFamily="34" charset="0"/>
                <a:cs typeface="Times New Roman" panose="02020603050405020304" pitchFamily="18" charset="0"/>
              </a:rPr>
              <a:t>logistische </a:t>
            </a:r>
            <a:r>
              <a:rPr lang="nl-NL" sz="2000" dirty="0" err="1">
                <a:latin typeface="Calibri" panose="020F0502020204030204" pitchFamily="34" charset="0"/>
                <a:ea typeface="Calibri" panose="020F0502020204030204" pitchFamily="34" charset="0"/>
                <a:cs typeface="Times New Roman" panose="02020603050405020304" pitchFamily="18" charset="0"/>
              </a:rPr>
              <a:t>regressie-analyse</a:t>
            </a:r>
            <a:r>
              <a:rPr lang="nl-NL" sz="2000" dirty="0">
                <a:latin typeface="Calibri" panose="020F0502020204030204" pitchFamily="34" charset="0"/>
                <a:ea typeface="Calibri" panose="020F0502020204030204" pitchFamily="34" charset="0"/>
                <a:cs typeface="Times New Roman" panose="02020603050405020304" pitchFamily="18" charset="0"/>
              </a:rPr>
              <a:t> met dummyvariabelen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hthoek 6"/>
          <p:cNvSpPr/>
          <p:nvPr/>
        </p:nvSpPr>
        <p:spPr bwMode="auto">
          <a:xfrm>
            <a:off x="623887" y="3439088"/>
            <a:ext cx="1220153" cy="375791"/>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779394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Vraag 2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11</a:t>
            </a:fld>
            <a:endParaRPr lang="nl-BE" dirty="0"/>
          </a:p>
        </p:txBody>
      </p:sp>
      <p:sp>
        <p:nvSpPr>
          <p:cNvPr id="4" name="Rechthoek 3"/>
          <p:cNvSpPr/>
          <p:nvPr/>
        </p:nvSpPr>
        <p:spPr>
          <a:xfrm>
            <a:off x="623887" y="1449513"/>
            <a:ext cx="10672298" cy="1015663"/>
          </a:xfrm>
          <a:prstGeom prst="rect">
            <a:avLst/>
          </a:prstGeom>
        </p:spPr>
        <p:txBody>
          <a:bodyPr wrap="square">
            <a:spAutoFit/>
          </a:bodyPr>
          <a:lstStyle/>
          <a:p>
            <a:r>
              <a:rPr lang="nl-BE" sz="2000" dirty="0">
                <a:latin typeface="+mn-lt"/>
              </a:rPr>
              <a:t>Om deze hypothese te testen is een </a:t>
            </a:r>
            <a:r>
              <a:rPr lang="nl-BE" sz="2000" dirty="0" err="1">
                <a:latin typeface="+mn-lt"/>
              </a:rPr>
              <a:t>anova</a:t>
            </a:r>
            <a:r>
              <a:rPr lang="nl-BE" sz="2000" dirty="0">
                <a:latin typeface="+mn-lt"/>
              </a:rPr>
              <a:t> aangewezen. Het gaat immers om een kwantitatieve afhankelijke variabele (schoolcultuur als schaalscore) en 1 onafhankelijke kwalitatieve variabele met drie categorieën.</a:t>
            </a:r>
          </a:p>
        </p:txBody>
      </p:sp>
      <p:graphicFrame>
        <p:nvGraphicFramePr>
          <p:cNvPr id="9" name="Tabel 8"/>
          <p:cNvGraphicFramePr>
            <a:graphicFrameLocks noGrp="1"/>
          </p:cNvGraphicFramePr>
          <p:nvPr>
            <p:extLst>
              <p:ext uri="{D42A27DB-BD31-4B8C-83A1-F6EECF244321}">
                <p14:modId xmlns:p14="http://schemas.microsoft.com/office/powerpoint/2010/main" val="950704167"/>
              </p:ext>
            </p:extLst>
          </p:nvPr>
        </p:nvGraphicFramePr>
        <p:xfrm>
          <a:off x="2830882" y="3716374"/>
          <a:ext cx="1695293" cy="1371600"/>
        </p:xfrm>
        <a:graphic>
          <a:graphicData uri="http://schemas.openxmlformats.org/drawingml/2006/table">
            <a:tbl>
              <a:tblPr firstRow="1" bandRow="1">
                <a:tableStyleId>{69CF1AB2-1976-4502-BF36-3FF5EA218861}</a:tableStyleId>
              </a:tblPr>
              <a:tblGrid>
                <a:gridCol w="1695293">
                  <a:extLst>
                    <a:ext uri="{9D8B030D-6E8A-4147-A177-3AD203B41FA5}">
                      <a16:colId xmlns:a16="http://schemas.microsoft.com/office/drawing/2014/main" val="3552359226"/>
                    </a:ext>
                  </a:extLst>
                </a:gridCol>
              </a:tblGrid>
              <a:tr h="278781">
                <a:tc>
                  <a:txBody>
                    <a:bodyPr/>
                    <a:lstStyle/>
                    <a:p>
                      <a:endParaRPr lang="nl-BE" dirty="0"/>
                    </a:p>
                  </a:txBody>
                  <a:tcPr/>
                </a:tc>
                <a:extLst>
                  <a:ext uri="{0D108BD9-81ED-4DB2-BD59-A6C34878D82A}">
                    <a16:rowId xmlns:a16="http://schemas.microsoft.com/office/drawing/2014/main" val="3301748065"/>
                  </a:ext>
                </a:extLst>
              </a:tr>
              <a:tr h="278781">
                <a:tc>
                  <a:txBody>
                    <a:bodyPr/>
                    <a:lstStyle/>
                    <a:p>
                      <a:endParaRPr lang="nl-BE"/>
                    </a:p>
                  </a:txBody>
                  <a:tcPr/>
                </a:tc>
                <a:extLst>
                  <a:ext uri="{0D108BD9-81ED-4DB2-BD59-A6C34878D82A}">
                    <a16:rowId xmlns:a16="http://schemas.microsoft.com/office/drawing/2014/main" val="702582855"/>
                  </a:ext>
                </a:extLst>
              </a:tr>
              <a:tr h="278781">
                <a:tc>
                  <a:txBody>
                    <a:bodyPr/>
                    <a:lstStyle/>
                    <a:p>
                      <a:endParaRPr lang="nl-BE" dirty="0"/>
                    </a:p>
                  </a:txBody>
                  <a:tcPr/>
                </a:tc>
                <a:extLst>
                  <a:ext uri="{0D108BD9-81ED-4DB2-BD59-A6C34878D82A}">
                    <a16:rowId xmlns:a16="http://schemas.microsoft.com/office/drawing/2014/main" val="2276057494"/>
                  </a:ext>
                </a:extLst>
              </a:tr>
            </a:tbl>
          </a:graphicData>
        </a:graphic>
      </p:graphicFrame>
      <p:sp>
        <p:nvSpPr>
          <p:cNvPr id="12" name="Tekstvak 11"/>
          <p:cNvSpPr txBox="1"/>
          <p:nvPr/>
        </p:nvSpPr>
        <p:spPr>
          <a:xfrm>
            <a:off x="2942703" y="3329436"/>
            <a:ext cx="914400" cy="914400"/>
          </a:xfrm>
          <a:prstGeom prst="rect">
            <a:avLst/>
          </a:prstGeom>
          <a:noFill/>
        </p:spPr>
        <p:txBody>
          <a:bodyPr wrap="none" lIns="0" tIns="0" rIns="0" bIns="0" rtlCol="0">
            <a:noAutofit/>
          </a:bodyPr>
          <a:lstStyle/>
          <a:p>
            <a:pPr algn="l"/>
            <a:r>
              <a:rPr lang="nl-BE" sz="2000" b="1" dirty="0">
                <a:solidFill>
                  <a:schemeClr val="accent1"/>
                </a:solidFill>
                <a:latin typeface="+mn-lt"/>
                <a:ea typeface="Verdana" panose="020B0604030504040204" pitchFamily="34" charset="0"/>
                <a:cs typeface="Verdana" panose="020B0604030504040204" pitchFamily="34" charset="0"/>
              </a:rPr>
              <a:t>schoolgrootte</a:t>
            </a:r>
          </a:p>
        </p:txBody>
      </p:sp>
      <p:graphicFrame>
        <p:nvGraphicFramePr>
          <p:cNvPr id="13" name="Tabel 12"/>
          <p:cNvGraphicFramePr>
            <a:graphicFrameLocks noGrp="1"/>
          </p:cNvGraphicFramePr>
          <p:nvPr>
            <p:extLst>
              <p:ext uri="{D42A27DB-BD31-4B8C-83A1-F6EECF244321}">
                <p14:modId xmlns:p14="http://schemas.microsoft.com/office/powerpoint/2010/main" val="1635587534"/>
              </p:ext>
            </p:extLst>
          </p:nvPr>
        </p:nvGraphicFramePr>
        <p:xfrm>
          <a:off x="6520516" y="4183962"/>
          <a:ext cx="2235178" cy="396240"/>
        </p:xfrm>
        <a:graphic>
          <a:graphicData uri="http://schemas.openxmlformats.org/drawingml/2006/table">
            <a:tbl>
              <a:tblPr firstRow="1" bandRow="1">
                <a:tableStyleId>{69CF1AB2-1976-4502-BF36-3FF5EA218861}</a:tableStyleId>
              </a:tblPr>
              <a:tblGrid>
                <a:gridCol w="2235178">
                  <a:extLst>
                    <a:ext uri="{9D8B030D-6E8A-4147-A177-3AD203B41FA5}">
                      <a16:colId xmlns:a16="http://schemas.microsoft.com/office/drawing/2014/main" val="2258528287"/>
                    </a:ext>
                  </a:extLst>
                </a:gridCol>
              </a:tblGrid>
              <a:tr h="370840">
                <a:tc>
                  <a:txBody>
                    <a:bodyPr/>
                    <a:lstStyle/>
                    <a:p>
                      <a:pPr algn="ctr"/>
                      <a:r>
                        <a:rPr lang="nl-BE" sz="2000" dirty="0"/>
                        <a:t>schoolcultuur</a:t>
                      </a:r>
                    </a:p>
                  </a:txBody>
                  <a:tcPr/>
                </a:tc>
                <a:extLst>
                  <a:ext uri="{0D108BD9-81ED-4DB2-BD59-A6C34878D82A}">
                    <a16:rowId xmlns:a16="http://schemas.microsoft.com/office/drawing/2014/main" val="631768503"/>
                  </a:ext>
                </a:extLst>
              </a:tr>
            </a:tbl>
          </a:graphicData>
        </a:graphic>
      </p:graphicFrame>
      <p:cxnSp>
        <p:nvCxnSpPr>
          <p:cNvPr id="16" name="Rechte verbindingslijn met pijl 15"/>
          <p:cNvCxnSpPr/>
          <p:nvPr/>
        </p:nvCxnSpPr>
        <p:spPr>
          <a:xfrm flipV="1">
            <a:off x="4695942" y="4382082"/>
            <a:ext cx="1554546" cy="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5171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3</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12</a:t>
            </a:fld>
            <a:endParaRPr lang="nl-BE" dirty="0"/>
          </a:p>
        </p:txBody>
      </p:sp>
      <p:sp>
        <p:nvSpPr>
          <p:cNvPr id="7" name="Rechthoek 6"/>
          <p:cNvSpPr/>
          <p:nvPr/>
        </p:nvSpPr>
        <p:spPr>
          <a:xfrm>
            <a:off x="623886" y="1253408"/>
            <a:ext cx="10806113" cy="2397579"/>
          </a:xfrm>
          <a:prstGeom prst="rect">
            <a:avLst/>
          </a:prstGeom>
        </p:spPr>
        <p:txBody>
          <a:bodyPr wrap="square">
            <a:spAutoFit/>
          </a:bodyPr>
          <a:lstStyle/>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Stefan is werkzaam bij een organisatie die in Zuid-Afrika tracht het wiskunde onderwijs 'te verbeteren' in het secundair onderwijs. Hij zette bij de start van zijn opdracht een onderzoek uit waarbij hij attitudes en percepties van leerlingen in kaart brengt om zo op basis van meer objectieve inzichten beleid te kunnen uitzetten. Zo is hij o.a. geïnteresseerd in de mate waarin leerlingen vinden dat ze 'gelijke kansen krijgen tijdens de lessen' ('</a:t>
            </a:r>
            <a:r>
              <a:rPr lang="nl-NL" sz="2000" dirty="0" err="1">
                <a:latin typeface="Calibri" panose="020F0502020204030204" pitchFamily="34" charset="0"/>
                <a:ea typeface="Calibri" panose="020F0502020204030204" pitchFamily="34" charset="0"/>
                <a:cs typeface="Times New Roman" panose="02020603050405020304" pitchFamily="18" charset="0"/>
              </a:rPr>
              <a:t>Equity</a:t>
            </a:r>
            <a:r>
              <a:rPr lang="nl-NL" sz="2000" dirty="0">
                <a:latin typeface="Calibri" panose="020F0502020204030204" pitchFamily="34" charset="0"/>
                <a:ea typeface="Calibri" panose="020F0502020204030204" pitchFamily="34" charset="0"/>
                <a:cs typeface="Times New Roman" panose="02020603050405020304" pitchFamily="18" charset="0"/>
              </a:rPr>
              <a:t>'; een schaalscore). In een eerste verkennende analyse gaat hij na of er een verschil is tussen jongens en meisjes voor deze variabele. Geslacht is daarbij opgenomen als een </a:t>
            </a:r>
            <a:r>
              <a:rPr lang="nl-NL" sz="2000" dirty="0">
                <a:latin typeface="Calibri" panose="020F0502020204030204" pitchFamily="34" charset="0"/>
                <a:ea typeface="Calibri" panose="020F0502020204030204" pitchFamily="34" charset="0"/>
                <a:cs typeface="Courier New" panose="02070309020205020404" pitchFamily="49" charset="0"/>
              </a:rPr>
              <a:t>dummyvariabele (</a:t>
            </a:r>
            <a:r>
              <a:rPr lang="nl-NL" sz="2000" dirty="0" err="1">
                <a:latin typeface="Calibri" panose="020F0502020204030204" pitchFamily="34" charset="0"/>
                <a:ea typeface="Calibri" panose="020F0502020204030204" pitchFamily="34" charset="0"/>
                <a:cs typeface="Courier New" panose="02070309020205020404" pitchFamily="49" charset="0"/>
              </a:rPr>
              <a:t>MeisjeD</a:t>
            </a:r>
            <a:r>
              <a:rPr lang="nl-NL" sz="2000" dirty="0">
                <a:latin typeface="Calibri" panose="020F0502020204030204" pitchFamily="34" charset="0"/>
                <a:ea typeface="Calibri" panose="020F0502020204030204" pitchFamily="34" charset="0"/>
                <a:cs typeface="Courier New" panose="02070309020205020404" pitchFamily="49" charset="0"/>
              </a:rPr>
              <a:t>') die aanstaat voor meisjes. </a:t>
            </a:r>
            <a:r>
              <a:rPr lang="en-GB" sz="2000" dirty="0">
                <a:latin typeface="Calibri" panose="020F0502020204030204" pitchFamily="34" charset="0"/>
                <a:ea typeface="Calibri" panose="020F0502020204030204" pitchFamily="34" charset="0"/>
                <a:cs typeface="Courier New" panose="02070309020205020404" pitchFamily="49" charset="0"/>
              </a:rPr>
              <a:t>De output </a:t>
            </a:r>
            <a:r>
              <a:rPr lang="en-GB" sz="2000" dirty="0" err="1">
                <a:latin typeface="Calibri" panose="020F0502020204030204" pitchFamily="34" charset="0"/>
                <a:ea typeface="Calibri" panose="020F0502020204030204" pitchFamily="34" charset="0"/>
                <a:cs typeface="Courier New" panose="02070309020205020404" pitchFamily="49" charset="0"/>
              </a:rPr>
              <a:t>staat</a:t>
            </a:r>
            <a:r>
              <a:rPr lang="en-GB" sz="2000" dirty="0">
                <a:latin typeface="Calibri" panose="020F0502020204030204" pitchFamily="34" charset="0"/>
                <a:ea typeface="Calibri" panose="020F0502020204030204" pitchFamily="34" charset="0"/>
                <a:cs typeface="Courier New" panose="02070309020205020404" pitchFamily="49" charset="0"/>
              </a:rPr>
              <a:t> </a:t>
            </a:r>
            <a:r>
              <a:rPr lang="en-GB" sz="2000" dirty="0" err="1">
                <a:latin typeface="Calibri" panose="020F0502020204030204" pitchFamily="34" charset="0"/>
                <a:ea typeface="Calibri" panose="020F0502020204030204" pitchFamily="34" charset="0"/>
                <a:cs typeface="Courier New" panose="02070309020205020404" pitchFamily="49" charset="0"/>
              </a:rPr>
              <a:t>hieronder</a:t>
            </a:r>
            <a:r>
              <a:rPr lang="en-GB" sz="2000" dirty="0">
                <a:latin typeface="Calibri" panose="020F0502020204030204" pitchFamily="34" charset="0"/>
                <a:ea typeface="Calibri" panose="020F0502020204030204" pitchFamily="34" charset="0"/>
                <a:cs typeface="Courier New" panose="02070309020205020404" pitchFamily="49" charset="0"/>
              </a:rPr>
              <a: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5534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0"/>
          </p:nvPr>
        </p:nvSpPr>
        <p:spPr/>
        <p:txBody>
          <a:bodyPr/>
          <a:lstStyle/>
          <a:p>
            <a:fld id="{E038E271-308C-2E46-A3EC-56326F9084CC}" type="slidenum">
              <a:rPr lang="nl-BE" smtClean="0"/>
              <a:pPr/>
              <a:t>13</a:t>
            </a:fld>
            <a:endParaRPr lang="nl-BE" dirty="0"/>
          </a:p>
        </p:txBody>
      </p:sp>
      <p:sp>
        <p:nvSpPr>
          <p:cNvPr id="7" name="Rechthoek 6"/>
          <p:cNvSpPr/>
          <p:nvPr/>
        </p:nvSpPr>
        <p:spPr>
          <a:xfrm>
            <a:off x="242887" y="703867"/>
            <a:ext cx="6096000" cy="5390386"/>
          </a:xfrm>
          <a:prstGeom prst="rect">
            <a:avLst/>
          </a:prstGeom>
        </p:spPr>
        <p:txBody>
          <a:bodyPr>
            <a:spAutoFit/>
          </a:bodyPr>
          <a:lstStyle/>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a:t>
            </a:r>
            <a:r>
              <a:rPr lang="en-GB" sz="1400" b="1" dirty="0" err="1">
                <a:latin typeface="Courier New" panose="02070309020205020404" pitchFamily="49" charset="0"/>
                <a:ea typeface="Calibri" panose="020F0502020204030204" pitchFamily="34" charset="0"/>
                <a:cs typeface="Times New Roman" panose="02020603050405020304" pitchFamily="18" charset="0"/>
              </a:rPr>
              <a:t>leveneTest</a:t>
            </a:r>
            <a:r>
              <a:rPr lang="en-GB" sz="1400" b="1" dirty="0">
                <a:latin typeface="Courier New" panose="02070309020205020404" pitchFamily="49" charset="0"/>
                <a:ea typeface="Calibri" panose="020F0502020204030204" pitchFamily="34" charset="0"/>
                <a:cs typeface="Times New Roman" panose="02020603050405020304" pitchFamily="18" charset="0"/>
              </a:rPr>
              <a:t>(</a:t>
            </a:r>
            <a:r>
              <a:rPr lang="en-GB" sz="1400" b="1" dirty="0" err="1">
                <a:latin typeface="Courier New" panose="02070309020205020404" pitchFamily="49" charset="0"/>
                <a:ea typeface="Calibri" panose="020F0502020204030204" pitchFamily="34" charset="0"/>
                <a:cs typeface="Times New Roman" panose="02020603050405020304" pitchFamily="18" charset="0"/>
              </a:rPr>
              <a:t>Learner_full$Equity,Learner_full$MeisjeD</a:t>
            </a:r>
            <a:r>
              <a:rPr lang="en-GB" sz="1400" b="1"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r>
              <a:rPr lang="en-GB" sz="1400" dirty="0" err="1">
                <a:latin typeface="Courier New" panose="02070309020205020404" pitchFamily="49" charset="0"/>
                <a:ea typeface="Calibri" panose="020F0502020204030204" pitchFamily="34" charset="0"/>
                <a:cs typeface="Times New Roman" panose="02020603050405020304" pitchFamily="18" charset="0"/>
              </a:rPr>
              <a:t>Levene's</a:t>
            </a:r>
            <a:r>
              <a:rPr lang="en-GB" sz="1400" dirty="0">
                <a:latin typeface="Courier New" panose="02070309020205020404" pitchFamily="49" charset="0"/>
                <a:ea typeface="Calibri" panose="020F0502020204030204" pitchFamily="34" charset="0"/>
                <a:cs typeface="Times New Roman" panose="02020603050405020304" pitchFamily="18" charset="0"/>
              </a:rPr>
              <a:t> Test for Homogeneity of Variance (</a:t>
            </a:r>
            <a:r>
              <a:rPr lang="en-GB" sz="1400" dirty="0" err="1">
                <a:latin typeface="Courier New" panose="02070309020205020404" pitchFamily="49" charset="0"/>
                <a:ea typeface="Calibri" panose="020F0502020204030204" pitchFamily="34" charset="0"/>
                <a:cs typeface="Times New Roman" panose="02020603050405020304" pitchFamily="18" charset="0"/>
              </a:rPr>
              <a:t>center</a:t>
            </a:r>
            <a:r>
              <a:rPr lang="en-GB" sz="1400" dirty="0">
                <a:latin typeface="Courier New" panose="02070309020205020404" pitchFamily="49" charset="0"/>
                <a:ea typeface="Calibri" panose="020F0502020204030204" pitchFamily="34" charset="0"/>
                <a:cs typeface="Times New Roman" panose="02020603050405020304" pitchFamily="18" charset="0"/>
              </a:rPr>
              <a:t> = median)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r>
              <a:rPr lang="en-GB" sz="1400" dirty="0" err="1">
                <a:latin typeface="Courier New" panose="02070309020205020404" pitchFamily="49" charset="0"/>
                <a:ea typeface="Calibri" panose="020F0502020204030204" pitchFamily="34" charset="0"/>
                <a:cs typeface="Times New Roman" panose="02020603050405020304" pitchFamily="18" charset="0"/>
              </a:rPr>
              <a:t>Df</a:t>
            </a:r>
            <a:r>
              <a:rPr lang="en-GB" sz="1400" dirty="0">
                <a:latin typeface="Courier New" panose="02070309020205020404" pitchFamily="49" charset="0"/>
                <a:ea typeface="Calibri" panose="020F0502020204030204" pitchFamily="34" charset="0"/>
                <a:cs typeface="Times New Roman" panose="02020603050405020304" pitchFamily="18" charset="0"/>
              </a:rPr>
              <a:t> F value </a:t>
            </a:r>
            <a:r>
              <a:rPr lang="en-GB" sz="1400" dirty="0" err="1">
                <a:latin typeface="Courier New" panose="02070309020205020404" pitchFamily="49" charset="0"/>
                <a:ea typeface="Calibri" panose="020F0502020204030204" pitchFamily="34" charset="0"/>
                <a:cs typeface="Times New Roman" panose="02020603050405020304" pitchFamily="18" charset="0"/>
              </a:rPr>
              <a:t>Pr</a:t>
            </a:r>
            <a:r>
              <a:rPr lang="en-GB" sz="1400" dirty="0">
                <a:latin typeface="Courier New" panose="02070309020205020404" pitchFamily="49" charset="0"/>
                <a:ea typeface="Calibri" panose="020F0502020204030204" pitchFamily="34" charset="0"/>
                <a:cs typeface="Times New Roman" panose="02020603050405020304" pitchFamily="18" charset="0"/>
              </a:rPr>
              <a:t>(&amp;</a:t>
            </a:r>
            <a:r>
              <a:rPr lang="en-GB" sz="1400" dirty="0" err="1">
                <a:latin typeface="Courier New" panose="02070309020205020404" pitchFamily="49" charset="0"/>
                <a:ea typeface="Calibri" panose="020F0502020204030204" pitchFamily="34" charset="0"/>
                <a:cs typeface="Times New Roman" panose="02020603050405020304" pitchFamily="18" charset="0"/>
              </a:rPr>
              <a:t>gt;F</a:t>
            </a:r>
            <a:r>
              <a:rPr lang="en-GB" sz="1400"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group    1  0.0022 0.9625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1749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a:t>
            </a:r>
            <a:r>
              <a:rPr lang="en-GB" sz="1400" b="1" dirty="0" err="1">
                <a:latin typeface="Courier New" panose="02070309020205020404" pitchFamily="49" charset="0"/>
                <a:ea typeface="Calibri" panose="020F0502020204030204" pitchFamily="34" charset="0"/>
                <a:cs typeface="Times New Roman" panose="02020603050405020304" pitchFamily="18" charset="0"/>
              </a:rPr>
              <a:t>t.test</a:t>
            </a:r>
            <a:r>
              <a:rPr lang="en-GB" sz="1400" b="1" dirty="0">
                <a:latin typeface="Courier New" panose="02070309020205020404" pitchFamily="49" charset="0"/>
                <a:ea typeface="Calibri" panose="020F0502020204030204" pitchFamily="34" charset="0"/>
                <a:cs typeface="Times New Roman" panose="02020603050405020304" pitchFamily="18" charset="0"/>
              </a:rPr>
              <a:t>(</a:t>
            </a:r>
            <a:r>
              <a:rPr lang="en-GB" sz="1400" b="1" dirty="0" err="1">
                <a:latin typeface="Courier New" panose="02070309020205020404" pitchFamily="49" charset="0"/>
                <a:ea typeface="Calibri" panose="020F0502020204030204" pitchFamily="34" charset="0"/>
                <a:cs typeface="Times New Roman" panose="02020603050405020304" pitchFamily="18" charset="0"/>
              </a:rPr>
              <a:t>Learner_full$Equity~Learner_full$MeisjeD</a:t>
            </a:r>
            <a:r>
              <a:rPr lang="en-GB" sz="1400" b="1"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Welch Two Sample t-test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data:  </a:t>
            </a:r>
            <a:r>
              <a:rPr lang="en-GB" sz="1400" dirty="0" err="1">
                <a:latin typeface="Courier New" panose="02070309020205020404" pitchFamily="49" charset="0"/>
                <a:ea typeface="Calibri" panose="020F0502020204030204" pitchFamily="34" charset="0"/>
                <a:cs typeface="Times New Roman" panose="02020603050405020304" pitchFamily="18" charset="0"/>
              </a:rPr>
              <a:t>Learner_full$Equity</a:t>
            </a:r>
            <a:r>
              <a:rPr lang="en-GB" sz="1400" dirty="0">
                <a:latin typeface="Courier New" panose="02070309020205020404" pitchFamily="49" charset="0"/>
                <a:ea typeface="Calibri" panose="020F0502020204030204" pitchFamily="34" charset="0"/>
                <a:cs typeface="Times New Roman" panose="02020603050405020304" pitchFamily="18" charset="0"/>
              </a:rPr>
              <a:t> by </a:t>
            </a:r>
            <a:r>
              <a:rPr lang="en-GB" sz="1400" dirty="0" err="1">
                <a:latin typeface="Courier New" panose="02070309020205020404" pitchFamily="49" charset="0"/>
                <a:ea typeface="Calibri" panose="020F0502020204030204" pitchFamily="34" charset="0"/>
                <a:cs typeface="Times New Roman" panose="02020603050405020304" pitchFamily="18" charset="0"/>
              </a:rPr>
              <a:t>Learner_full$MeisjeD</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t = -4.3618, </a:t>
            </a:r>
            <a:r>
              <a:rPr lang="en-GB" sz="1400" dirty="0" err="1">
                <a:latin typeface="Courier New" panose="02070309020205020404" pitchFamily="49" charset="0"/>
                <a:ea typeface="Calibri" panose="020F0502020204030204" pitchFamily="34" charset="0"/>
                <a:cs typeface="Times New Roman" panose="02020603050405020304" pitchFamily="18" charset="0"/>
              </a:rPr>
              <a:t>df</a:t>
            </a:r>
            <a:r>
              <a:rPr lang="en-GB" sz="1400" dirty="0">
                <a:latin typeface="Courier New" panose="02070309020205020404" pitchFamily="49" charset="0"/>
                <a:ea typeface="Calibri" panose="020F0502020204030204" pitchFamily="34" charset="0"/>
                <a:cs typeface="Times New Roman" panose="02020603050405020304" pitchFamily="18" charset="0"/>
              </a:rPr>
              <a:t> = 1697.8, p-value = 1.368e-05</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alternative hypothesis: true difference in means is not equal to 0</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95 percent confidence interval:</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-0.23657070 -0.08980751</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sample estimates:</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mean in group 0 mean in group 1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3.667991        3.831180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d(</a:t>
            </a:r>
            <a:r>
              <a:rPr lang="en-GB" sz="1400" b="1" dirty="0" err="1">
                <a:latin typeface="Courier New" panose="02070309020205020404" pitchFamily="49" charset="0"/>
                <a:ea typeface="Calibri" panose="020F0502020204030204" pitchFamily="34" charset="0"/>
                <a:cs typeface="Times New Roman" panose="02020603050405020304" pitchFamily="18" charset="0"/>
              </a:rPr>
              <a:t>Learner_full$Equity,Learner_full$MeisjeD</a:t>
            </a:r>
            <a:r>
              <a:rPr lang="en-GB" sz="1400" b="1"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400" dirty="0">
                <a:latin typeface="Courier New" panose="02070309020205020404" pitchFamily="49" charset="0"/>
                <a:ea typeface="Calibri" panose="020F0502020204030204" pitchFamily="34" charset="0"/>
                <a:cs typeface="Times New Roman" panose="02020603050405020304" pitchFamily="18" charset="0"/>
              </a:rPr>
              <a:t>[1] -0.2092571</a:t>
            </a:r>
            <a:endParaRPr lang="nl-B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a:xfrm>
            <a:off x="6507480" y="691037"/>
            <a:ext cx="5441633" cy="4537781"/>
          </a:xfrm>
          <a:prstGeom prst="rect">
            <a:avLst/>
          </a:prstGeom>
        </p:spPr>
        <p:txBody>
          <a:bodyPr wrap="square">
            <a:spAutoFit/>
          </a:bodyPr>
          <a:lstStyle/>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Duid hieronder de </a:t>
            </a:r>
            <a:r>
              <a:rPr lang="nl-NL" u="sng" dirty="0">
                <a:latin typeface="Calibri" panose="020F0502020204030204" pitchFamily="34" charset="0"/>
                <a:ea typeface="Calibri" panose="020F0502020204030204" pitchFamily="34" charset="0"/>
                <a:cs typeface="Times New Roman" panose="02020603050405020304" pitchFamily="18" charset="0"/>
              </a:rPr>
              <a:t>FOUTE</a:t>
            </a:r>
            <a:r>
              <a:rPr lang="nl-NL" dirty="0">
                <a:latin typeface="Calibri" panose="020F0502020204030204" pitchFamily="34" charset="0"/>
                <a:ea typeface="Calibri" panose="020F0502020204030204" pitchFamily="34" charset="0"/>
                <a:cs typeface="Times New Roman" panose="02020603050405020304" pitchFamily="18" charset="0"/>
              </a:rPr>
              <a:t> stelling aan. </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verschillen tussen jongens onderling voor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 zijn niet groter of kleiner dan de verschillen tussen meisjes onderling voor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In 95% van de mogelijke steekproeven zou het verschil tussen jongens en meisjes variëren tussen 0,237 en 0,090.</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Stefan kan concluderen dat jongens en meisjes in de populatie van Zuid-Afrikaanse jongeren hoogstwaarschijnlijk hetzelfde scoren voor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Jongens scoren ongeveer 0,2 standaardafwijkingen lager dan meisjes voor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Er is een significant maar klein verschil in de mate waarin leerlingen vinden dat ze gelijke kansen krijgen tijdens de lessen.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hthoek 9"/>
          <p:cNvSpPr/>
          <p:nvPr/>
        </p:nvSpPr>
        <p:spPr bwMode="auto">
          <a:xfrm>
            <a:off x="6507480" y="2772031"/>
            <a:ext cx="5441633" cy="910621"/>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298316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Vraag 3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14</a:t>
            </a:fld>
            <a:endParaRPr lang="nl-BE" dirty="0"/>
          </a:p>
        </p:txBody>
      </p:sp>
      <p:sp>
        <p:nvSpPr>
          <p:cNvPr id="5" name="Rechthoek 4"/>
          <p:cNvSpPr/>
          <p:nvPr/>
        </p:nvSpPr>
        <p:spPr>
          <a:xfrm>
            <a:off x="538976" y="1412507"/>
            <a:ext cx="11259014" cy="4688206"/>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verschillen tussen jongens onderling voor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zijn niet groter of kleiner dan de verschillen tussen meisjes onderling voor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endPar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a:p>
            <a:pPr marL="781035" lvl="1" indent="-1714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is juist, gezien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LeveneTest</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duidelijk aangeeft dat er geen verschil is in varianties tussen beide groepen (jongens en meisjes). De bijhorende p-waarde bij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LeveneTest</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is 0,96.</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In 95% van de mogelijke steekproeven zou het verschil tussen jongens en meisjes variëren tussen 0,237 en 0,090.</a:t>
            </a:r>
            <a:endPar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a:p>
            <a:pPr marL="838185" lvl="1" indent="-22860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kunnen we afleiden uit het 95% Betrouwbaarheidsinterval voor het verschil in gemiddelden. 95 percent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confidence</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interval: -0.23657070 -0.08980751</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Stefan kan concluderen dat jongens en meisjes in de populatie van Zuid-Afrikaanse jongeren hoogstwaarschijnlijk hetzelfde scoren voor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781035" lvl="1" indent="-1714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De p-waarde bij de t-test is beduidend lager dan 0,05. Dit wijst op een statistisch significant verschil in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tussen jongens en meisjes.</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Jongens scoren ongeveer 0,2 standaardafwijkingen lager dan meisjes voor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endPar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a:p>
            <a:pPr marL="838185" lvl="1" indent="-22860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aangezien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Cohen's</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 om en bij de 0,2 bedraagt (absolute waarde).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Er is een significant, maar klein verschil in de mate waarin leerlingen vinden dat ze gelijke kansen krijgen tijdens de lessen. </a:t>
            </a:r>
            <a:endPar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a:p>
            <a:pPr marL="838185" lvl="1" indent="-228600">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De p-waarde bij de t-test is beduidend lager dan 0,05. Dit wijst op een statistische significant verschil in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tussen jongens en meisjes. De vuistregels om effectgrootte te interpreteren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Cohen's</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 stellen dat het hier om een klein effect gaat.</a:t>
            </a:r>
            <a:endParaRPr lang="nl-BE" sz="1500" dirty="0">
              <a:solidFill>
                <a:schemeClr val="accent1"/>
              </a:solidFill>
            </a:endParaRPr>
          </a:p>
        </p:txBody>
      </p:sp>
    </p:spTree>
    <p:extLst>
      <p:ext uri="{BB962C8B-B14F-4D97-AF65-F5344CB8AC3E}">
        <p14:creationId xmlns:p14="http://schemas.microsoft.com/office/powerpoint/2010/main" val="1179777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4</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15</a:t>
            </a:fld>
            <a:endParaRPr lang="nl-BE" dirty="0"/>
          </a:p>
        </p:txBody>
      </p:sp>
      <p:sp>
        <p:nvSpPr>
          <p:cNvPr id="4" name="Rechthoek 3"/>
          <p:cNvSpPr/>
          <p:nvPr/>
        </p:nvSpPr>
        <p:spPr>
          <a:xfrm>
            <a:off x="623886" y="1327656"/>
            <a:ext cx="9845993" cy="3693319"/>
          </a:xfrm>
          <a:prstGeom prst="rect">
            <a:avLst/>
          </a:prstGeom>
        </p:spPr>
        <p:txBody>
          <a:bodyPr wrap="square">
            <a:spAutoFit/>
          </a:bodyPr>
          <a:lstStyle/>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In zijn onderzoek naar de invloed van de doorlichting op het welbevinden van leerkrachten bevraagt Maarten de mate waarin leerkrachten zich angstig voelen voor ('</a:t>
            </a:r>
            <a:r>
              <a:rPr lang="nl-NL" sz="2000" dirty="0" err="1">
                <a:latin typeface="Calibri" panose="020F0502020204030204" pitchFamily="34" charset="0"/>
                <a:ea typeface="Calibri" panose="020F0502020204030204" pitchFamily="34" charset="0"/>
                <a:cs typeface="Times New Roman" panose="02020603050405020304" pitchFamily="18" charset="0"/>
              </a:rPr>
              <a:t>AngstVoor</a:t>
            </a:r>
            <a:r>
              <a:rPr lang="nl-NL" sz="2000" dirty="0">
                <a:latin typeface="Calibri" panose="020F0502020204030204" pitchFamily="34" charset="0"/>
                <a:ea typeface="Calibri" panose="020F0502020204030204" pitchFamily="34" charset="0"/>
                <a:cs typeface="Times New Roman" panose="02020603050405020304" pitchFamily="18" charset="0"/>
              </a:rPr>
              <a:t>') en na de doorlichting ('</a:t>
            </a:r>
            <a:r>
              <a:rPr lang="nl-NL" sz="2000" dirty="0" err="1">
                <a:latin typeface="Calibri" panose="020F0502020204030204" pitchFamily="34" charset="0"/>
                <a:ea typeface="Calibri" panose="020F0502020204030204" pitchFamily="34" charset="0"/>
                <a:cs typeface="Times New Roman" panose="02020603050405020304" pitchFamily="18" charset="0"/>
              </a:rPr>
              <a:t>AngstNa</a:t>
            </a:r>
            <a:r>
              <a:rPr lang="nl-NL" sz="2000" dirty="0">
                <a:latin typeface="Calibri" panose="020F0502020204030204" pitchFamily="34" charset="0"/>
                <a:ea typeface="Calibri" panose="020F0502020204030204" pitchFamily="34" charset="0"/>
                <a:cs typeface="Times New Roman" panose="02020603050405020304" pitchFamily="18" charset="0"/>
              </a:rPr>
              <a:t>'). Hij meet beide variabelen a.d.h.v. de volgende schaal:</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1 = niet angstig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2 = een beetje angstig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3 = enigszins angstig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4 = redelijk angstig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5 = heel angstig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r>
              <a:rPr lang="nl-NL" sz="2000" dirty="0">
                <a:latin typeface="Calibri" panose="020F0502020204030204" pitchFamily="34" charset="0"/>
                <a:ea typeface="Calibri" panose="020F0502020204030204" pitchFamily="34" charset="0"/>
                <a:cs typeface="Times New Roman" panose="02020603050405020304" pitchFamily="18" charset="0"/>
              </a:rPr>
              <a:t>Zijn steekproef bevat 200 leerkrachten. Hieronder vind je de output van zijn analyses:</a:t>
            </a:r>
            <a:endParaRPr lang="nl-BE" sz="2000" dirty="0"/>
          </a:p>
        </p:txBody>
      </p:sp>
    </p:spTree>
    <p:extLst>
      <p:ext uri="{BB962C8B-B14F-4D97-AF65-F5344CB8AC3E}">
        <p14:creationId xmlns:p14="http://schemas.microsoft.com/office/powerpoint/2010/main" val="3859194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0"/>
          </p:nvPr>
        </p:nvSpPr>
        <p:spPr/>
        <p:txBody>
          <a:bodyPr/>
          <a:lstStyle/>
          <a:p>
            <a:fld id="{E038E271-308C-2E46-A3EC-56326F9084CC}" type="slidenum">
              <a:rPr lang="nl-BE" smtClean="0"/>
              <a:pPr/>
              <a:t>16</a:t>
            </a:fld>
            <a:endParaRPr lang="nl-BE" dirty="0"/>
          </a:p>
        </p:txBody>
      </p:sp>
      <p:sp>
        <p:nvSpPr>
          <p:cNvPr id="7" name="Rechthoek 6"/>
          <p:cNvSpPr/>
          <p:nvPr/>
        </p:nvSpPr>
        <p:spPr>
          <a:xfrm>
            <a:off x="110250" y="317882"/>
            <a:ext cx="8299606" cy="4472058"/>
          </a:xfrm>
          <a:prstGeom prst="rect">
            <a:avLst/>
          </a:prstGeom>
        </p:spPr>
        <p:txBody>
          <a:bodyPr wrap="square">
            <a:spAutoFit/>
          </a:bodyPr>
          <a:lstStyle/>
          <a:p>
            <a:pPr>
              <a:lnSpc>
                <a:spcPct val="107000"/>
              </a:lnSpc>
              <a:spcAft>
                <a:spcPts val="0"/>
              </a:spcAft>
            </a:pPr>
            <a:r>
              <a:rPr lang="nl-NL" sz="1350" b="1" dirty="0">
                <a:latin typeface="Courier New" panose="02070309020205020404" pitchFamily="49" charset="0"/>
                <a:ea typeface="Calibri" panose="020F0502020204030204" pitchFamily="34" charset="0"/>
                <a:cs typeface="Times New Roman" panose="02020603050405020304" pitchFamily="18" charset="0"/>
              </a:rPr>
              <a:t>&gt; Tabel1&lt;-</a:t>
            </a:r>
            <a:r>
              <a:rPr lang="nl-NL" sz="1350" b="1" dirty="0" err="1">
                <a:latin typeface="Courier New" panose="02070309020205020404" pitchFamily="49" charset="0"/>
                <a:ea typeface="Calibri" panose="020F0502020204030204" pitchFamily="34" charset="0"/>
                <a:cs typeface="Times New Roman" panose="02020603050405020304" pitchFamily="18" charset="0"/>
              </a:rPr>
              <a:t>kruistabel.kolom</a:t>
            </a:r>
            <a:r>
              <a:rPr lang="nl-NL" sz="1350" b="1" dirty="0">
                <a:latin typeface="Courier New" panose="02070309020205020404" pitchFamily="49" charset="0"/>
                <a:ea typeface="Calibri" panose="020F0502020204030204" pitchFamily="34" charset="0"/>
                <a:cs typeface="Times New Roman" panose="02020603050405020304" pitchFamily="18" charset="0"/>
              </a:rPr>
              <a:t>(ExData2016$AngstNa,ExData2016$AngstVoor)</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350" dirty="0">
                <a:latin typeface="Courier New" panose="02070309020205020404" pitchFamily="49" charset="0"/>
                <a:ea typeface="Calibri" panose="020F0502020204030204" pitchFamily="34" charset="0"/>
                <a:cs typeface="Times New Roman" panose="02020603050405020304" pitchFamily="18" charset="0"/>
              </a:rPr>
              <a:t>     </a:t>
            </a:r>
            <a:r>
              <a:rPr lang="en-GB" sz="1350" dirty="0">
                <a:latin typeface="Courier New" panose="02070309020205020404" pitchFamily="49" charset="0"/>
                <a:ea typeface="Calibri" panose="020F0502020204030204" pitchFamily="34" charset="0"/>
                <a:cs typeface="Times New Roman" panose="02020603050405020304" pitchFamily="18" charset="0"/>
              </a:rPr>
              <a:t>x</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y              1          2          3          4          5        Sum</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1    80.124224   7.142857  22.222222   0.000000   0.000000  70.967742</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2    14.906832  50.000000   0.000000   0.000000   0.000000  16.666667</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3     3.726708  28.571429  55.555556   0.000000   0.000000   8.064516</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4     1.242236  14.285714  11.111111   0.000000   0.000000   2.688172</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5     0.000000   0.000000  11.111111 100.000000 100.000000   1.612903</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Sum 100.000000 100.000000 100.000000 100.000000 100.000000 100.000000</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b="1" dirty="0">
                <a:latin typeface="Courier New" panose="02070309020205020404" pitchFamily="49" charset="0"/>
                <a:ea typeface="Calibri" panose="020F0502020204030204" pitchFamily="34" charset="0"/>
                <a:cs typeface="Times New Roman" panose="02020603050405020304" pitchFamily="18" charset="0"/>
              </a:rPr>
              <a:t> </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b="1" dirty="0">
                <a:latin typeface="Courier New" panose="02070309020205020404" pitchFamily="49" charset="0"/>
                <a:ea typeface="Calibri" panose="020F0502020204030204" pitchFamily="34" charset="0"/>
                <a:cs typeface="Times New Roman" panose="02020603050405020304" pitchFamily="18" charset="0"/>
              </a:rPr>
              <a:t>&gt; </a:t>
            </a:r>
            <a:r>
              <a:rPr lang="en-GB" sz="1350" b="1" dirty="0" err="1">
                <a:latin typeface="Courier New" panose="02070309020205020404" pitchFamily="49" charset="0"/>
                <a:ea typeface="Calibri" panose="020F0502020204030204" pitchFamily="34" charset="0"/>
                <a:cs typeface="Times New Roman" panose="02020603050405020304" pitchFamily="18" charset="0"/>
              </a:rPr>
              <a:t>chi.kwadraat.test</a:t>
            </a:r>
            <a:r>
              <a:rPr lang="en-GB" sz="1350" b="1" dirty="0">
                <a:latin typeface="Courier New" panose="02070309020205020404" pitchFamily="49" charset="0"/>
                <a:ea typeface="Calibri" panose="020F0502020204030204" pitchFamily="34" charset="0"/>
                <a:cs typeface="Times New Roman" panose="02020603050405020304" pitchFamily="18" charset="0"/>
              </a:rPr>
              <a:t>(Tabel1) </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Pearson's Chi-squared test</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data:  table(ExData2016$AngstVoor, ExData2016$AngstNa)</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X-squared = 200.8, </a:t>
            </a:r>
            <a:r>
              <a:rPr lang="en-GB" sz="1350" dirty="0" err="1">
                <a:latin typeface="Courier New" panose="02070309020205020404" pitchFamily="49" charset="0"/>
                <a:ea typeface="Calibri" panose="020F0502020204030204" pitchFamily="34" charset="0"/>
                <a:cs typeface="Times New Roman" panose="02020603050405020304" pitchFamily="18" charset="0"/>
              </a:rPr>
              <a:t>df</a:t>
            </a:r>
            <a:r>
              <a:rPr lang="en-GB" sz="1350" dirty="0">
                <a:latin typeface="Courier New" panose="02070309020205020404" pitchFamily="49" charset="0"/>
                <a:ea typeface="Calibri" panose="020F0502020204030204" pitchFamily="34" charset="0"/>
                <a:cs typeface="Times New Roman" panose="02020603050405020304" pitchFamily="18" charset="0"/>
              </a:rPr>
              <a:t> = 16, p-value &amp;</a:t>
            </a:r>
            <a:r>
              <a:rPr lang="en-GB" sz="1350" dirty="0" err="1">
                <a:latin typeface="Courier New" panose="02070309020205020404" pitchFamily="49" charset="0"/>
                <a:ea typeface="Calibri" panose="020F0502020204030204" pitchFamily="34" charset="0"/>
                <a:cs typeface="Times New Roman" panose="02020603050405020304" pitchFamily="18" charset="0"/>
              </a:rPr>
              <a:t>lt</a:t>
            </a:r>
            <a:r>
              <a:rPr lang="en-GB" sz="1350" dirty="0">
                <a:latin typeface="Courier New" panose="02070309020205020404" pitchFamily="49" charset="0"/>
                <a:ea typeface="Calibri" panose="020F0502020204030204" pitchFamily="34" charset="0"/>
                <a:cs typeface="Times New Roman" panose="02020603050405020304" pitchFamily="18" charset="0"/>
              </a:rPr>
              <a:t>; 0.00000000000000022</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95 percent confidence interval:</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 0.4262589 0.5728793</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50" dirty="0">
                <a:latin typeface="Courier New" panose="02070309020205020404" pitchFamily="49" charset="0"/>
                <a:ea typeface="Calibri" panose="020F0502020204030204" pitchFamily="34" charset="0"/>
                <a:cs typeface="Times New Roman" panose="02020603050405020304" pitchFamily="18" charset="0"/>
              </a:rPr>
              <a:t>sample estimates:</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350" dirty="0" err="1">
                <a:latin typeface="Courier New" panose="02070309020205020404" pitchFamily="49" charset="0"/>
                <a:ea typeface="Calibri" panose="020F0502020204030204" pitchFamily="34" charset="0"/>
                <a:cs typeface="Times New Roman" panose="02020603050405020304" pitchFamily="18" charset="0"/>
              </a:rPr>
              <a:t>Cramer's</a:t>
            </a:r>
            <a:r>
              <a:rPr lang="nl-NL" sz="1350" dirty="0">
                <a:latin typeface="Courier New" panose="02070309020205020404" pitchFamily="49" charset="0"/>
                <a:ea typeface="Calibri" panose="020F0502020204030204" pitchFamily="34" charset="0"/>
                <a:cs typeface="Times New Roman" panose="02020603050405020304" pitchFamily="18" charset="0"/>
              </a:rPr>
              <a:t> V</a:t>
            </a:r>
            <a:endParaRPr lang="nl-BE" sz="135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350" dirty="0">
                <a:latin typeface="Courier New" panose="02070309020205020404" pitchFamily="49" charset="0"/>
                <a:ea typeface="Calibri" panose="020F0502020204030204" pitchFamily="34" charset="0"/>
                <a:cs typeface="Times New Roman" panose="02020603050405020304" pitchFamily="18" charset="0"/>
              </a:rPr>
              <a:t> 0.5195121</a:t>
            </a:r>
            <a:endParaRPr lang="nl-BE" sz="13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a:xfrm>
            <a:off x="7680960" y="218455"/>
            <a:ext cx="4236720" cy="6302816"/>
          </a:xfrm>
          <a:prstGeom prst="rect">
            <a:avLst/>
          </a:prstGeom>
        </p:spPr>
        <p:txBody>
          <a:bodyPr wrap="square">
            <a:spAutoFit/>
          </a:bodyPr>
          <a:lstStyle/>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 Duid hieronder de </a:t>
            </a:r>
            <a:r>
              <a:rPr lang="nl-NL" u="sng" dirty="0">
                <a:latin typeface="Calibri" panose="020F0502020204030204" pitchFamily="34" charset="0"/>
                <a:ea typeface="Calibri" panose="020F0502020204030204" pitchFamily="34" charset="0"/>
                <a:cs typeface="Times New Roman" panose="02020603050405020304" pitchFamily="18" charset="0"/>
              </a:rPr>
              <a:t>JUISTE</a:t>
            </a:r>
            <a:r>
              <a:rPr lang="nl-NL" dirty="0">
                <a:latin typeface="Calibri" panose="020F0502020204030204" pitchFamily="34" charset="0"/>
                <a:ea typeface="Calibri" panose="020F0502020204030204" pitchFamily="34" charset="0"/>
                <a:cs typeface="Times New Roman" panose="02020603050405020304" pitchFamily="18" charset="0"/>
              </a:rPr>
              <a:t> uitspraak aan.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O.b.v. deze resultaten kan je stellen dat de kans dat er in de populatie geen verband is tussen de mate van angst voor en na een doorlichting zeer groot is.</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Bijna 52% van de variantie in angst na de doorlichting is te verklaren door angst voor de start van de doorlichting.</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Van alle leerkrachten die voor de doorlichting "2" scoren op '</a:t>
            </a:r>
            <a:r>
              <a:rPr lang="nl-NL" dirty="0" err="1">
                <a:latin typeface="Calibri" panose="020F0502020204030204" pitchFamily="34" charset="0"/>
                <a:ea typeface="Calibri" panose="020F0502020204030204" pitchFamily="34" charset="0"/>
                <a:cs typeface="Times New Roman" panose="02020603050405020304" pitchFamily="18" charset="0"/>
              </a:rPr>
              <a:t>AngstVoor</a:t>
            </a:r>
            <a:r>
              <a:rPr lang="nl-NL" dirty="0">
                <a:latin typeface="Calibri" panose="020F0502020204030204" pitchFamily="34" charset="0"/>
                <a:ea typeface="Calibri" panose="020F0502020204030204" pitchFamily="34" charset="0"/>
                <a:cs typeface="Times New Roman" panose="02020603050405020304" pitchFamily="18" charset="0"/>
              </a:rPr>
              <a:t>' geven er precies de helft ook na de doorlichting een score van 2 op angst ('</a:t>
            </a:r>
            <a:r>
              <a:rPr lang="nl-NL" dirty="0" err="1">
                <a:latin typeface="Calibri" panose="020F0502020204030204" pitchFamily="34" charset="0"/>
                <a:ea typeface="Calibri" panose="020F0502020204030204" pitchFamily="34" charset="0"/>
                <a:cs typeface="Times New Roman" panose="02020603050405020304" pitchFamily="18" charset="0"/>
              </a:rPr>
              <a:t>AngstNa</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Ongeveer 80% van de leerkrachten geven aan voor de doorlichting ‘niet angstig’ te zijn.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Ongeveer 3,73% van alle bevraagde leerkrachten is 'niet angstig' voor de doorlichting en 'enigszins angstig' na de doorlichting.</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hthoek 3"/>
          <p:cNvSpPr/>
          <p:nvPr/>
        </p:nvSpPr>
        <p:spPr>
          <a:xfrm>
            <a:off x="2827493" y="4762351"/>
            <a:ext cx="2399827" cy="1574149"/>
          </a:xfrm>
          <a:prstGeom prst="rect">
            <a:avLst/>
          </a:prstGeom>
        </p:spPr>
        <p:txBody>
          <a:bodyPr wrap="square">
            <a:spAutoFit/>
          </a:bodyPr>
          <a:lstStyle/>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1 = niet angstig</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2 = een beetje angstig</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3 = enigszins angstig</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4 = redelijk angstig</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5 = heel angstig</a:t>
            </a:r>
            <a:endParaRPr lang="nl-BE"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hthoek 8"/>
          <p:cNvSpPr/>
          <p:nvPr/>
        </p:nvSpPr>
        <p:spPr bwMode="auto">
          <a:xfrm>
            <a:off x="7680961" y="2914552"/>
            <a:ext cx="4236720" cy="1492348"/>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98771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7042"/>
            <a:ext cx="10944226" cy="791794"/>
          </a:xfrm>
        </p:spPr>
        <p:txBody>
          <a:bodyPr/>
          <a:lstStyle/>
          <a:p>
            <a:r>
              <a:rPr lang="nl-BE" dirty="0"/>
              <a:t>Vraag 4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17</a:t>
            </a:fld>
            <a:endParaRPr lang="nl-BE" dirty="0"/>
          </a:p>
        </p:txBody>
      </p:sp>
      <p:sp>
        <p:nvSpPr>
          <p:cNvPr id="5" name="Rechthoek 4"/>
          <p:cNvSpPr/>
          <p:nvPr/>
        </p:nvSpPr>
        <p:spPr>
          <a:xfrm>
            <a:off x="538976" y="690232"/>
            <a:ext cx="11259014" cy="5696111"/>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O.b.v. deze resultaten kan je stellen dat de kans dat er in de populatie geen verband is tussen de mate van angst voor en na een doorlichting zeer groot is.</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De kans dat de nulhypothese opgaat, en er dus geen verband in de populatie is tussen angst voor en na, bedraagt 0.00000000000000022. Aangezien dit minder is dan 0.05 gaan we er dus vanuit dat we dit verband hoogstwaarschijnlijk WEL in de populatie zullen terugvinden.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Bijna 52% van de variantie in angst na de doorlichting is te verklaren door angst voor de start van de doorlichting.</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Cramer's</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V zegt iets over de sterkte van het verband tussen beide kwalitatieve variabelen, maar is NIET uitgedrukt in percentage verklaarde variantie.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Van alle leerkrachten die voor de doorlichting "2" scoren op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AngstVoor</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geven er precies de helft ook na de doorlichting een score van 2 op angst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AngstNa</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is JUIST. In de kolom met score 2 op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AngstVoor</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verwijst de 50% inderdaad naar het aandeel leerlingen dat zichzelf na de doorlichting opnieuw een score van 2 op angst geeft.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Ongeveer 80% van de leerkrachten geven aan voor de doorlichting zeer weinig angst te hebben (score 1).</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80.12% in de eerste kolom van de kruistabel verwijst naar het percentage van leerkrachten die voor de doorlichten een score 1 haalde en dit vervolgens ook na de doorlichting scoorde. Het zegt niets over het percentage van de volledige groep leerkrachten dat voor de doorlichting een score van 1 op angst behaalde.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Ongeveer 3,73% van alle bevraagde leerkrachten is 'niet angstig' voor de doorlichting en 'enigszins angstig' na de doorlichting.</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3.73% zegt niets over de volledige groep bevraagde leerkrachten. Van de groep leerkrachten die voor de doorlichting een score van 1 behaalde op angst, behaalde 3,73% na de doorlichting een score van 3 op angst. </a:t>
            </a:r>
            <a:endParaRPr lang="nl-BE" sz="1500" dirty="0">
              <a:solidFill>
                <a:schemeClr val="accent1"/>
              </a:solidFill>
            </a:endParaRPr>
          </a:p>
        </p:txBody>
      </p:sp>
    </p:spTree>
    <p:extLst>
      <p:ext uri="{BB962C8B-B14F-4D97-AF65-F5344CB8AC3E}">
        <p14:creationId xmlns:p14="http://schemas.microsoft.com/office/powerpoint/2010/main" val="3418646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5</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18</a:t>
            </a:fld>
            <a:endParaRPr lang="nl-BE" dirty="0"/>
          </a:p>
        </p:txBody>
      </p:sp>
      <p:sp>
        <p:nvSpPr>
          <p:cNvPr id="4" name="Rechthoek 3"/>
          <p:cNvSpPr/>
          <p:nvPr/>
        </p:nvSpPr>
        <p:spPr>
          <a:xfrm>
            <a:off x="623886" y="1327656"/>
            <a:ext cx="10944227" cy="2397579"/>
          </a:xfrm>
          <a:prstGeom prst="rect">
            <a:avLst/>
          </a:prstGeom>
        </p:spPr>
        <p:txBody>
          <a:bodyPr wrap="square">
            <a:spAutoFit/>
          </a:bodyPr>
          <a:lstStyle/>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Stefan heeft in Zuid-Afrika een grootschalig onderzoek uitgevoerd naar opvattingen van </a:t>
            </a:r>
            <a:r>
              <a:rPr lang="nl-NL" sz="2000" dirty="0" err="1">
                <a:latin typeface="Calibri" panose="020F0502020204030204" pitchFamily="34" charset="0"/>
                <a:ea typeface="Calibri" panose="020F0502020204030204" pitchFamily="34" charset="0"/>
                <a:cs typeface="Times New Roman" panose="02020603050405020304" pitchFamily="18" charset="0"/>
              </a:rPr>
              <a:t>leerders</a:t>
            </a:r>
            <a:r>
              <a:rPr lang="nl-NL" sz="2000" dirty="0">
                <a:latin typeface="Calibri" panose="020F0502020204030204" pitchFamily="34" charset="0"/>
                <a:ea typeface="Calibri" panose="020F0502020204030204" pitchFamily="34" charset="0"/>
                <a:cs typeface="Times New Roman" panose="02020603050405020304" pitchFamily="18" charset="0"/>
              </a:rPr>
              <a:t> over onderwijs en percepties van hun leeromgevingen. Daartoe heeft hij samengewerkt met 4 assistenten die de data verzameld hebben ('Collector'). Deze personen gingen de vragenlijsten in de verschillende scholen afnemen. Stefan wil zicht krijgen op de kwaliteit van de data. </a:t>
            </a:r>
            <a:r>
              <a:rPr lang="nl-NL" sz="2000" dirty="0" err="1">
                <a:latin typeface="Calibri" panose="020F0502020204030204" pitchFamily="34" charset="0"/>
                <a:ea typeface="Calibri" panose="020F0502020204030204" pitchFamily="34" charset="0"/>
                <a:cs typeface="Times New Roman" panose="02020603050405020304" pitchFamily="18" charset="0"/>
              </a:rPr>
              <a:t>Meerbepaald</a:t>
            </a:r>
            <a:r>
              <a:rPr lang="nl-NL" sz="2000" dirty="0">
                <a:latin typeface="Calibri" panose="020F0502020204030204" pitchFamily="34" charset="0"/>
                <a:ea typeface="Calibri" panose="020F0502020204030204" pitchFamily="34" charset="0"/>
                <a:cs typeface="Times New Roman" panose="02020603050405020304" pitchFamily="18" charset="0"/>
              </a:rPr>
              <a:t> wil hij nagaan of deze 4 personen geen invloed hebben gehad op de antwoorden van de leerlingen. Zo gaat hij o.a. na wat het effect is van 'Collector' op de scores voor '</a:t>
            </a:r>
            <a:r>
              <a:rPr lang="nl-NL" sz="2000" dirty="0" err="1">
                <a:latin typeface="Calibri" panose="020F0502020204030204" pitchFamily="34" charset="0"/>
                <a:ea typeface="Calibri" panose="020F0502020204030204" pitchFamily="34" charset="0"/>
                <a:cs typeface="Times New Roman" panose="02020603050405020304" pitchFamily="18" charset="0"/>
              </a:rPr>
              <a:t>Equity</a:t>
            </a:r>
            <a:r>
              <a:rPr lang="nl-NL" sz="2000" dirty="0">
                <a:latin typeface="Calibri" panose="020F0502020204030204" pitchFamily="34" charset="0"/>
                <a:ea typeface="Calibri" panose="020F0502020204030204" pitchFamily="34" charset="0"/>
                <a:cs typeface="Times New Roman" panose="02020603050405020304" pitchFamily="18" charset="0"/>
              </a:rPr>
              <a:t>' (perceptie dat er gelijke kansen zijn voor alle leerlingen). </a:t>
            </a:r>
            <a:r>
              <a:rPr lang="en-GB" sz="2000" dirty="0" err="1">
                <a:latin typeface="Calibri" panose="020F0502020204030204" pitchFamily="34" charset="0"/>
                <a:ea typeface="Calibri" panose="020F0502020204030204" pitchFamily="34" charset="0"/>
                <a:cs typeface="Times New Roman" panose="02020603050405020304" pitchFamily="18" charset="0"/>
              </a:rPr>
              <a:t>Hieronder</a:t>
            </a:r>
            <a:r>
              <a:rPr lang="en-GB" sz="2000" dirty="0">
                <a:latin typeface="Calibri" panose="020F0502020204030204" pitchFamily="34" charset="0"/>
                <a:ea typeface="Calibri" panose="020F0502020204030204" pitchFamily="34" charset="0"/>
                <a:cs typeface="Times New Roman" panose="02020603050405020304" pitchFamily="18" charset="0"/>
              </a:rPr>
              <a:t> </a:t>
            </a:r>
            <a:r>
              <a:rPr lang="en-GB" sz="2000" dirty="0" err="1">
                <a:latin typeface="Calibri" panose="020F0502020204030204" pitchFamily="34" charset="0"/>
                <a:ea typeface="Calibri" panose="020F0502020204030204" pitchFamily="34" charset="0"/>
                <a:cs typeface="Times New Roman" panose="02020603050405020304" pitchFamily="18" charset="0"/>
              </a:rPr>
              <a:t>vind</a:t>
            </a:r>
            <a:r>
              <a:rPr lang="en-GB" sz="2000" dirty="0">
                <a:latin typeface="Calibri" panose="020F0502020204030204" pitchFamily="34" charset="0"/>
                <a:ea typeface="Calibri" panose="020F0502020204030204" pitchFamily="34" charset="0"/>
                <a:cs typeface="Times New Roman" panose="02020603050405020304" pitchFamily="18" charset="0"/>
              </a:rPr>
              <a:t> je Stefan's output: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60175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0"/>
          </p:nvPr>
        </p:nvSpPr>
        <p:spPr/>
        <p:txBody>
          <a:bodyPr/>
          <a:lstStyle/>
          <a:p>
            <a:fld id="{E038E271-308C-2E46-A3EC-56326F9084CC}" type="slidenum">
              <a:rPr lang="nl-BE" smtClean="0"/>
              <a:pPr/>
              <a:t>19</a:t>
            </a:fld>
            <a:endParaRPr lang="nl-BE" dirty="0"/>
          </a:p>
        </p:txBody>
      </p:sp>
      <p:sp>
        <p:nvSpPr>
          <p:cNvPr id="7" name="Rechthoek 6"/>
          <p:cNvSpPr/>
          <p:nvPr/>
        </p:nvSpPr>
        <p:spPr>
          <a:xfrm>
            <a:off x="308370" y="234474"/>
            <a:ext cx="7128750" cy="6509859"/>
          </a:xfrm>
          <a:prstGeom prst="rect">
            <a:avLst/>
          </a:prstGeom>
          <a:solidFill>
            <a:schemeClr val="bg1"/>
          </a:solidFill>
        </p:spPr>
        <p:txBody>
          <a:bodyPr wrap="square">
            <a:spAutoFit/>
          </a:bodyPr>
          <a:lstStyle/>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&gt; </a:t>
            </a:r>
            <a:r>
              <a:rPr lang="en-GB" sz="1300" b="1" dirty="0" err="1">
                <a:latin typeface="Courier New" panose="02070309020205020404" pitchFamily="49" charset="0"/>
                <a:ea typeface="Calibri" panose="020F0502020204030204" pitchFamily="34" charset="0"/>
                <a:cs typeface="Times New Roman" panose="02020603050405020304" pitchFamily="18" charset="0"/>
              </a:rPr>
              <a:t>tapply</a:t>
            </a:r>
            <a:r>
              <a:rPr lang="en-GB" sz="1300" b="1" dirty="0">
                <a:latin typeface="Courier New" panose="02070309020205020404" pitchFamily="49" charset="0"/>
                <a:ea typeface="Calibri" panose="020F0502020204030204" pitchFamily="34" charset="0"/>
                <a:cs typeface="Times New Roman" panose="02020603050405020304" pitchFamily="18" charset="0"/>
              </a:rPr>
              <a:t>(Learner_full$Equity,Learner_full$Collector,mean,na.rm=T)</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1        2        3        4</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3.830488 3.851826 3.749432 3.573126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&gt; </a:t>
            </a:r>
            <a:r>
              <a:rPr lang="en-GB" sz="1300" b="1" dirty="0" err="1">
                <a:latin typeface="Courier New" panose="02070309020205020404" pitchFamily="49" charset="0"/>
                <a:ea typeface="Calibri" panose="020F0502020204030204" pitchFamily="34" charset="0"/>
                <a:cs typeface="Times New Roman" panose="02020603050405020304" pitchFamily="18" charset="0"/>
              </a:rPr>
              <a:t>leveneTest</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Learner_full$Equity,Learner_full$Collector</a:t>
            </a:r>
            <a:r>
              <a:rPr lang="en-GB" sz="1300" b="1" dirty="0">
                <a:latin typeface="Courier New" panose="02070309020205020404" pitchFamily="49" charset="0"/>
                <a:ea typeface="Calibri" panose="020F0502020204030204" pitchFamily="34" charset="0"/>
                <a:cs typeface="Times New Roman" panose="02020603050405020304" pitchFamily="18" charset="0"/>
              </a:rPr>
              <a:t>)</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a:t>
            </a:r>
            <a:r>
              <a:rPr lang="en-GB" sz="1300" dirty="0" err="1">
                <a:latin typeface="Courier New" panose="02070309020205020404" pitchFamily="49" charset="0"/>
                <a:ea typeface="Calibri" panose="020F0502020204030204" pitchFamily="34" charset="0"/>
                <a:cs typeface="Times New Roman" panose="02020603050405020304" pitchFamily="18" charset="0"/>
              </a:rPr>
              <a:t>Levene's</a:t>
            </a:r>
            <a:r>
              <a:rPr lang="en-GB" sz="1300" dirty="0">
                <a:latin typeface="Courier New" panose="02070309020205020404" pitchFamily="49" charset="0"/>
                <a:ea typeface="Calibri" panose="020F0502020204030204" pitchFamily="34" charset="0"/>
                <a:cs typeface="Times New Roman" panose="02020603050405020304" pitchFamily="18" charset="0"/>
              </a:rPr>
              <a:t> Test for Homogeneity of Variance (</a:t>
            </a:r>
            <a:r>
              <a:rPr lang="en-GB" sz="1300" dirty="0" err="1">
                <a:latin typeface="Courier New" panose="02070309020205020404" pitchFamily="49" charset="0"/>
                <a:ea typeface="Calibri" panose="020F0502020204030204" pitchFamily="34" charset="0"/>
                <a:cs typeface="Times New Roman" panose="02020603050405020304" pitchFamily="18" charset="0"/>
              </a:rPr>
              <a:t>center</a:t>
            </a:r>
            <a:r>
              <a:rPr lang="en-GB" sz="1300" dirty="0">
                <a:latin typeface="Courier New" panose="02070309020205020404" pitchFamily="49" charset="0"/>
                <a:ea typeface="Calibri" panose="020F0502020204030204" pitchFamily="34" charset="0"/>
                <a:cs typeface="Times New Roman" panose="02020603050405020304" pitchFamily="18" charset="0"/>
              </a:rPr>
              <a:t> = median)</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a:t>
            </a:r>
            <a:r>
              <a:rPr lang="en-GB" sz="1300" dirty="0" err="1">
                <a:latin typeface="Courier New" panose="02070309020205020404" pitchFamily="49" charset="0"/>
                <a:ea typeface="Calibri" panose="020F0502020204030204" pitchFamily="34" charset="0"/>
                <a:cs typeface="Times New Roman" panose="02020603050405020304" pitchFamily="18" charset="0"/>
              </a:rPr>
              <a:t>Df</a:t>
            </a:r>
            <a:r>
              <a:rPr lang="en-GB" sz="1300" dirty="0">
                <a:latin typeface="Courier New" panose="02070309020205020404" pitchFamily="49" charset="0"/>
                <a:ea typeface="Calibri" panose="020F0502020204030204" pitchFamily="34" charset="0"/>
                <a:cs typeface="Times New Roman" panose="02020603050405020304" pitchFamily="18" charset="0"/>
              </a:rPr>
              <a:t> F value </a:t>
            </a:r>
            <a:r>
              <a:rPr lang="en-GB" sz="1300" dirty="0" err="1">
                <a:latin typeface="Courier New" panose="02070309020205020404" pitchFamily="49" charset="0"/>
                <a:ea typeface="Calibri" panose="020F0502020204030204" pitchFamily="34" charset="0"/>
                <a:cs typeface="Times New Roman" panose="02020603050405020304" pitchFamily="18" charset="0"/>
              </a:rPr>
              <a:t>Pr</a:t>
            </a:r>
            <a:r>
              <a:rPr lang="en-GB" sz="1300" dirty="0">
                <a:latin typeface="Courier New" panose="02070309020205020404" pitchFamily="49" charset="0"/>
                <a:ea typeface="Calibri" panose="020F0502020204030204" pitchFamily="34" charset="0"/>
                <a:cs typeface="Times New Roman" panose="02020603050405020304" pitchFamily="18" charset="0"/>
              </a:rPr>
              <a:t>(&amp;</a:t>
            </a:r>
            <a:r>
              <a:rPr lang="en-GB" sz="1300" dirty="0" err="1">
                <a:latin typeface="Courier New" panose="02070309020205020404" pitchFamily="49" charset="0"/>
                <a:ea typeface="Calibri" panose="020F0502020204030204" pitchFamily="34" charset="0"/>
                <a:cs typeface="Times New Roman" panose="02020603050405020304" pitchFamily="18" charset="0"/>
              </a:rPr>
              <a:t>gt;F</a:t>
            </a:r>
            <a:r>
              <a:rPr lang="en-GB" sz="1300" dirty="0">
                <a:latin typeface="Courier New" panose="02070309020205020404" pitchFamily="49" charset="0"/>
                <a:ea typeface="Calibri" panose="020F0502020204030204" pitchFamily="34" charset="0"/>
                <a:cs typeface="Times New Roman" panose="02020603050405020304" pitchFamily="18" charset="0"/>
              </a:rPr>
              <a:t>)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group    3  2.8606 0.0357 *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1747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a:t>
            </a:r>
            <a:br>
              <a:rPr lang="en-GB" sz="1300" dirty="0">
                <a:latin typeface="Courier New" panose="02070309020205020404" pitchFamily="49" charset="0"/>
                <a:ea typeface="Calibri" panose="020F0502020204030204" pitchFamily="34" charset="0"/>
                <a:cs typeface="Times New Roman" panose="02020603050405020304" pitchFamily="18" charset="0"/>
              </a:rPr>
            </a:br>
            <a:r>
              <a:rPr lang="en-GB" sz="1300" dirty="0" err="1">
                <a:latin typeface="Courier New" panose="02070309020205020404" pitchFamily="49" charset="0"/>
                <a:ea typeface="Calibri" panose="020F0502020204030204" pitchFamily="34" charset="0"/>
                <a:cs typeface="Times New Roman" panose="02020603050405020304" pitchFamily="18" charset="0"/>
              </a:rPr>
              <a:t>Signif</a:t>
            </a:r>
            <a:r>
              <a:rPr lang="en-GB" sz="1300" dirty="0">
                <a:latin typeface="Courier New" panose="02070309020205020404" pitchFamily="49" charset="0"/>
                <a:ea typeface="Calibri" panose="020F0502020204030204" pitchFamily="34" charset="0"/>
                <a:cs typeface="Times New Roman" panose="02020603050405020304" pitchFamily="18" charset="0"/>
              </a:rPr>
              <a:t>. codes:  0 ‘***’ 0.001 ‘**’ 0.01 ‘*’ 0.05 ‘.’ 0.1 ‘ ’ 1</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&gt; </a:t>
            </a:r>
            <a:r>
              <a:rPr lang="en-GB" sz="1300" b="1" dirty="0" err="1">
                <a:latin typeface="Courier New" panose="02070309020205020404" pitchFamily="49" charset="0"/>
                <a:ea typeface="Calibri" panose="020F0502020204030204" pitchFamily="34" charset="0"/>
                <a:cs typeface="Times New Roman" panose="02020603050405020304" pitchFamily="18" charset="0"/>
              </a:rPr>
              <a:t>oneway.test</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Equity~Collector,data</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Learner_full</a:t>
            </a:r>
            <a:r>
              <a:rPr lang="en-GB" sz="1300" b="1" dirty="0">
                <a:latin typeface="Courier New" panose="02070309020205020404" pitchFamily="49" charset="0"/>
                <a:ea typeface="Calibri" panose="020F0502020204030204" pitchFamily="34" charset="0"/>
                <a:cs typeface="Times New Roman" panose="02020603050405020304" pitchFamily="18" charset="0"/>
              </a:rPr>
              <a:t>)</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One-way analysis of means (not assuming equal variances)</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data:  Equity and Collector</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F = 11.365, </a:t>
            </a:r>
            <a:r>
              <a:rPr lang="en-GB" sz="1300" dirty="0" err="1">
                <a:latin typeface="Courier New" panose="02070309020205020404" pitchFamily="49" charset="0"/>
                <a:ea typeface="Calibri" panose="020F0502020204030204" pitchFamily="34" charset="0"/>
                <a:cs typeface="Times New Roman" panose="02020603050405020304" pitchFamily="18" charset="0"/>
              </a:rPr>
              <a:t>num</a:t>
            </a:r>
            <a:r>
              <a:rPr lang="en-GB" sz="1300" dirty="0">
                <a:latin typeface="Courier New" panose="02070309020205020404" pitchFamily="49" charset="0"/>
                <a:ea typeface="Calibri" panose="020F0502020204030204" pitchFamily="34" charset="0"/>
                <a:cs typeface="Times New Roman" panose="02020603050405020304" pitchFamily="18" charset="0"/>
              </a:rPr>
              <a:t> </a:t>
            </a:r>
            <a:r>
              <a:rPr lang="en-GB" sz="1300" dirty="0" err="1">
                <a:latin typeface="Courier New" panose="02070309020205020404" pitchFamily="49" charset="0"/>
                <a:ea typeface="Calibri" panose="020F0502020204030204" pitchFamily="34" charset="0"/>
                <a:cs typeface="Times New Roman" panose="02020603050405020304" pitchFamily="18" charset="0"/>
              </a:rPr>
              <a:t>df</a:t>
            </a:r>
            <a:r>
              <a:rPr lang="en-GB" sz="1300" dirty="0">
                <a:latin typeface="Courier New" panose="02070309020205020404" pitchFamily="49" charset="0"/>
                <a:ea typeface="Calibri" panose="020F0502020204030204" pitchFamily="34" charset="0"/>
                <a:cs typeface="Times New Roman" panose="02020603050405020304" pitchFamily="18" charset="0"/>
              </a:rPr>
              <a:t> = 3.00, </a:t>
            </a:r>
            <a:r>
              <a:rPr lang="en-GB" sz="1300" dirty="0" err="1">
                <a:latin typeface="Courier New" panose="02070309020205020404" pitchFamily="49" charset="0"/>
                <a:ea typeface="Calibri" panose="020F0502020204030204" pitchFamily="34" charset="0"/>
                <a:cs typeface="Times New Roman" panose="02020603050405020304" pitchFamily="18" charset="0"/>
              </a:rPr>
              <a:t>denom</a:t>
            </a:r>
            <a:r>
              <a:rPr lang="en-GB" sz="1300" dirty="0">
                <a:latin typeface="Courier New" panose="02070309020205020404" pitchFamily="49" charset="0"/>
                <a:ea typeface="Calibri" panose="020F0502020204030204" pitchFamily="34" charset="0"/>
                <a:cs typeface="Times New Roman" panose="02020603050405020304" pitchFamily="18" charset="0"/>
              </a:rPr>
              <a:t> </a:t>
            </a:r>
            <a:r>
              <a:rPr lang="en-GB" sz="1300" dirty="0" err="1">
                <a:latin typeface="Courier New" panose="02070309020205020404" pitchFamily="49" charset="0"/>
                <a:ea typeface="Calibri" panose="020F0502020204030204" pitchFamily="34" charset="0"/>
                <a:cs typeface="Times New Roman" panose="02020603050405020304" pitchFamily="18" charset="0"/>
              </a:rPr>
              <a:t>df</a:t>
            </a:r>
            <a:r>
              <a:rPr lang="en-GB" sz="1300" dirty="0">
                <a:latin typeface="Courier New" panose="02070309020205020404" pitchFamily="49" charset="0"/>
                <a:ea typeface="Calibri" panose="020F0502020204030204" pitchFamily="34" charset="0"/>
                <a:cs typeface="Times New Roman" panose="02020603050405020304" pitchFamily="18" charset="0"/>
              </a:rPr>
              <a:t> = 937.19, p-value = 0.0000002517</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&gt; </a:t>
            </a:r>
            <a:r>
              <a:rPr lang="en-GB" sz="1300" b="1" dirty="0" err="1">
                <a:latin typeface="Courier New" panose="02070309020205020404" pitchFamily="49" charset="0"/>
                <a:ea typeface="Calibri" panose="020F0502020204030204" pitchFamily="34" charset="0"/>
                <a:cs typeface="Times New Roman" panose="02020603050405020304" pitchFamily="18" charset="0"/>
              </a:rPr>
              <a:t>etasq</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aov</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Equity~Collector,data</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Learner_full</a:t>
            </a:r>
            <a:r>
              <a:rPr lang="en-GB" sz="1300" b="1" dirty="0">
                <a:latin typeface="Courier New" panose="02070309020205020404" pitchFamily="49" charset="0"/>
                <a:ea typeface="Calibri" panose="020F0502020204030204" pitchFamily="34" charset="0"/>
                <a:cs typeface="Times New Roman" panose="02020603050405020304" pitchFamily="18" charset="0"/>
              </a:rPr>
              <a:t>))</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Partial eta^2</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Collector    0.02007686</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Residuals            NA</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b="1" dirty="0">
                <a:latin typeface="Courier New" panose="02070309020205020404" pitchFamily="49" charset="0"/>
                <a:ea typeface="Calibri" panose="020F0502020204030204" pitchFamily="34" charset="0"/>
                <a:cs typeface="Times New Roman" panose="02020603050405020304" pitchFamily="18" charset="0"/>
              </a:rPr>
              <a:t>&gt; </a:t>
            </a:r>
            <a:r>
              <a:rPr lang="en-GB" sz="1300" b="1" dirty="0" err="1">
                <a:latin typeface="Courier New" panose="02070309020205020404" pitchFamily="49" charset="0"/>
                <a:ea typeface="Calibri" panose="020F0502020204030204" pitchFamily="34" charset="0"/>
                <a:cs typeface="Times New Roman" panose="02020603050405020304" pitchFamily="18" charset="0"/>
              </a:rPr>
              <a:t>bonferroni</a:t>
            </a:r>
            <a:r>
              <a:rPr lang="en-GB" sz="1300" b="1" dirty="0">
                <a:latin typeface="Courier New" panose="02070309020205020404" pitchFamily="49" charset="0"/>
                <a:ea typeface="Calibri" panose="020F0502020204030204" pitchFamily="34" charset="0"/>
                <a:cs typeface="Times New Roman" panose="02020603050405020304" pitchFamily="18" charset="0"/>
              </a:rPr>
              <a:t>(</a:t>
            </a:r>
            <a:r>
              <a:rPr lang="en-GB" sz="1300" b="1" dirty="0" err="1">
                <a:latin typeface="Courier New" panose="02070309020205020404" pitchFamily="49" charset="0"/>
                <a:ea typeface="Calibri" panose="020F0502020204030204" pitchFamily="34" charset="0"/>
                <a:cs typeface="Times New Roman" panose="02020603050405020304" pitchFamily="18" charset="0"/>
              </a:rPr>
              <a:t>Learner_full$Equity,Learner_full$Collector</a:t>
            </a:r>
            <a:r>
              <a:rPr lang="en-GB" sz="1300" b="1" dirty="0">
                <a:latin typeface="Courier New" panose="02070309020205020404" pitchFamily="49" charset="0"/>
                <a:ea typeface="Calibri" panose="020F0502020204030204" pitchFamily="34" charset="0"/>
                <a:cs typeface="Times New Roman" panose="02020603050405020304" pitchFamily="18" charset="0"/>
              </a:rPr>
              <a:t>)</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Pairwise comparisons using t tests with non-pooled SD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data:  x and y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1          2          3</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2 1.00       -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3 0.87       0.27       -</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  4 0.00002105 0.00000031 0.01</a:t>
            </a:r>
            <a:endParaRPr lang="nl-BE" sz="13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300" dirty="0">
                <a:latin typeface="Courier New" panose="02070309020205020404" pitchFamily="49" charset="0"/>
                <a:ea typeface="Calibri" panose="020F0502020204030204" pitchFamily="34" charset="0"/>
                <a:cs typeface="Times New Roman" panose="02020603050405020304" pitchFamily="18" charset="0"/>
              </a:rPr>
              <a:t>P value adjustment method: </a:t>
            </a:r>
            <a:r>
              <a:rPr lang="en-GB" sz="1300" dirty="0" err="1">
                <a:latin typeface="Courier New" panose="02070309020205020404" pitchFamily="49" charset="0"/>
                <a:ea typeface="Calibri" panose="020F0502020204030204" pitchFamily="34" charset="0"/>
                <a:cs typeface="Times New Roman" panose="02020603050405020304" pitchFamily="18" charset="0"/>
              </a:rPr>
              <a:t>bonferroni</a:t>
            </a:r>
            <a:endParaRPr lang="nl-BE"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a:xfrm>
            <a:off x="7429972" y="1330975"/>
            <a:ext cx="4594387" cy="3945054"/>
          </a:xfrm>
          <a:prstGeom prst="rect">
            <a:avLst/>
          </a:prstGeom>
        </p:spPr>
        <p:txBody>
          <a:bodyPr wrap="square">
            <a:spAutoFit/>
          </a:bodyPr>
          <a:lstStyle/>
          <a:p>
            <a:pPr>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Welke van de onderstaande stellingen is </a:t>
            </a:r>
            <a:r>
              <a:rPr lang="nl-NL" u="sng" dirty="0">
                <a:latin typeface="Calibri" panose="020F0502020204030204" pitchFamily="34" charset="0"/>
                <a:ea typeface="Calibri" panose="020F0502020204030204" pitchFamily="34" charset="0"/>
                <a:cs typeface="Times New Roman" panose="02020603050405020304" pitchFamily="18" charset="0"/>
              </a:rPr>
              <a:t>FOUT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Leerlingen bevraagd door 'Collector' </a:t>
            </a:r>
            <a:r>
              <a:rPr lang="nl-NL" dirty="0" err="1">
                <a:latin typeface="Calibri" panose="020F0502020204030204" pitchFamily="34" charset="0"/>
                <a:ea typeface="Calibri" panose="020F0502020204030204" pitchFamily="34" charset="0"/>
                <a:cs typeface="Times New Roman" panose="02020603050405020304" pitchFamily="18" charset="0"/>
              </a:rPr>
              <a:t>nr</a:t>
            </a:r>
            <a:r>
              <a:rPr lang="nl-NL" dirty="0">
                <a:latin typeface="Calibri" panose="020F0502020204030204" pitchFamily="34" charset="0"/>
                <a:ea typeface="Calibri" panose="020F0502020204030204" pitchFamily="34" charset="0"/>
                <a:cs typeface="Times New Roman" panose="02020603050405020304" pitchFamily="18" charset="0"/>
              </a:rPr>
              <a:t> 3 scoren significant lager op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 dan leerlingen bevraagd door 'Collector' </a:t>
            </a:r>
            <a:r>
              <a:rPr lang="nl-NL" dirty="0" err="1">
                <a:latin typeface="Calibri" panose="020F0502020204030204" pitchFamily="34" charset="0"/>
                <a:ea typeface="Calibri" panose="020F0502020204030204" pitchFamily="34" charset="0"/>
                <a:cs typeface="Times New Roman" panose="02020603050405020304" pitchFamily="18" charset="0"/>
              </a:rPr>
              <a:t>nr</a:t>
            </a:r>
            <a:r>
              <a:rPr lang="nl-NL" dirty="0">
                <a:latin typeface="Calibri" panose="020F0502020204030204" pitchFamily="34" charset="0"/>
                <a:ea typeface="Calibri" panose="020F0502020204030204" pitchFamily="34" charset="0"/>
                <a:cs typeface="Times New Roman" panose="02020603050405020304" pitchFamily="18" charset="0"/>
              </a:rPr>
              <a:t> 2.</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Leerlingen bevraagd door 'Collector' </a:t>
            </a:r>
            <a:r>
              <a:rPr lang="nl-NL" dirty="0" err="1">
                <a:latin typeface="Calibri" panose="020F0502020204030204" pitchFamily="34" charset="0"/>
                <a:ea typeface="Calibri" panose="020F0502020204030204" pitchFamily="34" charset="0"/>
                <a:cs typeface="Times New Roman" panose="02020603050405020304" pitchFamily="18" charset="0"/>
              </a:rPr>
              <a:t>nr</a:t>
            </a:r>
            <a:r>
              <a:rPr lang="nl-NL" dirty="0">
                <a:latin typeface="Calibri" panose="020F0502020204030204" pitchFamily="34" charset="0"/>
                <a:ea typeface="Calibri" panose="020F0502020204030204" pitchFamily="34" charset="0"/>
                <a:cs typeface="Times New Roman" panose="02020603050405020304" pitchFamily="18" charset="0"/>
              </a:rPr>
              <a:t> 4 scoren statistisch significant lager dan alle overige leerlingen.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Er is een klein effect van 'Collector' op de scores voor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assumptie voor gelijke </a:t>
            </a:r>
            <a:r>
              <a:rPr lang="nl-NL" dirty="0" err="1">
                <a:latin typeface="Calibri" panose="020F0502020204030204" pitchFamily="34" charset="0"/>
                <a:ea typeface="Calibri" panose="020F0502020204030204" pitchFamily="34" charset="0"/>
                <a:cs typeface="Times New Roman" panose="02020603050405020304" pitchFamily="18" charset="0"/>
              </a:rPr>
              <a:t>binnengroep</a:t>
            </a:r>
            <a:r>
              <a:rPr lang="nl-NL" dirty="0">
                <a:latin typeface="Calibri" panose="020F0502020204030204" pitchFamily="34" charset="0"/>
                <a:ea typeface="Calibri" panose="020F0502020204030204" pitchFamily="34" charset="0"/>
                <a:cs typeface="Times New Roman" panose="02020603050405020304" pitchFamily="18" charset="0"/>
              </a:rPr>
              <a:t> varianties gaat niet op.</a:t>
            </a:r>
          </a:p>
          <a:p>
            <a:pPr marL="342900" lvl="0" indent="-342900">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In de populatie is er sprake van een effect van 'Collector' op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hthoek 5"/>
          <p:cNvSpPr/>
          <p:nvPr/>
        </p:nvSpPr>
        <p:spPr bwMode="auto">
          <a:xfrm>
            <a:off x="7437119" y="1665615"/>
            <a:ext cx="4349719" cy="888014"/>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66341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36545"/>
            <a:ext cx="10944226" cy="791794"/>
          </a:xfrm>
        </p:spPr>
        <p:txBody>
          <a:bodyPr/>
          <a:lstStyle/>
          <a:p>
            <a:r>
              <a:rPr lang="nl-BE" dirty="0"/>
              <a:t>Vraag 5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20</a:t>
            </a:fld>
            <a:endParaRPr lang="nl-BE" dirty="0"/>
          </a:p>
        </p:txBody>
      </p:sp>
      <p:sp>
        <p:nvSpPr>
          <p:cNvPr id="5" name="Rechthoek 4"/>
          <p:cNvSpPr/>
          <p:nvPr/>
        </p:nvSpPr>
        <p:spPr>
          <a:xfrm>
            <a:off x="538976" y="1493120"/>
            <a:ext cx="11259014" cy="4215578"/>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Leerlingen bevraagd door 'Collector'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nr</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3 scoren significant lager op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dan leerlingen bevraagd door 'Collector'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nr</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2.</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en is dus FOUT. De p-waarde bij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Bonferonni</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test is duidelijk hoger dan 0,05. De scores van leerlingen uit deze twee groepen verschillen niet significant van elkaar.</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Leerlingen bevraagd door 'Collector'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nr</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4 scoren statistisch significant lager dan alle overige leerlingen.</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Uit de output van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Bonferonni</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test leiden we af dat de scores van leerlingen van' Collector'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nr</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4 statistisch verschillend zijn van de scores van de leerlingen uit de andere groepen. Bovendien weten we uit het stukje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tapply</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 dat deze leerlingen lager scoren dan de andere leerlingen.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Er is een klein effect van 'Collector' op de scores voor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Dit blijkt uit de Eta2. Die is om en bij de 0,02 wat overeenstemt met een klein effect.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assumptie voor gelijke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binnengroepvarianties</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gaat niet op.</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blijkt uit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LeveneTest</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die een p-waarde lager dan 0,05 oplevert.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In de populatie is er sprake van een effect 'Collector' op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blijkt uit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uit</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de p-waarde bij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anova</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-analyse die duidelijk lager is dan 0,05. </a:t>
            </a:r>
          </a:p>
        </p:txBody>
      </p:sp>
    </p:spTree>
    <p:extLst>
      <p:ext uri="{BB962C8B-B14F-4D97-AF65-F5344CB8AC3E}">
        <p14:creationId xmlns:p14="http://schemas.microsoft.com/office/powerpoint/2010/main" val="602232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6</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21</a:t>
            </a:fld>
            <a:endParaRPr lang="nl-BE" dirty="0"/>
          </a:p>
        </p:txBody>
      </p:sp>
      <p:sp>
        <p:nvSpPr>
          <p:cNvPr id="4" name="Rechthoek 3"/>
          <p:cNvSpPr/>
          <p:nvPr/>
        </p:nvSpPr>
        <p:spPr>
          <a:xfrm>
            <a:off x="517207" y="959478"/>
            <a:ext cx="5228274" cy="1409617"/>
          </a:xfrm>
          <a:prstGeom prst="rect">
            <a:avLst/>
          </a:prstGeom>
        </p:spPr>
        <p:txBody>
          <a:bodyPr wrap="square">
            <a:spAutoFit/>
          </a:bodyPr>
          <a:lstStyle/>
          <a:p>
            <a:pPr algn="just">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Hieronder vind je de output van een analyse die de invloed van leeftijd, memoriseren en IQ op de mate van demotivatie van leerlingen in het zesde jaar secundair onderwijs nagaat.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hthoek 4"/>
          <p:cNvSpPr/>
          <p:nvPr/>
        </p:nvSpPr>
        <p:spPr>
          <a:xfrm>
            <a:off x="83344" y="2386725"/>
            <a:ext cx="6096000" cy="3843873"/>
          </a:xfrm>
          <a:prstGeom prst="rect">
            <a:avLst/>
          </a:prstGeom>
        </p:spPr>
        <p:txBody>
          <a:bodyPr>
            <a:spAutoFit/>
          </a:bodyPr>
          <a:lstStyle/>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SO2016$DemotivatieZ &lt;- scale(SO2016$Demotivatie)</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SO2016$LeeftijdZ &lt;- scale(SO2016$Leeftijd)</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SO2016$MemoriserenZ &lt;- scale(SO2016$Memoriseren)</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SO2016$IQZ &lt;- scale(SO2016$IQ)</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Model5&lt;-lm(</a:t>
            </a:r>
            <a:r>
              <a:rPr lang="en-GB" sz="1200" b="1" dirty="0" err="1">
                <a:latin typeface="Courier New" panose="02070309020205020404" pitchFamily="49" charset="0"/>
                <a:ea typeface="Calibri" panose="020F0502020204030204" pitchFamily="34" charset="0"/>
                <a:cs typeface="Times New Roman" panose="02020603050405020304" pitchFamily="18" charset="0"/>
              </a:rPr>
              <a:t>DemotivatieZ~LeeftijdZ+MemoriserenZ+IQZ,data</a:t>
            </a:r>
            <a:r>
              <a:rPr lang="en-GB" sz="1200" b="1" dirty="0">
                <a:latin typeface="Courier New" panose="02070309020205020404" pitchFamily="49" charset="0"/>
                <a:ea typeface="Calibri" panose="020F0502020204030204" pitchFamily="34" charset="0"/>
                <a:cs typeface="Times New Roman" panose="02020603050405020304" pitchFamily="18" charset="0"/>
              </a:rPr>
              <a:t>=SO2016)</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b="1" dirty="0">
                <a:latin typeface="Courier New" panose="02070309020205020404" pitchFamily="49" charset="0"/>
                <a:ea typeface="Calibri" panose="020F0502020204030204" pitchFamily="34" charset="0"/>
                <a:cs typeface="Times New Roman" panose="02020603050405020304" pitchFamily="18" charset="0"/>
              </a:rPr>
              <a:t>&gt; summary(Model5)</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err="1">
                <a:latin typeface="Courier New" panose="02070309020205020404" pitchFamily="49" charset="0"/>
                <a:ea typeface="Calibri" panose="020F0502020204030204" pitchFamily="34" charset="0"/>
                <a:cs typeface="Times New Roman" panose="02020603050405020304" pitchFamily="18" charset="0"/>
              </a:rPr>
              <a:t>Call:lm</a:t>
            </a:r>
            <a:r>
              <a:rPr lang="en-GB" sz="1200" dirty="0">
                <a:latin typeface="Courier New" panose="02070309020205020404" pitchFamily="49" charset="0"/>
                <a:ea typeface="Calibri" panose="020F0502020204030204" pitchFamily="34" charset="0"/>
                <a:cs typeface="Times New Roman" panose="02020603050405020304" pitchFamily="18" charset="0"/>
              </a:rPr>
              <a:t>(formula = </a:t>
            </a:r>
            <a:r>
              <a:rPr lang="en-GB" sz="1200" dirty="0" err="1">
                <a:latin typeface="Courier New" panose="02070309020205020404" pitchFamily="49" charset="0"/>
                <a:ea typeface="Calibri" panose="020F0502020204030204" pitchFamily="34" charset="0"/>
                <a:cs typeface="Times New Roman" panose="02020603050405020304" pitchFamily="18" charset="0"/>
              </a:rPr>
              <a:t>DemotivatieZ</a:t>
            </a:r>
            <a:r>
              <a:rPr lang="en-GB" sz="1200" dirty="0">
                <a:latin typeface="Courier New" panose="02070309020205020404" pitchFamily="49" charset="0"/>
                <a:ea typeface="Calibri" panose="020F0502020204030204" pitchFamily="34" charset="0"/>
                <a:cs typeface="Times New Roman" panose="02020603050405020304" pitchFamily="18" charset="0"/>
              </a:rPr>
              <a:t> ~ </a:t>
            </a:r>
            <a:r>
              <a:rPr lang="en-GB" sz="1200" dirty="0" err="1">
                <a:latin typeface="Courier New" panose="02070309020205020404" pitchFamily="49" charset="0"/>
                <a:ea typeface="Calibri" panose="020F0502020204030204" pitchFamily="34" charset="0"/>
                <a:cs typeface="Times New Roman" panose="02020603050405020304" pitchFamily="18" charset="0"/>
              </a:rPr>
              <a:t>LeeftijdZ</a:t>
            </a:r>
            <a:r>
              <a:rPr lang="en-GB" sz="1200" dirty="0">
                <a:latin typeface="Courier New" panose="02070309020205020404" pitchFamily="49" charset="0"/>
                <a:ea typeface="Calibri" panose="020F0502020204030204" pitchFamily="34" charset="0"/>
                <a:cs typeface="Times New Roman" panose="02020603050405020304" pitchFamily="18" charset="0"/>
              </a:rPr>
              <a:t> + </a:t>
            </a:r>
            <a:r>
              <a:rPr lang="en-GB" sz="1200" dirty="0" err="1">
                <a:latin typeface="Courier New" panose="02070309020205020404" pitchFamily="49" charset="0"/>
                <a:ea typeface="Calibri" panose="020F0502020204030204" pitchFamily="34" charset="0"/>
                <a:cs typeface="Times New Roman" panose="02020603050405020304" pitchFamily="18" charset="0"/>
              </a:rPr>
              <a:t>MemoriserenZ</a:t>
            </a:r>
            <a:r>
              <a:rPr lang="en-GB" sz="1200" dirty="0">
                <a:latin typeface="Courier New" panose="02070309020205020404" pitchFamily="49" charset="0"/>
                <a:ea typeface="Calibri" panose="020F0502020204030204" pitchFamily="34" charset="0"/>
                <a:cs typeface="Times New Roman" panose="02020603050405020304" pitchFamily="18" charset="0"/>
              </a:rPr>
              <a:t> + IQZ,</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a:latin typeface="Courier New" panose="02070309020205020404" pitchFamily="49" charset="0"/>
                <a:ea typeface="Calibri" panose="020F0502020204030204" pitchFamily="34" charset="0"/>
                <a:cs typeface="Times New Roman" panose="02020603050405020304" pitchFamily="18" charset="0"/>
              </a:rPr>
              <a:t>     data = SO2016)</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a:latin typeface="Courier New" panose="02070309020205020404" pitchFamily="49" charset="0"/>
                <a:ea typeface="Calibri" panose="020F0502020204030204" pitchFamily="34" charset="0"/>
                <a:cs typeface="Times New Roman" panose="02020603050405020304" pitchFamily="18" charset="0"/>
              </a:rPr>
              <a:t>Residuals:     Min       1Q   Median       3Q      Max</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a:latin typeface="Courier New" panose="02070309020205020404" pitchFamily="49" charset="0"/>
                <a:ea typeface="Calibri" panose="020F0502020204030204" pitchFamily="34" charset="0"/>
                <a:cs typeface="Times New Roman" panose="02020603050405020304" pitchFamily="18" charset="0"/>
              </a:rPr>
              <a:t> -1.95926 -0.39610  0.02423  0.42637  1.53143</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a:latin typeface="Courier New" panose="02070309020205020404" pitchFamily="49" charset="0"/>
                <a:ea typeface="Calibri" panose="020F0502020204030204" pitchFamily="34" charset="0"/>
                <a:cs typeface="Times New Roman" panose="02020603050405020304" pitchFamily="18" charset="0"/>
              </a:rPr>
              <a:t> Coefficients:</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a:latin typeface="Courier New" panose="02070309020205020404" pitchFamily="49" charset="0"/>
                <a:ea typeface="Calibri" panose="020F0502020204030204" pitchFamily="34" charset="0"/>
                <a:cs typeface="Times New Roman" panose="02020603050405020304" pitchFamily="18" charset="0"/>
              </a:rPr>
              <a:t>              Estimate Std. Error t value </a:t>
            </a:r>
            <a:r>
              <a:rPr lang="en-GB" sz="1200" dirty="0" err="1">
                <a:latin typeface="Courier New" panose="02070309020205020404" pitchFamily="49" charset="0"/>
                <a:ea typeface="Calibri" panose="020F0502020204030204" pitchFamily="34" charset="0"/>
                <a:cs typeface="Times New Roman" panose="02020603050405020304" pitchFamily="18" charset="0"/>
              </a:rPr>
              <a:t>Pr</a:t>
            </a:r>
            <a:r>
              <a:rPr lang="en-GB" sz="1200" dirty="0">
                <a:latin typeface="Courier New" panose="02070309020205020404" pitchFamily="49" charset="0"/>
                <a:ea typeface="Calibri" panose="020F0502020204030204" pitchFamily="34" charset="0"/>
                <a:cs typeface="Times New Roman" panose="02020603050405020304" pitchFamily="18" charset="0"/>
              </a:rPr>
              <a:t>(&amp;</a:t>
            </a:r>
            <a:r>
              <a:rPr lang="en-GB" sz="1200" dirty="0" err="1">
                <a:latin typeface="Courier New" panose="02070309020205020404" pitchFamily="49" charset="0"/>
                <a:ea typeface="Calibri" panose="020F0502020204030204" pitchFamily="34" charset="0"/>
                <a:cs typeface="Times New Roman" panose="02020603050405020304" pitchFamily="18" charset="0"/>
              </a:rPr>
              <a:t>gt</a:t>
            </a:r>
            <a:r>
              <a:rPr lang="en-GB" sz="1200" dirty="0">
                <a:latin typeface="Courier New" panose="02070309020205020404" pitchFamily="49" charset="0"/>
                <a:ea typeface="Calibri" panose="020F0502020204030204" pitchFamily="34" charset="0"/>
                <a:cs typeface="Times New Roman" panose="02020603050405020304" pitchFamily="18" charset="0"/>
              </a:rPr>
              <a:t>;|t|)</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200" dirty="0">
                <a:latin typeface="Courier New" panose="02070309020205020404" pitchFamily="49" charset="0"/>
                <a:ea typeface="Calibri" panose="020F0502020204030204" pitchFamily="34" charset="0"/>
                <a:cs typeface="Times New Roman" panose="02020603050405020304" pitchFamily="18" charset="0"/>
              </a:rPr>
              <a:t>(</a:t>
            </a:r>
            <a:r>
              <a:rPr lang="nl-NL" sz="1200" dirty="0" err="1">
                <a:latin typeface="Courier New" panose="02070309020205020404" pitchFamily="49" charset="0"/>
                <a:ea typeface="Calibri" panose="020F0502020204030204" pitchFamily="34" charset="0"/>
                <a:cs typeface="Times New Roman" panose="02020603050405020304" pitchFamily="18" charset="0"/>
              </a:rPr>
              <a:t>Intercept</a:t>
            </a:r>
            <a:r>
              <a:rPr lang="nl-NL" sz="1200" dirty="0">
                <a:latin typeface="Courier New" panose="02070309020205020404" pitchFamily="49" charset="0"/>
                <a:ea typeface="Calibri" panose="020F0502020204030204" pitchFamily="34" charset="0"/>
                <a:cs typeface="Times New Roman" panose="02020603050405020304" pitchFamily="18" charset="0"/>
              </a:rPr>
              <a:t>)    1.31459    0.29714   4.424 1.69e-05 ***</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200" dirty="0">
                <a:latin typeface="Courier New" panose="02070309020205020404" pitchFamily="49" charset="0"/>
                <a:ea typeface="Calibri" panose="020F0502020204030204" pitchFamily="34" charset="0"/>
                <a:cs typeface="Times New Roman" panose="02020603050405020304" pitchFamily="18" charset="0"/>
              </a:rPr>
              <a:t>Leeftijd       0.01359    0.01103   1.232  0.21953</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200" dirty="0">
                <a:latin typeface="Courier New" panose="02070309020205020404" pitchFamily="49" charset="0"/>
                <a:ea typeface="Calibri" panose="020F0502020204030204" pitchFamily="34" charset="0"/>
                <a:cs typeface="Times New Roman" panose="02020603050405020304" pitchFamily="18" charset="0"/>
              </a:rPr>
              <a:t>Memoriseren    0.30928    0.07902   3.914  0.00013 ***</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200" dirty="0">
                <a:latin typeface="Courier New" panose="02070309020205020404" pitchFamily="49" charset="0"/>
                <a:ea typeface="Calibri" panose="020F0502020204030204" pitchFamily="34" charset="0"/>
                <a:cs typeface="Times New Roman" panose="02020603050405020304" pitchFamily="18" charset="0"/>
              </a:rPr>
              <a:t>IQ             0.17652    0.08697   2.030  0.04391 *</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200" dirty="0">
                <a:latin typeface="Courier New" panose="02070309020205020404" pitchFamily="49" charset="0"/>
                <a:ea typeface="Calibri" panose="020F0502020204030204" pitchFamily="34" charset="0"/>
                <a:cs typeface="Times New Roman" panose="02020603050405020304" pitchFamily="18" charset="0"/>
              </a:rPr>
              <a:t>  </a:t>
            </a:r>
            <a:r>
              <a:rPr lang="en-GB" sz="1200" dirty="0">
                <a:latin typeface="Courier New" panose="02070309020205020404" pitchFamily="49" charset="0"/>
                <a:ea typeface="Calibri" panose="020F0502020204030204" pitchFamily="34" charset="0"/>
                <a:cs typeface="Times New Roman" panose="02020603050405020304" pitchFamily="18" charset="0"/>
              </a:rPr>
              <a:t>---</a:t>
            </a:r>
            <a:endParaRPr lang="nl-BE" sz="1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200" dirty="0" err="1">
                <a:latin typeface="Courier New" panose="02070309020205020404" pitchFamily="49" charset="0"/>
                <a:ea typeface="Calibri" panose="020F0502020204030204" pitchFamily="34" charset="0"/>
                <a:cs typeface="Times New Roman" panose="02020603050405020304" pitchFamily="18" charset="0"/>
              </a:rPr>
              <a:t>Signif</a:t>
            </a:r>
            <a:r>
              <a:rPr lang="en-GB" sz="1200" dirty="0">
                <a:latin typeface="Courier New" panose="02070309020205020404" pitchFamily="49" charset="0"/>
                <a:ea typeface="Calibri" panose="020F0502020204030204" pitchFamily="34" charset="0"/>
                <a:cs typeface="Times New Roman" panose="02020603050405020304" pitchFamily="18" charset="0"/>
              </a:rPr>
              <a:t>. codes:  0 ‘***’ 0.001 ‘**’ 0.01 ‘*’ 0.05 ‘.’ </a:t>
            </a:r>
            <a:r>
              <a:rPr lang="nl-NL" sz="1200" dirty="0">
                <a:latin typeface="Courier New" panose="02070309020205020404" pitchFamily="49" charset="0"/>
                <a:ea typeface="Calibri" panose="020F0502020204030204" pitchFamily="34" charset="0"/>
                <a:cs typeface="Times New Roman" panose="02020603050405020304" pitchFamily="18" charset="0"/>
              </a:rPr>
              <a:t>0.1 ‘ ’ 1</a:t>
            </a:r>
            <a:endParaRPr lang="nl-BE"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hthoek 5"/>
          <p:cNvSpPr/>
          <p:nvPr/>
        </p:nvSpPr>
        <p:spPr>
          <a:xfrm>
            <a:off x="6286024" y="730090"/>
            <a:ext cx="5685474" cy="5426870"/>
          </a:xfrm>
          <a:prstGeom prst="rect">
            <a:avLst/>
          </a:prstGeom>
        </p:spPr>
        <p:txBody>
          <a:bodyPr wrap="square">
            <a:spAutoFit/>
          </a:bodyPr>
          <a:lstStyle/>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A.d.h.v. deze analyse kunnen verschillende nulhypotheses worden getoetst. Hieronder vind je 5 uitspraken over deze nulhypotheses.</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Welk van de onderstaande uitspraken is GEEN correcte nulhypothese?</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Het effect van memoriseren op de mate van demotivatie bedraagt 0 voor alle leerlingen uit het zesde jaar secundair onderwijs.</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Iemand die gemiddeld scoort op leeftijd, memoriseren en IQ behaalt een gemiddelde score op demotivatie in de populatie.</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Het effect van leeftijd op demotivatie is 0 voor de leerlingen uit het zesde jaar secundair onderwijs die deelnamen aan het onderzoek.</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Voor alle leerlingen uit het zesde jaar secundair onderwijs geldt dat hoger scoren op IQ niet leidt tot hoger scoren op demotivatie.</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In de populatie is er geen effect van IQ op demotivatie.</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hthoek 6"/>
          <p:cNvSpPr/>
          <p:nvPr/>
        </p:nvSpPr>
        <p:spPr bwMode="auto">
          <a:xfrm>
            <a:off x="6286024" y="4007371"/>
            <a:ext cx="5685474" cy="888014"/>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422017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36545"/>
            <a:ext cx="10944226" cy="791794"/>
          </a:xfrm>
        </p:spPr>
        <p:txBody>
          <a:bodyPr/>
          <a:lstStyle/>
          <a:p>
            <a:r>
              <a:rPr lang="nl-BE" dirty="0"/>
              <a:t>Vraag 6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22</a:t>
            </a:fld>
            <a:endParaRPr lang="nl-BE" dirty="0"/>
          </a:p>
        </p:txBody>
      </p:sp>
      <p:sp>
        <p:nvSpPr>
          <p:cNvPr id="5" name="Rechthoek 4"/>
          <p:cNvSpPr/>
          <p:nvPr/>
        </p:nvSpPr>
        <p:spPr>
          <a:xfrm>
            <a:off x="538976" y="1219691"/>
            <a:ext cx="11259014" cy="5203540"/>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Het effect van memoriseren op de mate van demotivatie bedraagt 0 voor alle leerlingen uit het zesde jaar secundair onderwijs.</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Dit is een CORRECT geformuleerde nulhypothese. Deze uitspraak verwijst immers naar de populatie (alle leerlingen uit het secundair onderwijs) en geeft aan dat er verwacht wordt dat er geen effect (het bedraagt 0!) is van memoriseren op demotivatie. </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Iemand die gemiddeld scoort op leeftijd, memoriseren en IQ behaalt een gemiddelde score op demotivatie in de populatie.</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Aangezien alle variabelen gestandaardiseerd zijn, klopt deze uitspraak. Nul scoren op een gestandaardiseerde variabele betekent immers hetzelfde als gemiddeld scoren.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Het effect van leeftijd op demotivatie is 0 voor de leerlingen uit het zesde jaar secundair onderwijs die deelnamen aan het onderzoek.</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is FOUT. Want deze verwijst uitsluitend naar de leerlingen die deelnamen aan het onderzoek. M.a.w., er wordt hier verwezen naar het ontbreken van een effect in onze steekproef. Nulhypotheses doen echter steeds uitspraken over de hele populatie!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Voor alle leerlingen uit het zesde jaar secundair onderwijs geldt dat hoger scoren op IQ niet leidt tot hoger scoren op demotivatie.</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Dit is een CORRECT geformuleerde nulhypothese. Deze uitspraak verwijst immers naar de populatie (alle leerlingen uit het secundair onderwijs) en geeft aan dat er verwacht wordt dat er geen effect is van IQ op demotivatie (hoger scoren op IQ leidt NIET tot hoger scoren op demotivatie!).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In de populatie is er geen effect van IQ op demotivatie.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Dit is een CORRECT geformuleerde nulhypothese. Deze uitspraak verwijst immers naar de populatie en geeft aan dat er verwacht wordt dat er geen effect (effect = 0) is van IQ op demotivatie. </a:t>
            </a:r>
          </a:p>
        </p:txBody>
      </p:sp>
    </p:spTree>
    <p:extLst>
      <p:ext uri="{BB962C8B-B14F-4D97-AF65-F5344CB8AC3E}">
        <p14:creationId xmlns:p14="http://schemas.microsoft.com/office/powerpoint/2010/main" val="2355001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7</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23</a:t>
            </a:fld>
            <a:endParaRPr lang="nl-BE" dirty="0"/>
          </a:p>
        </p:txBody>
      </p:sp>
      <p:sp>
        <p:nvSpPr>
          <p:cNvPr id="4" name="Rechthoek 3"/>
          <p:cNvSpPr/>
          <p:nvPr/>
        </p:nvSpPr>
        <p:spPr>
          <a:xfrm>
            <a:off x="623886" y="1327656"/>
            <a:ext cx="10944227" cy="1724318"/>
          </a:xfrm>
          <a:prstGeom prst="rect">
            <a:avLst/>
          </a:prstGeom>
        </p:spPr>
        <p:txBody>
          <a:bodyPr wrap="square">
            <a:spAutoFit/>
          </a:bodyPr>
          <a:lstStyle/>
          <a:p>
            <a:pPr algn="just">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Stefan, de onderzoeker die in Zuid-Afrika werkt, beschikt tevens over scores van leerlingen voor een wiskundetest ('ANA.RESULT'). Hij vraagt zich af of de concepten die hij meet in zijn vragenlijst wel voorspellend zijn voor deze scores. Zo heeft hij scores voor interesse in wiskunde (een schaalscore, 'Interest'). Hieronder staat output die hem iets leert over de invloed van interesse ('Interest') op wiskundescores ('ANA.RESULT').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6562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0"/>
          </p:nvPr>
        </p:nvSpPr>
        <p:spPr/>
        <p:txBody>
          <a:bodyPr/>
          <a:lstStyle/>
          <a:p>
            <a:fld id="{E038E271-308C-2E46-A3EC-56326F9084CC}" type="slidenum">
              <a:rPr lang="nl-BE" smtClean="0"/>
              <a:pPr/>
              <a:t>24</a:t>
            </a:fld>
            <a:endParaRPr lang="nl-BE" dirty="0"/>
          </a:p>
        </p:txBody>
      </p:sp>
      <p:sp>
        <p:nvSpPr>
          <p:cNvPr id="7" name="Rechthoek 6"/>
          <p:cNvSpPr/>
          <p:nvPr/>
        </p:nvSpPr>
        <p:spPr>
          <a:xfrm>
            <a:off x="308370" y="952217"/>
            <a:ext cx="7128750" cy="4702569"/>
          </a:xfrm>
          <a:prstGeom prst="rect">
            <a:avLst/>
          </a:prstGeom>
          <a:solidFill>
            <a:schemeClr val="bg1"/>
          </a:solidFill>
        </p:spPr>
        <p:txBody>
          <a:bodyPr wrap="square">
            <a:spAutoFit/>
          </a:bodyPr>
          <a:lstStyle/>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M &lt;-lm(</a:t>
            </a:r>
            <a:r>
              <a:rPr lang="en-GB" sz="1400" b="1" dirty="0" err="1">
                <a:latin typeface="Courier New" panose="02070309020205020404" pitchFamily="49" charset="0"/>
                <a:ea typeface="Calibri" panose="020F0502020204030204" pitchFamily="34" charset="0"/>
                <a:cs typeface="Times New Roman" panose="02020603050405020304" pitchFamily="18" charset="0"/>
              </a:rPr>
              <a:t>ANA.RESULT~Interest,data</a:t>
            </a:r>
            <a:r>
              <a:rPr lang="en-GB" sz="1400" b="1" dirty="0">
                <a:latin typeface="Courier New" panose="02070309020205020404" pitchFamily="49" charset="0"/>
                <a:ea typeface="Calibri" panose="020F0502020204030204" pitchFamily="34" charset="0"/>
                <a:cs typeface="Times New Roman" panose="02020603050405020304" pitchFamily="18" charset="0"/>
              </a:rPr>
              <a:t>=</a:t>
            </a:r>
            <a:r>
              <a:rPr lang="en-GB" sz="1400" b="1" dirty="0" err="1">
                <a:latin typeface="Courier New" panose="02070309020205020404" pitchFamily="49" charset="0"/>
                <a:ea typeface="Calibri" panose="020F0502020204030204" pitchFamily="34" charset="0"/>
                <a:cs typeface="Times New Roman" panose="02020603050405020304" pitchFamily="18" charset="0"/>
              </a:rPr>
              <a:t>Learner_full</a:t>
            </a:r>
            <a:r>
              <a:rPr lang="en-GB" sz="1400" b="1"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summary(M)</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err="1">
                <a:latin typeface="Courier New" panose="02070309020205020404" pitchFamily="49" charset="0"/>
                <a:ea typeface="Calibri" panose="020F0502020204030204" pitchFamily="34" charset="0"/>
                <a:cs typeface="Times New Roman" panose="02020603050405020304" pitchFamily="18" charset="0"/>
              </a:rPr>
              <a:t>Call:lm</a:t>
            </a:r>
            <a:r>
              <a:rPr lang="en-GB" sz="1400" dirty="0">
                <a:latin typeface="Courier New" panose="02070309020205020404" pitchFamily="49" charset="0"/>
                <a:ea typeface="Calibri" panose="020F0502020204030204" pitchFamily="34" charset="0"/>
                <a:cs typeface="Times New Roman" panose="02020603050405020304" pitchFamily="18" charset="0"/>
              </a:rPr>
              <a:t>(formula = ANA.RESULT ~ Interest, data = </a:t>
            </a:r>
            <a:r>
              <a:rPr lang="en-GB" sz="1400" dirty="0" err="1">
                <a:latin typeface="Courier New" panose="02070309020205020404" pitchFamily="49" charset="0"/>
                <a:ea typeface="Calibri" panose="020F0502020204030204" pitchFamily="34" charset="0"/>
                <a:cs typeface="Times New Roman" panose="02020603050405020304" pitchFamily="18" charset="0"/>
              </a:rPr>
              <a:t>Learner_full</a:t>
            </a:r>
            <a:r>
              <a:rPr lang="en-GB" sz="1400"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Residuals:</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Min      1Q  Median      3Q     Max</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-34.602 -10.940  -1.982   8.398  58.398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Coefficients:</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Estimate Std. Error t value            </a:t>
            </a:r>
            <a:r>
              <a:rPr lang="en-GB" sz="1400" dirty="0" err="1">
                <a:latin typeface="Courier New" panose="02070309020205020404" pitchFamily="49" charset="0"/>
                <a:ea typeface="Calibri" panose="020F0502020204030204" pitchFamily="34" charset="0"/>
                <a:cs typeface="Times New Roman" panose="02020603050405020304" pitchFamily="18" charset="0"/>
              </a:rPr>
              <a:t>Pr</a:t>
            </a:r>
            <a:r>
              <a:rPr lang="en-GB" sz="1400" dirty="0">
                <a:latin typeface="Courier New" panose="02070309020205020404" pitchFamily="49" charset="0"/>
                <a:ea typeface="Calibri" panose="020F0502020204030204" pitchFamily="34" charset="0"/>
                <a:cs typeface="Times New Roman" panose="02020603050405020304" pitchFamily="18" charset="0"/>
              </a:rPr>
              <a:t>(&gt;|t|)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Intercept)    3.3625     2.9168   1.153               0.249</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Interest      6.6479     0.6779   9.807 &lt;0.0000000000000002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err="1">
                <a:latin typeface="Courier New" panose="02070309020205020404" pitchFamily="49" charset="0"/>
                <a:ea typeface="Calibri" panose="020F0502020204030204" pitchFamily="34" charset="0"/>
                <a:cs typeface="Times New Roman" panose="02020603050405020304" pitchFamily="18" charset="0"/>
              </a:rPr>
              <a:t>Signif</a:t>
            </a:r>
            <a:r>
              <a:rPr lang="en-GB" sz="1400" dirty="0">
                <a:latin typeface="Courier New" panose="02070309020205020404" pitchFamily="49" charset="0"/>
                <a:ea typeface="Calibri" panose="020F0502020204030204" pitchFamily="34" charset="0"/>
                <a:cs typeface="Times New Roman" panose="02020603050405020304" pitchFamily="18" charset="0"/>
              </a:rPr>
              <a:t>. codes:  0 ‘***’ 0.001 ‘**’ 0.01 ‘*’ 0.05 ‘.’ 0.1 ‘ ’ 1</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Residual standard error: 15.31 on 1221 degrees of freedom  (534 observations deleted due to </a:t>
            </a:r>
            <a:r>
              <a:rPr lang="en-GB" sz="1400" dirty="0" err="1">
                <a:latin typeface="Courier New" panose="02070309020205020404" pitchFamily="49" charset="0"/>
                <a:ea typeface="Calibri" panose="020F0502020204030204" pitchFamily="34" charset="0"/>
                <a:cs typeface="Times New Roman" panose="02020603050405020304" pitchFamily="18" charset="0"/>
              </a:rPr>
              <a:t>missingness</a:t>
            </a:r>
            <a:r>
              <a:rPr lang="en-GB" sz="1400" dirty="0">
                <a:latin typeface="Courier New" panose="02070309020205020404" pitchFamily="49" charset="0"/>
                <a:ea typeface="Calibri" panose="020F0502020204030204" pitchFamily="34" charset="0"/>
                <a:cs typeface="Times New Roman" panose="02020603050405020304" pitchFamily="18" charset="0"/>
              </a:rPr>
              <a:t>)</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Multiple R-squared:  0.07302, Adjusted R-squared:  0.07226 </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F-statistic: 96.18 on 1 and 1221 DF,  p-value: &lt; 0.00000000000000022</a:t>
            </a:r>
            <a:endParaRPr lang="nl-B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a:xfrm>
            <a:off x="7429972" y="942072"/>
            <a:ext cx="4594387" cy="4524637"/>
          </a:xfrm>
          <a:prstGeom prst="rect">
            <a:avLst/>
          </a:prstGeom>
        </p:spPr>
        <p:txBody>
          <a:bodyPr wrap="square">
            <a:spAutoFit/>
          </a:bodyPr>
          <a:lstStyle/>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Welke van volgende uitspraken is </a:t>
            </a:r>
            <a:r>
              <a:rPr lang="nl-NL" u="sng" dirty="0">
                <a:latin typeface="Calibri" panose="020F0502020204030204" pitchFamily="34" charset="0"/>
                <a:ea typeface="Calibri" panose="020F0502020204030204" pitchFamily="34" charset="0"/>
                <a:cs typeface="Times New Roman" panose="02020603050405020304" pitchFamily="18" charset="0"/>
              </a:rPr>
              <a:t>FOUT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Hogere mate van interesse in wiskunde leidt tot hogere wiskundescores in de gehele populatie.</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Een leerling die gemiddeld scoort voor 'Interest', behaalt volgens dit model een score van 3.3625 op 'ANA.RESULT'.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Eén eenheid hoger scoren voor 'Interest' leidt volgens dit model tot 6.6479 punten hoger scoren op 'ANA.RESULT'.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Ongeveer 7% van de verschillen in wiskundescores zijn te verklaren vanuit verschillen in interesse voor wiskunde</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Er is een medium effect van interesse op wiskundescores.</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hthoek 4"/>
          <p:cNvSpPr/>
          <p:nvPr/>
        </p:nvSpPr>
        <p:spPr bwMode="auto">
          <a:xfrm>
            <a:off x="7452356" y="2167420"/>
            <a:ext cx="4572003" cy="888014"/>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218223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36545"/>
            <a:ext cx="10944226" cy="791794"/>
          </a:xfrm>
        </p:spPr>
        <p:txBody>
          <a:bodyPr/>
          <a:lstStyle/>
          <a:p>
            <a:r>
              <a:rPr lang="nl-BE" dirty="0"/>
              <a:t>Vraag 7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25</a:t>
            </a:fld>
            <a:endParaRPr lang="nl-BE" dirty="0"/>
          </a:p>
        </p:txBody>
      </p:sp>
      <p:sp>
        <p:nvSpPr>
          <p:cNvPr id="5" name="Rechthoek 4"/>
          <p:cNvSpPr/>
          <p:nvPr/>
        </p:nvSpPr>
        <p:spPr>
          <a:xfrm>
            <a:off x="538976" y="1509623"/>
            <a:ext cx="11259014" cy="3721596"/>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Hogere mate van interesse in wiskunde leidt tot hogere wiskundescores in de populatie.</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Immers, er is een significant positief effect van interesse op wiskunde.</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Een leerling die gemiddeld scoort voor 'Interest', behaalt volgens dit model een score van 3.3625 op 'ANA.RESULT'.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en is dus FOUT. Het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intercept</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is de verwachte score voor een leerling die nul scoort op Interest. Interest is GEEN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z</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-score, dus gaat dat hier niet specifiek over een leerling die gemiddeld scoort</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Eén eenheid hoger scoren voor 'Interest' leidt volgens dit model tot 6.6479 punten hoger scoren op 'ANA.RESULT'.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is de hellingsgraad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slope</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Ongeveer 7% van de verschillen in wiskundescores zijn te verklaren vanuit verschillen in interesse voor wiskunde.</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is af te lezen uit de R kwadraten.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Er is een medium effect van interesse op wiskundescores.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Dit is af te lezen uit de R kwadraten en te interpreteren volgens de vuistregels van Cohen. </a:t>
            </a:r>
          </a:p>
        </p:txBody>
      </p:sp>
    </p:spTree>
    <p:extLst>
      <p:ext uri="{BB962C8B-B14F-4D97-AF65-F5344CB8AC3E}">
        <p14:creationId xmlns:p14="http://schemas.microsoft.com/office/powerpoint/2010/main" val="4126644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8</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26</a:t>
            </a:fld>
            <a:endParaRPr lang="nl-BE" dirty="0"/>
          </a:p>
        </p:txBody>
      </p:sp>
      <p:sp>
        <p:nvSpPr>
          <p:cNvPr id="4" name="Rechthoek 3"/>
          <p:cNvSpPr/>
          <p:nvPr/>
        </p:nvSpPr>
        <p:spPr>
          <a:xfrm>
            <a:off x="517207" y="959478"/>
            <a:ext cx="5289233" cy="3714863"/>
          </a:xfrm>
          <a:prstGeom prst="rect">
            <a:avLst/>
          </a:prstGeom>
        </p:spPr>
        <p:txBody>
          <a:bodyPr wrap="square">
            <a:spAutoFit/>
          </a:bodyPr>
          <a:lstStyle/>
          <a:p>
            <a:pPr algn="just">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In z'n onderzoek naar leeromgevingen in Zuid-Afrika bevraagt Stefan de leerlingen aangaande hun perceptie op de klaspraktijk. Daarbij brengt hij in kaart in welke mate leerlingen vinden dat er 'gelijke kansen' zijn in het onderwijs ('</a:t>
            </a:r>
            <a:r>
              <a:rPr lang="nl-BE" sz="2000" dirty="0" err="1">
                <a:latin typeface="Calibri" panose="020F0502020204030204" pitchFamily="34" charset="0"/>
                <a:ea typeface="Calibri" panose="020F0502020204030204" pitchFamily="34" charset="0"/>
                <a:cs typeface="Times New Roman" panose="02020603050405020304" pitchFamily="18" charset="0"/>
              </a:rPr>
              <a:t>Equity</a:t>
            </a:r>
            <a:r>
              <a:rPr lang="nl-BE" sz="2000" dirty="0">
                <a:latin typeface="Calibri" panose="020F0502020204030204" pitchFamily="34" charset="0"/>
                <a:ea typeface="Calibri" panose="020F0502020204030204" pitchFamily="34" charset="0"/>
                <a:cs typeface="Times New Roman" panose="02020603050405020304" pitchFamily="18" charset="0"/>
              </a:rPr>
              <a:t>'); dat de leerkracht hun actief betrekt in de les ('</a:t>
            </a:r>
            <a:r>
              <a:rPr lang="nl-BE" sz="2000" dirty="0" err="1">
                <a:latin typeface="Calibri" panose="020F0502020204030204" pitchFamily="34" charset="0"/>
                <a:ea typeface="Calibri" panose="020F0502020204030204" pitchFamily="34" charset="0"/>
                <a:cs typeface="Times New Roman" panose="02020603050405020304" pitchFamily="18" charset="0"/>
              </a:rPr>
              <a:t>Involvement</a:t>
            </a:r>
            <a:r>
              <a:rPr lang="nl-BE" sz="2000" dirty="0">
                <a:latin typeface="Calibri" panose="020F0502020204030204" pitchFamily="34" charset="0"/>
                <a:ea typeface="Calibri" panose="020F0502020204030204" pitchFamily="34" charset="0"/>
                <a:cs typeface="Times New Roman" panose="02020603050405020304" pitchFamily="18" charset="0"/>
              </a:rPr>
              <a:t>'); dat ze aangespoord worden samen te werken ('Cooperation'); en dat de leerkracht differentieert ('</a:t>
            </a:r>
            <a:r>
              <a:rPr lang="nl-BE" sz="2000" dirty="0" err="1">
                <a:latin typeface="Calibri" panose="020F0502020204030204" pitchFamily="34" charset="0"/>
                <a:ea typeface="Calibri" panose="020F0502020204030204" pitchFamily="34" charset="0"/>
                <a:cs typeface="Times New Roman" panose="02020603050405020304" pitchFamily="18" charset="0"/>
              </a:rPr>
              <a:t>Differentiation</a:t>
            </a:r>
            <a:r>
              <a:rPr lang="nl-BE" sz="2000" dirty="0">
                <a:latin typeface="Calibri" panose="020F0502020204030204" pitchFamily="34" charset="0"/>
                <a:ea typeface="Calibri" panose="020F0502020204030204" pitchFamily="34" charset="0"/>
                <a:cs typeface="Times New Roman" panose="02020603050405020304" pitchFamily="18" charset="0"/>
              </a:rPr>
              <a:t>'). Hij maakt onderstaande tabel tijdens zijn verkenning van de data.</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hthoek 5"/>
          <p:cNvSpPr/>
          <p:nvPr/>
        </p:nvSpPr>
        <p:spPr>
          <a:xfrm>
            <a:off x="6255544" y="959478"/>
            <a:ext cx="5685474" cy="3635547"/>
          </a:xfrm>
          <a:prstGeom prst="rect">
            <a:avLst/>
          </a:prstGeom>
        </p:spPr>
        <p:txBody>
          <a:bodyPr wrap="square">
            <a:spAutoFit/>
          </a:bodyPr>
          <a:lstStyle/>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Welke van onderstaande uitspraken is </a:t>
            </a:r>
            <a:r>
              <a:rPr lang="nl-NL" u="sng" dirty="0">
                <a:latin typeface="Calibri" panose="020F0502020204030204" pitchFamily="34" charset="0"/>
                <a:ea typeface="Calibri" panose="020F0502020204030204" pitchFamily="34" charset="0"/>
                <a:cs typeface="Times New Roman" panose="02020603050405020304" pitchFamily="18" charset="0"/>
              </a:rPr>
              <a:t>FOUT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Hoger scoren op 'Cooperation' gaat in de steekproef samen met hoger scoren op '</a:t>
            </a:r>
            <a:r>
              <a:rPr lang="nl-NL" dirty="0" err="1">
                <a:latin typeface="Calibri" panose="020F0502020204030204" pitchFamily="34" charset="0"/>
                <a:ea typeface="Calibri" panose="020F0502020204030204" pitchFamily="34" charset="0"/>
                <a:cs typeface="Times New Roman" panose="02020603050405020304" pitchFamily="18" charset="0"/>
              </a:rPr>
              <a:t>Involvement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samenhang tussen 'Cooperation' en '</a:t>
            </a:r>
            <a:r>
              <a:rPr lang="nl-NL" dirty="0" err="1">
                <a:latin typeface="Calibri" panose="020F0502020204030204" pitchFamily="34" charset="0"/>
                <a:ea typeface="Calibri" panose="020F0502020204030204" pitchFamily="34" charset="0"/>
                <a:cs typeface="Times New Roman" panose="02020603050405020304" pitchFamily="18" charset="0"/>
              </a:rPr>
              <a:t>Differentiation</a:t>
            </a:r>
            <a:r>
              <a:rPr lang="nl-NL" dirty="0">
                <a:latin typeface="Calibri" panose="020F0502020204030204" pitchFamily="34" charset="0"/>
                <a:ea typeface="Calibri" panose="020F0502020204030204" pitchFamily="34" charset="0"/>
                <a:cs typeface="Times New Roman" panose="02020603050405020304" pitchFamily="18" charset="0"/>
              </a:rPr>
              <a:t>' is niet statistisch significant.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samenhang tussen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 en '</a:t>
            </a:r>
            <a:r>
              <a:rPr lang="nl-NL" dirty="0" err="1">
                <a:latin typeface="Calibri" panose="020F0502020204030204" pitchFamily="34" charset="0"/>
                <a:ea typeface="Calibri" panose="020F0502020204030204" pitchFamily="34" charset="0"/>
                <a:cs typeface="Times New Roman" panose="02020603050405020304" pitchFamily="18" charset="0"/>
              </a:rPr>
              <a:t>Differentiation</a:t>
            </a:r>
            <a:r>
              <a:rPr lang="nl-NL" dirty="0">
                <a:latin typeface="Calibri" panose="020F0502020204030204" pitchFamily="34" charset="0"/>
                <a:ea typeface="Calibri" panose="020F0502020204030204" pitchFamily="34" charset="0"/>
                <a:cs typeface="Times New Roman" panose="02020603050405020304" pitchFamily="18" charset="0"/>
              </a:rPr>
              <a:t>' is niet statistisch </a:t>
            </a:r>
            <a:r>
              <a:rPr lang="nl-NL" dirty="0" err="1">
                <a:latin typeface="Calibri" panose="020F0502020204030204" pitchFamily="34" charset="0"/>
                <a:ea typeface="Calibri" panose="020F0502020204030204" pitchFamily="34" charset="0"/>
                <a:cs typeface="Times New Roman" panose="02020603050405020304" pitchFamily="18" charset="0"/>
              </a:rPr>
              <a:t>signficant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O.b.v. deze analyse kan je concluderen dat de samenhang tussen de percepties over de klaspraktijk hoogstens matig zijn.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Lager scoren op '</a:t>
            </a:r>
            <a:r>
              <a:rPr lang="nl-NL" dirty="0" err="1">
                <a:latin typeface="Calibri" panose="020F0502020204030204" pitchFamily="34" charset="0"/>
                <a:ea typeface="Calibri" panose="020F0502020204030204" pitchFamily="34" charset="0"/>
                <a:cs typeface="Times New Roman" panose="02020603050405020304" pitchFamily="18" charset="0"/>
              </a:rPr>
              <a:t>Equity</a:t>
            </a:r>
            <a:r>
              <a:rPr lang="nl-NL" dirty="0">
                <a:latin typeface="Calibri" panose="020F0502020204030204" pitchFamily="34" charset="0"/>
                <a:ea typeface="Calibri" panose="020F0502020204030204" pitchFamily="34" charset="0"/>
                <a:cs typeface="Times New Roman" panose="02020603050405020304" pitchFamily="18" charset="0"/>
              </a:rPr>
              <a:t>' gaat gepaard met lager scoren op 'Cooperation'.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hthoek 6"/>
          <p:cNvSpPr/>
          <p:nvPr/>
        </p:nvSpPr>
        <p:spPr>
          <a:xfrm>
            <a:off x="517206" y="4786296"/>
            <a:ext cx="9114474" cy="1475404"/>
          </a:xfrm>
          <a:prstGeom prst="rect">
            <a:avLst/>
          </a:prstGeom>
        </p:spPr>
        <p:txBody>
          <a:bodyPr wrap="square">
            <a:spAutoFit/>
          </a:bodyPr>
          <a:lstStyle/>
          <a:p>
            <a:pPr>
              <a:lnSpc>
                <a:spcPct val="107000"/>
              </a:lnSpc>
              <a:spcAft>
                <a:spcPts val="0"/>
              </a:spcAft>
            </a:pPr>
            <a:r>
              <a:rPr lang="en-GB" sz="1400" b="1" dirty="0">
                <a:latin typeface="Courier New" panose="02070309020205020404" pitchFamily="49" charset="0"/>
                <a:ea typeface="Calibri" panose="020F0502020204030204" pitchFamily="34" charset="0"/>
                <a:cs typeface="Times New Roman" panose="02020603050405020304" pitchFamily="18" charset="0"/>
              </a:rPr>
              <a:t>&gt; </a:t>
            </a:r>
            <a:r>
              <a:rPr lang="en-GB" sz="1400" b="1" dirty="0" err="1">
                <a:latin typeface="Courier New" panose="02070309020205020404" pitchFamily="49" charset="0"/>
                <a:ea typeface="Calibri" panose="020F0502020204030204" pitchFamily="34" charset="0"/>
                <a:cs typeface="Times New Roman" panose="02020603050405020304" pitchFamily="18" charset="0"/>
              </a:rPr>
              <a:t>cor.prob</a:t>
            </a:r>
            <a:r>
              <a:rPr lang="en-GB" sz="1400" b="1" dirty="0">
                <a:latin typeface="Courier New" panose="02070309020205020404" pitchFamily="49" charset="0"/>
                <a:ea typeface="Calibri" panose="020F0502020204030204" pitchFamily="34" charset="0"/>
                <a:cs typeface="Times New Roman" panose="02020603050405020304" pitchFamily="18" charset="0"/>
              </a:rPr>
              <a:t>(L)</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sz="1400" dirty="0">
                <a:latin typeface="Courier New" panose="02070309020205020404" pitchFamily="49" charset="0"/>
                <a:ea typeface="Calibri" panose="020F0502020204030204" pitchFamily="34" charset="0"/>
                <a:cs typeface="Times New Roman" panose="02020603050405020304" pitchFamily="18" charset="0"/>
              </a:rPr>
              <a:t>                Involvement      Equity  Cooperation           Differentiation</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400" dirty="0" err="1">
                <a:latin typeface="Courier New" panose="02070309020205020404" pitchFamily="49" charset="0"/>
                <a:ea typeface="Calibri" panose="020F0502020204030204" pitchFamily="34" charset="0"/>
                <a:cs typeface="Times New Roman" panose="02020603050405020304" pitchFamily="18" charset="0"/>
              </a:rPr>
              <a:t>Involvement</a:t>
            </a:r>
            <a:r>
              <a:rPr lang="nl-NL" sz="1400" dirty="0">
                <a:latin typeface="Courier New" panose="02070309020205020404" pitchFamily="49" charset="0"/>
                <a:ea typeface="Calibri" panose="020F0502020204030204" pitchFamily="34" charset="0"/>
                <a:cs typeface="Times New Roman" panose="02020603050405020304" pitchFamily="18" charset="0"/>
              </a:rPr>
              <a:t>       1.0000000   0.00000000   0.0000000  0.0000000000000002220446</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400" dirty="0" err="1">
                <a:latin typeface="Courier New" panose="02070309020205020404" pitchFamily="49" charset="0"/>
                <a:ea typeface="Calibri" panose="020F0502020204030204" pitchFamily="34" charset="0"/>
                <a:cs typeface="Times New Roman" panose="02020603050405020304" pitchFamily="18" charset="0"/>
              </a:rPr>
              <a:t>Equity</a:t>
            </a:r>
            <a:r>
              <a:rPr lang="nl-NL" sz="1400" dirty="0">
                <a:latin typeface="Courier New" panose="02070309020205020404" pitchFamily="49" charset="0"/>
                <a:ea typeface="Calibri" panose="020F0502020204030204" pitchFamily="34" charset="0"/>
                <a:cs typeface="Times New Roman" panose="02020603050405020304" pitchFamily="18" charset="0"/>
              </a:rPr>
              <a:t>            0.4177865   1.00000000   0.0000000  0.4468835398722292850948</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400" dirty="0">
                <a:latin typeface="Courier New" panose="02070309020205020404" pitchFamily="49" charset="0"/>
                <a:ea typeface="Calibri" panose="020F0502020204030204" pitchFamily="34" charset="0"/>
                <a:cs typeface="Times New Roman" panose="02020603050405020304" pitchFamily="18" charset="0"/>
              </a:rPr>
              <a:t>Cooperation       0.4891782   0.45399455   1.0000000  0.0000014308035237720063</a:t>
            </a:r>
            <a:endParaRPr lang="nl-BE"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1400" dirty="0" err="1">
                <a:latin typeface="Courier New" panose="02070309020205020404" pitchFamily="49" charset="0"/>
                <a:ea typeface="Calibri" panose="020F0502020204030204" pitchFamily="34" charset="0"/>
                <a:cs typeface="Times New Roman" panose="02020603050405020304" pitchFamily="18" charset="0"/>
              </a:rPr>
              <a:t>Differentiation</a:t>
            </a:r>
            <a:r>
              <a:rPr lang="nl-NL" sz="1400" dirty="0">
                <a:latin typeface="Courier New" panose="02070309020205020404" pitchFamily="49" charset="0"/>
                <a:ea typeface="Calibri" panose="020F0502020204030204" pitchFamily="34" charset="0"/>
                <a:cs typeface="Times New Roman" panose="02020603050405020304" pitchFamily="18" charset="0"/>
              </a:rPr>
              <a:t>   0.1943862  -0.01821989   0.1150997  1.0000000000000000000000</a:t>
            </a:r>
            <a:endParaRPr lang="nl-B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bwMode="auto">
          <a:xfrm>
            <a:off x="6255544" y="1889237"/>
            <a:ext cx="5685474" cy="575183"/>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58068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36545"/>
            <a:ext cx="10944226" cy="791794"/>
          </a:xfrm>
        </p:spPr>
        <p:txBody>
          <a:bodyPr/>
          <a:lstStyle/>
          <a:p>
            <a:r>
              <a:rPr lang="nl-BE" dirty="0"/>
              <a:t>Vraag 8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27</a:t>
            </a:fld>
            <a:endParaRPr lang="nl-BE" dirty="0"/>
          </a:p>
        </p:txBody>
      </p:sp>
      <p:sp>
        <p:nvSpPr>
          <p:cNvPr id="5" name="Rechthoek 4"/>
          <p:cNvSpPr/>
          <p:nvPr/>
        </p:nvSpPr>
        <p:spPr>
          <a:xfrm>
            <a:off x="538976" y="1509623"/>
            <a:ext cx="11259014" cy="3721596"/>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Hoger scoren op 'Cooperation' gaat in de steekproef samen met hoger scoren op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Involvement</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De correlatie bedraagt 0,49.</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samenhang tussen 'Cooperation' en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Differentiation</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is niet statistisch significant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NIET en is dus FOUT. De p-waarde is lager dan 0,05 (p=0.0000014308035237720063)</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samenhang tussen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en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Differentiation</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is niet statistisch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signficant</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De p-waarde bedraagt 0,45, dus duidelijk hoger dan 0,05</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O.b.v. deze analyse kan je concluderen dat de samenhang tussen de percepties over de klaspraktijk hoogstens matig zijn.</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Alle correlaties bedragen ten hoogste 0,48. Dit verwijst naar een matig effect. Om een correlatie groot te noemen, moet de waarde hoger zijn 0,5.</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Lager scoren op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Equity</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gaat gepaard met lager scoren op 'Cooperation'.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stelling klopt. De correlatie bedraagt 0,45.</a:t>
            </a:r>
          </a:p>
        </p:txBody>
      </p:sp>
    </p:spTree>
    <p:extLst>
      <p:ext uri="{BB962C8B-B14F-4D97-AF65-F5344CB8AC3E}">
        <p14:creationId xmlns:p14="http://schemas.microsoft.com/office/powerpoint/2010/main" val="2740642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9</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28</a:t>
            </a:fld>
            <a:endParaRPr lang="nl-BE" dirty="0"/>
          </a:p>
        </p:txBody>
      </p:sp>
      <p:sp>
        <p:nvSpPr>
          <p:cNvPr id="4" name="Rechthoek 3"/>
          <p:cNvSpPr/>
          <p:nvPr/>
        </p:nvSpPr>
        <p:spPr>
          <a:xfrm>
            <a:off x="517207" y="959478"/>
            <a:ext cx="4830297" cy="5406993"/>
          </a:xfrm>
          <a:prstGeom prst="rect">
            <a:avLst/>
          </a:prstGeom>
        </p:spPr>
        <p:txBody>
          <a:bodyPr wrap="square">
            <a:spAutoFit/>
          </a:bodyPr>
          <a:lstStyle/>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Stefan wil verschillende onderzoeksvragen beantwoorden a.d.h.v. de data die hij verzamelde. In een eerste model (M1) toetst hij zijn eerste onderzoeksvraag: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In welke mate hebben de betrokkenheid van leerlingen (‘</a:t>
            </a:r>
            <a:r>
              <a:rPr lang="nl-NL" sz="2000" dirty="0" err="1">
                <a:latin typeface="Calibri" panose="020F0502020204030204" pitchFamily="34" charset="0"/>
                <a:ea typeface="Calibri" panose="020F0502020204030204" pitchFamily="34" charset="0"/>
                <a:cs typeface="Times New Roman" panose="02020603050405020304" pitchFamily="18" charset="0"/>
              </a:rPr>
              <a:t>InvolvementZ</a:t>
            </a:r>
            <a:r>
              <a:rPr lang="nl-NL" sz="2000" dirty="0">
                <a:latin typeface="Calibri" panose="020F0502020204030204" pitchFamily="34" charset="0"/>
                <a:ea typeface="Calibri" panose="020F0502020204030204" pitchFamily="34" charset="0"/>
                <a:cs typeface="Times New Roman" panose="02020603050405020304" pitchFamily="18" charset="0"/>
              </a:rPr>
              <a:t>’), de mate waarin ze mogen samenwerken (‘</a:t>
            </a:r>
            <a:r>
              <a:rPr lang="nl-NL" sz="20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2000" dirty="0">
                <a:latin typeface="Calibri" panose="020F0502020204030204" pitchFamily="34" charset="0"/>
                <a:ea typeface="Calibri" panose="020F0502020204030204" pitchFamily="34" charset="0"/>
                <a:cs typeface="Times New Roman" panose="02020603050405020304" pitchFamily="18" charset="0"/>
              </a:rPr>
              <a:t>’) en de mate waarin de leerkracht differentieert (‘</a:t>
            </a:r>
            <a:r>
              <a:rPr lang="nl-NL" sz="2000" dirty="0" err="1">
                <a:latin typeface="Calibri" panose="020F0502020204030204" pitchFamily="34" charset="0"/>
                <a:ea typeface="Calibri" panose="020F0502020204030204" pitchFamily="34" charset="0"/>
                <a:cs typeface="Times New Roman" panose="02020603050405020304" pitchFamily="18" charset="0"/>
              </a:rPr>
              <a:t>DifferentiatieZ</a:t>
            </a:r>
            <a:r>
              <a:rPr lang="nl-NL" sz="2000" dirty="0">
                <a:latin typeface="Calibri" panose="020F0502020204030204" pitchFamily="34" charset="0"/>
                <a:ea typeface="Calibri" panose="020F0502020204030204" pitchFamily="34" charset="0"/>
                <a:cs typeface="Times New Roman" panose="02020603050405020304" pitchFamily="18" charset="0"/>
              </a:rPr>
              <a:t>’) een invloed op de wiskundeprestaties (‘ANA.RESULTZ’)?</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r>
              <a:rPr lang="nl-NL" sz="2000" dirty="0">
                <a:latin typeface="Calibri" panose="020F0502020204030204" pitchFamily="34" charset="0"/>
                <a:ea typeface="Calibri" panose="020F0502020204030204" pitchFamily="34" charset="0"/>
                <a:cs typeface="Times New Roman" panose="02020603050405020304" pitchFamily="18" charset="0"/>
              </a:rPr>
              <a:t>Beantwoord deze onderzoeksvraag zo volledig mogelijk en verwijs in je antwoord naar gegevens </a:t>
            </a:r>
            <a:r>
              <a:rPr lang="nl-NL"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uit de output</a:t>
            </a:r>
            <a:r>
              <a:rPr lang="nl-NL" sz="2000" dirty="0">
                <a:latin typeface="Calibri" panose="020F0502020204030204" pitchFamily="34" charset="0"/>
                <a:ea typeface="Calibri" panose="020F0502020204030204" pitchFamily="34" charset="0"/>
                <a:cs typeface="Times New Roman" panose="02020603050405020304" pitchFamily="18" charset="0"/>
              </a:rPr>
              <a:t>. </a:t>
            </a:r>
            <a:br>
              <a:rPr lang="nl-NL" sz="2000" dirty="0">
                <a:latin typeface="Calibri" panose="020F0502020204030204" pitchFamily="34" charset="0"/>
                <a:ea typeface="Calibri" panose="020F0502020204030204" pitchFamily="34" charset="0"/>
                <a:cs typeface="Times New Roman" panose="02020603050405020304" pitchFamily="18" charset="0"/>
              </a:rPr>
            </a:b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hthoek 7"/>
          <p:cNvSpPr/>
          <p:nvPr/>
        </p:nvSpPr>
        <p:spPr>
          <a:xfrm>
            <a:off x="5773054" y="989820"/>
            <a:ext cx="6096000" cy="4154984"/>
          </a:xfrm>
          <a:prstGeom prst="rect">
            <a:avLst/>
          </a:prstGeom>
        </p:spPr>
        <p:txBody>
          <a:bodyPr>
            <a:spAutoFit/>
          </a:bodyPr>
          <a:lstStyle/>
          <a:p>
            <a:pPr>
              <a:spcAft>
                <a:spcPts val="0"/>
              </a:spcAft>
            </a:pPr>
            <a:r>
              <a:rPr lang="en-GB" sz="1200" b="1" dirty="0">
                <a:latin typeface="Courier New" panose="02070309020205020404" pitchFamily="49" charset="0"/>
                <a:ea typeface="MS Mincho"/>
                <a:cs typeface="Times New Roman" panose="02020603050405020304" pitchFamily="18" charset="0"/>
              </a:rPr>
              <a:t>&gt; summary(M1)</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Call:</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lm(formula = ANA.RESULTZ ~ </a:t>
            </a: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data = Data2)</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Min      1Q  Median      3Q     Max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-2.3009 -0.6790 -0.1484  0.5235  3.4815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Coefficients: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Estimate Std. Error t value </a:t>
            </a:r>
            <a:r>
              <a:rPr lang="en-GB" sz="1200" dirty="0" err="1">
                <a:latin typeface="Courier New" panose="02070309020205020404" pitchFamily="49" charset="0"/>
                <a:ea typeface="MS Mincho"/>
                <a:cs typeface="Times New Roman" panose="02020603050405020304" pitchFamily="18" charset="0"/>
              </a:rPr>
              <a:t>Pr</a:t>
            </a:r>
            <a:r>
              <a:rPr lang="en-GB" sz="1200" dirty="0">
                <a:latin typeface="Courier New" panose="02070309020205020404" pitchFamily="49" charset="0"/>
                <a:ea typeface="MS Mincho"/>
                <a:cs typeface="Times New Roman" panose="02020603050405020304" pitchFamily="18" charset="0"/>
              </a:rPr>
              <a:t>(&gt;|t|)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(Intercept)      -0.01687    0.02791  -0.605  0.54554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0.17019    0.03403   5.001 6.55e-07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0.10400    0.03314   3.138  0.00174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-0.16835    0.02767  -6.084 1.57e-09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Signif</a:t>
            </a:r>
            <a:r>
              <a:rPr lang="en-GB" sz="1200" dirty="0">
                <a:latin typeface="Courier New" panose="02070309020205020404" pitchFamily="49" charset="0"/>
                <a:ea typeface="MS Mincho"/>
                <a:cs typeface="Times New Roman" panose="02020603050405020304" pitchFamily="18" charset="0"/>
              </a:rPr>
              <a:t>. codes:  0 ‘***’ 0.001 ‘**’ 0.01 ‘*’ 0.05 ‘.’ 0.1 ‘ ’ 1</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 standard error: 0.9663 on 1210 degrees of freedom</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Multiple R-squared:  0.07101,	Adjusted R-squared:  0.06871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F-statistic: 30.83 on 3 and 1210 DF,  p-value: &lt; 2.2e-16</a:t>
            </a:r>
            <a:endParaRPr lang="nl-BE" sz="1200" dirty="0">
              <a:effectLst/>
              <a:latin typeface="Cambria" panose="02040503050406030204" pitchFamily="18" charset="0"/>
              <a:ea typeface="MS Mincho"/>
              <a:cs typeface="Times New Roman" panose="02020603050405020304" pitchFamily="18" charset="0"/>
            </a:endParaRPr>
          </a:p>
        </p:txBody>
      </p:sp>
    </p:spTree>
    <p:extLst>
      <p:ext uri="{BB962C8B-B14F-4D97-AF65-F5344CB8AC3E}">
        <p14:creationId xmlns:p14="http://schemas.microsoft.com/office/powerpoint/2010/main" val="3112305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9 – oplossing – </a:t>
            </a:r>
            <a:r>
              <a:rPr lang="nl-BE" dirty="0">
                <a:solidFill>
                  <a:srgbClr val="00B050"/>
                </a:solidFill>
              </a:rPr>
              <a:t>te verdienen deelscores</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29</a:t>
            </a:fld>
            <a:endParaRPr lang="nl-BE" dirty="0"/>
          </a:p>
        </p:txBody>
      </p:sp>
      <p:sp>
        <p:nvSpPr>
          <p:cNvPr id="5" name="Rechthoek 4"/>
          <p:cNvSpPr/>
          <p:nvPr/>
        </p:nvSpPr>
        <p:spPr>
          <a:xfrm>
            <a:off x="623887" y="1151559"/>
            <a:ext cx="9835957" cy="5385898"/>
          </a:xfrm>
          <a:prstGeom prst="rect">
            <a:avLst/>
          </a:prstGeom>
        </p:spPr>
        <p:txBody>
          <a:bodyPr wrap="square">
            <a:spAutoFit/>
          </a:bodyPr>
          <a:lstStyle/>
          <a:p>
            <a:pPr marL="342900" lvl="0" indent="-342900">
              <a:lnSpc>
                <a:spcPct val="115000"/>
              </a:lnSpc>
              <a:spcAft>
                <a:spcPts val="0"/>
              </a:spcAft>
              <a:buFont typeface="Symbol" panose="05050102010706020507" pitchFamily="18" charset="2"/>
              <a:buChar char=""/>
            </a:pPr>
            <a:r>
              <a:rPr lang="nl-BE" sz="1500" dirty="0">
                <a:latin typeface="Calibri" panose="020F0502020204030204" pitchFamily="34" charset="0"/>
                <a:ea typeface="Calibri" panose="020F0502020204030204" pitchFamily="34" charset="0"/>
                <a:cs typeface="Times New Roman" panose="02020603050405020304" pitchFamily="18" charset="0"/>
              </a:rPr>
              <a:t>Uit de </a:t>
            </a:r>
            <a:r>
              <a:rPr lang="nl-BE" sz="1500" dirty="0" err="1">
                <a:latin typeface="Calibri" panose="020F0502020204030204" pitchFamily="34" charset="0"/>
                <a:ea typeface="Calibri" panose="020F0502020204030204" pitchFamily="34" charset="0"/>
                <a:cs typeface="Times New Roman" panose="02020603050405020304" pitchFamily="18" charset="0"/>
              </a:rPr>
              <a:t>Adjusted</a:t>
            </a:r>
            <a:r>
              <a:rPr lang="nl-BE" sz="1500" dirty="0">
                <a:latin typeface="Calibri" panose="020F0502020204030204" pitchFamily="34" charset="0"/>
                <a:ea typeface="Calibri" panose="020F0502020204030204" pitchFamily="34" charset="0"/>
                <a:cs typeface="Times New Roman" panose="02020603050405020304" pitchFamily="18" charset="0"/>
              </a:rPr>
              <a:t> R² (</a:t>
            </a:r>
            <a:r>
              <a:rPr lang="nl-BE"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0,06871</a:t>
            </a:r>
            <a:r>
              <a:rPr lang="nl-BE" sz="1500" dirty="0">
                <a:latin typeface="Calibri" panose="020F0502020204030204" pitchFamily="34" charset="0"/>
                <a:ea typeface="Calibri" panose="020F0502020204030204" pitchFamily="34" charset="0"/>
                <a:cs typeface="Times New Roman" panose="02020603050405020304" pitchFamily="18" charset="0"/>
              </a:rPr>
              <a:t>) blijkt dat </a:t>
            </a:r>
            <a:r>
              <a:rPr lang="nl-BE" sz="1500" i="1" dirty="0">
                <a:latin typeface="Calibri" panose="020F0502020204030204" pitchFamily="34" charset="0"/>
                <a:ea typeface="Calibri" panose="020F0502020204030204" pitchFamily="34" charset="0"/>
                <a:cs typeface="Times New Roman" panose="02020603050405020304" pitchFamily="18" charset="0"/>
              </a:rPr>
              <a:t>in de steekproef</a:t>
            </a:r>
            <a:r>
              <a:rPr lang="nl-BE" sz="1500" dirty="0">
                <a:latin typeface="Calibri" panose="020F0502020204030204" pitchFamily="34" charset="0"/>
                <a:ea typeface="Calibri" panose="020F0502020204030204" pitchFamily="34" charset="0"/>
                <a:cs typeface="Times New Roman" panose="02020603050405020304" pitchFamily="18" charset="0"/>
              </a:rPr>
              <a:t> 6,87% van de variantie in ‘ANA.RESULTZ’ te verklaren is door de onafhankelijke variabelen in het model (‘</a:t>
            </a:r>
            <a:r>
              <a:rPr lang="nl-BE"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BE"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BE" sz="1500" dirty="0">
                <a:latin typeface="Calibri" panose="020F0502020204030204" pitchFamily="34" charset="0"/>
                <a:ea typeface="Calibri" panose="020F0502020204030204" pitchFamily="34" charset="0"/>
                <a:cs typeface="Times New Roman" panose="02020603050405020304" pitchFamily="18" charset="0"/>
              </a:rPr>
              <a:t>’ en ‘</a:t>
            </a:r>
            <a:r>
              <a:rPr lang="nl-BE"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BE"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(1p)</a:t>
            </a:r>
            <a:r>
              <a:rPr lang="nl-BE" sz="1500" dirty="0">
                <a:latin typeface="Calibri" panose="020F0502020204030204" pitchFamily="34" charset="0"/>
                <a:ea typeface="Calibri" panose="020F0502020204030204" pitchFamily="34" charset="0"/>
                <a:cs typeface="Times New Roman" panose="02020603050405020304" pitchFamily="18" charset="0"/>
              </a:rPr>
              <a:t>. Dit is een medium effect </a:t>
            </a:r>
            <a:r>
              <a:rPr lang="nl-BE"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(0,5p)</a:t>
            </a:r>
            <a:r>
              <a:rPr lang="nl-BE" sz="1500" dirty="0">
                <a:latin typeface="Calibri" panose="020F0502020204030204" pitchFamily="34" charset="0"/>
                <a:ea typeface="Calibri" panose="020F0502020204030204" pitchFamily="34" charset="0"/>
                <a:cs typeface="Times New Roman" panose="02020603050405020304" pitchFamily="18" charset="0"/>
              </a:rPr>
              <a:t>.  We verwachten ook dat in de populatie dit model een deel van de variantie in ‘ANA.RESULTZ’ zal verklaren (</a:t>
            </a:r>
            <a:r>
              <a:rPr lang="nl-BE"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p&lt;0.05 </a:t>
            </a:r>
            <a:r>
              <a:rPr lang="nl-BE" sz="1500" dirty="0">
                <a:latin typeface="Calibri" panose="020F0502020204030204" pitchFamily="34" charset="0"/>
                <a:ea typeface="Calibri" panose="020F0502020204030204" pitchFamily="34" charset="0"/>
                <a:cs typeface="Times New Roman" panose="02020603050405020304" pitchFamily="18" charset="0"/>
              </a:rPr>
              <a:t>voor het model) (</a:t>
            </a:r>
            <a:r>
              <a:rPr lang="nl-BE"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0,5p</a:t>
            </a:r>
            <a:r>
              <a:rPr lang="nl-BE" sz="15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Het </a:t>
            </a:r>
            <a:r>
              <a:rPr lang="nl-NL" sz="1500" dirty="0" err="1">
                <a:latin typeface="Calibri" panose="020F0502020204030204" pitchFamily="34" charset="0"/>
                <a:ea typeface="Calibri" panose="020F0502020204030204" pitchFamily="34" charset="0"/>
                <a:cs typeface="Times New Roman" panose="02020603050405020304" pitchFamily="18" charset="0"/>
              </a:rPr>
              <a:t>intercept</a:t>
            </a:r>
            <a:r>
              <a:rPr lang="nl-NL" sz="1500" dirty="0">
                <a:latin typeface="Calibri" panose="020F0502020204030204" pitchFamily="34" charset="0"/>
                <a:ea typeface="Calibri" panose="020F0502020204030204" pitchFamily="34" charset="0"/>
                <a:cs typeface="Times New Roman" panose="02020603050405020304" pitchFamily="18" charset="0"/>
              </a:rPr>
              <a:t> bedraagt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-0,01687</a:t>
            </a:r>
            <a:r>
              <a:rPr lang="nl-NL" sz="1500" dirty="0">
                <a:latin typeface="Calibri" panose="020F0502020204030204" pitchFamily="34" charset="0"/>
                <a:ea typeface="Calibri" panose="020F0502020204030204" pitchFamily="34" charset="0"/>
                <a:cs typeface="Times New Roman" panose="02020603050405020304" pitchFamily="18" charset="0"/>
              </a:rPr>
              <a:t>. Wanneer er sprake is van een gemiddelde score op ‘</a:t>
            </a:r>
            <a:r>
              <a:rPr lang="nl-NL"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 </a:t>
            </a:r>
            <a:r>
              <a:rPr lang="nl-NL" sz="1500" dirty="0">
                <a:latin typeface="Calibri" panose="020F0502020204030204" pitchFamily="34" charset="0"/>
                <a:ea typeface="Calibri" panose="020F0502020204030204" pitchFamily="34" charset="0"/>
                <a:cs typeface="Times New Roman" panose="02020603050405020304" pitchFamily="18" charset="0"/>
              </a:rPr>
              <a:t>scoren leerlingen 0.02 standaardafwijkingen onder het gemiddelde op ‘ANA.RESULTZ’ in de steekproef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r>
              <a:rPr lang="nl-NL" sz="1500" dirty="0">
                <a:latin typeface="Calibri" panose="020F0502020204030204" pitchFamily="34" charset="0"/>
                <a:ea typeface="Calibri" panose="020F0502020204030204" pitchFamily="34" charset="0"/>
                <a:cs typeface="Times New Roman" panose="02020603050405020304" pitchFamily="18" charset="0"/>
              </a:rPr>
              <a:t>. Deze bevinding kunnen we niet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p&gt;0.05</a:t>
            </a:r>
            <a:r>
              <a:rPr lang="nl-NL" sz="1500" dirty="0">
                <a:latin typeface="Calibri" panose="020F0502020204030204" pitchFamily="34" charset="0"/>
                <a:ea typeface="Calibri" panose="020F0502020204030204" pitchFamily="34" charset="0"/>
                <a:cs typeface="Times New Roman" panose="02020603050405020304" pitchFamily="18" charset="0"/>
              </a:rPr>
              <a:t>)(</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 </a:t>
            </a:r>
            <a:r>
              <a:rPr lang="nl-NL" sz="1500" dirty="0">
                <a:latin typeface="Calibri" panose="020F0502020204030204" pitchFamily="34" charset="0"/>
                <a:ea typeface="Calibri" panose="020F0502020204030204" pitchFamily="34" charset="0"/>
                <a:cs typeface="Times New Roman" panose="02020603050405020304" pitchFamily="18" charset="0"/>
              </a:rPr>
              <a:t>In de populatie verwachten we dat wanneer er sprake is van een gemiddelde score op ‘</a:t>
            </a:r>
            <a:r>
              <a:rPr lang="nl-NL"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NL" sz="1500" dirty="0">
                <a:latin typeface="Calibri" panose="020F0502020204030204" pitchFamily="34" charset="0"/>
                <a:ea typeface="Calibri" panose="020F0502020204030204" pitchFamily="34" charset="0"/>
                <a:cs typeface="Times New Roman" panose="02020603050405020304" pitchFamily="18" charset="0"/>
              </a:rPr>
              <a:t>’, leerlingen gemiddeld scoren op ‘ANA.RESULTZ’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(1p)</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nl-BE" sz="1500" dirty="0">
                <a:latin typeface="Calibri" panose="020F0502020204030204" pitchFamily="34" charset="0"/>
                <a:ea typeface="Calibri" panose="020F0502020204030204" pitchFamily="34" charset="0"/>
                <a:cs typeface="Times New Roman" panose="02020603050405020304" pitchFamily="18" charset="0"/>
              </a:rPr>
              <a:t>'</a:t>
            </a:r>
            <a:r>
              <a:rPr lang="nl-BE"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NL"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hebben beide een </a:t>
            </a:r>
            <a:r>
              <a:rPr lang="nl-NL" sz="1500" i="1" dirty="0">
                <a:latin typeface="Calibri" panose="020F0502020204030204" pitchFamily="34" charset="0"/>
                <a:ea typeface="Calibri" panose="020F0502020204030204" pitchFamily="34" charset="0"/>
                <a:cs typeface="Times New Roman" panose="02020603050405020304" pitchFamily="18" charset="0"/>
              </a:rPr>
              <a:t>positief effect</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 </a:t>
            </a:r>
            <a:r>
              <a:rPr lang="nl-NL" sz="1500" dirty="0">
                <a:latin typeface="Calibri" panose="020F0502020204030204" pitchFamily="34" charset="0"/>
                <a:ea typeface="Calibri" panose="020F0502020204030204" pitchFamily="34" charset="0"/>
                <a:cs typeface="Times New Roman" panose="02020603050405020304" pitchFamily="18" charset="0"/>
              </a:rPr>
              <a:t>op ' ANA.RESULTZ'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(0.5p)</a:t>
            </a:r>
            <a:r>
              <a:rPr lang="nl-NL" sz="1500" dirty="0">
                <a:latin typeface="Calibri" panose="020F0502020204030204" pitchFamily="34" charset="0"/>
                <a:ea typeface="Calibri" panose="020F0502020204030204" pitchFamily="34" charset="0"/>
                <a:cs typeface="Times New Roman" panose="02020603050405020304" pitchFamily="18" charset="0"/>
              </a:rPr>
              <a:t>. </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0"/>
              </a:spcAft>
              <a:buFont typeface="Courier New" panose="02070309020205020404" pitchFamily="49" charset="0"/>
              <a:buChar char="o"/>
            </a:pPr>
            <a:r>
              <a:rPr lang="nl-NL" sz="1500" dirty="0">
                <a:latin typeface="Calibri" panose="020F0502020204030204" pitchFamily="34" charset="0"/>
                <a:ea typeface="Calibri" panose="020F0502020204030204" pitchFamily="34" charset="0"/>
                <a:cs typeface="Times New Roman" panose="02020603050405020304" pitchFamily="18" charset="0"/>
              </a:rPr>
              <a:t>1 standaardafwijking hoger scoren voor '</a:t>
            </a:r>
            <a:r>
              <a:rPr lang="nl-BE"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latin typeface="Calibri" panose="020F0502020204030204" pitchFamily="34" charset="0"/>
                <a:ea typeface="Calibri" panose="020F0502020204030204" pitchFamily="34" charset="0"/>
                <a:cs typeface="Times New Roman" panose="02020603050405020304" pitchFamily="18" charset="0"/>
              </a:rPr>
              <a:t>leidt tot 0.17 standaardafwijkingen hoger scoren voor 'ANA.RESULTZ' in de steekproef ongeacht de score voor </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BE"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latin typeface="Calibri" panose="020F0502020204030204" pitchFamily="34" charset="0"/>
                <a:ea typeface="Calibri" panose="020F0502020204030204" pitchFamily="34" charset="0"/>
                <a:cs typeface="Times New Roman" panose="02020603050405020304" pitchFamily="18" charset="0"/>
              </a:rPr>
              <a:t>(</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b=0,17019</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(1,25p). </a:t>
            </a:r>
            <a:r>
              <a:rPr lang="nl-NL" sz="1500" dirty="0">
                <a:latin typeface="Calibri" panose="020F0502020204030204" pitchFamily="34" charset="0"/>
                <a:ea typeface="Calibri" panose="020F0502020204030204" pitchFamily="34" charset="0"/>
                <a:cs typeface="Times New Roman" panose="02020603050405020304" pitchFamily="18" charset="0"/>
              </a:rPr>
              <a:t>We kunnen deze bevinding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 &lt; 0.05</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a:t>
            </a:r>
            <a:r>
              <a:rPr lang="nl-NL" sz="1500" dirty="0">
                <a:latin typeface="Calibri" panose="020F0502020204030204" pitchFamily="34" charset="0"/>
                <a:ea typeface="Calibri" panose="020F0502020204030204" pitchFamily="34" charset="0"/>
                <a:cs typeface="Times New Roman" panose="02020603050405020304" pitchFamily="18" charset="0"/>
              </a:rPr>
              <a:t>.</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0"/>
              </a:spcAft>
              <a:buFont typeface="Courier New" panose="02070309020205020404" pitchFamily="49" charset="0"/>
              <a:buChar char="o"/>
            </a:pPr>
            <a:r>
              <a:rPr lang="nl-NL" sz="1500" dirty="0">
                <a:latin typeface="Calibri" panose="020F0502020204030204" pitchFamily="34" charset="0"/>
                <a:ea typeface="Calibri" panose="020F0502020204030204" pitchFamily="34" charset="0"/>
                <a:cs typeface="Times New Roman" panose="02020603050405020304" pitchFamily="18" charset="0"/>
              </a:rPr>
              <a:t>1 standaardafwijking hoger scoren voor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leidt tot 0.10 standaardafwijkingen hoger scoren voor 'ANA.RESULTZ '</a:t>
            </a:r>
            <a:r>
              <a:rPr lang="nl-NL" sz="15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nl-NL" sz="1500" dirty="0">
                <a:latin typeface="Calibri" panose="020F0502020204030204" pitchFamily="34" charset="0"/>
                <a:ea typeface="Calibri" panose="020F0502020204030204" pitchFamily="34" charset="0"/>
                <a:cs typeface="Times New Roman" panose="02020603050405020304" pitchFamily="18" charset="0"/>
              </a:rPr>
              <a:t>in de steekproef ongeacht de score voor </a:t>
            </a:r>
            <a:r>
              <a:rPr lang="nl-BE" sz="1500" dirty="0">
                <a:latin typeface="Calibri" panose="020F0502020204030204" pitchFamily="34" charset="0"/>
                <a:ea typeface="Calibri" panose="020F0502020204030204" pitchFamily="34" charset="0"/>
                <a:cs typeface="Times New Roman" panose="02020603050405020304" pitchFamily="18" charset="0"/>
              </a:rPr>
              <a:t>'</a:t>
            </a:r>
            <a:r>
              <a:rPr lang="nl-BE"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BE"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BE"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latin typeface="Calibri" panose="020F0502020204030204" pitchFamily="34" charset="0"/>
                <a:ea typeface="Calibri" panose="020F0502020204030204" pitchFamily="34" charset="0"/>
                <a:cs typeface="Times New Roman" panose="02020603050405020304" pitchFamily="18" charset="0"/>
              </a:rPr>
              <a:t>(</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b=-0,10400</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(1,25p). </a:t>
            </a:r>
            <a:r>
              <a:rPr lang="nl-NL" sz="1500" dirty="0">
                <a:latin typeface="Calibri" panose="020F0502020204030204" pitchFamily="34" charset="0"/>
                <a:ea typeface="Calibri" panose="020F0502020204030204" pitchFamily="34" charset="0"/>
                <a:cs typeface="Times New Roman" panose="02020603050405020304" pitchFamily="18" charset="0"/>
              </a:rPr>
              <a:t>We kunnen deze bevinding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 &lt; 0.05</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a:t>
            </a:r>
            <a:r>
              <a:rPr lang="nl-NL" sz="1500" dirty="0">
                <a:latin typeface="Calibri" panose="020F0502020204030204" pitchFamily="34" charset="0"/>
                <a:ea typeface="Calibri" panose="020F0502020204030204" pitchFamily="34" charset="0"/>
                <a:cs typeface="Times New Roman" panose="02020603050405020304" pitchFamily="18" charset="0"/>
              </a:rPr>
              <a:t>.</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NL" sz="1500" dirty="0">
                <a:latin typeface="Calibri" panose="020F0502020204030204" pitchFamily="34" charset="0"/>
                <a:ea typeface="Calibri" panose="020F0502020204030204" pitchFamily="34" charset="0"/>
                <a:cs typeface="Times New Roman" panose="02020603050405020304" pitchFamily="18" charset="0"/>
              </a:rPr>
              <a:t>' heeft een </a:t>
            </a:r>
            <a:r>
              <a:rPr lang="nl-NL" sz="1500" i="1" dirty="0">
                <a:latin typeface="Calibri" panose="020F0502020204030204" pitchFamily="34" charset="0"/>
                <a:ea typeface="Calibri" panose="020F0502020204030204" pitchFamily="34" charset="0"/>
                <a:cs typeface="Times New Roman" panose="02020603050405020304" pitchFamily="18" charset="0"/>
              </a:rPr>
              <a:t>negatief effect</a:t>
            </a:r>
            <a:r>
              <a:rPr lang="nl-NL" sz="1500" dirty="0">
                <a:latin typeface="Calibri" panose="020F0502020204030204" pitchFamily="34" charset="0"/>
                <a:ea typeface="Calibri" panose="020F0502020204030204" pitchFamily="34" charset="0"/>
                <a:cs typeface="Times New Roman" panose="02020603050405020304" pitchFamily="18" charset="0"/>
              </a:rPr>
              <a:t> op 'ANA.RESULTZ'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 </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0"/>
              </a:spcAft>
              <a:buFont typeface="Courier New" panose="02070309020205020404" pitchFamily="49" charset="0"/>
              <a:buChar char="o"/>
            </a:pPr>
            <a:r>
              <a:rPr lang="nl-NL" sz="1500" dirty="0">
                <a:latin typeface="Calibri" panose="020F0502020204030204" pitchFamily="34" charset="0"/>
                <a:ea typeface="Calibri" panose="020F0502020204030204" pitchFamily="34" charset="0"/>
                <a:cs typeface="Times New Roman" panose="02020603050405020304" pitchFamily="18" charset="0"/>
              </a:rPr>
              <a:t>1 standaardafwijking hoger scoren voor '</a:t>
            </a:r>
            <a:r>
              <a:rPr lang="nl-NL" sz="1500" dirty="0" err="1">
                <a:latin typeface="Calibri" panose="020F0502020204030204" pitchFamily="34" charset="0"/>
                <a:ea typeface="Calibri" panose="020F0502020204030204" pitchFamily="34" charset="0"/>
                <a:cs typeface="Times New Roman" panose="02020603050405020304" pitchFamily="18" charset="0"/>
              </a:rPr>
              <a:t>DifferentationZ</a:t>
            </a:r>
            <a:r>
              <a:rPr lang="nl-NL" sz="1500" dirty="0">
                <a:latin typeface="Calibri" panose="020F0502020204030204" pitchFamily="34" charset="0"/>
                <a:ea typeface="Calibri" panose="020F0502020204030204" pitchFamily="34" charset="0"/>
                <a:cs typeface="Times New Roman" panose="02020603050405020304" pitchFamily="18" charset="0"/>
              </a:rPr>
              <a:t>' leidt tot 0.17 standaardafwijkingen lager scoren voor 'ANA.RESULTZ' in de steekproef ongeacht de score voor </a:t>
            </a:r>
            <a:r>
              <a:rPr lang="nl-BE" sz="1500" dirty="0">
                <a:latin typeface="Calibri" panose="020F0502020204030204" pitchFamily="34" charset="0"/>
                <a:ea typeface="Calibri" panose="020F0502020204030204" pitchFamily="34" charset="0"/>
                <a:cs typeface="Times New Roman" panose="02020603050405020304" pitchFamily="18" charset="0"/>
              </a:rPr>
              <a:t>'</a:t>
            </a:r>
            <a:r>
              <a:rPr lang="nl-BE" sz="1500" dirty="0" err="1">
                <a:latin typeface="Calibri" panose="020F0502020204030204" pitchFamily="34" charset="0"/>
                <a:ea typeface="Calibri" panose="020F0502020204030204" pitchFamily="34" charset="0"/>
                <a:cs typeface="Times New Roman" panose="02020603050405020304" pitchFamily="18" charset="0"/>
              </a:rPr>
              <a:t>InvolvementZ</a:t>
            </a:r>
            <a:r>
              <a:rPr lang="nl-NL" sz="1500" dirty="0">
                <a:latin typeface="Calibri" panose="020F0502020204030204" pitchFamily="34" charset="0"/>
                <a:ea typeface="Calibri" panose="020F0502020204030204" pitchFamily="34" charset="0"/>
                <a:cs typeface="Times New Roman" panose="02020603050405020304" pitchFamily="18" charset="0"/>
              </a:rPr>
              <a:t>'  en '</a:t>
            </a:r>
            <a:r>
              <a:rPr lang="nl-NL" sz="1500" dirty="0" err="1">
                <a:latin typeface="Calibri" panose="020F0502020204030204" pitchFamily="34" charset="0"/>
                <a:ea typeface="Calibri" panose="020F0502020204030204" pitchFamily="34" charset="0"/>
                <a:cs typeface="Times New Roman" panose="02020603050405020304" pitchFamily="18" charset="0"/>
              </a:rPr>
              <a:t>CooperationZ</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 = -0,16835</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(1,25p). </a:t>
            </a:r>
            <a:r>
              <a:rPr lang="nl-NL" sz="1500" dirty="0">
                <a:latin typeface="Calibri" panose="020F0502020204030204" pitchFamily="34" charset="0"/>
                <a:ea typeface="Calibri" panose="020F0502020204030204" pitchFamily="34" charset="0"/>
                <a:cs typeface="Times New Roman" panose="02020603050405020304" pitchFamily="18" charset="0"/>
              </a:rPr>
              <a:t>We kunnen deze bevinding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 &lt; 0.05</a:t>
            </a:r>
            <a:r>
              <a:rPr lang="nl-NL" sz="1500" dirty="0">
                <a:latin typeface="Calibri" panose="020F0502020204030204" pitchFamily="34" charset="0"/>
                <a:ea typeface="Calibri" panose="020F0502020204030204" pitchFamily="34" charset="0"/>
                <a:cs typeface="Times New Roman" panose="02020603050405020304" pitchFamily="18" charset="0"/>
              </a:rPr>
              <a:t>) </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a:t>
            </a:r>
            <a:r>
              <a:rPr lang="nl-NL" sz="1500" dirty="0">
                <a:latin typeface="Calibri" panose="020F0502020204030204" pitchFamily="34" charset="0"/>
                <a:ea typeface="Calibri" panose="020F0502020204030204" pitchFamily="34" charset="0"/>
                <a:cs typeface="Times New Roman" panose="02020603050405020304" pitchFamily="18" charset="0"/>
              </a:rPr>
              <a:t>.</a:t>
            </a:r>
            <a:endParaRPr lang="nl-BE" sz="15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6656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10</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30</a:t>
            </a:fld>
            <a:endParaRPr lang="nl-BE" dirty="0"/>
          </a:p>
        </p:txBody>
      </p:sp>
      <p:sp>
        <p:nvSpPr>
          <p:cNvPr id="4" name="Rechthoek 3"/>
          <p:cNvSpPr/>
          <p:nvPr/>
        </p:nvSpPr>
        <p:spPr>
          <a:xfrm>
            <a:off x="193116" y="959478"/>
            <a:ext cx="5316434" cy="5163850"/>
          </a:xfrm>
          <a:prstGeom prst="rect">
            <a:avLst/>
          </a:prstGeom>
        </p:spPr>
        <p:txBody>
          <a:bodyPr wrap="square">
            <a:spAutoFit/>
          </a:bodyPr>
          <a:lstStyle/>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Vervolgens toetst Stefan een tweede model. Model 2 (M2) bouwt verder op model 1 (M1) en voegt de volgende onafhankelijke variabelen toe: ‘</a:t>
            </a:r>
            <a:r>
              <a:rPr lang="nl-NL" sz="2000" dirty="0" err="1">
                <a:latin typeface="Calibri" panose="020F0502020204030204" pitchFamily="34" charset="0"/>
                <a:ea typeface="Calibri" panose="020F0502020204030204" pitchFamily="34" charset="0"/>
                <a:cs typeface="Times New Roman" panose="02020603050405020304" pitchFamily="18" charset="0"/>
              </a:rPr>
              <a:t>GirlD</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InterestZ</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Pass.Wis.Maybe</a:t>
            </a:r>
            <a:r>
              <a:rPr lang="nl-NL" sz="2000" dirty="0">
                <a:latin typeface="Calibri" panose="020F0502020204030204" pitchFamily="34" charset="0"/>
                <a:ea typeface="Calibri" panose="020F0502020204030204" pitchFamily="34" charset="0"/>
                <a:cs typeface="Times New Roman" panose="02020603050405020304" pitchFamily="18" charset="0"/>
              </a:rPr>
              <a:t>’ en ‘</a:t>
            </a:r>
            <a:r>
              <a:rPr lang="nl-NL" sz="2000" dirty="0" err="1">
                <a:latin typeface="Calibri" panose="020F0502020204030204" pitchFamily="34" charset="0"/>
                <a:ea typeface="Calibri" panose="020F0502020204030204" pitchFamily="34" charset="0"/>
                <a:cs typeface="Times New Roman" panose="02020603050405020304" pitchFamily="18" charset="0"/>
              </a:rPr>
              <a:t>Pass.Wis.Certain</a:t>
            </a:r>
            <a:r>
              <a:rPr lang="nl-NL" sz="2000"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Het is de eerste keer dat Stefan met dummyvariabelen werkt. Hij vraagt zich af hoe hij het effect van ‘</a:t>
            </a:r>
            <a:r>
              <a:rPr lang="nl-NL" sz="2000" dirty="0" err="1">
                <a:latin typeface="Calibri" panose="020F0502020204030204" pitchFamily="34" charset="0"/>
                <a:ea typeface="Calibri" panose="020F0502020204030204" pitchFamily="34" charset="0"/>
                <a:cs typeface="Times New Roman" panose="02020603050405020304" pitchFamily="18" charset="0"/>
              </a:rPr>
              <a:t>Pass.Wis.Maybe</a:t>
            </a:r>
            <a:r>
              <a:rPr lang="nl-NL" sz="2000" dirty="0">
                <a:latin typeface="Calibri" panose="020F0502020204030204" pitchFamily="34" charset="0"/>
                <a:ea typeface="Calibri" panose="020F0502020204030204" pitchFamily="34" charset="0"/>
                <a:cs typeface="Times New Roman" panose="02020603050405020304" pitchFamily="18" charset="0"/>
              </a:rPr>
              <a:t>’ en ‘</a:t>
            </a:r>
            <a:r>
              <a:rPr lang="nl-NL" sz="2000" dirty="0" err="1">
                <a:latin typeface="Calibri" panose="020F0502020204030204" pitchFamily="34" charset="0"/>
                <a:ea typeface="Calibri" panose="020F0502020204030204" pitchFamily="34" charset="0"/>
                <a:cs typeface="Times New Roman" panose="02020603050405020304" pitchFamily="18" charset="0"/>
              </a:rPr>
              <a:t>Pass.Wis.Certain</a:t>
            </a:r>
            <a:r>
              <a:rPr lang="nl-NL" sz="2000" dirty="0">
                <a:latin typeface="Calibri" panose="020F0502020204030204" pitchFamily="34" charset="0"/>
                <a:ea typeface="Calibri" panose="020F0502020204030204" pitchFamily="34" charset="0"/>
                <a:cs typeface="Times New Roman" panose="02020603050405020304" pitchFamily="18" charset="0"/>
              </a:rPr>
              <a:t>’ moet interpreteren.</a:t>
            </a:r>
          </a:p>
          <a:p>
            <a:pPr>
              <a:lnSpc>
                <a:spcPct val="107000"/>
              </a:lnSpc>
              <a:spcAft>
                <a:spcPts val="0"/>
              </a:spcAft>
            </a:pPr>
            <a:endParaRPr lang="nl-NL"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NL" sz="2000" dirty="0">
                <a:latin typeface="Calibri" panose="020F0502020204030204" pitchFamily="34" charset="0"/>
                <a:ea typeface="Calibri" panose="020F0502020204030204" pitchFamily="34" charset="0"/>
                <a:cs typeface="Times New Roman" panose="02020603050405020304" pitchFamily="18" charset="0"/>
              </a:rPr>
              <a:t>Help Stefan bij de interpretatie van beide variabelen ('</a:t>
            </a:r>
            <a:r>
              <a:rPr lang="nl-NL" sz="2000" dirty="0" err="1">
                <a:latin typeface="Calibri" panose="020F0502020204030204" pitchFamily="34" charset="0"/>
                <a:ea typeface="Calibri" panose="020F0502020204030204" pitchFamily="34" charset="0"/>
                <a:cs typeface="Times New Roman" panose="02020603050405020304" pitchFamily="18" charset="0"/>
              </a:rPr>
              <a:t>Pass.Wis.Maybe</a:t>
            </a:r>
            <a:r>
              <a:rPr lang="nl-NL" sz="2000" dirty="0">
                <a:latin typeface="Calibri" panose="020F0502020204030204" pitchFamily="34" charset="0"/>
                <a:ea typeface="Calibri" panose="020F0502020204030204" pitchFamily="34" charset="0"/>
                <a:cs typeface="Times New Roman" panose="02020603050405020304" pitchFamily="18" charset="0"/>
              </a:rPr>
              <a:t>', '</a:t>
            </a:r>
            <a:r>
              <a:rPr lang="nl-NL" sz="2000" dirty="0" err="1">
                <a:latin typeface="Calibri" panose="020F0502020204030204" pitchFamily="34" charset="0"/>
                <a:ea typeface="Calibri" panose="020F0502020204030204" pitchFamily="34" charset="0"/>
                <a:cs typeface="Times New Roman" panose="02020603050405020304" pitchFamily="18" charset="0"/>
              </a:rPr>
              <a:t>Pass.Wis.Certain</a:t>
            </a:r>
            <a:r>
              <a:rPr lang="nl-NL" sz="2000" dirty="0">
                <a:latin typeface="Calibri" panose="020F0502020204030204" pitchFamily="34" charset="0"/>
                <a:ea typeface="Calibri" panose="020F0502020204030204" pitchFamily="34" charset="0"/>
                <a:cs typeface="Times New Roman" panose="02020603050405020304" pitchFamily="18" charset="0"/>
              </a:rPr>
              <a:t>'). Verwijs in je antwoord naar de gegevens </a:t>
            </a:r>
            <a:r>
              <a:rPr lang="nl-NL"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uit de output</a:t>
            </a:r>
            <a:r>
              <a:rPr lang="nl-NL" sz="20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5" name="Rechthoek 4"/>
          <p:cNvSpPr/>
          <p:nvPr/>
        </p:nvSpPr>
        <p:spPr>
          <a:xfrm>
            <a:off x="5690298" y="974640"/>
            <a:ext cx="6096000" cy="5262979"/>
          </a:xfrm>
          <a:prstGeom prst="rect">
            <a:avLst/>
          </a:prstGeom>
        </p:spPr>
        <p:txBody>
          <a:bodyPr>
            <a:spAutoFit/>
          </a:bodyPr>
          <a:lstStyle/>
          <a:p>
            <a:pPr>
              <a:spcAft>
                <a:spcPts val="0"/>
              </a:spcAft>
            </a:pPr>
            <a:r>
              <a:rPr lang="en-GB" sz="1200" b="1" dirty="0">
                <a:latin typeface="Courier New" panose="02070309020205020404" pitchFamily="49" charset="0"/>
                <a:ea typeface="MS Mincho"/>
                <a:cs typeface="Times New Roman" panose="02020603050405020304" pitchFamily="18" charset="0"/>
              </a:rPr>
              <a:t>&gt; summary(M2)</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Call:</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lm(formula = ANA.RESULTZ ~ </a:t>
            </a:r>
            <a:r>
              <a:rPr lang="en-GB" sz="1200" dirty="0" err="1">
                <a:latin typeface="Courier New" panose="02070309020205020404" pitchFamily="49" charset="0"/>
                <a:ea typeface="MS Mincho"/>
                <a:cs typeface="Times New Roman" panose="02020603050405020304" pitchFamily="18" charset="0"/>
              </a:rPr>
              <a:t>GirlD</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InterestZ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Personal_RelevanceZ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Pass.Wis.Maybe</a:t>
            </a:r>
            <a:r>
              <a:rPr lang="en-GB" sz="1200" dirty="0">
                <a:latin typeface="Courier New" panose="02070309020205020404" pitchFamily="49" charset="0"/>
                <a:ea typeface="MS Mincho"/>
                <a:cs typeface="Times New Roman" panose="02020603050405020304" pitchFamily="18" charset="0"/>
              </a:rPr>
              <a:t>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r>
              <a:rPr lang="en-GB" sz="1200" dirty="0" err="1">
                <a:latin typeface="Courier New" panose="02070309020205020404" pitchFamily="49" charset="0"/>
                <a:ea typeface="MS Mincho"/>
                <a:cs typeface="Times New Roman" panose="02020603050405020304" pitchFamily="18" charset="0"/>
              </a:rPr>
              <a:t>Pass.Wis.Certain</a:t>
            </a:r>
            <a:r>
              <a:rPr lang="en-GB" sz="1200" dirty="0">
                <a:latin typeface="Courier New" panose="02070309020205020404" pitchFamily="49" charset="0"/>
                <a:ea typeface="MS Mincho"/>
                <a:cs typeface="Times New Roman" panose="02020603050405020304" pitchFamily="18" charset="0"/>
              </a:rPr>
              <a:t>, data = Data2)</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Min      1Q  Median      3Q     Max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-2.2110 -0.6799 -0.0922  0.5247  3.5933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Coefficients: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Estimate Std. Error t value </a:t>
            </a:r>
            <a:r>
              <a:rPr lang="en-GB" sz="1200" dirty="0" err="1">
                <a:latin typeface="Courier New" panose="02070309020205020404" pitchFamily="49" charset="0"/>
                <a:ea typeface="MS Mincho"/>
                <a:cs typeface="Times New Roman" panose="02020603050405020304" pitchFamily="18" charset="0"/>
              </a:rPr>
              <a:t>Pr</a:t>
            </a:r>
            <a:r>
              <a:rPr lang="en-GB" sz="1200" dirty="0">
                <a:latin typeface="Courier New" panose="02070309020205020404" pitchFamily="49" charset="0"/>
                <a:ea typeface="MS Mincho"/>
                <a:cs typeface="Times New Roman" panose="02020603050405020304" pitchFamily="18" charset="0"/>
              </a:rPr>
              <a:t>(&gt;|t|)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(Intercept)         -0.07640    0.04577  -1.669 0.095359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GirlD1               0.15561    0.05472   2.844 0.004536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0.12652    0.03371   3.753 0.000183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0.05241    0.03371   1.555 0.120299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-0.12905    0.02757  -4.681 3.18e-06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InterestZ</a:t>
            </a:r>
            <a:r>
              <a:rPr lang="en-GB" sz="1200" dirty="0">
                <a:latin typeface="Courier New" panose="02070309020205020404" pitchFamily="49" charset="0"/>
                <a:ea typeface="MS Mincho"/>
                <a:cs typeface="Times New Roman" panose="02020603050405020304" pitchFamily="18" charset="0"/>
              </a:rPr>
              <a:t>            0.18920    0.02965   6.381 2.51e-10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Personal_RelevanceZ</a:t>
            </a:r>
            <a:r>
              <a:rPr lang="en-GB" sz="1200" dirty="0">
                <a:latin typeface="Courier New" panose="02070309020205020404" pitchFamily="49" charset="0"/>
                <a:ea typeface="MS Mincho"/>
                <a:cs typeface="Times New Roman" panose="02020603050405020304" pitchFamily="18" charset="0"/>
              </a:rPr>
              <a:t>  0.05784    0.02865   2.019 0.043707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Pass.Wis.Maybe</a:t>
            </a:r>
            <a:r>
              <a:rPr lang="en-GB" sz="1200" dirty="0">
                <a:latin typeface="Courier New" panose="02070309020205020404" pitchFamily="49" charset="0"/>
                <a:ea typeface="MS Mincho"/>
                <a:cs typeface="Times New Roman" panose="02020603050405020304" pitchFamily="18" charset="0"/>
              </a:rPr>
              <a:t>      -0.11437    0.06060  -1.887 0.059364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Pass.Wis.Certain</a:t>
            </a:r>
            <a:r>
              <a:rPr lang="en-GB" sz="1200" dirty="0">
                <a:latin typeface="Courier New" panose="02070309020205020404" pitchFamily="49" charset="0"/>
                <a:ea typeface="MS Mincho"/>
                <a:cs typeface="Times New Roman" panose="02020603050405020304" pitchFamily="18" charset="0"/>
              </a:rPr>
              <a:t>     0.14268    0.13065   1.092 0.275019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Signif</a:t>
            </a:r>
            <a:r>
              <a:rPr lang="en-GB" sz="1200" dirty="0">
                <a:latin typeface="Courier New" panose="02070309020205020404" pitchFamily="49" charset="0"/>
                <a:ea typeface="MS Mincho"/>
                <a:cs typeface="Times New Roman" panose="02020603050405020304" pitchFamily="18" charset="0"/>
              </a:rPr>
              <a:t>. codes:  0 ‘***’ 0.001 ‘**’ 0.01 ‘*’ 0.05 ‘.’ 0.1 ‘ ’ 1</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 standard error: 0.9411 on 1205 degrees of freedom</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Multiple R-squared:  0.1224,	Adjusted R-squared:  0.1165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F-statistic:    21 on 8 and 1205 DF,  p-value: &lt; 2.2e-16</a:t>
            </a:r>
            <a:endParaRPr lang="nl-BE" sz="1200" dirty="0">
              <a:effectLst/>
              <a:latin typeface="Cambria" panose="02040503050406030204" pitchFamily="18" charset="0"/>
              <a:ea typeface="MS Mincho"/>
              <a:cs typeface="Times New Roman" panose="02020603050405020304" pitchFamily="18" charset="0"/>
            </a:endParaRPr>
          </a:p>
        </p:txBody>
      </p:sp>
    </p:spTree>
    <p:extLst>
      <p:ext uri="{BB962C8B-B14F-4D97-AF65-F5344CB8AC3E}">
        <p14:creationId xmlns:p14="http://schemas.microsoft.com/office/powerpoint/2010/main" val="2727773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10 – oplossing – </a:t>
            </a:r>
            <a:r>
              <a:rPr lang="nl-BE" dirty="0">
                <a:solidFill>
                  <a:srgbClr val="00B050"/>
                </a:solidFill>
              </a:rPr>
              <a:t>te verdienen deelscores</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31</a:t>
            </a:fld>
            <a:endParaRPr lang="nl-BE" dirty="0"/>
          </a:p>
        </p:txBody>
      </p:sp>
      <p:sp>
        <p:nvSpPr>
          <p:cNvPr id="5" name="Rechthoek 4"/>
          <p:cNvSpPr/>
          <p:nvPr/>
        </p:nvSpPr>
        <p:spPr>
          <a:xfrm>
            <a:off x="623887" y="953228"/>
            <a:ext cx="9835957" cy="5613460"/>
          </a:xfrm>
          <a:prstGeom prst="rect">
            <a:avLst/>
          </a:prstGeom>
          <a:solidFill>
            <a:schemeClr val="bg1"/>
          </a:solidFill>
        </p:spPr>
        <p:txBody>
          <a:bodyPr wrap="square">
            <a:spAutoFit/>
          </a:bodyPr>
          <a:lstStyle/>
          <a:p>
            <a:pPr marR="86995" algn="just">
              <a:lnSpc>
                <a:spcPct val="107000"/>
              </a:lnSpc>
              <a:spcAft>
                <a:spcPts val="0"/>
              </a:spcAft>
              <a:tabLst>
                <a:tab pos="457200" algn="l"/>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Effect '</a:t>
            </a:r>
            <a:r>
              <a:rPr lang="nl-BE" sz="1600"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Pass.Wis.Maybe</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p>
          <a:p>
            <a:pPr marL="342900" marR="86995" lvl="0" indent="-342900" algn="just">
              <a:lnSpc>
                <a:spcPct val="107000"/>
              </a:lnSpc>
              <a:spcAft>
                <a:spcPts val="0"/>
              </a:spcAft>
              <a:buFont typeface="Symbol" panose="05050102010706020507" pitchFamily="18" charset="2"/>
              <a:buChar char=""/>
              <a:tabLst>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Leerlingen die aangeven niet te weten of ze zullen slagen voor wiskunde scoren 0,11 standaardafwijkingen lager op 'ANA.RESULTZ' in de steekproef dan leerlingen die aangeven onzeker te zijn over hun slaagkansen voor wiskunde </a:t>
            </a:r>
            <a:r>
              <a:rPr lang="nl-BE" sz="1600" dirty="0" smtClean="0">
                <a:solidFill>
                  <a:srgbClr val="323232"/>
                </a:solidFill>
                <a:latin typeface="Calibri" panose="020F0502020204030204" pitchFamily="34" charset="0"/>
                <a:ea typeface="Calibri" panose="020F0502020204030204" pitchFamily="34" charset="0"/>
                <a:cs typeface="Times New Roman" panose="02020603050405020304" pitchFamily="18" charset="0"/>
              </a:rPr>
              <a:t>ongeacht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 score op ‘InvolvementZ', 'CooperationZ', 'DifferentiationZ', 'InterestZ', ' Personal_RelevanceZ ' en 'GirlD1' (</a:t>
            </a:r>
            <a:r>
              <a:rPr lang="nl-BE" sz="16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b=-0,11437</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(1,5p)</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p>
          <a:p>
            <a:pPr marL="342900" marR="86995" lvl="0" indent="-342900" algn="just">
              <a:lnSpc>
                <a:spcPct val="107000"/>
              </a:lnSpc>
              <a:spcAft>
                <a:spcPts val="0"/>
              </a:spcAft>
              <a:buFont typeface="Symbol" panose="05050102010706020507" pitchFamily="18" charset="2"/>
              <a:buChar char=""/>
              <a:tabLst>
                <a:tab pos="1079500" algn="l"/>
              </a:tabLst>
            </a:pP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Deze bevinding kunnen we niet doortrekken naar de populatie (</a:t>
            </a:r>
            <a:r>
              <a:rPr lang="nl-NL" sz="16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p&gt;0.05</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endParaRPr>
          </a:p>
          <a:p>
            <a:pPr marL="342900" marR="86995" lvl="0" indent="-342900" algn="just">
              <a:lnSpc>
                <a:spcPct val="107000"/>
              </a:lnSpc>
              <a:spcAft>
                <a:spcPts val="0"/>
              </a:spcAft>
              <a:buFont typeface="Symbol" panose="05050102010706020507" pitchFamily="18" charset="2"/>
              <a:buChar char=""/>
              <a:tabLst>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In de populatie verwachten we dus geen verschil in score op ‘ANA.RESULTZ’</a:t>
            </a:r>
            <a:r>
              <a:rPr lang="nl-BE"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tussen leerlingen die aangeven niet te weten of ze zullen slagen voor wiskunde scoren én leerlingen die aangeven onzeker te zijn over hun slaagkansen voor wiskunde (</a:t>
            </a:r>
            <a:r>
              <a:rPr lang="nl-BE" sz="1600" dirty="0" smtClean="0">
                <a:solidFill>
                  <a:srgbClr val="323232"/>
                </a:solidFill>
                <a:latin typeface="Calibri" panose="020F0502020204030204" pitchFamily="34" charset="0"/>
                <a:ea typeface="Calibri" panose="020F0502020204030204" pitchFamily="34" charset="0"/>
                <a:cs typeface="Times New Roman" panose="02020603050405020304" pitchFamily="18" charset="0"/>
              </a:rPr>
              <a:t>ongeacht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 score op ‘InvolvementZ', 'CooperationZ', 'DifferentiationZ', 'InterestZ', ' Personal_RelevanceZ ' en 'GirlD1')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p>
          <a:p>
            <a:pPr marR="86995" algn="just">
              <a:lnSpc>
                <a:spcPct val="107000"/>
              </a:lnSpc>
              <a:spcAft>
                <a:spcPts val="0"/>
              </a:spcAft>
              <a:tabLst>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p>
          <a:p>
            <a:pPr marR="86995" algn="just">
              <a:lnSpc>
                <a:spcPct val="107000"/>
              </a:lnSpc>
              <a:spcAft>
                <a:spcPts val="0"/>
              </a:spcAft>
              <a:tabLst>
                <a:tab pos="457200" algn="l"/>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Effect </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r>
              <a:rPr lang="nl-NL" sz="1600"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Pass.Wis.Certain</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endParaRPr>
          </a:p>
          <a:p>
            <a:pPr marL="342900" marR="86995" lvl="0" indent="-342900" algn="just">
              <a:lnSpc>
                <a:spcPct val="107000"/>
              </a:lnSpc>
              <a:spcAft>
                <a:spcPts val="0"/>
              </a:spcAft>
              <a:buFont typeface="Symbol" panose="05050102010706020507" pitchFamily="18" charset="2"/>
              <a:buChar char=""/>
              <a:tabLst>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Leerlingen die aangeven zeker te zijn dat ze zullen slagen voor wiskunde scoren 0,14 standaardafwijkingen hoger op 'ANA.RESULTZ' in de steekproef dan leerlingen die aangeven onzeker te zijn over hun slaagkansen voor wiskunde </a:t>
            </a:r>
            <a:r>
              <a:rPr lang="nl-BE" sz="1600" dirty="0" smtClean="0">
                <a:solidFill>
                  <a:srgbClr val="323232"/>
                </a:solidFill>
                <a:latin typeface="Calibri" panose="020F0502020204030204" pitchFamily="34" charset="0"/>
                <a:ea typeface="Calibri" panose="020F0502020204030204" pitchFamily="34" charset="0"/>
                <a:cs typeface="Times New Roman" panose="02020603050405020304" pitchFamily="18" charset="0"/>
              </a:rPr>
              <a:t>ongeacht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 score op ‘InvolvementZ', 'CooperationZ', 'DifferentiationZ', 'InterestZ', ' Personal_RelevanceZ ' en 'GirlD1' (</a:t>
            </a:r>
            <a:r>
              <a:rPr lang="nl-BE" sz="1600" dirty="0">
                <a:solidFill>
                  <a:srgbClr val="0070C0"/>
                </a:solidFill>
                <a:latin typeface="Calibri" panose="020F0502020204030204" pitchFamily="34" charset="0"/>
                <a:ea typeface="Calibri" panose="020F0502020204030204" pitchFamily="34" charset="0"/>
                <a:cs typeface="Times New Roman" panose="02020603050405020304" pitchFamily="18" charset="0"/>
              </a:rPr>
              <a:t>b=0,14268</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(1,5p)</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p>
          <a:p>
            <a:pPr marL="342900" marR="86995" lvl="0" indent="-342900" algn="just">
              <a:lnSpc>
                <a:spcPct val="107000"/>
              </a:lnSpc>
              <a:spcAft>
                <a:spcPts val="0"/>
              </a:spcAft>
              <a:buFont typeface="Symbol" panose="05050102010706020507" pitchFamily="18" charset="2"/>
              <a:buChar char=""/>
              <a:tabLst>
                <a:tab pos="1079500" algn="l"/>
              </a:tabLst>
            </a:pP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Deze bevinding kunnen we niet doortrekken naar de populatie (</a:t>
            </a:r>
            <a:r>
              <a:rPr lang="nl-NL" sz="1600" dirty="0">
                <a:solidFill>
                  <a:srgbClr val="0070C0"/>
                </a:solidFill>
                <a:latin typeface="Calibri" panose="020F0502020204030204" pitchFamily="34" charset="0"/>
                <a:ea typeface="Calibri" panose="020F0502020204030204" pitchFamily="34" charset="0"/>
                <a:cs typeface="Times New Roman" panose="02020603050405020304" pitchFamily="18" charset="0"/>
              </a:rPr>
              <a:t>p&gt;0.05</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(0,25p)</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endParaRPr>
          </a:p>
          <a:p>
            <a:pPr marL="342900" marR="86995" lvl="0" indent="-342900" algn="just">
              <a:lnSpc>
                <a:spcPct val="107000"/>
              </a:lnSpc>
              <a:spcAft>
                <a:spcPts val="0"/>
              </a:spcAft>
              <a:buFont typeface="Symbol" panose="05050102010706020507" pitchFamily="18" charset="2"/>
              <a:buChar char=""/>
              <a:tabLst>
                <a:tab pos="1079500" algn="l"/>
              </a:tabLst>
            </a:pP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In de populatie verwachten we dus geen verschil in score op ‘ANA.RESULTZ’</a:t>
            </a:r>
            <a:r>
              <a:rPr lang="nl-BE"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tussen </a:t>
            </a:r>
            <a:r>
              <a:rPr lang="nl-NL"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leerlingen die aangeven zeker te zijn dat ze zullen slagen voor wiskunde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én leerlingen die aangeven onzeker te zijn over hun slaagkansen voor wiskunde (</a:t>
            </a:r>
            <a:r>
              <a:rPr lang="nl-BE" sz="1600" dirty="0" smtClean="0">
                <a:solidFill>
                  <a:srgbClr val="323232"/>
                </a:solidFill>
                <a:latin typeface="Calibri" panose="020F0502020204030204" pitchFamily="34" charset="0"/>
                <a:ea typeface="Calibri" panose="020F0502020204030204" pitchFamily="34" charset="0"/>
                <a:cs typeface="Times New Roman" panose="02020603050405020304" pitchFamily="18" charset="0"/>
              </a:rPr>
              <a:t>ongeacht </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de score op ‘InvolvementZ', 'CooperationZ', 'DifferentiationZ', 'InterestZ', ' Personal_RelevanceZ ' en 'GirlD1') </a:t>
            </a:r>
            <a:r>
              <a:rPr lang="nl-NL" sz="16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r>
              <a:rPr lang="nl-BE" sz="1600"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sz="1600" dirty="0">
              <a:solidFill>
                <a:srgbClr val="32323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0929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11</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32</a:t>
            </a:fld>
            <a:endParaRPr lang="nl-BE" dirty="0"/>
          </a:p>
        </p:txBody>
      </p:sp>
      <p:sp>
        <p:nvSpPr>
          <p:cNvPr id="4" name="Rechthoek 3"/>
          <p:cNvSpPr/>
          <p:nvPr/>
        </p:nvSpPr>
        <p:spPr>
          <a:xfrm>
            <a:off x="193116" y="959478"/>
            <a:ext cx="5316434" cy="4175887"/>
          </a:xfrm>
          <a:prstGeom prst="rect">
            <a:avLst/>
          </a:prstGeom>
        </p:spPr>
        <p:txBody>
          <a:bodyPr wrap="square">
            <a:spAutoFit/>
          </a:bodyPr>
          <a:lstStyle/>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Stefan weet niet van ophouden en toetst ook nog een derde model (M3). In dit model bouwt hij verder op model 2 (M2). Hij voegt een interactie-effect tussen geslacht (‘</a:t>
            </a:r>
            <a:r>
              <a:rPr lang="nl-BE" sz="2000" dirty="0" err="1">
                <a:latin typeface="Calibri" panose="020F0502020204030204" pitchFamily="34" charset="0"/>
                <a:ea typeface="Calibri" panose="020F0502020204030204" pitchFamily="34" charset="0"/>
                <a:cs typeface="Times New Roman" panose="02020603050405020304" pitchFamily="18" charset="0"/>
              </a:rPr>
              <a:t>GirlD</a:t>
            </a:r>
            <a:r>
              <a:rPr lang="nl-BE" sz="2000" dirty="0">
                <a:latin typeface="Calibri" panose="020F0502020204030204" pitchFamily="34" charset="0"/>
                <a:ea typeface="Calibri" panose="020F0502020204030204" pitchFamily="34" charset="0"/>
                <a:cs typeface="Times New Roman" panose="02020603050405020304" pitchFamily="18" charset="0"/>
              </a:rPr>
              <a:t>’) en de mate waarin de leerkracht differentieert toe. Verder neemt hij ook ‘</a:t>
            </a:r>
            <a:r>
              <a:rPr lang="nl-BE" sz="2000" dirty="0" err="1">
                <a:latin typeface="Calibri" panose="020F0502020204030204" pitchFamily="34" charset="0"/>
                <a:ea typeface="Calibri" panose="020F0502020204030204" pitchFamily="34" charset="0"/>
                <a:cs typeface="Times New Roman" panose="02020603050405020304" pitchFamily="18" charset="0"/>
              </a:rPr>
              <a:t>Ext_RegZ</a:t>
            </a:r>
            <a:r>
              <a:rPr lang="nl-BE" sz="2000" dirty="0">
                <a:latin typeface="Calibri" panose="020F0502020204030204" pitchFamily="34" charset="0"/>
                <a:ea typeface="Calibri" panose="020F0502020204030204" pitchFamily="34" charset="0"/>
                <a:cs typeface="Times New Roman" panose="02020603050405020304" pitchFamily="18" charset="0"/>
              </a:rPr>
              <a:t>’ en ‘</a:t>
            </a:r>
            <a:r>
              <a:rPr lang="nl-BE" sz="2000" dirty="0" err="1">
                <a:latin typeface="Calibri" panose="020F0502020204030204" pitchFamily="34" charset="0"/>
                <a:ea typeface="Calibri" panose="020F0502020204030204" pitchFamily="34" charset="0"/>
                <a:cs typeface="Times New Roman" panose="02020603050405020304" pitchFamily="18" charset="0"/>
              </a:rPr>
              <a:t>Int_RegZ</a:t>
            </a:r>
            <a:r>
              <a:rPr lang="nl-BE" sz="2000" dirty="0">
                <a:latin typeface="Calibri" panose="020F0502020204030204" pitchFamily="34" charset="0"/>
                <a:ea typeface="Calibri" panose="020F0502020204030204" pitchFamily="34" charset="0"/>
                <a:cs typeface="Times New Roman" panose="02020603050405020304" pitchFamily="18" charset="0"/>
              </a:rPr>
              <a:t>’ in model 3 op.</a:t>
            </a:r>
          </a:p>
          <a:p>
            <a:pPr>
              <a:lnSpc>
                <a:spcPct val="107000"/>
              </a:lnSpc>
              <a:spcAft>
                <a:spcPts val="0"/>
              </a:spcAft>
            </a:pP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Stefan vraagt zich af of model 3 (M3) nog iets wezenlijks toevoegt in vergelijking met model 2 (M2). Beantwoord deze vraag en verwijs in je antwoord naar de gegevens </a:t>
            </a:r>
            <a:r>
              <a:rPr lang="nl-BE" sz="2000" b="1" dirty="0">
                <a:latin typeface="Calibri" panose="020F0502020204030204" pitchFamily="34" charset="0"/>
                <a:ea typeface="Calibri" panose="020F0502020204030204" pitchFamily="34" charset="0"/>
                <a:cs typeface="Times New Roman" panose="02020603050405020304" pitchFamily="18" charset="0"/>
              </a:rPr>
              <a:t>uit de output</a:t>
            </a:r>
            <a:r>
              <a:rPr lang="nl-BE" sz="20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5" name="Rechthoek 4"/>
          <p:cNvSpPr/>
          <p:nvPr/>
        </p:nvSpPr>
        <p:spPr>
          <a:xfrm>
            <a:off x="5713447" y="225921"/>
            <a:ext cx="6096000" cy="4616648"/>
          </a:xfrm>
          <a:prstGeom prst="rect">
            <a:avLst/>
          </a:prstGeom>
        </p:spPr>
        <p:txBody>
          <a:bodyPr>
            <a:spAutoFit/>
          </a:bodyPr>
          <a:lstStyle/>
          <a:p>
            <a:pPr>
              <a:spcAft>
                <a:spcPts val="0"/>
              </a:spcAft>
            </a:pPr>
            <a:r>
              <a:rPr lang="en-GB" sz="1400" b="1" dirty="0">
                <a:latin typeface="Courier New" panose="02070309020205020404" pitchFamily="49" charset="0"/>
                <a:ea typeface="MS Mincho"/>
                <a:cs typeface="Times New Roman" panose="02020603050405020304" pitchFamily="18" charset="0"/>
              </a:rPr>
              <a:t>&gt; </a:t>
            </a:r>
            <a:r>
              <a:rPr lang="en-GB" sz="1400" b="1" dirty="0" err="1">
                <a:latin typeface="Courier New" panose="02070309020205020404" pitchFamily="49" charset="0"/>
                <a:ea typeface="MS Mincho"/>
                <a:cs typeface="Times New Roman" panose="02020603050405020304" pitchFamily="18" charset="0"/>
              </a:rPr>
              <a:t>anova</a:t>
            </a:r>
            <a:r>
              <a:rPr lang="en-GB" sz="1400" b="1" dirty="0">
                <a:latin typeface="Courier New" panose="02070309020205020404" pitchFamily="49" charset="0"/>
                <a:ea typeface="MS Mincho"/>
                <a:cs typeface="Times New Roman" panose="02020603050405020304" pitchFamily="18" charset="0"/>
              </a:rPr>
              <a:t>(M1,M2,M3)</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Analysis of Variance Table</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Model 1: ANA.RESULTZ ~ </a:t>
            </a:r>
            <a:r>
              <a:rPr lang="en-GB" sz="1400" dirty="0" err="1">
                <a:latin typeface="Courier New" panose="02070309020205020404" pitchFamily="49" charset="0"/>
                <a:ea typeface="MS Mincho"/>
                <a:cs typeface="Times New Roman" panose="02020603050405020304" pitchFamily="18" charset="0"/>
              </a:rPr>
              <a:t>InvolvementZ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CooperationZ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DifferentiationZ</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Model 2: ANA.RESULTZ ~ </a:t>
            </a:r>
            <a:r>
              <a:rPr lang="en-GB" sz="1400" dirty="0" err="1">
                <a:latin typeface="Courier New" panose="02070309020205020404" pitchFamily="49" charset="0"/>
                <a:ea typeface="MS Mincho"/>
                <a:cs typeface="Times New Roman" panose="02020603050405020304" pitchFamily="18" charset="0"/>
              </a:rPr>
              <a:t>GirlD</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InvolvementZ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CooperationZ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DifferentiationZ</a:t>
            </a:r>
            <a:r>
              <a:rPr lang="en-GB" sz="1400" dirty="0">
                <a:latin typeface="Courier New" panose="02070309020205020404" pitchFamily="49" charset="0"/>
                <a:ea typeface="MS Mincho"/>
                <a:cs typeface="Times New Roman" panose="02020603050405020304" pitchFamily="18" charset="0"/>
              </a:rPr>
              <a:t> +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    </a:t>
            </a:r>
            <a:r>
              <a:rPr lang="en-GB" sz="1400" dirty="0" err="1">
                <a:latin typeface="Courier New" panose="02070309020205020404" pitchFamily="49" charset="0"/>
                <a:ea typeface="MS Mincho"/>
                <a:cs typeface="Times New Roman" panose="02020603050405020304" pitchFamily="18" charset="0"/>
              </a:rPr>
              <a:t>InterestZ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Personal_RelevanceZ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Pass.Wis.Maybe</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Pass.Wis.Certain</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Model 3: ANA.RESULTZ ~ </a:t>
            </a:r>
            <a:r>
              <a:rPr lang="en-GB" sz="1400" dirty="0" err="1">
                <a:latin typeface="Courier New" panose="02070309020205020404" pitchFamily="49" charset="0"/>
                <a:ea typeface="MS Mincho"/>
                <a:cs typeface="Times New Roman" panose="02020603050405020304" pitchFamily="18" charset="0"/>
              </a:rPr>
              <a:t>GirlD</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InvolvementZ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CooperationZ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DifferentiationZ</a:t>
            </a:r>
            <a:r>
              <a:rPr lang="en-GB" sz="1400" dirty="0">
                <a:latin typeface="Courier New" panose="02070309020205020404" pitchFamily="49" charset="0"/>
                <a:ea typeface="MS Mincho"/>
                <a:cs typeface="Times New Roman" panose="02020603050405020304" pitchFamily="18" charset="0"/>
              </a:rPr>
              <a:t> +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    </a:t>
            </a:r>
            <a:r>
              <a:rPr lang="en-GB" sz="1400" dirty="0" err="1">
                <a:latin typeface="Courier New" panose="02070309020205020404" pitchFamily="49" charset="0"/>
                <a:ea typeface="MS Mincho"/>
                <a:cs typeface="Times New Roman" panose="02020603050405020304" pitchFamily="18" charset="0"/>
              </a:rPr>
              <a:t>InterestZ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Personal_RelevanceZ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Pass.Wis.Maybe</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Pass.Wis.Certain</a:t>
            </a:r>
            <a:r>
              <a:rPr lang="en-GB" sz="1400" dirty="0">
                <a:latin typeface="Courier New" panose="02070309020205020404" pitchFamily="49" charset="0"/>
                <a:ea typeface="MS Mincho"/>
                <a:cs typeface="Times New Roman" panose="02020603050405020304" pitchFamily="18" charset="0"/>
              </a:rPr>
              <a:t> +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    (</a:t>
            </a:r>
            <a:r>
              <a:rPr lang="en-GB" sz="1400" dirty="0" err="1">
                <a:latin typeface="Courier New" panose="02070309020205020404" pitchFamily="49" charset="0"/>
                <a:ea typeface="MS Mincho"/>
                <a:cs typeface="Times New Roman" panose="02020603050405020304" pitchFamily="18" charset="0"/>
              </a:rPr>
              <a:t>GirlD</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DifferentiationZ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Ext_RegZ</a:t>
            </a:r>
            <a:r>
              <a:rPr lang="en-GB" sz="1400" dirty="0">
                <a:latin typeface="Courier New" panose="02070309020205020404" pitchFamily="49" charset="0"/>
                <a:ea typeface="MS Mincho"/>
                <a:cs typeface="Times New Roman" panose="02020603050405020304" pitchFamily="18" charset="0"/>
              </a:rPr>
              <a:t> + </a:t>
            </a:r>
            <a:r>
              <a:rPr lang="en-GB" sz="1400" dirty="0" err="1">
                <a:latin typeface="Courier New" panose="02070309020205020404" pitchFamily="49" charset="0"/>
                <a:ea typeface="MS Mincho"/>
                <a:cs typeface="Times New Roman" panose="02020603050405020304" pitchFamily="18" charset="0"/>
              </a:rPr>
              <a:t>Int_RegZ</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  </a:t>
            </a:r>
            <a:r>
              <a:rPr lang="en-GB" sz="1400" dirty="0" err="1">
                <a:latin typeface="Courier New" panose="02070309020205020404" pitchFamily="49" charset="0"/>
                <a:ea typeface="MS Mincho"/>
                <a:cs typeface="Times New Roman" panose="02020603050405020304" pitchFamily="18" charset="0"/>
              </a:rPr>
              <a:t>Res.Df</a:t>
            </a:r>
            <a:r>
              <a:rPr lang="en-GB" sz="1400" dirty="0">
                <a:latin typeface="Courier New" panose="02070309020205020404" pitchFamily="49" charset="0"/>
                <a:ea typeface="MS Mincho"/>
                <a:cs typeface="Times New Roman" panose="02020603050405020304" pitchFamily="18" charset="0"/>
              </a:rPr>
              <a:t>    RSS </a:t>
            </a:r>
            <a:r>
              <a:rPr lang="en-GB" sz="1400" dirty="0" err="1">
                <a:latin typeface="Courier New" panose="02070309020205020404" pitchFamily="49" charset="0"/>
                <a:ea typeface="MS Mincho"/>
                <a:cs typeface="Times New Roman" panose="02020603050405020304" pitchFamily="18" charset="0"/>
              </a:rPr>
              <a:t>Df</a:t>
            </a:r>
            <a:r>
              <a:rPr lang="en-GB" sz="1400" dirty="0">
                <a:latin typeface="Courier New" panose="02070309020205020404" pitchFamily="49" charset="0"/>
                <a:ea typeface="MS Mincho"/>
                <a:cs typeface="Times New Roman" panose="02020603050405020304" pitchFamily="18" charset="0"/>
              </a:rPr>
              <a:t> Sum of </a:t>
            </a:r>
            <a:r>
              <a:rPr lang="en-GB" sz="1400" dirty="0" err="1">
                <a:latin typeface="Courier New" panose="02070309020205020404" pitchFamily="49" charset="0"/>
                <a:ea typeface="MS Mincho"/>
                <a:cs typeface="Times New Roman" panose="02020603050405020304" pitchFamily="18" charset="0"/>
              </a:rPr>
              <a:t>Sq</a:t>
            </a:r>
            <a:r>
              <a:rPr lang="en-GB" sz="1400" dirty="0">
                <a:latin typeface="Courier New" panose="02070309020205020404" pitchFamily="49" charset="0"/>
                <a:ea typeface="MS Mincho"/>
                <a:cs typeface="Times New Roman" panose="02020603050405020304" pitchFamily="18" charset="0"/>
              </a:rPr>
              <a:t>       F    </a:t>
            </a:r>
            <a:r>
              <a:rPr lang="en-GB" sz="1400" dirty="0" err="1">
                <a:latin typeface="Courier New" panose="02070309020205020404" pitchFamily="49" charset="0"/>
                <a:ea typeface="MS Mincho"/>
                <a:cs typeface="Times New Roman" panose="02020603050405020304" pitchFamily="18" charset="0"/>
              </a:rPr>
              <a:t>Pr</a:t>
            </a:r>
            <a:r>
              <a:rPr lang="en-GB" sz="1400" dirty="0">
                <a:latin typeface="Courier New" panose="02070309020205020404" pitchFamily="49" charset="0"/>
                <a:ea typeface="MS Mincho"/>
                <a:cs typeface="Times New Roman" panose="02020603050405020304" pitchFamily="18" charset="0"/>
              </a:rPr>
              <a:t>(&gt;F)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1   1210 1129.8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2   1205 1067.3  5    62.462 14.2713 1.363e-13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3   1202 1052.2  3    15.119  5.7573 0.0006563 ***</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a:latin typeface="Courier New" panose="02070309020205020404" pitchFamily="49" charset="0"/>
                <a:ea typeface="MS Mincho"/>
                <a:cs typeface="Times New Roman" panose="02020603050405020304" pitchFamily="18" charset="0"/>
              </a:rPr>
              <a:t>---</a:t>
            </a:r>
            <a:endParaRPr lang="nl-BE" sz="1400" dirty="0">
              <a:latin typeface="Cambria" panose="02040503050406030204" pitchFamily="18" charset="0"/>
              <a:ea typeface="MS Mincho"/>
              <a:cs typeface="Times New Roman" panose="02020603050405020304" pitchFamily="18" charset="0"/>
            </a:endParaRPr>
          </a:p>
          <a:p>
            <a:pPr>
              <a:spcAft>
                <a:spcPts val="0"/>
              </a:spcAft>
            </a:pPr>
            <a:r>
              <a:rPr lang="en-GB" sz="1400" dirty="0" err="1">
                <a:latin typeface="Courier New" panose="02070309020205020404" pitchFamily="49" charset="0"/>
                <a:ea typeface="MS Mincho"/>
                <a:cs typeface="Times New Roman" panose="02020603050405020304" pitchFamily="18" charset="0"/>
              </a:rPr>
              <a:t>Signif</a:t>
            </a:r>
            <a:r>
              <a:rPr lang="en-GB" sz="1400" dirty="0">
                <a:latin typeface="Courier New" panose="02070309020205020404" pitchFamily="49" charset="0"/>
                <a:ea typeface="MS Mincho"/>
                <a:cs typeface="Times New Roman" panose="02020603050405020304" pitchFamily="18" charset="0"/>
              </a:rPr>
              <a:t>. codes:  0 ‘***’ 0.001 ‘**’ 0.01 ‘*’ 0.05 ‘.’ 0.1 ‘ ’ 1</a:t>
            </a:r>
            <a:endParaRPr lang="nl-BE" sz="1400" dirty="0">
              <a:effectLst/>
              <a:latin typeface="Cambria" panose="02040503050406030204" pitchFamily="18" charset="0"/>
              <a:ea typeface="MS Mincho"/>
              <a:cs typeface="Times New Roman" panose="02020603050405020304" pitchFamily="18" charset="0"/>
            </a:endParaRPr>
          </a:p>
        </p:txBody>
      </p:sp>
      <p:sp>
        <p:nvSpPr>
          <p:cNvPr id="6" name="Rechthoek 5"/>
          <p:cNvSpPr/>
          <p:nvPr/>
        </p:nvSpPr>
        <p:spPr>
          <a:xfrm>
            <a:off x="5713447" y="4955024"/>
            <a:ext cx="6096000" cy="830997"/>
          </a:xfrm>
          <a:prstGeom prst="rect">
            <a:avLst/>
          </a:prstGeom>
        </p:spPr>
        <p:txBody>
          <a:bodyPr>
            <a:spAutoFit/>
          </a:bodyPr>
          <a:lstStyle/>
          <a:p>
            <a:pPr>
              <a:spcAft>
                <a:spcPts val="0"/>
              </a:spcAft>
            </a:pPr>
            <a:r>
              <a:rPr lang="en-GB" sz="1200" b="1" dirty="0">
                <a:latin typeface="Courier New" panose="02070309020205020404" pitchFamily="49" charset="0"/>
                <a:ea typeface="MS Mincho"/>
                <a:cs typeface="Times New Roman" panose="02020603050405020304" pitchFamily="18" charset="0"/>
              </a:rPr>
              <a:t>&gt; summary(M2)</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 standard error: 0.9411 on 1205 degrees of freedom</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Multiple R-squared:  0.1224,	Adjusted R-squared:  0.1165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F-statistic:    21 on 8 and 1205 DF,  p-value: &lt; 2.2e-16</a:t>
            </a:r>
            <a:endParaRPr lang="nl-BE" sz="1200" dirty="0">
              <a:effectLst/>
              <a:latin typeface="Cambria" panose="02040503050406030204" pitchFamily="18" charset="0"/>
              <a:ea typeface="MS Mincho"/>
              <a:cs typeface="Times New Roman" panose="02020603050405020304" pitchFamily="18" charset="0"/>
            </a:endParaRPr>
          </a:p>
        </p:txBody>
      </p:sp>
      <p:sp>
        <p:nvSpPr>
          <p:cNvPr id="7" name="Rechthoek 6"/>
          <p:cNvSpPr/>
          <p:nvPr/>
        </p:nvSpPr>
        <p:spPr>
          <a:xfrm>
            <a:off x="5713447" y="5867771"/>
            <a:ext cx="6096000" cy="830997"/>
          </a:xfrm>
          <a:prstGeom prst="rect">
            <a:avLst/>
          </a:prstGeom>
        </p:spPr>
        <p:txBody>
          <a:bodyPr>
            <a:spAutoFit/>
          </a:bodyPr>
          <a:lstStyle/>
          <a:p>
            <a:pPr>
              <a:spcAft>
                <a:spcPts val="0"/>
              </a:spcAft>
            </a:pPr>
            <a:r>
              <a:rPr lang="en-GB" sz="1200" b="1" dirty="0">
                <a:latin typeface="Courier New" panose="02070309020205020404" pitchFamily="49" charset="0"/>
                <a:ea typeface="MS Mincho"/>
                <a:cs typeface="Times New Roman" panose="02020603050405020304" pitchFamily="18" charset="0"/>
              </a:rPr>
              <a:t>&gt; summary(M3)</a:t>
            </a:r>
            <a:endParaRPr lang="nl-BE" sz="1200" b="1"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 standard error: 0.9356 on 1202 degrees of freedom</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Multiple R-squared:  0.1348,	Adjusted R-squared:  0.1269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F-statistic: 17.03 on 11 and 1202 DF,  p-value: &lt; 2.2e-16</a:t>
            </a:r>
            <a:endParaRPr lang="nl-BE" sz="1200" dirty="0">
              <a:effectLst/>
              <a:latin typeface="Cambria" panose="02040503050406030204" pitchFamily="18" charset="0"/>
              <a:ea typeface="MS Mincho"/>
              <a:cs typeface="Times New Roman" panose="02020603050405020304" pitchFamily="18" charset="0"/>
            </a:endParaRPr>
          </a:p>
        </p:txBody>
      </p:sp>
    </p:spTree>
    <p:extLst>
      <p:ext uri="{BB962C8B-B14F-4D97-AF65-F5344CB8AC3E}">
        <p14:creationId xmlns:p14="http://schemas.microsoft.com/office/powerpoint/2010/main" val="2111310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11 – oplossing – </a:t>
            </a:r>
            <a:r>
              <a:rPr lang="nl-BE" dirty="0">
                <a:solidFill>
                  <a:srgbClr val="00B050"/>
                </a:solidFill>
              </a:rPr>
              <a:t>te verdienen deelscores</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33</a:t>
            </a:fld>
            <a:endParaRPr lang="nl-BE" dirty="0"/>
          </a:p>
        </p:txBody>
      </p:sp>
      <p:sp>
        <p:nvSpPr>
          <p:cNvPr id="5" name="Rechthoek 4"/>
          <p:cNvSpPr/>
          <p:nvPr/>
        </p:nvSpPr>
        <p:spPr>
          <a:xfrm>
            <a:off x="623887" y="1486095"/>
            <a:ext cx="9835957" cy="2746457"/>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Uit de modelvergelijking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anova</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blijkt dat het tweede model een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Residual</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Sum</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of Squares (RSS) heeft van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1067,3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en het derde model een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Residual</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Sum</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of Squares (RSS) heeft van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1052,2</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Aangezien de RSS van het derde model lager is dan de RSS van het tweede model en de p-waarde kleiner is dan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0,05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kunnen we besluiten dat het derde model significant beter is dan het tweede model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(2,5p)</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1600"/>
              </a:spcAft>
              <a:buFont typeface="Symbol" panose="05050102010706020507" pitchFamily="18" charset="2"/>
              <a:buChar char="·"/>
            </a:pP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Daarnaast blijkt dat het tweede model een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adjusted</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R² heeft van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0,1165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met een p-waarde kleiner dan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0,05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en het derde model een </a:t>
            </a:r>
            <a:r>
              <a:rPr lang="nl-BE"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adjusted</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R² heeft van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0,1269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met een p-waarde kleiner dan </a:t>
            </a:r>
            <a:r>
              <a:rPr lang="nl-BE" dirty="0">
                <a:solidFill>
                  <a:srgbClr val="0070C0"/>
                </a:solidFill>
                <a:latin typeface="Calibri" panose="020F0502020204030204" pitchFamily="34" charset="0"/>
                <a:ea typeface="Calibri" panose="020F0502020204030204" pitchFamily="34" charset="0"/>
                <a:cs typeface="Times New Roman" panose="02020603050405020304" pitchFamily="18" charset="0"/>
              </a:rPr>
              <a:t>0,05</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 Het derde model kan bijgevolg  1,04% meer variantie in 'ANA.RESULTZ' verklaren dan het tweede model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(2,5p)</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dirty="0">
              <a:solidFill>
                <a:srgbClr val="32323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03656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12</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34</a:t>
            </a:fld>
            <a:endParaRPr lang="nl-BE" dirty="0"/>
          </a:p>
        </p:txBody>
      </p:sp>
      <p:sp>
        <p:nvSpPr>
          <p:cNvPr id="4" name="Rechthoek 3"/>
          <p:cNvSpPr/>
          <p:nvPr/>
        </p:nvSpPr>
        <p:spPr>
          <a:xfrm>
            <a:off x="193116" y="959478"/>
            <a:ext cx="5316434" cy="2858603"/>
          </a:xfrm>
          <a:prstGeom prst="rect">
            <a:avLst/>
          </a:prstGeom>
        </p:spPr>
        <p:txBody>
          <a:bodyPr wrap="square">
            <a:spAutoFit/>
          </a:bodyPr>
          <a:lstStyle/>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In het laatste model dat Stefan toetst, heeft hij ook een interactie-effect tussen '</a:t>
            </a:r>
            <a:r>
              <a:rPr lang="nl-BE" sz="2000" dirty="0" err="1">
                <a:latin typeface="Calibri" panose="020F0502020204030204" pitchFamily="34" charset="0"/>
                <a:ea typeface="Calibri" panose="020F0502020204030204" pitchFamily="34" charset="0"/>
                <a:cs typeface="Times New Roman" panose="02020603050405020304" pitchFamily="18" charset="0"/>
              </a:rPr>
              <a:t>GirlD</a:t>
            </a:r>
            <a:r>
              <a:rPr lang="nl-BE" sz="2000" dirty="0">
                <a:latin typeface="Calibri" panose="020F0502020204030204" pitchFamily="34" charset="0"/>
                <a:ea typeface="Calibri" panose="020F0502020204030204" pitchFamily="34" charset="0"/>
                <a:cs typeface="Times New Roman" panose="02020603050405020304" pitchFamily="18" charset="0"/>
              </a:rPr>
              <a:t>' en </a:t>
            </a:r>
            <a:r>
              <a:rPr lang="nl-BE" sz="2000" dirty="0" err="1">
                <a:latin typeface="Calibri" panose="020F0502020204030204" pitchFamily="34" charset="0"/>
                <a:ea typeface="Calibri" panose="020F0502020204030204" pitchFamily="34" charset="0"/>
                <a:cs typeface="Times New Roman" panose="02020603050405020304" pitchFamily="18" charset="0"/>
              </a:rPr>
              <a:t>DifferentiationZ</a:t>
            </a:r>
            <a:r>
              <a:rPr lang="nl-BE" sz="2000" dirty="0">
                <a:latin typeface="Calibri" panose="020F0502020204030204" pitchFamily="34" charset="0"/>
                <a:ea typeface="Calibri" panose="020F0502020204030204" pitchFamily="34" charset="0"/>
                <a:cs typeface="Times New Roman" panose="02020603050405020304" pitchFamily="18" charset="0"/>
              </a:rPr>
              <a:t> opgenomen.</a:t>
            </a:r>
          </a:p>
          <a:p>
            <a:pPr>
              <a:lnSpc>
                <a:spcPct val="107000"/>
              </a:lnSpc>
              <a:spcAft>
                <a:spcPts val="0"/>
              </a:spcAft>
            </a:pP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2000" dirty="0">
                <a:latin typeface="Calibri" panose="020F0502020204030204" pitchFamily="34" charset="0"/>
                <a:ea typeface="Calibri" panose="020F0502020204030204" pitchFamily="34" charset="0"/>
                <a:cs typeface="Times New Roman" panose="02020603050405020304" pitchFamily="18" charset="0"/>
              </a:rPr>
              <a:t>Leg dit interactie-effect in je eigen woorden uit. Verwijs in je antwoord naar de gegevens </a:t>
            </a:r>
            <a:r>
              <a:rPr lang="nl-BE" sz="2000" b="1" dirty="0">
                <a:latin typeface="Calibri" panose="020F0502020204030204" pitchFamily="34" charset="0"/>
                <a:ea typeface="Calibri" panose="020F0502020204030204" pitchFamily="34" charset="0"/>
                <a:cs typeface="Times New Roman" panose="02020603050405020304" pitchFamily="18" charset="0"/>
              </a:rPr>
              <a:t>uit de output</a:t>
            </a:r>
            <a:r>
              <a:rPr lang="nl-BE" sz="20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5" name="Rechthoek 4"/>
          <p:cNvSpPr/>
          <p:nvPr/>
        </p:nvSpPr>
        <p:spPr>
          <a:xfrm>
            <a:off x="5509550" y="353750"/>
            <a:ext cx="6096000" cy="6001643"/>
          </a:xfrm>
          <a:prstGeom prst="rect">
            <a:avLst/>
          </a:prstGeom>
        </p:spPr>
        <p:txBody>
          <a:bodyPr>
            <a:spAutoFit/>
          </a:bodyPr>
          <a:lstStyle/>
          <a:p>
            <a:pPr>
              <a:spcAft>
                <a:spcPts val="0"/>
              </a:spcAft>
            </a:pPr>
            <a:r>
              <a:rPr lang="en-GB" sz="1200" b="1" dirty="0">
                <a:latin typeface="Courier New" panose="02070309020205020404" pitchFamily="49" charset="0"/>
                <a:ea typeface="MS Mincho"/>
                <a:cs typeface="Times New Roman" panose="02020603050405020304" pitchFamily="18" charset="0"/>
              </a:rPr>
              <a:t>&gt; summary(M3)</a:t>
            </a:r>
            <a:endParaRPr lang="nl-BE" sz="1200" b="1"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Call:</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lm(formula = ANA.RESULTZ ~ </a:t>
            </a:r>
            <a:r>
              <a:rPr lang="en-GB" sz="1200" dirty="0" err="1">
                <a:latin typeface="Courier New" panose="02070309020205020404" pitchFamily="49" charset="0"/>
                <a:ea typeface="MS Mincho"/>
                <a:cs typeface="Times New Roman" panose="02020603050405020304" pitchFamily="18" charset="0"/>
              </a:rPr>
              <a:t>GirlD</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InterestZ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Personal_RelevanceZ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Pass.Wis.Maybe</a:t>
            </a:r>
            <a:r>
              <a:rPr lang="en-GB" sz="1200" dirty="0">
                <a:latin typeface="Courier New" panose="02070309020205020404" pitchFamily="49" charset="0"/>
                <a:ea typeface="MS Mincho"/>
                <a:cs typeface="Times New Roman" panose="02020603050405020304" pitchFamily="18" charset="0"/>
              </a:rPr>
              <a:t>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r>
              <a:rPr lang="en-GB" sz="1200" dirty="0" err="1">
                <a:latin typeface="Courier New" panose="02070309020205020404" pitchFamily="49" charset="0"/>
                <a:ea typeface="MS Mincho"/>
                <a:cs typeface="Times New Roman" panose="02020603050405020304" pitchFamily="18" charset="0"/>
              </a:rPr>
              <a:t>Pass.Wis.Certain</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GirlD</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 </a:t>
            </a:r>
            <a:r>
              <a:rPr lang="en-GB" sz="1200" dirty="0" err="1">
                <a:latin typeface="Courier New" panose="02070309020205020404" pitchFamily="49" charset="0"/>
                <a:ea typeface="MS Mincho"/>
                <a:cs typeface="Times New Roman" panose="02020603050405020304" pitchFamily="18" charset="0"/>
              </a:rPr>
              <a:t>Ext_RegZ</a:t>
            </a:r>
            <a:r>
              <a:rPr lang="en-GB" sz="1200" dirty="0">
                <a:latin typeface="Courier New" panose="02070309020205020404" pitchFamily="49" charset="0"/>
                <a:ea typeface="MS Mincho"/>
                <a:cs typeface="Times New Roman" panose="02020603050405020304" pitchFamily="18" charset="0"/>
              </a:rPr>
              <a:t>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r>
              <a:rPr lang="en-GB" sz="1200" dirty="0" err="1">
                <a:latin typeface="Courier New" panose="02070309020205020404" pitchFamily="49" charset="0"/>
                <a:ea typeface="MS Mincho"/>
                <a:cs typeface="Times New Roman" panose="02020603050405020304" pitchFamily="18" charset="0"/>
              </a:rPr>
              <a:t>Int_RegZ</a:t>
            </a:r>
            <a:r>
              <a:rPr lang="en-GB" sz="1200" dirty="0">
                <a:latin typeface="Courier New" panose="02070309020205020404" pitchFamily="49" charset="0"/>
                <a:ea typeface="MS Mincho"/>
                <a:cs typeface="Times New Roman" panose="02020603050405020304" pitchFamily="18" charset="0"/>
              </a:rPr>
              <a:t>, data = Data2)</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Min      1Q  Median      3Q     Max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-2.3790 -0.6674 -0.0876  0.5133  3.7398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Coefficients:</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Estimate Std. Error t value </a:t>
            </a:r>
            <a:r>
              <a:rPr lang="en-GB" sz="1200" dirty="0" err="1">
                <a:latin typeface="Courier New" panose="02070309020205020404" pitchFamily="49" charset="0"/>
                <a:ea typeface="MS Mincho"/>
                <a:cs typeface="Times New Roman" panose="02020603050405020304" pitchFamily="18" charset="0"/>
              </a:rPr>
              <a:t>Pr</a:t>
            </a:r>
            <a:r>
              <a:rPr lang="en-GB" sz="1200" dirty="0">
                <a:latin typeface="Courier New" panose="02070309020205020404" pitchFamily="49" charset="0"/>
                <a:ea typeface="MS Mincho"/>
                <a:cs typeface="Times New Roman" panose="02020603050405020304" pitchFamily="18" charset="0"/>
              </a:rPr>
              <a:t>(&gt;|t|)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(Intercept)             -0.07338    0.04556  -1.611 0.107516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GirlD1                   0.15724    0.05443   2.889 0.003938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InvolvementZ</a:t>
            </a:r>
            <a:r>
              <a:rPr lang="en-GB" sz="1200" dirty="0">
                <a:latin typeface="Courier New" panose="02070309020205020404" pitchFamily="49" charset="0"/>
                <a:ea typeface="MS Mincho"/>
                <a:cs typeface="Times New Roman" panose="02020603050405020304" pitchFamily="18" charset="0"/>
              </a:rPr>
              <a:t>             0.13675    0.03381   4.044 5.58e-05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CooperationZ</a:t>
            </a:r>
            <a:r>
              <a:rPr lang="en-GB" sz="1200" dirty="0">
                <a:latin typeface="Courier New" panose="02070309020205020404" pitchFamily="49" charset="0"/>
                <a:ea typeface="MS Mincho"/>
                <a:cs typeface="Times New Roman" panose="02020603050405020304" pitchFamily="18" charset="0"/>
              </a:rPr>
              <a:t>             0.03764    0.03371   1.117 0.264315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DifferentiationZ</a:t>
            </a:r>
            <a:r>
              <a:rPr lang="en-GB" sz="1200" dirty="0">
                <a:latin typeface="Courier New" panose="02070309020205020404" pitchFamily="49" charset="0"/>
                <a:ea typeface="MS Mincho"/>
                <a:cs typeface="Times New Roman" panose="02020603050405020304" pitchFamily="18" charset="0"/>
              </a:rPr>
              <a:t>        -0.07277    0.04191  -1.736 0.082768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InterestZ</a:t>
            </a:r>
            <a:r>
              <a:rPr lang="en-GB" sz="1200" dirty="0">
                <a:latin typeface="Courier New" panose="02070309020205020404" pitchFamily="49" charset="0"/>
                <a:ea typeface="MS Mincho"/>
                <a:cs typeface="Times New Roman" panose="02020603050405020304" pitchFamily="18" charset="0"/>
              </a:rPr>
              <a:t>                0.17271    0.03011   5.736 1.23e-08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Personal_RelevanceZ</a:t>
            </a:r>
            <a:r>
              <a:rPr lang="en-GB" sz="1200" dirty="0">
                <a:latin typeface="Courier New" panose="02070309020205020404" pitchFamily="49" charset="0"/>
                <a:ea typeface="MS Mincho"/>
                <a:cs typeface="Times New Roman" panose="02020603050405020304" pitchFamily="18" charset="0"/>
              </a:rPr>
              <a:t>      0.05494    0.02854   1.925 0.054486 .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Pass.Wis.Maybe</a:t>
            </a:r>
            <a:r>
              <a:rPr lang="en-GB" sz="1200" dirty="0">
                <a:latin typeface="Courier New" panose="02070309020205020404" pitchFamily="49" charset="0"/>
                <a:ea typeface="MS Mincho"/>
                <a:cs typeface="Times New Roman" panose="02020603050405020304" pitchFamily="18" charset="0"/>
              </a:rPr>
              <a:t>          -0.12126    0.06027  -2.012 0.044449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Pass.Wis.Certain</a:t>
            </a:r>
            <a:r>
              <a:rPr lang="en-GB" sz="1200" dirty="0">
                <a:latin typeface="Courier New" panose="02070309020205020404" pitchFamily="49" charset="0"/>
                <a:ea typeface="MS Mincho"/>
                <a:cs typeface="Times New Roman" panose="02020603050405020304" pitchFamily="18" charset="0"/>
              </a:rPr>
              <a:t>         0.13152    0.13028   1.010 0.312915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Ext_RegZ</a:t>
            </a:r>
            <a:r>
              <a:rPr lang="en-GB" sz="1200" dirty="0">
                <a:latin typeface="Courier New" panose="02070309020205020404" pitchFamily="49" charset="0"/>
                <a:ea typeface="MS Mincho"/>
                <a:cs typeface="Times New Roman" panose="02020603050405020304" pitchFamily="18" charset="0"/>
              </a:rPr>
              <a:t>                -0.13294    0.03509  -3.789 0.000159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Int_RegZ</a:t>
            </a:r>
            <a:r>
              <a:rPr lang="en-GB" sz="1200" dirty="0">
                <a:latin typeface="Courier New" panose="02070309020205020404" pitchFamily="49" charset="0"/>
                <a:ea typeface="MS Mincho"/>
                <a:cs typeface="Times New Roman" panose="02020603050405020304" pitchFamily="18" charset="0"/>
              </a:rPr>
              <a:t>                 0.06939    0.03550   1.955 0.050856 .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GirlD1:DifferentiationZ -0.08059    0.05397  -1.493 0.135690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err="1">
                <a:latin typeface="Courier New" panose="02070309020205020404" pitchFamily="49" charset="0"/>
                <a:ea typeface="MS Mincho"/>
                <a:cs typeface="Times New Roman" panose="02020603050405020304" pitchFamily="18" charset="0"/>
              </a:rPr>
              <a:t>Signif</a:t>
            </a:r>
            <a:r>
              <a:rPr lang="en-GB" sz="1200" dirty="0">
                <a:latin typeface="Courier New" panose="02070309020205020404" pitchFamily="49" charset="0"/>
                <a:ea typeface="MS Mincho"/>
                <a:cs typeface="Times New Roman" panose="02020603050405020304" pitchFamily="18" charset="0"/>
              </a:rPr>
              <a:t>. codes:  0 ‘***’ 0.001 ‘**’ 0.01 ‘*’ 0.05 ‘.’ 0.1 ‘ ’ 1</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Residual standard error: 0.9356 on 1202 degrees of freedom</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Multiple R-squared:  0.1348,	Adjusted R-squared:  0.1269 </a:t>
            </a:r>
            <a:endParaRPr lang="nl-BE" sz="1200" dirty="0">
              <a:latin typeface="Cambria" panose="02040503050406030204" pitchFamily="18" charset="0"/>
              <a:ea typeface="MS Mincho"/>
              <a:cs typeface="Times New Roman" panose="02020603050405020304" pitchFamily="18" charset="0"/>
            </a:endParaRPr>
          </a:p>
          <a:p>
            <a:pPr>
              <a:spcAft>
                <a:spcPts val="0"/>
              </a:spcAft>
            </a:pPr>
            <a:r>
              <a:rPr lang="en-GB" sz="1200" dirty="0">
                <a:latin typeface="Courier New" panose="02070309020205020404" pitchFamily="49" charset="0"/>
                <a:ea typeface="MS Mincho"/>
                <a:cs typeface="Times New Roman" panose="02020603050405020304" pitchFamily="18" charset="0"/>
              </a:rPr>
              <a:t>F-statistic: 17.03 on 11 and 1202 DF,  p-value: &lt; 2.2e-16</a:t>
            </a:r>
            <a:endParaRPr lang="nl-BE" sz="1200" dirty="0">
              <a:effectLst/>
              <a:latin typeface="Cambria" panose="02040503050406030204" pitchFamily="18" charset="0"/>
              <a:ea typeface="MS Mincho"/>
              <a:cs typeface="Times New Roman" panose="02020603050405020304" pitchFamily="18" charset="0"/>
            </a:endParaRPr>
          </a:p>
        </p:txBody>
      </p:sp>
    </p:spTree>
    <p:extLst>
      <p:ext uri="{BB962C8B-B14F-4D97-AF65-F5344CB8AC3E}">
        <p14:creationId xmlns:p14="http://schemas.microsoft.com/office/powerpoint/2010/main" val="115186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12 – oplossing – </a:t>
            </a:r>
            <a:r>
              <a:rPr lang="nl-BE" dirty="0">
                <a:solidFill>
                  <a:srgbClr val="00B050"/>
                </a:solidFill>
              </a:rPr>
              <a:t>te verdienen deelscores</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35</a:t>
            </a:fld>
            <a:endParaRPr lang="nl-BE" dirty="0"/>
          </a:p>
        </p:txBody>
      </p:sp>
      <p:sp>
        <p:nvSpPr>
          <p:cNvPr id="6" name="Rechthoek 5"/>
          <p:cNvSpPr/>
          <p:nvPr/>
        </p:nvSpPr>
        <p:spPr>
          <a:xfrm>
            <a:off x="1081086" y="1026461"/>
            <a:ext cx="10003225" cy="4103688"/>
          </a:xfrm>
          <a:prstGeom prst="rect">
            <a:avLst/>
          </a:prstGeom>
        </p:spPr>
        <p:txBody>
          <a:bodyPr wrap="square">
            <a:spAutoFit/>
          </a:bodyPr>
          <a:lstStyle/>
          <a:p>
            <a:pPr marL="342900" marR="175895" lvl="0" indent="-342900">
              <a:spcAft>
                <a:spcPts val="1600"/>
              </a:spcAft>
              <a:buFont typeface="Symbol" panose="05050102010706020507" pitchFamily="18" charset="2"/>
              <a:buChar char="·"/>
            </a:pPr>
            <a:r>
              <a:rPr lang="nl-NL" dirty="0">
                <a:latin typeface="Calibri" panose="020F0502020204030204" pitchFamily="34" charset="0"/>
                <a:ea typeface="Calibri" panose="020F0502020204030204" pitchFamily="34" charset="0"/>
                <a:cs typeface="Times New Roman" panose="02020603050405020304" pitchFamily="18" charset="0"/>
              </a:rPr>
              <a:t>Het positieve effect van 'GirlD1' op 'ANA.RESULTZ' wordt </a:t>
            </a:r>
            <a:r>
              <a:rPr lang="nl-NL" b="1" dirty="0">
                <a:latin typeface="Calibri" panose="020F0502020204030204" pitchFamily="34" charset="0"/>
                <a:ea typeface="Calibri" panose="020F0502020204030204" pitchFamily="34" charset="0"/>
                <a:cs typeface="Times New Roman" panose="02020603050405020304" pitchFamily="18" charset="0"/>
              </a:rPr>
              <a:t>afgezwakt</a:t>
            </a:r>
            <a:r>
              <a:rPr lang="nl-NL" dirty="0">
                <a:latin typeface="Calibri" panose="020F0502020204030204" pitchFamily="34" charset="0"/>
                <a:ea typeface="Calibri" panose="020F0502020204030204" pitchFamily="34" charset="0"/>
                <a:cs typeface="Times New Roman" panose="02020603050405020304" pitchFamily="18" charset="0"/>
              </a:rPr>
              <a:t> met 0,08 standaardafwijkingen per </a:t>
            </a:r>
            <a:r>
              <a:rPr lang="nl-NL" dirty="0" err="1">
                <a:latin typeface="Calibri" panose="020F0502020204030204" pitchFamily="34" charset="0"/>
                <a:ea typeface="Calibri" panose="020F0502020204030204" pitchFamily="34" charset="0"/>
                <a:cs typeface="Times New Roman" panose="02020603050405020304" pitchFamily="18" charset="0"/>
              </a:rPr>
              <a:t>sd</a:t>
            </a:r>
            <a:r>
              <a:rPr lang="nl-NL" dirty="0">
                <a:latin typeface="Calibri" panose="020F0502020204030204" pitchFamily="34" charset="0"/>
                <a:ea typeface="Calibri" panose="020F0502020204030204" pitchFamily="34" charset="0"/>
                <a:cs typeface="Times New Roman" panose="02020603050405020304" pitchFamily="18" charset="0"/>
              </a:rPr>
              <a:t> dat er hoger dan gemiddeld wordt gescoord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in de steekproef, </a:t>
            </a:r>
            <a:r>
              <a:rPr lang="nl-BE" dirty="0">
                <a:latin typeface="Calibri" panose="020F0502020204030204" pitchFamily="34" charset="0"/>
                <a:ea typeface="Calibri" panose="020F0502020204030204" pitchFamily="34" charset="0"/>
                <a:cs typeface="Times New Roman" panose="02020603050405020304" pitchFamily="18" charset="0"/>
              </a:rPr>
              <a:t>ongeacht de score op ‘InvolvementZ', 'CooperationZ', 'InterestZ', ' Personal_RelevanceZ ', 'Pass.Wis.Maybe', 'Pass.Wis.Certain', 'Ext_RegZ' en 'Int_RegZ' </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b=-0,08059</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 (2p)</a:t>
            </a:r>
            <a:r>
              <a:rPr lang="nl-NL" dirty="0">
                <a:latin typeface="Calibri" panose="020F0502020204030204" pitchFamily="34" charset="0"/>
                <a:ea typeface="Calibri" panose="020F0502020204030204" pitchFamily="34" charset="0"/>
                <a:cs typeface="Times New Roman" panose="02020603050405020304" pitchFamily="18" charset="0"/>
              </a:rPr>
              <a:t> . </a:t>
            </a:r>
            <a:endParaRPr lang="nl-BE" dirty="0"/>
          </a:p>
          <a:p>
            <a:pPr marL="742950" marR="175895" lvl="1" indent="-285750">
              <a:spcAft>
                <a:spcPts val="1600"/>
              </a:spcAft>
              <a:buFont typeface="Courier New" panose="02070309020205020404" pitchFamily="49" charset="0"/>
              <a:buChar char="o"/>
            </a:pPr>
            <a:r>
              <a:rPr lang="nl-NL" dirty="0">
                <a:latin typeface="Calibri" panose="020F0502020204030204" pitchFamily="34" charset="0"/>
                <a:ea typeface="Calibri" panose="020F0502020204030204" pitchFamily="34" charset="0"/>
                <a:cs typeface="Times New Roman" panose="02020603050405020304" pitchFamily="18" charset="0"/>
              </a:rPr>
              <a:t>Indien een meisje gemiddeld scoort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dan scoort ze </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0,16 </a:t>
            </a:r>
            <a:r>
              <a:rPr lang="nl-NL" dirty="0">
                <a:latin typeface="Calibri" panose="020F0502020204030204" pitchFamily="34" charset="0"/>
                <a:ea typeface="Calibri" panose="020F0502020204030204" pitchFamily="34" charset="0"/>
                <a:cs typeface="Times New Roman" panose="02020603050405020304" pitchFamily="18" charset="0"/>
              </a:rPr>
              <a:t>standaardafwijkingen hoger op 'ANA.RESULTZ' in de steekproef dan een jongen die gemiddeld scoort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ongeacht de score op ‘</a:t>
            </a:r>
            <a:r>
              <a:rPr lang="nl-BE" dirty="0">
                <a:latin typeface="Calibri" panose="020F0502020204030204" pitchFamily="34" charset="0"/>
                <a:ea typeface="Calibri" panose="020F0502020204030204" pitchFamily="34" charset="0"/>
                <a:cs typeface="Times New Roman" panose="02020603050405020304" pitchFamily="18" charset="0"/>
              </a:rPr>
              <a:t>‘</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Pass.Wis.Maybe</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Pass.Wis.Certain</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a:t>
            </a:r>
            <a:r>
              <a:rPr lang="nl-NL" dirty="0">
                <a:latin typeface="Calibri" panose="020F0502020204030204" pitchFamily="34" charset="0"/>
                <a:ea typeface="Calibri" panose="020F0502020204030204" pitchFamily="34" charset="0"/>
                <a:cs typeface="Times New Roman" panose="02020603050405020304" pitchFamily="18" charset="0"/>
              </a:rPr>
              <a:t>.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endParaRPr lang="nl-BE" dirty="0">
              <a:cs typeface="Times New Roman" panose="02020603050405020304" pitchFamily="18" charset="0"/>
            </a:endParaRPr>
          </a:p>
          <a:p>
            <a:pPr marL="742950" marR="176530" lvl="1" indent="-285750">
              <a:spcAft>
                <a:spcPts val="0"/>
              </a:spcAft>
              <a:buFont typeface="Courier New" panose="02070309020205020404" pitchFamily="49" charset="0"/>
              <a:buChar char="o"/>
            </a:pPr>
            <a:r>
              <a:rPr lang="nl-NL" dirty="0">
                <a:latin typeface="Calibri" panose="020F0502020204030204" pitchFamily="34" charset="0"/>
                <a:ea typeface="Calibri" panose="020F0502020204030204" pitchFamily="34" charset="0"/>
                <a:cs typeface="Times New Roman" panose="02020603050405020304" pitchFamily="18" charset="0"/>
              </a:rPr>
              <a:t>Indien een meisje 1 standaardafwijking hoger scoort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dan scoort ze 0,08 </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(0,16 – 0,08) </a:t>
            </a:r>
            <a:r>
              <a:rPr lang="nl-NL" dirty="0">
                <a:latin typeface="Calibri" panose="020F0502020204030204" pitchFamily="34" charset="0"/>
                <a:ea typeface="Calibri" panose="020F0502020204030204" pitchFamily="34" charset="0"/>
                <a:cs typeface="Times New Roman" panose="02020603050405020304" pitchFamily="18" charset="0"/>
              </a:rPr>
              <a:t>standaardafwijkingen hoger op 'ANA.RESULTZ' in de steekproef dan een jongen die 1 standaardafwijking hoger scoort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ongeacht de score op ‘</a:t>
            </a:r>
            <a:r>
              <a:rPr lang="nl-BE" dirty="0">
                <a:latin typeface="Calibri" panose="020F0502020204030204" pitchFamily="34" charset="0"/>
                <a:ea typeface="Calibri" panose="020F0502020204030204" pitchFamily="34" charset="0"/>
                <a:cs typeface="Times New Roman" panose="02020603050405020304" pitchFamily="18" charset="0"/>
              </a:rPr>
              <a:t>InvolvementZ', 'CooperationZ', 'InterestZ', ' Personal_Relevance', 'Pass.Wis.Maybe', 'Pass.Wis.Certain', 'Ext_RegZ' en 'Int_RegZ'</a:t>
            </a:r>
            <a:r>
              <a:rPr lang="nl-NL" dirty="0">
                <a:latin typeface="Calibri" panose="020F0502020204030204" pitchFamily="34" charset="0"/>
                <a:ea typeface="Calibri" panose="020F0502020204030204" pitchFamily="34" charset="0"/>
                <a:cs typeface="Times New Roman" panose="02020603050405020304" pitchFamily="18" charset="0"/>
              </a:rPr>
              <a:t>.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endParaRPr lang="nl-BE" dirty="0">
              <a:effectLst/>
              <a:cs typeface="Times New Roman" panose="02020603050405020304" pitchFamily="18" charset="0"/>
            </a:endParaRPr>
          </a:p>
        </p:txBody>
      </p:sp>
      <p:sp>
        <p:nvSpPr>
          <p:cNvPr id="7" name="Rechthoek 6"/>
          <p:cNvSpPr/>
          <p:nvPr/>
        </p:nvSpPr>
        <p:spPr>
          <a:xfrm>
            <a:off x="1283956" y="5130149"/>
            <a:ext cx="9923020" cy="1574149"/>
          </a:xfrm>
          <a:prstGeom prst="rect">
            <a:avLst/>
          </a:prstGeom>
          <a:solidFill>
            <a:schemeClr val="bg1"/>
          </a:solidFill>
        </p:spPr>
        <p:txBody>
          <a:bodyPr wrap="square">
            <a:spAutoFit/>
          </a:bodyPr>
          <a:lstStyle/>
          <a:p>
            <a:pPr marL="342900" marR="175895" lvl="0" indent="-342900">
              <a:lnSpc>
                <a:spcPct val="107000"/>
              </a:lnSpc>
              <a:spcAft>
                <a:spcPts val="1600"/>
              </a:spcAft>
              <a:buFont typeface="Symbol" panose="05050102010706020507" pitchFamily="18" charset="2"/>
              <a:buChar char=""/>
            </a:pPr>
            <a:r>
              <a:rPr lang="nl-NL" dirty="0">
                <a:latin typeface="Calibri" panose="020F0502020204030204" pitchFamily="34" charset="0"/>
                <a:ea typeface="Calibri" panose="020F0502020204030204" pitchFamily="34" charset="0"/>
                <a:cs typeface="Times New Roman" panose="02020603050405020304" pitchFamily="18" charset="0"/>
              </a:rPr>
              <a:t>We kunnen deze bevinding niet doortrekken naar de populatie </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(p-waarde GirlD1:DifferentiationZ &gt; 0.05)</a:t>
            </a:r>
            <a:r>
              <a:rPr lang="nl-NL" dirty="0">
                <a:latin typeface="Calibri" panose="020F0502020204030204" pitchFamily="34" charset="0"/>
                <a:ea typeface="Calibri" panose="020F0502020204030204" pitchFamily="34" charset="0"/>
                <a:cs typeface="Times New Roman" panose="02020603050405020304" pitchFamily="18" charset="0"/>
              </a:rPr>
              <a:t>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(0,5p). </a:t>
            </a:r>
            <a:r>
              <a:rPr lang="nl-NL" dirty="0">
                <a:latin typeface="Calibri" panose="020F0502020204030204" pitchFamily="34" charset="0"/>
                <a:ea typeface="Calibri" panose="020F0502020204030204" pitchFamily="34" charset="0"/>
                <a:cs typeface="Times New Roman" panose="02020603050405020304" pitchFamily="18" charset="0"/>
              </a:rPr>
              <a:t>In de populatie verwachten we dat het effect van 'GIRLD1' op 'ANA.RESULTZ' niet verschilt naargelang de score op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a:t>
            </a:r>
            <a:r>
              <a:rPr lang="nl-BE" dirty="0">
                <a:latin typeface="Calibri" panose="020F0502020204030204" pitchFamily="34" charset="0"/>
                <a:ea typeface="Calibri" panose="020F0502020204030204" pitchFamily="34" charset="0"/>
                <a:cs typeface="Times New Roman" panose="02020603050405020304" pitchFamily="18" charset="0"/>
              </a:rPr>
              <a:t>ongeacht de score op ‘InvolvementZ', 'CooperationZ', 'InterestZ', ' Personal_RelevanceZ ', 'Pass.Wis.Maybe', 'Pass.Wis.Certain', 'Ext_RegZ' en 'Int_RegZ' </a:t>
            </a:r>
            <a:r>
              <a:rPr lang="nl-BE" dirty="0">
                <a:solidFill>
                  <a:srgbClr val="00B050"/>
                </a:solidFill>
                <a:latin typeface="Calibri" panose="020F0502020204030204" pitchFamily="34" charset="0"/>
                <a:ea typeface="Calibri" panose="020F0502020204030204" pitchFamily="34" charset="0"/>
                <a:cs typeface="Times New Roman" panose="02020603050405020304" pitchFamily="18" charset="0"/>
              </a:rPr>
              <a:t>(1p).</a:t>
            </a:r>
          </a:p>
        </p:txBody>
      </p:sp>
      <p:sp>
        <p:nvSpPr>
          <p:cNvPr id="8" name="Tekstvak 7"/>
          <p:cNvSpPr txBox="1"/>
          <p:nvPr/>
        </p:nvSpPr>
        <p:spPr>
          <a:xfrm rot="5400000" flipV="1">
            <a:off x="-367990" y="2955073"/>
            <a:ext cx="4081346" cy="903249"/>
          </a:xfrm>
          <a:prstGeom prst="rect">
            <a:avLst/>
          </a:prstGeom>
          <a:noFill/>
        </p:spPr>
        <p:txBody>
          <a:bodyPr wrap="square" lIns="0" tIns="0" rIns="0" bIns="0" rtlCol="0">
            <a:noAutofit/>
          </a:bodyPr>
          <a:lstStyle/>
          <a:p>
            <a:pPr algn="l"/>
            <a:endParaRPr lang="nl-BE" sz="2800" b="1" dirty="0">
              <a:solidFill>
                <a:srgbClr val="D883FF"/>
              </a:solidFill>
              <a:latin typeface="+mn-lt"/>
              <a:ea typeface="Verdana" panose="020B0604030504040204" pitchFamily="34" charset="0"/>
              <a:cs typeface="Verdana" panose="020B0604030504040204" pitchFamily="34" charset="0"/>
            </a:endParaRPr>
          </a:p>
        </p:txBody>
      </p:sp>
      <p:sp>
        <p:nvSpPr>
          <p:cNvPr id="9" name="Rechthoek 8"/>
          <p:cNvSpPr/>
          <p:nvPr/>
        </p:nvSpPr>
        <p:spPr>
          <a:xfrm rot="16200000">
            <a:off x="-1082753" y="3175865"/>
            <a:ext cx="3688189" cy="461665"/>
          </a:xfrm>
          <a:prstGeom prst="rect">
            <a:avLst/>
          </a:prstGeom>
        </p:spPr>
        <p:txBody>
          <a:bodyPr wrap="none">
            <a:spAutoFit/>
          </a:bodyPr>
          <a:lstStyle/>
          <a:p>
            <a:r>
              <a:rPr lang="nl-BE" sz="2400" b="1" dirty="0">
                <a:solidFill>
                  <a:srgbClr val="D883FF"/>
                </a:solidFill>
                <a:latin typeface="+mn-lt"/>
                <a:ea typeface="Verdana" panose="020B0604030504040204" pitchFamily="34" charset="0"/>
                <a:cs typeface="Verdana" panose="020B0604030504040204" pitchFamily="34" charset="0"/>
              </a:rPr>
              <a:t>Interpretatiemogelijkheid 1</a:t>
            </a:r>
          </a:p>
        </p:txBody>
      </p:sp>
    </p:spTree>
    <p:extLst>
      <p:ext uri="{BB962C8B-B14F-4D97-AF65-F5344CB8AC3E}">
        <p14:creationId xmlns:p14="http://schemas.microsoft.com/office/powerpoint/2010/main" val="330671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12 – oplossing – </a:t>
            </a:r>
            <a:r>
              <a:rPr lang="nl-BE" dirty="0">
                <a:solidFill>
                  <a:srgbClr val="00B050"/>
                </a:solidFill>
              </a:rPr>
              <a:t>te verdienen deelscores</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36</a:t>
            </a:fld>
            <a:endParaRPr lang="nl-BE" dirty="0"/>
          </a:p>
        </p:txBody>
      </p:sp>
      <p:sp>
        <p:nvSpPr>
          <p:cNvPr id="6" name="Rechthoek 5"/>
          <p:cNvSpPr/>
          <p:nvPr/>
        </p:nvSpPr>
        <p:spPr>
          <a:xfrm>
            <a:off x="1081086" y="1026461"/>
            <a:ext cx="10003225" cy="3826689"/>
          </a:xfrm>
          <a:prstGeom prst="rect">
            <a:avLst/>
          </a:prstGeom>
        </p:spPr>
        <p:txBody>
          <a:bodyPr wrap="square">
            <a:spAutoFit/>
          </a:bodyPr>
          <a:lstStyle/>
          <a:p>
            <a:pPr marL="342900" marR="175895" lvl="0" indent="-342900">
              <a:spcAft>
                <a:spcPts val="1600"/>
              </a:spcAft>
              <a:buFont typeface="Symbol" panose="05050102010706020507" pitchFamily="18" charset="2"/>
              <a:buChar char="·"/>
            </a:pPr>
            <a:r>
              <a:rPr lang="nl-NL" dirty="0">
                <a:latin typeface="Calibri" panose="020F0502020204030204" pitchFamily="34" charset="0"/>
                <a:ea typeface="Calibri" panose="020F0502020204030204" pitchFamily="34" charset="0"/>
                <a:cs typeface="Times New Roman" panose="02020603050405020304" pitchFamily="18" charset="0"/>
              </a:rPr>
              <a:t>Het negatieve effect van '</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op 'ANA.RESULTZ' is 0,08 standaardafwijkingen </a:t>
            </a:r>
            <a:r>
              <a:rPr lang="nl-NL" b="1" dirty="0">
                <a:latin typeface="Calibri" panose="020F0502020204030204" pitchFamily="34" charset="0"/>
                <a:ea typeface="Calibri" panose="020F0502020204030204" pitchFamily="34" charset="0"/>
                <a:cs typeface="Times New Roman" panose="02020603050405020304" pitchFamily="18" charset="0"/>
              </a:rPr>
              <a:t>sterker</a:t>
            </a:r>
            <a:r>
              <a:rPr lang="nl-NL" dirty="0">
                <a:latin typeface="Calibri" panose="020F0502020204030204" pitchFamily="34" charset="0"/>
                <a:ea typeface="Calibri" panose="020F0502020204030204" pitchFamily="34" charset="0"/>
                <a:cs typeface="Times New Roman" panose="02020603050405020304" pitchFamily="18" charset="0"/>
              </a:rPr>
              <a:t> voor meisjes dan voor jongens in de steekproef, </a:t>
            </a:r>
            <a:r>
              <a:rPr lang="nl-BE" dirty="0">
                <a:latin typeface="Calibri" panose="020F0502020204030204" pitchFamily="34" charset="0"/>
                <a:ea typeface="Calibri" panose="020F0502020204030204" pitchFamily="34" charset="0"/>
                <a:cs typeface="Times New Roman" panose="02020603050405020304" pitchFamily="18" charset="0"/>
              </a:rPr>
              <a:t>ongeacht de score op ‘InvolvementZ', 'CooperationZ', 'InterestZ', ' Personal_RelevanceZ ', 'Pass.Wis.Maybe', 'Pass.Wis.Certain', 'Ext_RegZ' en 'Int_RegZ' </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b=-0,08059</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 (2p)</a:t>
            </a:r>
            <a:r>
              <a:rPr lang="nl-NL" dirty="0">
                <a:latin typeface="Calibri" panose="020F0502020204030204" pitchFamily="34" charset="0"/>
                <a:ea typeface="Calibri" panose="020F0502020204030204" pitchFamily="34" charset="0"/>
                <a:cs typeface="Times New Roman" panose="02020603050405020304" pitchFamily="18" charset="0"/>
              </a:rPr>
              <a:t> . </a:t>
            </a:r>
            <a:endParaRPr lang="nl-BE" dirty="0"/>
          </a:p>
          <a:p>
            <a:pPr marL="742950" marR="175895" lvl="1" indent="-285750">
              <a:spcAft>
                <a:spcPts val="1600"/>
              </a:spcAft>
              <a:buFont typeface="Courier New" panose="02070309020205020404" pitchFamily="49" charset="0"/>
              <a:buChar char="o"/>
            </a:pPr>
            <a:r>
              <a:rPr lang="nl-BE" dirty="0">
                <a:latin typeface="Calibri" panose="020F0502020204030204" pitchFamily="34" charset="0"/>
                <a:ea typeface="Calibri" panose="020F0502020204030204" pitchFamily="34" charset="0"/>
                <a:cs typeface="Times New Roman" panose="02020603050405020304" pitchFamily="18" charset="0"/>
              </a:rPr>
              <a:t>Voor jongens geldt dat 1 SD hoger scoren op </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leidt tot 0,07 standaardafwijkingen lager scoren op 'ANA.RESULTZ' in de steekproef ongeacht de score op ‘</a:t>
            </a:r>
            <a:r>
              <a:rPr lang="nl-BE" dirty="0">
                <a:latin typeface="Calibri" panose="020F0502020204030204" pitchFamily="34" charset="0"/>
                <a:ea typeface="Calibri" panose="020F0502020204030204" pitchFamily="34" charset="0"/>
                <a:cs typeface="Times New Roman" panose="02020603050405020304" pitchFamily="18" charset="0"/>
              </a:rPr>
              <a:t>‘</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Pass.Wis.Maybe</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Pass.Wis.Certain</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a:t>
            </a:r>
            <a:r>
              <a:rPr lang="nl-NL" dirty="0">
                <a:latin typeface="Calibri" panose="020F0502020204030204" pitchFamily="34" charset="0"/>
                <a:ea typeface="Calibri" panose="020F0502020204030204" pitchFamily="34" charset="0"/>
                <a:cs typeface="Times New Roman" panose="02020603050405020304" pitchFamily="18" charset="0"/>
              </a:rPr>
              <a:t>.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endParaRPr lang="nl-BE" dirty="0">
              <a:cs typeface="Times New Roman" panose="02020603050405020304" pitchFamily="18" charset="0"/>
            </a:endParaRPr>
          </a:p>
          <a:p>
            <a:pPr marL="742950" marR="176530" lvl="1" indent="-285750">
              <a:spcAft>
                <a:spcPts val="0"/>
              </a:spcAft>
              <a:buFont typeface="Courier New" panose="02070309020205020404" pitchFamily="49" charset="0"/>
              <a:buChar char="o"/>
            </a:pPr>
            <a:r>
              <a:rPr lang="nl-BE" dirty="0">
                <a:latin typeface="Calibri" panose="020F0502020204030204" pitchFamily="34" charset="0"/>
                <a:ea typeface="Calibri" panose="020F0502020204030204" pitchFamily="34" charset="0"/>
                <a:cs typeface="Times New Roman" panose="02020603050405020304" pitchFamily="18" charset="0"/>
              </a:rPr>
              <a:t>Voor meisjes geldt 1 SD hoger scoren op </a:t>
            </a:r>
            <a:r>
              <a:rPr lang="nl-NL" dirty="0">
                <a:latin typeface="Calibri" panose="020F0502020204030204" pitchFamily="34" charset="0"/>
                <a:ea typeface="Calibri" panose="020F0502020204030204" pitchFamily="34" charset="0"/>
                <a:cs typeface="Times New Roman" panose="02020603050405020304" pitchFamily="18" charset="0"/>
              </a:rPr>
              <a:t>'</a:t>
            </a:r>
            <a:r>
              <a:rPr lang="nl-NL" dirty="0" err="1">
                <a:latin typeface="Calibri" panose="020F0502020204030204" pitchFamily="34" charset="0"/>
                <a:ea typeface="Calibri" panose="020F0502020204030204" pitchFamily="34" charset="0"/>
                <a:cs typeface="Times New Roman" panose="02020603050405020304" pitchFamily="18" charset="0"/>
              </a:rPr>
              <a:t>DifferentiationZ</a:t>
            </a:r>
            <a:r>
              <a:rPr lang="nl-NL" dirty="0">
                <a:latin typeface="Calibri" panose="020F0502020204030204" pitchFamily="34" charset="0"/>
                <a:ea typeface="Calibri" panose="020F0502020204030204" pitchFamily="34" charset="0"/>
                <a:cs typeface="Times New Roman" panose="02020603050405020304" pitchFamily="18" charset="0"/>
              </a:rPr>
              <a:t>' leidt tot 0,15 </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(-0,07 – 0,08) </a:t>
            </a:r>
            <a:r>
              <a:rPr lang="nl-NL" dirty="0">
                <a:latin typeface="Calibri" panose="020F0502020204030204" pitchFamily="34" charset="0"/>
                <a:ea typeface="Calibri" panose="020F0502020204030204" pitchFamily="34" charset="0"/>
                <a:cs typeface="Times New Roman" panose="02020603050405020304" pitchFamily="18" charset="0"/>
              </a:rPr>
              <a:t>standaardafwijkingen lager scoren op 'ANA.RESULTZ' in de steekproef ongeacht de score op ‘</a:t>
            </a:r>
            <a:r>
              <a:rPr lang="nl-BE" dirty="0">
                <a:latin typeface="Calibri" panose="020F0502020204030204" pitchFamily="34" charset="0"/>
                <a:ea typeface="Calibri" panose="020F0502020204030204" pitchFamily="34" charset="0"/>
                <a:cs typeface="Times New Roman" panose="02020603050405020304" pitchFamily="18" charset="0"/>
              </a:rPr>
              <a:t>‘</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 '</a:t>
            </a:r>
            <a:r>
              <a:rPr lang="nl-BE" dirty="0" err="1">
                <a:latin typeface="Calibri" panose="020F0502020204030204" pitchFamily="34" charset="0"/>
                <a:ea typeface="Calibri" panose="020F0502020204030204" pitchFamily="34" charset="0"/>
                <a:cs typeface="Times New Roman" panose="02020603050405020304" pitchFamily="18" charset="0"/>
              </a:rPr>
              <a:t>Pass.Wis.Maybe</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Pass.Wis.Certain</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a:t>
            </a:r>
            <a:r>
              <a:rPr lang="nl-NL" dirty="0">
                <a:latin typeface="Calibri" panose="020F0502020204030204" pitchFamily="34" charset="0"/>
                <a:ea typeface="Calibri" panose="020F0502020204030204" pitchFamily="34" charset="0"/>
                <a:cs typeface="Times New Roman" panose="02020603050405020304" pitchFamily="18" charset="0"/>
              </a:rPr>
              <a:t>. </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(0,75p)</a:t>
            </a:r>
            <a:endParaRPr lang="nl-BE" dirty="0">
              <a:effectLst/>
              <a:cs typeface="Times New Roman" panose="02020603050405020304" pitchFamily="18" charset="0"/>
            </a:endParaRPr>
          </a:p>
        </p:txBody>
      </p:sp>
      <p:sp>
        <p:nvSpPr>
          <p:cNvPr id="7" name="Rechthoek 6"/>
          <p:cNvSpPr/>
          <p:nvPr/>
        </p:nvSpPr>
        <p:spPr>
          <a:xfrm>
            <a:off x="1283956" y="4960730"/>
            <a:ext cx="9923020" cy="1561005"/>
          </a:xfrm>
          <a:prstGeom prst="rect">
            <a:avLst/>
          </a:prstGeom>
          <a:solidFill>
            <a:schemeClr val="bg1"/>
          </a:solidFill>
        </p:spPr>
        <p:txBody>
          <a:bodyPr wrap="square">
            <a:spAutoFit/>
          </a:bodyPr>
          <a:lstStyle/>
          <a:p>
            <a:pPr marL="342900" marR="175895" lvl="0" indent="-342900">
              <a:lnSpc>
                <a:spcPct val="107000"/>
              </a:lnSpc>
              <a:spcAft>
                <a:spcPts val="1600"/>
              </a:spcAft>
              <a:buFont typeface="Symbol" panose="05050102010706020507" pitchFamily="18" charset="2"/>
              <a:buChar char=""/>
            </a:pPr>
            <a:r>
              <a:rPr lang="nl-NL" dirty="0">
                <a:solidFill>
                  <a:srgbClr val="323232"/>
                </a:solidFill>
                <a:latin typeface="Calibri" panose="020F0502020204030204" pitchFamily="34" charset="0"/>
                <a:ea typeface="Calibri" panose="020F0502020204030204" pitchFamily="34" charset="0"/>
                <a:cs typeface="Times New Roman" panose="02020603050405020304" pitchFamily="18" charset="0"/>
              </a:rPr>
              <a:t>We kunnen deze bevinding niet doortrekken naar de populatie (</a:t>
            </a:r>
            <a:r>
              <a:rPr lang="nl-NL" dirty="0">
                <a:solidFill>
                  <a:srgbClr val="0070C0"/>
                </a:solidFill>
                <a:latin typeface="Calibri" panose="020F0502020204030204" pitchFamily="34" charset="0"/>
                <a:ea typeface="Calibri" panose="020F0502020204030204" pitchFamily="34" charset="0"/>
                <a:cs typeface="Times New Roman" panose="02020603050405020304" pitchFamily="18" charset="0"/>
              </a:rPr>
              <a:t>p-waarde GirlD1:DifferentiationZ &gt; 0.05</a:t>
            </a:r>
            <a:r>
              <a:rPr lang="nl-NL"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r>
              <a:rPr lang="nl-NL" dirty="0">
                <a:solidFill>
                  <a:srgbClr val="00B050"/>
                </a:solidFill>
                <a:latin typeface="Calibri" panose="020F0502020204030204" pitchFamily="34" charset="0"/>
                <a:ea typeface="Calibri" panose="020F0502020204030204" pitchFamily="34" charset="0"/>
                <a:cs typeface="Times New Roman" panose="02020603050405020304" pitchFamily="18" charset="0"/>
              </a:rPr>
              <a:t> (0,5p)</a:t>
            </a:r>
            <a:r>
              <a:rPr lang="nl-NL" dirty="0">
                <a:solidFill>
                  <a:srgbClr val="323232"/>
                </a:solidFill>
                <a:latin typeface="Calibri" panose="020F0502020204030204" pitchFamily="34" charset="0"/>
                <a:ea typeface="Calibri" panose="020F0502020204030204" pitchFamily="34" charset="0"/>
                <a:cs typeface="Times New Roman" panose="02020603050405020304" pitchFamily="18" charset="0"/>
              </a:rPr>
              <a:t>. In de populatie verwachten we dat het effect van '</a:t>
            </a:r>
            <a:r>
              <a:rPr lang="nl-NL" dirty="0" err="1">
                <a:solidFill>
                  <a:srgbClr val="323232"/>
                </a:solidFill>
                <a:latin typeface="Calibri" panose="020F0502020204030204" pitchFamily="34" charset="0"/>
                <a:ea typeface="Calibri" panose="020F0502020204030204" pitchFamily="34" charset="0"/>
                <a:cs typeface="Times New Roman" panose="02020603050405020304" pitchFamily="18" charset="0"/>
              </a:rPr>
              <a:t>DifferentiationZ</a:t>
            </a:r>
            <a:r>
              <a:rPr lang="nl-NL" dirty="0">
                <a:solidFill>
                  <a:srgbClr val="323232"/>
                </a:solidFill>
                <a:latin typeface="Calibri" panose="020F0502020204030204" pitchFamily="34" charset="0"/>
                <a:ea typeface="Calibri" panose="020F0502020204030204" pitchFamily="34" charset="0"/>
                <a:cs typeface="Times New Roman" panose="02020603050405020304" pitchFamily="18" charset="0"/>
              </a:rPr>
              <a:t>' op 'ANA.RESULTZ' niet verschilt naargelang het geslacht </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ongeacht de score op ‘InvolvementZ', 'CooperationZ', 'InterestZ', ' Personal_RelevanceZ ', 'Pass.Wis.Maybe', 'Pass.Wis.Certain', 'Ext_RegZ' en 'Int_RegZ' </a:t>
            </a:r>
            <a:r>
              <a:rPr lang="nl-BE" dirty="0">
                <a:solidFill>
                  <a:srgbClr val="00B050"/>
                </a:solidFill>
                <a:latin typeface="Calibri" panose="020F0502020204030204" pitchFamily="34" charset="0"/>
                <a:ea typeface="Calibri" panose="020F0502020204030204" pitchFamily="34" charset="0"/>
                <a:cs typeface="Times New Roman" panose="02020603050405020304" pitchFamily="18" charset="0"/>
              </a:rPr>
              <a:t>(1p)</a:t>
            </a:r>
            <a:r>
              <a:rPr lang="nl-BE" dirty="0">
                <a:solidFill>
                  <a:srgbClr val="323232"/>
                </a:solidFill>
                <a:latin typeface="Calibri" panose="020F0502020204030204" pitchFamily="34" charset="0"/>
                <a:ea typeface="Calibri" panose="020F0502020204030204" pitchFamily="34" charset="0"/>
                <a:cs typeface="Times New Roman" panose="02020603050405020304" pitchFamily="18" charset="0"/>
              </a:rPr>
              <a:t>.</a:t>
            </a:r>
            <a:endParaRPr lang="nl-BE" sz="1800" dirty="0">
              <a:solidFill>
                <a:srgbClr val="32323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kstvak 7"/>
          <p:cNvSpPr txBox="1"/>
          <p:nvPr/>
        </p:nvSpPr>
        <p:spPr>
          <a:xfrm rot="5400000" flipV="1">
            <a:off x="-367990" y="2955073"/>
            <a:ext cx="4081346" cy="903249"/>
          </a:xfrm>
          <a:prstGeom prst="rect">
            <a:avLst/>
          </a:prstGeom>
          <a:noFill/>
        </p:spPr>
        <p:txBody>
          <a:bodyPr wrap="square" lIns="0" tIns="0" rIns="0" bIns="0" rtlCol="0">
            <a:noAutofit/>
          </a:bodyPr>
          <a:lstStyle/>
          <a:p>
            <a:pPr algn="l"/>
            <a:endParaRPr lang="nl-BE" sz="2800" b="1" dirty="0">
              <a:solidFill>
                <a:srgbClr val="D883FF"/>
              </a:solidFill>
              <a:latin typeface="+mn-lt"/>
              <a:ea typeface="Verdana" panose="020B0604030504040204" pitchFamily="34" charset="0"/>
              <a:cs typeface="Verdana" panose="020B0604030504040204" pitchFamily="34" charset="0"/>
            </a:endParaRPr>
          </a:p>
        </p:txBody>
      </p:sp>
      <p:sp>
        <p:nvSpPr>
          <p:cNvPr id="9" name="Rechthoek 8"/>
          <p:cNvSpPr/>
          <p:nvPr/>
        </p:nvSpPr>
        <p:spPr>
          <a:xfrm rot="16200000">
            <a:off x="-1082753" y="3175865"/>
            <a:ext cx="3688189" cy="461665"/>
          </a:xfrm>
          <a:prstGeom prst="rect">
            <a:avLst/>
          </a:prstGeom>
        </p:spPr>
        <p:txBody>
          <a:bodyPr wrap="none">
            <a:spAutoFit/>
          </a:bodyPr>
          <a:lstStyle/>
          <a:p>
            <a:r>
              <a:rPr lang="nl-BE" sz="2400" b="1" dirty="0">
                <a:solidFill>
                  <a:srgbClr val="D883FF"/>
                </a:solidFill>
                <a:latin typeface="+mn-lt"/>
                <a:ea typeface="Verdana" panose="020B0604030504040204" pitchFamily="34" charset="0"/>
                <a:cs typeface="Verdana" panose="020B0604030504040204" pitchFamily="34" charset="0"/>
              </a:rPr>
              <a:t>Interpretatiemogelijkheid 2</a:t>
            </a:r>
          </a:p>
        </p:txBody>
      </p:sp>
    </p:spTree>
    <p:extLst>
      <p:ext uri="{BB962C8B-B14F-4D97-AF65-F5344CB8AC3E}">
        <p14:creationId xmlns:p14="http://schemas.microsoft.com/office/powerpoint/2010/main" val="1356745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13</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37</a:t>
            </a:fld>
            <a:endParaRPr lang="nl-BE" dirty="0"/>
          </a:p>
        </p:txBody>
      </p:sp>
      <p:sp>
        <p:nvSpPr>
          <p:cNvPr id="4" name="Rechthoek 3"/>
          <p:cNvSpPr/>
          <p:nvPr/>
        </p:nvSpPr>
        <p:spPr>
          <a:xfrm>
            <a:off x="484990" y="958257"/>
            <a:ext cx="10976455" cy="4998804"/>
          </a:xfrm>
          <a:prstGeom prst="rect">
            <a:avLst/>
          </a:prstGeom>
          <a:solidFill>
            <a:schemeClr val="bg1"/>
          </a:solidFill>
        </p:spPr>
        <p:txBody>
          <a:bodyPr wrap="square">
            <a:spAutoFit/>
          </a:bodyPr>
          <a:lstStyle/>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sz="1400" i="1" dirty="0">
                <a:latin typeface="Calibri" panose="020F0502020204030204" pitchFamily="34" charset="0"/>
                <a:ea typeface="Calibri" panose="020F0502020204030204" pitchFamily="34" charset="0"/>
                <a:cs typeface="Times New Roman" panose="02020603050405020304" pitchFamily="18" charset="0"/>
              </a:rPr>
              <a:t> </a:t>
            </a:r>
            <a:endParaRPr lang="nl-B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Stefan krijgt de vraag wat de resultaten van zijn analyses nu eigenlijk concreet betekenen. Hij wil dit graag duidelijk maken door voor twee fictieve respondenten een voorspelde wiskundescore te berekenen.</a:t>
            </a:r>
          </a:p>
          <a:p>
            <a:pPr>
              <a:lnSpc>
                <a:spcPct val="107000"/>
              </a:lnSpc>
              <a:spcAft>
                <a:spcPts val="0"/>
              </a:spcAft>
            </a:pP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Bereken a.d.h.v. de resultaten voor model 3 (M3) de volgende scores en vul onderstaande zinnen aan. Rond daarbij enkel de einduitkomst af tot op 2 cijfers na de komma.</a:t>
            </a:r>
          </a:p>
          <a:p>
            <a:pPr>
              <a:lnSpc>
                <a:spcPct val="107000"/>
              </a:lnSpc>
              <a:spcAft>
                <a:spcPts val="0"/>
              </a:spcAft>
            </a:pP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*een meisje dat onzeker is over het al dan niet slagen voor wiskunde ('</a:t>
            </a:r>
            <a:r>
              <a:rPr lang="nl-BE" dirty="0" err="1">
                <a:latin typeface="Calibri" panose="020F0502020204030204" pitchFamily="34" charset="0"/>
                <a:ea typeface="Calibri" panose="020F0502020204030204" pitchFamily="34" charset="0"/>
                <a:cs typeface="Times New Roman" panose="02020603050405020304" pitchFamily="18" charset="0"/>
              </a:rPr>
              <a:t>Pass.Wis.Uncertain</a:t>
            </a:r>
            <a:r>
              <a:rPr lang="nl-BE" dirty="0">
                <a:latin typeface="Calibri" panose="020F0502020204030204" pitchFamily="34" charset="0"/>
                <a:ea typeface="Calibri" panose="020F0502020204030204" pitchFamily="34" charset="0"/>
                <a:cs typeface="Times New Roman" panose="02020603050405020304" pitchFamily="18" charset="0"/>
              </a:rPr>
              <a:t>') en gemiddeld scoort op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2 standaarddeviaties hoger op '</a:t>
            </a:r>
            <a:r>
              <a:rPr lang="nl-BE" dirty="0" err="1">
                <a:latin typeface="Calibri" panose="020F0502020204030204" pitchFamily="34" charset="0"/>
                <a:ea typeface="Calibri" panose="020F0502020204030204" pitchFamily="34" charset="0"/>
                <a:cs typeface="Times New Roman" panose="02020603050405020304" pitchFamily="18" charset="0"/>
              </a:rPr>
              <a:t>DifferentiatieZ</a:t>
            </a:r>
            <a:r>
              <a:rPr lang="nl-BE" dirty="0">
                <a:latin typeface="Calibri" panose="020F0502020204030204" pitchFamily="34" charset="0"/>
                <a:ea typeface="Calibri" panose="020F0502020204030204" pitchFamily="34" charset="0"/>
                <a:cs typeface="Times New Roman" panose="02020603050405020304" pitchFamily="18" charset="0"/>
              </a:rPr>
              <a:t>', 1.5 standaarddeviaties lager op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1 standaarddeviatie hoger op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 behaalt in de STEEKPROEF een score van … …. … op 'ANA.RESULTZ'</a:t>
            </a:r>
          </a:p>
          <a:p>
            <a:pPr>
              <a:lnSpc>
                <a:spcPct val="107000"/>
              </a:lnSpc>
              <a:spcAft>
                <a:spcPts val="0"/>
              </a:spcAft>
            </a:pPr>
            <a:endParaRPr lang="nl-BE"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*een jongen die er zeker van is te zullen slagen voor wiskunde ('</a:t>
            </a:r>
            <a:r>
              <a:rPr lang="nl-BE" dirty="0" err="1">
                <a:latin typeface="Calibri" panose="020F0502020204030204" pitchFamily="34" charset="0"/>
                <a:ea typeface="Calibri" panose="020F0502020204030204" pitchFamily="34" charset="0"/>
                <a:cs typeface="Times New Roman" panose="02020603050405020304" pitchFamily="18" charset="0"/>
              </a:rPr>
              <a:t>Pass.Wis.Certain</a:t>
            </a:r>
            <a:r>
              <a:rPr lang="nl-BE" dirty="0">
                <a:latin typeface="Calibri" panose="020F0502020204030204" pitchFamily="34" charset="0"/>
                <a:ea typeface="Calibri" panose="020F0502020204030204" pitchFamily="34" charset="0"/>
                <a:cs typeface="Times New Roman" panose="02020603050405020304" pitchFamily="18" charset="0"/>
              </a:rPr>
              <a:t>') en gemiddeld scoort op '</a:t>
            </a:r>
            <a:r>
              <a:rPr lang="nl-BE" dirty="0" err="1">
                <a:latin typeface="Calibri" panose="020F0502020204030204" pitchFamily="34" charset="0"/>
                <a:ea typeface="Calibri" panose="020F0502020204030204" pitchFamily="34" charset="0"/>
                <a:cs typeface="Times New Roman" panose="02020603050405020304" pitchFamily="18" charset="0"/>
              </a:rPr>
              <a:t>DifferentiationZ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 3 standaarddeviaties hoger op '</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1.5 standaarddeviaties lager op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1 standaarddeviatie hoger op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behaalt in de POPULATIE een score van … …. … op 'ANA.RESULTZ'</a:t>
            </a:r>
          </a:p>
        </p:txBody>
      </p:sp>
    </p:spTree>
    <p:extLst>
      <p:ext uri="{BB962C8B-B14F-4D97-AF65-F5344CB8AC3E}">
        <p14:creationId xmlns:p14="http://schemas.microsoft.com/office/powerpoint/2010/main" val="4011527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13 -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38</a:t>
            </a:fld>
            <a:endParaRPr lang="nl-BE" dirty="0"/>
          </a:p>
        </p:txBody>
      </p:sp>
      <p:sp>
        <p:nvSpPr>
          <p:cNvPr id="4" name="Rechthoek 3"/>
          <p:cNvSpPr/>
          <p:nvPr/>
        </p:nvSpPr>
        <p:spPr>
          <a:xfrm>
            <a:off x="484991" y="1140573"/>
            <a:ext cx="10259209" cy="1277786"/>
          </a:xfrm>
          <a:prstGeom prst="rect">
            <a:avLst/>
          </a:prstGeom>
          <a:solidFill>
            <a:schemeClr val="bg1"/>
          </a:solidFill>
        </p:spPr>
        <p:txBody>
          <a:bodyPr wrap="square">
            <a:spAutoFit/>
          </a:bodyPr>
          <a:lstStyle/>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*een meisje dat onzeker is over het al dan niet slagen voor wiskunde ('</a:t>
            </a:r>
            <a:r>
              <a:rPr lang="nl-BE" dirty="0" err="1">
                <a:latin typeface="Calibri" panose="020F0502020204030204" pitchFamily="34" charset="0"/>
                <a:ea typeface="Calibri" panose="020F0502020204030204" pitchFamily="34" charset="0"/>
                <a:cs typeface="Times New Roman" panose="02020603050405020304" pitchFamily="18" charset="0"/>
              </a:rPr>
              <a:t>Pass.Wis.Uncertain</a:t>
            </a:r>
            <a:r>
              <a:rPr lang="nl-BE" dirty="0">
                <a:latin typeface="Calibri" panose="020F0502020204030204" pitchFamily="34" charset="0"/>
                <a:ea typeface="Calibri" panose="020F0502020204030204" pitchFamily="34" charset="0"/>
                <a:cs typeface="Times New Roman" panose="02020603050405020304" pitchFamily="18" charset="0"/>
              </a:rPr>
              <a:t>') en gemiddeld scoort op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2 standaarddeviaties hoger op '</a:t>
            </a:r>
            <a:r>
              <a:rPr lang="nl-BE" dirty="0" err="1">
                <a:latin typeface="Calibri" panose="020F0502020204030204" pitchFamily="34" charset="0"/>
                <a:ea typeface="Calibri" panose="020F0502020204030204" pitchFamily="34" charset="0"/>
                <a:cs typeface="Times New Roman" panose="02020603050405020304" pitchFamily="18" charset="0"/>
              </a:rPr>
              <a:t>DifferentiatieZ</a:t>
            </a:r>
            <a:r>
              <a:rPr lang="nl-BE" dirty="0">
                <a:latin typeface="Calibri" panose="020F0502020204030204" pitchFamily="34" charset="0"/>
                <a:ea typeface="Calibri" panose="020F0502020204030204" pitchFamily="34" charset="0"/>
                <a:cs typeface="Times New Roman" panose="02020603050405020304" pitchFamily="18" charset="0"/>
              </a:rPr>
              <a:t>', 1.5 standaarddeviaties lager op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1 standaarddeviatie hoger op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 behaalt in de STEEKPROEF een score van </a:t>
            </a:r>
            <a:r>
              <a:rPr lang="nl-BE"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0,05</a:t>
            </a:r>
            <a:r>
              <a:rPr lang="nl-BE" dirty="0">
                <a:latin typeface="Calibri" panose="020F0502020204030204" pitchFamily="34" charset="0"/>
                <a:ea typeface="Calibri" panose="020F0502020204030204" pitchFamily="34" charset="0"/>
                <a:cs typeface="Times New Roman" panose="02020603050405020304" pitchFamily="18" charset="0"/>
              </a:rPr>
              <a:t> op 'ANA.RESULTZ'</a:t>
            </a:r>
          </a:p>
        </p:txBody>
      </p:sp>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6EED056F-783B-E243-8F56-A55C68AA0B9A}"/>
                  </a:ext>
                </a:extLst>
              </p:cNvPr>
              <p:cNvSpPr txBox="1"/>
              <p:nvPr/>
            </p:nvSpPr>
            <p:spPr>
              <a:xfrm>
                <a:off x="623887" y="2718638"/>
                <a:ext cx="11326813" cy="3466262"/>
              </a:xfrm>
              <a:prstGeom prst="rect">
                <a:avLst/>
              </a:prstGeom>
              <a:noFill/>
            </p:spPr>
            <p:txBody>
              <a:bodyPr wrap="none" lIns="0" tIns="0" rIns="0" bIns="0" rtlCol="0">
                <a:noAutofit/>
              </a:bodyPr>
              <a:lstStyle/>
              <a:p>
                <a14:m>
                  <m:oMath xmlns:m="http://schemas.openxmlformats.org/officeDocument/2006/math">
                    <m:acc>
                      <m:accPr>
                        <m:chr m:val="̂"/>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accPr>
                      <m:e>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𝐲</m:t>
                        </m:r>
                      </m:e>
                    </m:acc>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 </m:t>
                    </m:r>
                    <m:sSub>
                      <m:sSubPr>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sSubPr>
                      <m:e>
                        <m:r>
                          <a:rPr lang="nl-BE" b="1" i="0" smtClean="0">
                            <a:solidFill>
                              <a:schemeClr val="tx1"/>
                            </a:solidFill>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𝟎</m:t>
                        </m:r>
                      </m:sub>
                    </m:s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 </m:t>
                    </m:r>
                    <m:sSub>
                      <m:sSubPr>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sSubPr>
                      <m:e>
                        <m:r>
                          <a:rPr lang="nl-BE" b="1" i="0" smtClean="0">
                            <a:solidFill>
                              <a:schemeClr val="tx1"/>
                            </a:solidFill>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𝟏</m:t>
                        </m:r>
                      </m:sub>
                    </m:s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m:t>
                    </m:r>
                    <m:r>
                      <a:rPr lang="nl-BE" b="1" i="0" smtClean="0">
                        <a:solidFill>
                          <a:schemeClr val="tx2"/>
                        </a:solidFill>
                        <a:latin typeface="Cambria Math" panose="02040503050406030204" pitchFamily="18" charset="0"/>
                        <a:ea typeface="Verdana" panose="020B0604030504040204" pitchFamily="34" charset="0"/>
                        <a:cs typeface="Verdana" panose="020B0604030504040204" pitchFamily="34" charset="0"/>
                      </a:rPr>
                      <m:t>𝐆𝐢𝐫𝐥𝐃𝟏</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𝟐</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𝐂𝐨𝐨𝐩𝐞𝐫𝐚𝐭𝐢𝐨𝐧𝐙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𝟑</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𝐈𝐧𝐯𝐨𝐥𝐦𝐞𝐧𝐭𝐙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𝟒</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𝐈𝐧𝐭𝐞𝐫𝐞𝐬𝐭𝐙</m:t>
                    </m:r>
                    <m:r>
                      <a:rPr lang="nl-BE" b="1" i="0" smtClean="0">
                        <a:latin typeface="Cambria Math" panose="02040503050406030204" pitchFamily="18" charset="0"/>
                        <a:ea typeface="Verdana" panose="020B0604030504040204" pitchFamily="34" charset="0"/>
                        <a:cs typeface="Verdana" panose="020B0604030504040204" pitchFamily="34" charset="0"/>
                      </a:rPr>
                      <m:t>+</m:t>
                    </m:r>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Cambria Math" panose="02040503050406030204" pitchFamily="18" charset="0"/>
                            <a:cs typeface="Verdana" panose="020B0604030504040204" pitchFamily="34" charset="0"/>
                          </a:rPr>
                          <m:t>𝟓</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𝐏𝐞𝐫𝐬𝐨𝐧𝐨𝐧𝐚𝐥</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𝐑𝐞𝐥𝐞𝐯𝐚𝐧𝐜𝐞𝐙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𝟔</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m:t>
                    </m:r>
                    <m:r>
                      <a:rPr lang="nl-BE" b="1">
                        <a:latin typeface="Cambria Math" panose="02040503050406030204" pitchFamily="18" charset="0"/>
                        <a:ea typeface="Verdana" panose="020B0604030504040204" pitchFamily="34" charset="0"/>
                        <a:cs typeface="Verdana" panose="020B0604030504040204" pitchFamily="34" charset="0"/>
                      </a:rPr>
                      <m:t>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𝟕</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𝐄𝐱𝐭</m:t>
                    </m:r>
                    <m:r>
                      <a:rPr lang="nl-BE" b="1" i="0" smtClean="0">
                        <a:latin typeface="Cambria Math" panose="02040503050406030204" pitchFamily="18" charset="0"/>
                        <a:ea typeface="Verdana" panose="020B0604030504040204" pitchFamily="34" charset="0"/>
                        <a:cs typeface="Verdana" panose="020B0604030504040204" pitchFamily="34" charset="0"/>
                      </a:rPr>
                      <m:t>_</m:t>
                    </m:r>
                    <m:r>
                      <a:rPr lang="nl-BE" b="1" i="0" smtClean="0">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𝟖</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𝐈𝐧𝐭</m:t>
                    </m:r>
                    <m:r>
                      <a:rPr lang="nl-BE" b="1" i="0" smtClean="0">
                        <a:latin typeface="Cambria Math" panose="02040503050406030204" pitchFamily="18" charset="0"/>
                        <a:ea typeface="Verdana" panose="020B0604030504040204" pitchFamily="34" charset="0"/>
                        <a:cs typeface="Verdana" panose="020B0604030504040204" pitchFamily="34" charset="0"/>
                      </a:rPr>
                      <m:t>_</m:t>
                    </m:r>
                    <m:r>
                      <a:rPr lang="nl-BE" b="1" i="0" smtClean="0">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𝟗</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𝐆𝐢𝐫𝐥𝐃𝟏</m:t>
                    </m:r>
                    <m:r>
                      <a:rPr lang="nl-BE" b="1" i="0"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p>
              <a:p>
                <a:endParaRPr lang="nl-BE" b="1" dirty="0">
                  <a:solidFill>
                    <a:schemeClr val="tx1"/>
                  </a:solidFill>
                  <a:latin typeface="Cambria Math" panose="02040503050406030204" pitchFamily="18" charset="0"/>
                  <a:ea typeface="Verdana" panose="020B0604030504040204" pitchFamily="34" charset="0"/>
                  <a:cs typeface="Verdana" panose="020B0604030504040204" pitchFamily="34" charset="0"/>
                </a:endParaRPr>
              </a:p>
              <a:p>
                <a14:m>
                  <m:oMath xmlns:m="http://schemas.openxmlformats.org/officeDocument/2006/math">
                    <m:acc>
                      <m:accPr>
                        <m:chr m:val="̂"/>
                        <m:ctrlPr>
                          <a:rPr lang="nl-BE" b="1" i="1">
                            <a:latin typeface="Cambria Math" panose="02040503050406030204" pitchFamily="18" charset="0"/>
                            <a:ea typeface="Verdana" panose="020B0604030504040204" pitchFamily="34" charset="0"/>
                            <a:cs typeface="Verdana" panose="020B0604030504040204" pitchFamily="34" charset="0"/>
                          </a:rPr>
                        </m:ctrlPr>
                      </m:accPr>
                      <m:e>
                        <m:r>
                          <a:rPr lang="nl-BE" b="1">
                            <a:latin typeface="Cambria Math" panose="02040503050406030204" pitchFamily="18" charset="0"/>
                            <a:ea typeface="Verdana" panose="020B0604030504040204" pitchFamily="34" charset="0"/>
                            <a:cs typeface="Verdana" panose="020B0604030504040204" pitchFamily="34" charset="0"/>
                          </a:rPr>
                          <m:t>𝐲</m:t>
                        </m:r>
                      </m:e>
                    </m:acc>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m:t>
                    </m:r>
                    <m:r>
                      <a:rPr lang="nl-BE" b="1" i="0" smtClean="0">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𝟎𝟕𝟑𝟑𝟖</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𝟓𝟕𝟐𝟒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𝐆𝐢𝐫𝐥𝐃𝟏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0" smtClean="0">
                        <a:latin typeface="Cambria Math" panose="02040503050406030204" pitchFamily="18" charset="0"/>
                        <a:ea typeface="Verdana" panose="020B0604030504040204" pitchFamily="34" charset="0"/>
                        <a:cs typeface="Verdana" panose="020B0604030504040204" pitchFamily="34" charset="0"/>
                      </a:rPr>
                      <m:t>𝟑𝟕𝟔𝟒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𝐂𝐨𝐨𝐩𝐞𝐫𝐚𝐭𝐢𝐨𝐧𝐙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𝟑𝟔𝟕𝟓</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𝐈𝐧𝐯𝐨𝐥𝐦𝐞𝐧𝐭𝐙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𝟏𝟕𝟐𝟕𝟏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𝐈𝐧𝐭𝐞𝐫𝐞𝐬𝐭𝐙</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𝟎𝟓𝟒𝟗𝟒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𝐏𝐞𝐫𝐬𝐨𝐧𝐨𝐧𝐚𝐥</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𝐑𝐞𝐥𝐞𝐯𝐚𝐧𝐜𝐞𝐙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𝟎𝟕𝟐𝟕𝟕</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𝟏𝟑𝟐𝟗𝟒</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𝐄𝐱𝐭</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0" smtClean="0">
                        <a:latin typeface="Cambria Math" panose="02040503050406030204" pitchFamily="18" charset="0"/>
                        <a:ea typeface="Verdana" panose="020B0604030504040204" pitchFamily="34" charset="0"/>
                        <a:cs typeface="Verdana" panose="020B0604030504040204" pitchFamily="34" charset="0"/>
                      </a:rPr>
                      <m:t>𝟔𝟗𝟑𝟗</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𝟎𝟖𝟎𝟓𝟗</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𝐆𝐢𝐫𝐥𝐃𝟏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p>
              <a:p>
                <a:endParaRPr lang="nl-BE" b="1" dirty="0">
                  <a:latin typeface="Cambria Math" panose="02040503050406030204" pitchFamily="18" charset="0"/>
                  <a:ea typeface="Verdana" panose="020B0604030504040204" pitchFamily="34" charset="0"/>
                  <a:cs typeface="Verdana" panose="020B0604030504040204" pitchFamily="34" charset="0"/>
                </a:endParaRPr>
              </a:p>
              <a:p>
                <a14:m>
                  <m:oMath xmlns:m="http://schemas.openxmlformats.org/officeDocument/2006/math">
                    <m:acc>
                      <m:accPr>
                        <m:chr m:val="̂"/>
                        <m:ctrlPr>
                          <a:rPr lang="nl-BE" b="1" i="1">
                            <a:latin typeface="Cambria Math" panose="02040503050406030204" pitchFamily="18" charset="0"/>
                            <a:ea typeface="Verdana" panose="020B0604030504040204" pitchFamily="34" charset="0"/>
                            <a:cs typeface="Verdana" panose="020B0604030504040204" pitchFamily="34" charset="0"/>
                          </a:rPr>
                        </m:ctrlPr>
                      </m:accPr>
                      <m:e>
                        <m:r>
                          <a:rPr lang="nl-BE" b="1">
                            <a:latin typeface="Cambria Math" panose="02040503050406030204" pitchFamily="18" charset="0"/>
                            <a:ea typeface="Verdana" panose="020B0604030504040204" pitchFamily="34" charset="0"/>
                            <a:cs typeface="Verdana" panose="020B0604030504040204" pitchFamily="34" charset="0"/>
                          </a:rPr>
                          <m:t>𝐲</m:t>
                        </m:r>
                      </m:e>
                    </m:acc>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𝟎𝟕𝟑𝟑𝟖</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𝟓𝟕𝟐𝟒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0" smtClean="0">
                        <a:latin typeface="Cambria Math" panose="02040503050406030204" pitchFamily="18" charset="0"/>
                        <a:ea typeface="Verdana" panose="020B0604030504040204" pitchFamily="34" charset="0"/>
                        <a:cs typeface="Verdana" panose="020B0604030504040204" pitchFamily="34" charset="0"/>
                      </a:rPr>
                      <m:t>𝟑𝟕𝟔𝟒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r>
                      <a:rPr lang="nl-BE" b="1">
                        <a:latin typeface="Cambria Math" panose="02040503050406030204" pitchFamily="18" charset="0"/>
                        <a:ea typeface="Verdana" panose="020B0604030504040204" pitchFamily="34" charset="0"/>
                        <a:cs typeface="Verdana" panose="020B0604030504040204" pitchFamily="34" charset="0"/>
                      </a:rPr>
                      <m:t> </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𝟑𝟔𝟕𝟓</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a:latin typeface="Cambria Math" panose="02040503050406030204" pitchFamily="18" charset="0"/>
                        <a:ea typeface="Verdana" panose="020B0604030504040204" pitchFamily="34" charset="0"/>
                        <a:cs typeface="Verdana" panose="020B0604030504040204" pitchFamily="34" charset="0"/>
                      </a:rPr>
                      <m:t> </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𝟏𝟕𝟐𝟕𝟏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𝟎𝟓𝟒𝟗𝟒</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𝟎𝟕𝟐𝟕𝟕</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𝟐</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𝟏𝟑𝟐𝟗𝟒</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𝟓</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0" smtClean="0">
                        <a:latin typeface="Cambria Math" panose="02040503050406030204" pitchFamily="18" charset="0"/>
                        <a:ea typeface="Verdana" panose="020B0604030504040204" pitchFamily="34" charset="0"/>
                        <a:cs typeface="Verdana" panose="020B0604030504040204" pitchFamily="34" charset="0"/>
                      </a:rPr>
                      <m:t>𝟔𝟗𝟑𝟗</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d>
                      <m:dPr>
                        <m:ctrlPr>
                          <a:rPr lang="nl-BE" b="1" i="1">
                            <a:latin typeface="Cambria Math" panose="02040503050406030204" pitchFamily="18" charset="0"/>
                            <a:ea typeface="Verdana" panose="020B0604030504040204" pitchFamily="34" charset="0"/>
                            <a:cs typeface="Verdana" panose="020B0604030504040204" pitchFamily="34" charset="0"/>
                          </a:rPr>
                        </m:ctrlPr>
                      </m:dPr>
                      <m:e>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𝟎𝟖𝟎𝟓𝟗</m:t>
                        </m:r>
                      </m:e>
                    </m:d>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r>
                      <a:rPr lang="nl-BE" b="1" i="0" smtClean="0">
                        <a:solidFill>
                          <a:srgbClr val="FF0000"/>
                        </a:solidFill>
                        <a:latin typeface="Cambria Math" panose="02040503050406030204" pitchFamily="18" charset="0"/>
                        <a:ea typeface="Verdana" panose="020B0604030504040204" pitchFamily="34" charset="0"/>
                        <a:cs typeface="Verdana" panose="020B0604030504040204" pitchFamily="34" charset="0"/>
                      </a:rPr>
                      <m:t>∗ </m:t>
                    </m:r>
                  </m:oMath>
                </a14:m>
                <a:r>
                  <a:rPr lang="nl-BE" b="1" dirty="0">
                    <a:solidFill>
                      <a:srgbClr val="FF0000"/>
                    </a:solidFill>
                    <a:latin typeface="Cambria Math" panose="02040503050406030204" pitchFamily="18" charset="0"/>
                    <a:ea typeface="Verdana" panose="020B0604030504040204" pitchFamily="34" charset="0"/>
                    <a:cs typeface="Verdana" panose="020B0604030504040204" pitchFamily="34" charset="0"/>
                  </a:rPr>
                  <a:t>2 </a:t>
                </a:r>
                <a:endParaRPr lang="nl-BE" b="1" dirty="0">
                  <a:latin typeface="Cambria Math" panose="02040503050406030204" pitchFamily="18" charset="0"/>
                  <a:ea typeface="Verdana" panose="020B0604030504040204" pitchFamily="34" charset="0"/>
                  <a:cs typeface="Verdana" panose="020B0604030504040204" pitchFamily="34" charset="0"/>
                </a:endParaRPr>
              </a:p>
              <a:p>
                <a:endParaRPr lang="nl-BE" b="1" dirty="0">
                  <a:latin typeface="Cambria Math" panose="02040503050406030204" pitchFamily="18" charset="0"/>
                  <a:ea typeface="Verdana" panose="020B0604030504040204" pitchFamily="34" charset="0"/>
                  <a:cs typeface="Verdana" panose="020B0604030504040204" pitchFamily="34" charset="0"/>
                </a:endParaRPr>
              </a:p>
              <a:p>
                <a:endParaRPr lang="nl-BE" b="1" dirty="0">
                  <a:latin typeface="Cambria Math" panose="02040503050406030204" pitchFamily="18" charset="0"/>
                  <a:ea typeface="Verdana" panose="020B0604030504040204" pitchFamily="34" charset="0"/>
                  <a:cs typeface="Verdana" panose="020B0604030504040204" pitchFamily="34" charset="0"/>
                </a:endParaRPr>
              </a:p>
            </p:txBody>
          </p:sp>
        </mc:Choice>
        <mc:Fallback xmlns="">
          <p:sp>
            <p:nvSpPr>
              <p:cNvPr id="5" name="Tekstvak 4">
                <a:extLst>
                  <a:ext uri="{FF2B5EF4-FFF2-40B4-BE49-F238E27FC236}">
                    <a16:creationId xmlns:a16="http://schemas.microsoft.com/office/drawing/2014/main" id="{6EED056F-783B-E243-8F56-A55C68AA0B9A}"/>
                  </a:ext>
                </a:extLst>
              </p:cNvPr>
              <p:cNvSpPr txBox="1">
                <a:spLocks noRot="1" noChangeAspect="1" noMove="1" noResize="1" noEditPoints="1" noAdjustHandles="1" noChangeArrowheads="1" noChangeShapeType="1" noTextEdit="1"/>
              </p:cNvSpPr>
              <p:nvPr/>
            </p:nvSpPr>
            <p:spPr>
              <a:xfrm>
                <a:off x="623887" y="2718638"/>
                <a:ext cx="11326813" cy="3466262"/>
              </a:xfrm>
              <a:prstGeom prst="rect">
                <a:avLst/>
              </a:prstGeom>
              <a:blipFill>
                <a:blip r:embed="rId3"/>
                <a:stretch>
                  <a:fillRect l="-1232" t="-2190"/>
                </a:stretch>
              </a:blipFill>
            </p:spPr>
            <p:txBody>
              <a:bodyPr/>
              <a:lstStyle/>
              <a:p>
                <a:r>
                  <a:rPr lang="nl-BE">
                    <a:noFill/>
                  </a:rPr>
                  <a:t> </a:t>
                </a:r>
              </a:p>
            </p:txBody>
          </p:sp>
        </mc:Fallback>
      </mc:AlternateContent>
    </p:spTree>
    <p:extLst>
      <p:ext uri="{BB962C8B-B14F-4D97-AF65-F5344CB8AC3E}">
        <p14:creationId xmlns:p14="http://schemas.microsoft.com/office/powerpoint/2010/main" val="3789086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13 -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39</a:t>
            </a:fld>
            <a:endParaRPr lang="nl-BE" dirty="0"/>
          </a:p>
        </p:txBody>
      </p:sp>
      <p:sp>
        <p:nvSpPr>
          <p:cNvPr id="4" name="Rechthoek 3"/>
          <p:cNvSpPr/>
          <p:nvPr/>
        </p:nvSpPr>
        <p:spPr>
          <a:xfrm>
            <a:off x="484991" y="1140573"/>
            <a:ext cx="10259209" cy="1277786"/>
          </a:xfrm>
          <a:prstGeom prst="rect">
            <a:avLst/>
          </a:prstGeom>
          <a:solidFill>
            <a:schemeClr val="bg1"/>
          </a:solidFill>
        </p:spPr>
        <p:txBody>
          <a:bodyPr wrap="square">
            <a:spAutoFit/>
          </a:bodyPr>
          <a:lstStyle/>
          <a:p>
            <a:pPr>
              <a:lnSpc>
                <a:spcPct val="107000"/>
              </a:lnSpc>
              <a:spcAft>
                <a:spcPts val="0"/>
              </a:spcAft>
            </a:pPr>
            <a:r>
              <a:rPr lang="nl-BE" dirty="0">
                <a:latin typeface="Calibri" panose="020F0502020204030204" pitchFamily="34" charset="0"/>
                <a:ea typeface="Calibri" panose="020F0502020204030204" pitchFamily="34" charset="0"/>
                <a:cs typeface="Times New Roman" panose="02020603050405020304" pitchFamily="18" charset="0"/>
              </a:rPr>
              <a:t>*een jongen die er zeker van is te zullen slagen voor wiskunde ('</a:t>
            </a:r>
            <a:r>
              <a:rPr lang="nl-BE" dirty="0" err="1">
                <a:latin typeface="Calibri" panose="020F0502020204030204" pitchFamily="34" charset="0"/>
                <a:ea typeface="Calibri" panose="020F0502020204030204" pitchFamily="34" charset="0"/>
                <a:cs typeface="Times New Roman" panose="02020603050405020304" pitchFamily="18" charset="0"/>
              </a:rPr>
              <a:t>Pass.Wis.Certain</a:t>
            </a:r>
            <a:r>
              <a:rPr lang="nl-BE" dirty="0">
                <a:latin typeface="Calibri" panose="020F0502020204030204" pitchFamily="34" charset="0"/>
                <a:ea typeface="Calibri" panose="020F0502020204030204" pitchFamily="34" charset="0"/>
                <a:cs typeface="Times New Roman" panose="02020603050405020304" pitchFamily="18" charset="0"/>
              </a:rPr>
              <a:t>') en gemiddeld scoort op '</a:t>
            </a:r>
            <a:r>
              <a:rPr lang="nl-BE" dirty="0" err="1">
                <a:latin typeface="Calibri" panose="020F0502020204030204" pitchFamily="34" charset="0"/>
                <a:ea typeface="Calibri" panose="020F0502020204030204" pitchFamily="34" charset="0"/>
                <a:cs typeface="Times New Roman" panose="02020603050405020304" pitchFamily="18" charset="0"/>
              </a:rPr>
              <a:t>DifferentiationZ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InterestZ</a:t>
            </a:r>
            <a:r>
              <a:rPr lang="nl-BE" dirty="0">
                <a:latin typeface="Calibri" panose="020F0502020204030204" pitchFamily="34" charset="0"/>
                <a:ea typeface="Calibri" panose="020F0502020204030204" pitchFamily="34" charset="0"/>
                <a:cs typeface="Times New Roman" panose="02020603050405020304" pitchFamily="18" charset="0"/>
              </a:rPr>
              <a:t>', '</a:t>
            </a:r>
            <a:r>
              <a:rPr lang="nl-BE" dirty="0" err="1">
                <a:latin typeface="Calibri" panose="020F0502020204030204" pitchFamily="34" charset="0"/>
                <a:ea typeface="Calibri" panose="020F0502020204030204" pitchFamily="34" charset="0"/>
                <a:cs typeface="Times New Roman" panose="02020603050405020304" pitchFamily="18" charset="0"/>
              </a:rPr>
              <a:t>Personal_RelevanceZ</a:t>
            </a:r>
            <a:r>
              <a:rPr lang="nl-BE" dirty="0">
                <a:latin typeface="Calibri" panose="020F0502020204030204" pitchFamily="34" charset="0"/>
                <a:ea typeface="Calibri" panose="020F0502020204030204" pitchFamily="34" charset="0"/>
                <a:cs typeface="Times New Roman" panose="02020603050405020304" pitchFamily="18" charset="0"/>
              </a:rPr>
              <a:t>' en '</a:t>
            </a:r>
            <a:r>
              <a:rPr lang="nl-BE" dirty="0" err="1">
                <a:latin typeface="Calibri" panose="020F0502020204030204" pitchFamily="34" charset="0"/>
                <a:ea typeface="Calibri" panose="020F0502020204030204" pitchFamily="34" charset="0"/>
                <a:cs typeface="Times New Roman" panose="02020603050405020304" pitchFamily="18" charset="0"/>
              </a:rPr>
              <a:t>Int_RegZ</a:t>
            </a:r>
            <a:r>
              <a:rPr lang="nl-BE" dirty="0">
                <a:latin typeface="Calibri" panose="020F0502020204030204" pitchFamily="34" charset="0"/>
                <a:ea typeface="Calibri" panose="020F0502020204030204" pitchFamily="34" charset="0"/>
                <a:cs typeface="Times New Roman" panose="02020603050405020304" pitchFamily="18" charset="0"/>
              </a:rPr>
              <a:t>', 3 standaarddeviaties hoger op '</a:t>
            </a:r>
            <a:r>
              <a:rPr lang="nl-BE" dirty="0" err="1">
                <a:latin typeface="Calibri" panose="020F0502020204030204" pitchFamily="34" charset="0"/>
                <a:ea typeface="Calibri" panose="020F0502020204030204" pitchFamily="34" charset="0"/>
                <a:cs typeface="Times New Roman" panose="02020603050405020304" pitchFamily="18" charset="0"/>
              </a:rPr>
              <a:t>InvolvementZ</a:t>
            </a:r>
            <a:r>
              <a:rPr lang="nl-BE" dirty="0">
                <a:latin typeface="Calibri" panose="020F0502020204030204" pitchFamily="34" charset="0"/>
                <a:ea typeface="Calibri" panose="020F0502020204030204" pitchFamily="34" charset="0"/>
                <a:cs typeface="Times New Roman" panose="02020603050405020304" pitchFamily="18" charset="0"/>
              </a:rPr>
              <a:t>', 1.5 standaarddeviaties lager op '</a:t>
            </a:r>
            <a:r>
              <a:rPr lang="nl-BE" dirty="0" err="1">
                <a:latin typeface="Calibri" panose="020F0502020204030204" pitchFamily="34" charset="0"/>
                <a:ea typeface="Calibri" panose="020F0502020204030204" pitchFamily="34" charset="0"/>
                <a:cs typeface="Times New Roman" panose="02020603050405020304" pitchFamily="18" charset="0"/>
              </a:rPr>
              <a:t>Ext_RegZ</a:t>
            </a:r>
            <a:r>
              <a:rPr lang="nl-BE" dirty="0">
                <a:latin typeface="Calibri" panose="020F0502020204030204" pitchFamily="34" charset="0"/>
                <a:ea typeface="Calibri" panose="020F0502020204030204" pitchFamily="34" charset="0"/>
                <a:cs typeface="Times New Roman" panose="02020603050405020304" pitchFamily="18" charset="0"/>
              </a:rPr>
              <a:t>' en 1 standaarddeviatie hoger op '</a:t>
            </a:r>
            <a:r>
              <a:rPr lang="nl-BE" dirty="0" err="1">
                <a:latin typeface="Calibri" panose="020F0502020204030204" pitchFamily="34" charset="0"/>
                <a:ea typeface="Calibri" panose="020F0502020204030204" pitchFamily="34" charset="0"/>
                <a:cs typeface="Times New Roman" panose="02020603050405020304" pitchFamily="18" charset="0"/>
              </a:rPr>
              <a:t>CooperationZ</a:t>
            </a:r>
            <a:r>
              <a:rPr lang="nl-BE" dirty="0">
                <a:latin typeface="Calibri" panose="020F0502020204030204" pitchFamily="34" charset="0"/>
                <a:ea typeface="Calibri" panose="020F0502020204030204" pitchFamily="34" charset="0"/>
                <a:cs typeface="Times New Roman" panose="02020603050405020304" pitchFamily="18" charset="0"/>
              </a:rPr>
              <a:t>' behaalt in de POPULATIE een score van </a:t>
            </a:r>
            <a:r>
              <a:rPr lang="nl-BE"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0,61</a:t>
            </a:r>
            <a:r>
              <a:rPr lang="nl-BE" dirty="0">
                <a:latin typeface="Calibri" panose="020F0502020204030204" pitchFamily="34" charset="0"/>
                <a:ea typeface="Calibri" panose="020F0502020204030204" pitchFamily="34" charset="0"/>
                <a:cs typeface="Times New Roman" panose="02020603050405020304" pitchFamily="18" charset="0"/>
              </a:rPr>
              <a:t> op 'ANA.RESULTZ'</a:t>
            </a:r>
          </a:p>
        </p:txBody>
      </p:sp>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6EED056F-783B-E243-8F56-A55C68AA0B9A}"/>
                  </a:ext>
                </a:extLst>
              </p:cNvPr>
              <p:cNvSpPr txBox="1"/>
              <p:nvPr/>
            </p:nvSpPr>
            <p:spPr>
              <a:xfrm>
                <a:off x="623887" y="2718638"/>
                <a:ext cx="11326813" cy="3466262"/>
              </a:xfrm>
              <a:prstGeom prst="rect">
                <a:avLst/>
              </a:prstGeom>
              <a:noFill/>
            </p:spPr>
            <p:txBody>
              <a:bodyPr wrap="none" lIns="0" tIns="0" rIns="0" bIns="0" rtlCol="0">
                <a:noAutofit/>
              </a:bodyPr>
              <a:lstStyle/>
              <a:p>
                <a14:m>
                  <m:oMath xmlns:m="http://schemas.openxmlformats.org/officeDocument/2006/math">
                    <m:acc>
                      <m:accPr>
                        <m:chr m:val="̂"/>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accPr>
                      <m:e>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𝐲</m:t>
                        </m:r>
                      </m:e>
                    </m:acc>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 </m:t>
                    </m:r>
                    <m:sSub>
                      <m:sSubPr>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sSubPr>
                      <m:e>
                        <m:r>
                          <a:rPr lang="nl-BE" b="1" i="0" smtClean="0">
                            <a:solidFill>
                              <a:schemeClr val="tx1"/>
                            </a:solidFill>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𝟎</m:t>
                        </m:r>
                      </m:sub>
                    </m:s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 </m:t>
                    </m:r>
                    <m:sSub>
                      <m:sSubPr>
                        <m:ctrlPr>
                          <a:rPr lang="nl-BE" b="1" i="1" smtClean="0">
                            <a:solidFill>
                              <a:schemeClr val="tx1"/>
                            </a:solidFill>
                            <a:latin typeface="Cambria Math" panose="02040503050406030204" pitchFamily="18" charset="0"/>
                            <a:ea typeface="Verdana" panose="020B0604030504040204" pitchFamily="34" charset="0"/>
                            <a:cs typeface="Verdana" panose="020B0604030504040204" pitchFamily="34" charset="0"/>
                          </a:rPr>
                        </m:ctrlPr>
                      </m:sSubPr>
                      <m:e>
                        <m:r>
                          <a:rPr lang="nl-BE" b="1" i="0" smtClean="0">
                            <a:solidFill>
                              <a:schemeClr val="tx1"/>
                            </a:solidFill>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𝟏</m:t>
                        </m:r>
                      </m:sub>
                    </m:sSub>
                    <m:r>
                      <a:rPr lang="nl-BE" b="1" i="0" smtClean="0">
                        <a:solidFill>
                          <a:schemeClr val="tx1"/>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𝐏𝐚𝐬𝐬</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𝐖𝐢𝐬</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𝐂𝐞𝐫𝐭𝐚𝐢𝐧</m:t>
                    </m:r>
                  </m:oMath>
                </a14:m>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𝟐</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m:t>
                    </m:r>
                    <m:r>
                      <a:rPr lang="nl-BE" b="1">
                        <a:latin typeface="Cambria Math" panose="02040503050406030204" pitchFamily="18" charset="0"/>
                        <a:ea typeface="Verdana" panose="020B0604030504040204" pitchFamily="34" charset="0"/>
                        <a:cs typeface="Verdana" panose="020B0604030504040204" pitchFamily="34" charset="0"/>
                      </a:rPr>
                      <m:t>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𝟑</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𝐈𝐧𝐭𝐞𝐫𝐞𝐬𝐭𝐙</m:t>
                    </m:r>
                  </m:oMath>
                </a14:m>
                <a:r>
                  <a:rPr lang="nl-BE" b="1" dirty="0">
                    <a:latin typeface="Cambria Math" panose="02040503050406030204" pitchFamily="18" charset="0"/>
                    <a:ea typeface="Verdana" panose="020B0604030504040204" pitchFamily="34" charset="0"/>
                    <a:cs typeface="Verdana" panose="020B0604030504040204" pitchFamily="34" charset="0"/>
                  </a:rPr>
                  <a:t/>
                </a:r>
                <a:br>
                  <a:rPr lang="nl-BE" b="1" dirty="0">
                    <a:latin typeface="Cambria Math" panose="02040503050406030204" pitchFamily="18" charset="0"/>
                    <a:ea typeface="Verdana" panose="020B0604030504040204" pitchFamily="34" charset="0"/>
                    <a:cs typeface="Verdana" panose="020B0604030504040204" pitchFamily="34" charset="0"/>
                  </a:rPr>
                </a:br>
                <a14:m>
                  <m:oMath xmlns:m="http://schemas.openxmlformats.org/officeDocument/2006/math">
                    <m:r>
                      <a:rPr lang="nl-BE" b="1" i="0" smtClean="0">
                        <a:latin typeface="Cambria Math" panose="02040503050406030204" pitchFamily="18" charset="0"/>
                        <a:ea typeface="Verdana" panose="020B0604030504040204" pitchFamily="34" charset="0"/>
                        <a:cs typeface="Verdana" panose="020B0604030504040204" pitchFamily="34" charset="0"/>
                      </a:rPr>
                      <m:t>+</m:t>
                    </m:r>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Cambria Math" panose="02040503050406030204" pitchFamily="18" charset="0"/>
                            <a:cs typeface="Verdana" panose="020B0604030504040204" pitchFamily="34" charset="0"/>
                          </a:rPr>
                          <m:t>𝟒</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𝐏𝐞𝐫𝐬𝐨𝐧𝐨𝐧𝐚𝐥</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𝐑𝐞𝐥𝐞𝐯𝐚𝐧𝐜𝐞𝐙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𝟓</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𝐈𝐧𝐭</m:t>
                    </m:r>
                    <m:r>
                      <a:rPr lang="nl-BE" b="1" i="0" smtClean="0">
                        <a:latin typeface="Cambria Math" panose="02040503050406030204" pitchFamily="18" charset="0"/>
                        <a:ea typeface="Verdana" panose="020B0604030504040204" pitchFamily="34" charset="0"/>
                        <a:cs typeface="Verdana" panose="020B0604030504040204" pitchFamily="34" charset="0"/>
                      </a:rPr>
                      <m:t>_</m:t>
                    </m:r>
                    <m:r>
                      <a:rPr lang="nl-BE" b="1" i="0" smtClean="0">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𝟔</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𝐈𝐧𝐯𝐨𝐥𝐯𝐞𝐦𝐞𝐧𝐭</m:t>
                    </m:r>
                    <m:r>
                      <a:rPr lang="nl-BE" b="1">
                        <a:latin typeface="Cambria Math" panose="02040503050406030204" pitchFamily="18" charset="0"/>
                        <a:ea typeface="Verdana" panose="020B0604030504040204" pitchFamily="34" charset="0"/>
                        <a:cs typeface="Verdana" panose="020B0604030504040204" pitchFamily="34" charset="0"/>
                      </a:rPr>
                      <m:t>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𝟕</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𝐄𝐱𝐭</m:t>
                    </m:r>
                    <m:r>
                      <a:rPr lang="nl-BE" b="1" i="0" smtClean="0">
                        <a:latin typeface="Cambria Math" panose="02040503050406030204" pitchFamily="18" charset="0"/>
                        <a:ea typeface="Verdana" panose="020B0604030504040204" pitchFamily="34" charset="0"/>
                        <a:cs typeface="Verdana" panose="020B0604030504040204" pitchFamily="34" charset="0"/>
                      </a:rPr>
                      <m:t>_</m:t>
                    </m:r>
                    <m:r>
                      <a:rPr lang="nl-BE" b="1" i="0" smtClean="0">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𝟖</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𝐂𝐨𝐨𝐩𝐞𝐫𝐚𝐭𝐢𝐨𝐧</m:t>
                    </m:r>
                    <m:r>
                      <a:rPr lang="nl-BE" b="1">
                        <a:latin typeface="Cambria Math" panose="02040503050406030204" pitchFamily="18" charset="0"/>
                        <a:ea typeface="Verdana" panose="020B0604030504040204" pitchFamily="34" charset="0"/>
                        <a:cs typeface="Verdana" panose="020B0604030504040204" pitchFamily="34" charset="0"/>
                      </a:rPr>
                      <m:t>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sSub>
                      <m:sSubPr>
                        <m:ctrlPr>
                          <a:rPr lang="nl-BE" b="1" i="1">
                            <a:latin typeface="Cambria Math" panose="02040503050406030204" pitchFamily="18" charset="0"/>
                            <a:ea typeface="Verdana" panose="020B0604030504040204" pitchFamily="34" charset="0"/>
                            <a:cs typeface="Verdana" panose="020B0604030504040204" pitchFamily="34" charset="0"/>
                          </a:rPr>
                        </m:ctrlPr>
                      </m:sSubPr>
                      <m:e>
                        <m:r>
                          <a:rPr lang="nl-BE" b="1">
                            <a:latin typeface="Cambria Math" panose="02040503050406030204" pitchFamily="18" charset="0"/>
                            <a:ea typeface="Cambria Math" panose="02040503050406030204" pitchFamily="18" charset="0"/>
                            <a:cs typeface="Verdana" panose="020B0604030504040204" pitchFamily="34" charset="0"/>
                          </a:rPr>
                          <m:t>𝛃</m:t>
                        </m:r>
                      </m:e>
                      <m:sub>
                        <m:r>
                          <a:rPr lang="nl-BE" b="1" i="0" smtClean="0">
                            <a:latin typeface="Cambria Math" panose="02040503050406030204" pitchFamily="18" charset="0"/>
                            <a:ea typeface="Verdana" panose="020B0604030504040204" pitchFamily="34" charset="0"/>
                            <a:cs typeface="Verdana" panose="020B0604030504040204" pitchFamily="34" charset="0"/>
                          </a:rPr>
                          <m:t>𝟗</m:t>
                        </m:r>
                      </m:sub>
                    </m:sSub>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𝐆𝐢𝐫𝐥𝐃𝟏</m:t>
                    </m:r>
                    <m:r>
                      <a:rPr lang="nl-BE" b="1" i="0"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p>
              <a:p>
                <a:endParaRPr lang="nl-BE" b="1" dirty="0">
                  <a:solidFill>
                    <a:schemeClr val="tx1"/>
                  </a:solidFill>
                  <a:latin typeface="Cambria Math" panose="02040503050406030204" pitchFamily="18" charset="0"/>
                  <a:ea typeface="Verdana" panose="020B0604030504040204" pitchFamily="34" charset="0"/>
                  <a:cs typeface="Verdana" panose="020B0604030504040204" pitchFamily="34" charset="0"/>
                </a:endParaRPr>
              </a:p>
              <a:p>
                <a:endParaRPr lang="nl-BE" b="1" dirty="0">
                  <a:solidFill>
                    <a:schemeClr val="tx1"/>
                  </a:solidFill>
                  <a:latin typeface="Cambria Math" panose="02040503050406030204" pitchFamily="18" charset="0"/>
                  <a:ea typeface="Verdana" panose="020B0604030504040204" pitchFamily="34" charset="0"/>
                  <a:cs typeface="Verdana" panose="020B0604030504040204" pitchFamily="34" charset="0"/>
                </a:endParaRPr>
              </a:p>
              <a:p>
                <a14:m>
                  <m:oMath xmlns:m="http://schemas.openxmlformats.org/officeDocument/2006/math">
                    <m:acc>
                      <m:accPr>
                        <m:chr m:val="̂"/>
                        <m:ctrlPr>
                          <a:rPr lang="nl-BE" b="1" i="1">
                            <a:latin typeface="Cambria Math" panose="02040503050406030204" pitchFamily="18" charset="0"/>
                            <a:ea typeface="Verdana" panose="020B0604030504040204" pitchFamily="34" charset="0"/>
                            <a:cs typeface="Verdana" panose="020B0604030504040204" pitchFamily="34" charset="0"/>
                          </a:rPr>
                        </m:ctrlPr>
                      </m:accPr>
                      <m:e>
                        <m:r>
                          <a:rPr lang="nl-BE" b="1">
                            <a:latin typeface="Cambria Math" panose="02040503050406030204" pitchFamily="18" charset="0"/>
                            <a:ea typeface="Verdana" panose="020B0604030504040204" pitchFamily="34" charset="0"/>
                            <a:cs typeface="Verdana" panose="020B0604030504040204" pitchFamily="34" charset="0"/>
                          </a:rPr>
                          <m:t>𝐲</m:t>
                        </m:r>
                      </m:e>
                    </m:acc>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solidFill>
                          <a:srgbClr val="0070C0"/>
                        </a:solidFill>
                        <a:latin typeface="Cambria Math" panose="02040503050406030204" pitchFamily="18" charset="0"/>
                        <a:ea typeface="Verdana" panose="020B0604030504040204" pitchFamily="34" charset="0"/>
                        <a:cs typeface="Verdana" panose="020B0604030504040204" pitchFamily="34" charset="0"/>
                      </a:rPr>
                      <m:t>𝟎</m:t>
                    </m:r>
                    <m:r>
                      <a:rPr lang="nl-BE" b="1">
                        <a:solidFill>
                          <a:srgbClr val="0070C0"/>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𝐏𝐚𝐬𝐬</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𝐖𝐢𝐬</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m:t>
                    </m:r>
                    <m:r>
                      <a:rPr lang="nl-BE" b="1">
                        <a:solidFill>
                          <a:schemeClr val="tx2"/>
                        </a:solidFill>
                        <a:latin typeface="Cambria Math" panose="02040503050406030204" pitchFamily="18" charset="0"/>
                        <a:ea typeface="Verdana" panose="020B0604030504040204" pitchFamily="34" charset="0"/>
                        <a:cs typeface="Verdana" panose="020B0604030504040204" pitchFamily="34" charset="0"/>
                      </a:rPr>
                      <m:t>𝐂𝐞𝐫𝐭𝐚𝐢𝐧</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𝟏𝟕𝟐𝟕𝟏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𝐈𝐧𝐭𝐞𝐫𝐞𝐬𝐭𝐙</m:t>
                    </m:r>
                  </m:oMath>
                </a14:m>
                <a:r>
                  <a:rPr lang="nl-BE" b="1" dirty="0">
                    <a:latin typeface="Cambria Math" panose="02040503050406030204" pitchFamily="18" charset="0"/>
                    <a:ea typeface="Verdana" panose="020B0604030504040204" pitchFamily="34" charset="0"/>
                    <a:cs typeface="Verdana" panose="020B0604030504040204" pitchFamily="34" charset="0"/>
                  </a:rPr>
                  <a:t/>
                </a:r>
                <a:br>
                  <a:rPr lang="nl-BE" b="1" dirty="0">
                    <a:latin typeface="Cambria Math" panose="02040503050406030204" pitchFamily="18" charset="0"/>
                    <a:ea typeface="Verdana" panose="020B0604030504040204" pitchFamily="34" charset="0"/>
                    <a:cs typeface="Verdana" panose="020B0604030504040204" pitchFamily="34" charset="0"/>
                  </a:rPr>
                </a:br>
                <a14:m>
                  <m:oMath xmlns:m="http://schemas.openxmlformats.org/officeDocument/2006/math">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𝐏𝐞𝐫𝐬𝐨𝐧𝐨𝐧𝐚𝐥</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𝐑𝐞𝐥𝐞𝐯𝐚𝐧𝐜𝐞𝐙</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𝐈𝐧𝐭</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𝟑𝟔𝟕𝟓</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𝐈𝐧𝐯𝐨𝐥𝐯𝐞𝐦𝐞𝐧𝐭𝐙</m:t>
                    </m:r>
                  </m:oMath>
                </a14:m>
                <a:r>
                  <a:rPr lang="nl-BE" b="1" dirty="0">
                    <a:latin typeface="Cambria Math" panose="02040503050406030204" pitchFamily="18" charset="0"/>
                    <a:ea typeface="Verdana" panose="020B0604030504040204" pitchFamily="34" charset="0"/>
                    <a:cs typeface="Verdana" panose="020B0604030504040204" pitchFamily="34" charset="0"/>
                  </a:rPr>
                  <a:t/>
                </a:r>
                <a:br>
                  <a:rPr lang="nl-BE" b="1" dirty="0">
                    <a:latin typeface="Cambria Math" panose="02040503050406030204" pitchFamily="18" charset="0"/>
                    <a:ea typeface="Verdana" panose="020B0604030504040204" pitchFamily="34" charset="0"/>
                    <a:cs typeface="Verdana" panose="020B0604030504040204" pitchFamily="34" charset="0"/>
                  </a:rPr>
                </a:br>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i="1" smtClean="0">
                        <a:latin typeface="Cambria Math" panose="02040503050406030204" pitchFamily="18" charset="0"/>
                        <a:ea typeface="Verdana" panose="020B0604030504040204" pitchFamily="34" charset="0"/>
                        <a:cs typeface="Verdana" panose="020B0604030504040204" pitchFamily="34" charset="0"/>
                      </a:rPr>
                      <m:t>𝟏𝟑𝟐𝟗𝟒</m:t>
                    </m:r>
                    <m:r>
                      <a:rPr lang="nl-BE" b="1" i="1" smtClean="0">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𝐄𝐱𝐭</m:t>
                    </m:r>
                    <m:r>
                      <a:rPr lang="nl-BE" b="1">
                        <a:latin typeface="Cambria Math" panose="02040503050406030204" pitchFamily="18" charset="0"/>
                        <a:ea typeface="Verdana" panose="020B0604030504040204" pitchFamily="34" charset="0"/>
                        <a:cs typeface="Verdana" panose="020B0604030504040204" pitchFamily="34" charset="0"/>
                      </a:rPr>
                      <m:t>_</m:t>
                    </m:r>
                    <m:r>
                      <a:rPr lang="nl-BE" b="1">
                        <a:latin typeface="Cambria Math" panose="02040503050406030204" pitchFamily="18" charset="0"/>
                        <a:ea typeface="Verdana" panose="020B0604030504040204" pitchFamily="34" charset="0"/>
                        <a:cs typeface="Verdana" panose="020B0604030504040204" pitchFamily="34" charset="0"/>
                      </a:rPr>
                      <m:t>𝐑𝐞𝐠𝐙</m:t>
                    </m:r>
                  </m:oMath>
                </a14:m>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r>
                      <a:rPr lang="nl-BE" b="1" i="0" smtClean="0">
                        <a:latin typeface="Cambria Math" panose="02040503050406030204" pitchFamily="18" charset="0"/>
                        <a:ea typeface="Verdana" panose="020B0604030504040204" pitchFamily="34" charset="0"/>
                        <a:cs typeface="Verdana" panose="020B0604030504040204" pitchFamily="34" charset="0"/>
                      </a:rPr>
                      <m:t> </m:t>
                    </m:r>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𝐂𝐨𝐨𝐩𝐞𝐫𝐚𝐭𝐢𝐨𝐧𝐙</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smtClean="0">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𝐆𝐢𝐫𝐥𝐃𝟏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𝐃𝐢𝐟𝐟𝐞𝐫𝐞𝐧𝐭𝐢𝐚𝐭𝐢𝐨𝐧𝐙</m:t>
                    </m:r>
                  </m:oMath>
                </a14:m>
                <a:endParaRPr lang="nl-BE" b="1" dirty="0">
                  <a:latin typeface="Cambria Math" panose="02040503050406030204" pitchFamily="18" charset="0"/>
                  <a:ea typeface="Verdana" panose="020B0604030504040204" pitchFamily="34" charset="0"/>
                  <a:cs typeface="Verdana" panose="020B0604030504040204" pitchFamily="34" charset="0"/>
                </a:endParaRPr>
              </a:p>
              <a:p>
                <a:endParaRPr lang="nl-BE" b="1" dirty="0">
                  <a:latin typeface="Cambria Math" panose="02040503050406030204" pitchFamily="18" charset="0"/>
                  <a:ea typeface="Verdana" panose="020B0604030504040204" pitchFamily="34" charset="0"/>
                  <a:cs typeface="Verdana" panose="020B0604030504040204" pitchFamily="34" charset="0"/>
                </a:endParaRPr>
              </a:p>
              <a:p>
                <a:endParaRPr lang="nl-BE" b="1" dirty="0">
                  <a:latin typeface="Cambria Math" panose="02040503050406030204" pitchFamily="18" charset="0"/>
                  <a:ea typeface="Verdana" panose="020B0604030504040204" pitchFamily="34" charset="0"/>
                  <a:cs typeface="Verdana" panose="020B0604030504040204" pitchFamily="34" charset="0"/>
                </a:endParaRPr>
              </a:p>
              <a:p>
                <a14:m>
                  <m:oMath xmlns:m="http://schemas.openxmlformats.org/officeDocument/2006/math">
                    <m:acc>
                      <m:accPr>
                        <m:chr m:val="̂"/>
                        <m:ctrlPr>
                          <a:rPr lang="nl-BE" b="1" i="1">
                            <a:latin typeface="Cambria Math" panose="02040503050406030204" pitchFamily="18" charset="0"/>
                            <a:ea typeface="Verdana" panose="020B0604030504040204" pitchFamily="34" charset="0"/>
                            <a:cs typeface="Verdana" panose="020B0604030504040204" pitchFamily="34" charset="0"/>
                          </a:rPr>
                        </m:ctrlPr>
                      </m:accPr>
                      <m:e>
                        <m:r>
                          <a:rPr lang="nl-BE" b="1">
                            <a:latin typeface="Cambria Math" panose="02040503050406030204" pitchFamily="18" charset="0"/>
                            <a:ea typeface="Verdana" panose="020B0604030504040204" pitchFamily="34" charset="0"/>
                            <a:cs typeface="Verdana" panose="020B0604030504040204" pitchFamily="34" charset="0"/>
                          </a:rPr>
                          <m:t>𝐲</m:t>
                        </m:r>
                      </m:e>
                    </m:acc>
                    <m:r>
                      <a:rPr lang="nl-BE" b="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i="1" smtClean="0">
                        <a:solidFill>
                          <a:srgbClr val="0070C0"/>
                        </a:solidFill>
                        <a:latin typeface="Cambria Math" panose="02040503050406030204" pitchFamily="18" charset="0"/>
                        <a:ea typeface="Verdana" panose="020B0604030504040204" pitchFamily="34" charset="0"/>
                        <a:cs typeface="Verdana" panose="020B0604030504040204" pitchFamily="34" charset="0"/>
                      </a:rPr>
                      <m:t>𝟎</m:t>
                    </m:r>
                    <m:r>
                      <a:rPr lang="nl-BE" b="1">
                        <a:solidFill>
                          <a:srgbClr val="0070C0"/>
                        </a:solidFill>
                        <a:latin typeface="Cambria Math" panose="02040503050406030204" pitchFamily="18" charset="0"/>
                        <a:ea typeface="Verdana" panose="020B0604030504040204" pitchFamily="34" charset="0"/>
                        <a:cs typeface="Verdana" panose="020B0604030504040204" pitchFamily="34" charset="0"/>
                      </a:rPr>
                      <m:t>∗</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 </m:t>
                    </m:r>
                  </m:oMath>
                </a14:m>
                <a:r>
                  <a:rPr lang="nl-BE" b="1" dirty="0">
                    <a:latin typeface="Cambria Math" panose="02040503050406030204" pitchFamily="18" charset="0"/>
                    <a:ea typeface="Verdana" panose="020B0604030504040204" pitchFamily="34" charset="0"/>
                    <a:cs typeface="Verdana" panose="020B0604030504040204" pitchFamily="34" charset="0"/>
                  </a:rPr>
                  <a:t>0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𝟏𝟕𝟐𝟕𝟏</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a:t>
                </a:r>
                <a14:m>
                  <m:oMath xmlns:m="http://schemas.openxmlformats.org/officeDocument/2006/math">
                    <m:r>
                      <a:rPr lang="nl-BE" b="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m:t>
                    </m:r>
                    <m:r>
                      <a:rPr lang="nl-BE" b="1" i="0" smtClean="0">
                        <a:latin typeface="Cambria Math" panose="02040503050406030204" pitchFamily="18" charset="0"/>
                        <a:ea typeface="Verdana" panose="020B0604030504040204" pitchFamily="34" charset="0"/>
                        <a:cs typeface="Verdana" panose="020B0604030504040204" pitchFamily="34" charset="0"/>
                      </a:rPr>
                      <m:t>𝟑𝟔𝟕𝟓</m:t>
                    </m:r>
                    <m:r>
                      <a:rPr lang="nl-BE" b="1">
                        <a:latin typeface="Cambria Math" panose="02040503050406030204" pitchFamily="18" charset="0"/>
                        <a:ea typeface="Verdana" panose="020B0604030504040204" pitchFamily="34" charset="0"/>
                        <a:cs typeface="Verdana" panose="020B0604030504040204" pitchFamily="34" charset="0"/>
                      </a:rPr>
                      <m:t>∗</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𝟑</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i="1">
                        <a:latin typeface="Cambria Math" panose="02040503050406030204" pitchFamily="18" charset="0"/>
                        <a:ea typeface="Verdana" panose="020B0604030504040204" pitchFamily="34" charset="0"/>
                        <a:cs typeface="Verdana" panose="020B0604030504040204" pitchFamily="34" charset="0"/>
                      </a:rPr>
                      <m:t>𝟏𝟑𝟐𝟗𝟒</m:t>
                    </m:r>
                    <m:r>
                      <a:rPr lang="nl-BE" b="1" i="1">
                        <a:latin typeface="Cambria Math" panose="02040503050406030204" pitchFamily="18" charset="0"/>
                        <a:ea typeface="Verdana" panose="020B0604030504040204" pitchFamily="34" charset="0"/>
                        <a:cs typeface="Verdana" panose="020B0604030504040204" pitchFamily="34" charset="0"/>
                      </a:rPr>
                      <m:t>)</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𝟏</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𝟓</m:t>
                    </m:r>
                    <m:r>
                      <a:rPr lang="nl-BE" b="1" smtClean="0">
                        <a:solidFill>
                          <a:srgbClr val="FF0000"/>
                        </a:solidFill>
                        <a:latin typeface="Cambria Math" panose="02040503050406030204" pitchFamily="18" charset="0"/>
                        <a:ea typeface="Verdana" panose="020B0604030504040204" pitchFamily="34" charset="0"/>
                        <a:cs typeface="Verdana" panose="020B0604030504040204" pitchFamily="34" charset="0"/>
                      </a:rPr>
                      <m:t>)</m:t>
                    </m:r>
                  </m:oMath>
                </a14:m>
                <a:r>
                  <a:rPr lang="nl-BE" b="1" dirty="0">
                    <a:solidFill>
                      <a:srgbClr val="FF0000"/>
                    </a:solidFill>
                    <a:latin typeface="Cambria Math" panose="02040503050406030204" pitchFamily="18" charset="0"/>
                    <a:ea typeface="Verdana" panose="020B0604030504040204" pitchFamily="34" charset="0"/>
                    <a:cs typeface="Verdana" panose="020B0604030504040204" pitchFamily="34" charset="0"/>
                  </a:rPr>
                  <a:t> </a:t>
                </a:r>
                <a:r>
                  <a:rPr lang="nl-BE" b="1" dirty="0">
                    <a:latin typeface="Cambria Math" panose="02040503050406030204" pitchFamily="18" charset="0"/>
                    <a:ea typeface="Verdana" panose="020B0604030504040204" pitchFamily="34" charset="0"/>
                    <a:cs typeface="Verdana" panose="020B0604030504040204" pitchFamily="34" charset="0"/>
                  </a:rPr>
                  <a:t>+</a:t>
                </a:r>
                <a14:m>
                  <m:oMath xmlns:m="http://schemas.openxmlformats.org/officeDocument/2006/math">
                    <m:r>
                      <a:rPr lang="nl-BE" b="1">
                        <a:latin typeface="Cambria Math" panose="02040503050406030204" pitchFamily="18" charset="0"/>
                        <a:ea typeface="Verdana" panose="020B0604030504040204" pitchFamily="34" charset="0"/>
                        <a:cs typeface="Verdana" panose="020B0604030504040204" pitchFamily="34" charset="0"/>
                      </a:rPr>
                      <m:t> </m:t>
                    </m:r>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𝟏</m:t>
                    </m:r>
                  </m:oMath>
                </a14:m>
                <a:r>
                  <a:rPr lang="nl-BE" b="1" dirty="0">
                    <a:latin typeface="Cambria Math" panose="02040503050406030204" pitchFamily="18" charset="0"/>
                    <a:ea typeface="Verdana" panose="020B0604030504040204" pitchFamily="34" charset="0"/>
                    <a:cs typeface="Verdana" panose="020B0604030504040204" pitchFamily="34" charset="0"/>
                  </a:rPr>
                  <a:t> + </a:t>
                </a:r>
                <a14:m>
                  <m:oMath xmlns:m="http://schemas.openxmlformats.org/officeDocument/2006/math">
                    <m:r>
                      <a:rPr lang="nl-BE" b="1" i="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m:t>
                    </m:r>
                    <m:r>
                      <a:rPr lang="nl-BE" b="1">
                        <a:latin typeface="Cambria Math" panose="02040503050406030204" pitchFamily="18" charset="0"/>
                        <a:ea typeface="Verdana" panose="020B0604030504040204" pitchFamily="34" charset="0"/>
                        <a:cs typeface="Verdana" panose="020B0604030504040204" pitchFamily="34" charset="0"/>
                      </a:rPr>
                      <m:t>𝟎</m:t>
                    </m:r>
                    <m:r>
                      <a:rPr lang="nl-BE" b="1">
                        <a:latin typeface="Cambria Math" panose="02040503050406030204" pitchFamily="18" charset="0"/>
                        <a:ea typeface="Verdana" panose="020B0604030504040204" pitchFamily="34" charset="0"/>
                        <a:cs typeface="Verdana" panose="020B0604030504040204" pitchFamily="34" charset="0"/>
                      </a:rPr>
                      <m:t> ∗</m:t>
                    </m:r>
                    <m:r>
                      <a:rPr lang="nl-BE" b="1">
                        <a:latin typeface="Cambria Math" panose="02040503050406030204" pitchFamily="18" charset="0"/>
                        <a:ea typeface="Verdana" panose="020B0604030504040204" pitchFamily="34" charset="0"/>
                        <a:cs typeface="Verdana" panose="020B0604030504040204" pitchFamily="34" charset="0"/>
                      </a:rPr>
                      <m:t>𝟎</m:t>
                    </m:r>
                  </m:oMath>
                </a14:m>
                <a:r>
                  <a:rPr lang="nl-BE" b="1" dirty="0">
                    <a:latin typeface="Cambria Math" panose="02040503050406030204" pitchFamily="18" charset="0"/>
                    <a:ea typeface="Verdana" panose="020B0604030504040204" pitchFamily="34" charset="0"/>
                    <a:cs typeface="Verdana" panose="020B0604030504040204" pitchFamily="34" charset="0"/>
                  </a:rPr>
                  <a:t> </a:t>
                </a:r>
              </a:p>
            </p:txBody>
          </p:sp>
        </mc:Choice>
        <mc:Fallback xmlns="">
          <p:sp>
            <p:nvSpPr>
              <p:cNvPr id="5" name="Tekstvak 4">
                <a:extLst>
                  <a:ext uri="{FF2B5EF4-FFF2-40B4-BE49-F238E27FC236}">
                    <a16:creationId xmlns:a16="http://schemas.microsoft.com/office/drawing/2014/main" id="{6EED056F-783B-E243-8F56-A55C68AA0B9A}"/>
                  </a:ext>
                </a:extLst>
              </p:cNvPr>
              <p:cNvSpPr txBox="1">
                <a:spLocks noRot="1" noChangeAspect="1" noMove="1" noResize="1" noEditPoints="1" noAdjustHandles="1" noChangeArrowheads="1" noChangeShapeType="1" noTextEdit="1"/>
              </p:cNvSpPr>
              <p:nvPr/>
            </p:nvSpPr>
            <p:spPr>
              <a:xfrm>
                <a:off x="623887" y="2718638"/>
                <a:ext cx="11326813" cy="3466262"/>
              </a:xfrm>
              <a:prstGeom prst="rect">
                <a:avLst/>
              </a:prstGeom>
              <a:blipFill>
                <a:blip r:embed="rId3"/>
                <a:stretch>
                  <a:fillRect l="-1232" t="-2190"/>
                </a:stretch>
              </a:blipFill>
            </p:spPr>
            <p:txBody>
              <a:bodyPr/>
              <a:lstStyle/>
              <a:p>
                <a:r>
                  <a:rPr lang="nl-BE">
                    <a:noFill/>
                  </a:rPr>
                  <a:t> </a:t>
                </a:r>
              </a:p>
            </p:txBody>
          </p:sp>
        </mc:Fallback>
      </mc:AlternateContent>
    </p:spTree>
    <p:extLst>
      <p:ext uri="{BB962C8B-B14F-4D97-AF65-F5344CB8AC3E}">
        <p14:creationId xmlns:p14="http://schemas.microsoft.com/office/powerpoint/2010/main" val="791904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smtClean="0"/>
              <a:t>Extra oefenen op het berekenen van scores?</a:t>
            </a:r>
            <a:endParaRPr lang="nl-BE" dirty="0"/>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40</a:t>
            </a:fld>
            <a:endParaRPr lang="nl-BE" dirty="0"/>
          </a:p>
        </p:txBody>
      </p:sp>
      <p:pic>
        <p:nvPicPr>
          <p:cNvPr id="6" name="Afbeelding 5"/>
          <p:cNvPicPr>
            <a:picLocks noChangeAspect="1"/>
          </p:cNvPicPr>
          <p:nvPr/>
        </p:nvPicPr>
        <p:blipFill>
          <a:blip r:embed="rId3"/>
          <a:stretch>
            <a:fillRect/>
          </a:stretch>
        </p:blipFill>
        <p:spPr>
          <a:xfrm>
            <a:off x="623886" y="1237817"/>
            <a:ext cx="5688313" cy="1267877"/>
          </a:xfrm>
          <a:prstGeom prst="rect">
            <a:avLst/>
          </a:prstGeom>
        </p:spPr>
      </p:pic>
      <p:pic>
        <p:nvPicPr>
          <p:cNvPr id="7" name="Afbeelding 6"/>
          <p:cNvPicPr>
            <a:picLocks noChangeAspect="1"/>
          </p:cNvPicPr>
          <p:nvPr/>
        </p:nvPicPr>
        <p:blipFill rotWithShape="1">
          <a:blip r:embed="rId4"/>
          <a:srcRect r="47459"/>
          <a:stretch/>
        </p:blipFill>
        <p:spPr>
          <a:xfrm>
            <a:off x="1229528" y="2666747"/>
            <a:ext cx="7342229" cy="2135849"/>
          </a:xfrm>
          <a:prstGeom prst="rect">
            <a:avLst/>
          </a:prstGeom>
        </p:spPr>
      </p:pic>
      <p:cxnSp>
        <p:nvCxnSpPr>
          <p:cNvPr id="9" name="Rechte verbindingslijn met pijl 8"/>
          <p:cNvCxnSpPr/>
          <p:nvPr/>
        </p:nvCxnSpPr>
        <p:spPr>
          <a:xfrm>
            <a:off x="564509" y="3194463"/>
            <a:ext cx="665019"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11" name="Rechte verbindingslijn met pijl 10"/>
          <p:cNvCxnSpPr/>
          <p:nvPr/>
        </p:nvCxnSpPr>
        <p:spPr>
          <a:xfrm>
            <a:off x="623886" y="4415642"/>
            <a:ext cx="665019"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5980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338376"/>
            <a:ext cx="10944226" cy="791794"/>
          </a:xfrm>
        </p:spPr>
        <p:txBody>
          <a:bodyPr/>
          <a:lstStyle/>
          <a:p>
            <a:r>
              <a:rPr lang="nl-BE" dirty="0"/>
              <a:t>Vraag 14</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41</a:t>
            </a:fld>
            <a:endParaRPr lang="nl-BE" dirty="0"/>
          </a:p>
        </p:txBody>
      </p:sp>
      <p:sp>
        <p:nvSpPr>
          <p:cNvPr id="5" name="Rechthoek 4"/>
          <p:cNvSpPr/>
          <p:nvPr/>
        </p:nvSpPr>
        <p:spPr>
          <a:xfrm>
            <a:off x="246926" y="1010584"/>
            <a:ext cx="6096000" cy="4933017"/>
          </a:xfrm>
          <a:prstGeom prst="rect">
            <a:avLst/>
          </a:prstGeom>
        </p:spPr>
        <p:txBody>
          <a:bodyPr>
            <a:spAutoFit/>
          </a:bodyPr>
          <a:lstStyle/>
          <a:p>
            <a:pPr algn="just">
              <a:lnSpc>
                <a:spcPct val="107000"/>
              </a:lnSpc>
              <a:spcAft>
                <a:spcPts val="0"/>
              </a:spcAft>
            </a:pPr>
            <a:r>
              <a:rPr lang="nl-NL" sz="1200" dirty="0">
                <a:latin typeface="Calibri" panose="020F0502020204030204" pitchFamily="34" charset="0"/>
                <a:ea typeface="Calibri" panose="020F0502020204030204" pitchFamily="34" charset="0"/>
                <a:cs typeface="Times New Roman" panose="02020603050405020304" pitchFamily="18" charset="0"/>
              </a:rPr>
              <a:t>DEZE VRAAG HOORT BIJ DE CASUS DIE JE OP PAPIER KREEG!</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sz="1200" dirty="0">
                <a:latin typeface="Calibri" panose="020F0502020204030204" pitchFamily="34" charset="0"/>
                <a:ea typeface="Calibri" panose="020F0502020204030204" pitchFamily="34" charset="0"/>
                <a:cs typeface="Times New Roman" panose="02020603050405020304" pitchFamily="18" charset="0"/>
              </a:rPr>
              <a:t> </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Katrien is een snuggere onderzoekster. Zij vraagt zich af of er voor model 3 (M3) wel aan de assumpties m.b.t. meervoudige regressieanalyse is voldaan?</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 </a:t>
            </a:r>
            <a:endParaRPr lang="nl-BE"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nl-NL" dirty="0">
                <a:latin typeface="Calibri" panose="020F0502020204030204" pitchFamily="34" charset="0"/>
                <a:ea typeface="Calibri" panose="020F0502020204030204" pitchFamily="34" charset="0"/>
                <a:cs typeface="Times New Roman" panose="02020603050405020304" pitchFamily="18" charset="0"/>
              </a:rPr>
              <a:t>Welke van onderstaande uitspraken is </a:t>
            </a:r>
            <a:r>
              <a:rPr lang="nl-NL" u="sng" dirty="0">
                <a:latin typeface="Calibri" panose="020F0502020204030204" pitchFamily="34" charset="0"/>
                <a:ea typeface="Calibri" panose="020F0502020204030204" pitchFamily="34" charset="0"/>
                <a:cs typeface="Times New Roman" panose="02020603050405020304" pitchFamily="18" charset="0"/>
              </a:rPr>
              <a:t>FOUT</a:t>
            </a:r>
            <a:r>
              <a:rPr lang="nl-NL" dirty="0">
                <a:latin typeface="Calibri" panose="020F0502020204030204" pitchFamily="34" charset="0"/>
                <a:ea typeface="Calibri" panose="020F0502020204030204" pitchFamily="34" charset="0"/>
                <a:cs typeface="Times New Roman" panose="02020603050405020304" pitchFamily="18" charset="0"/>
              </a:rPr>
              <a: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Uit de plot rechtsboven (</a:t>
            </a:r>
            <a:r>
              <a:rPr lang="nl-NL" dirty="0" err="1">
                <a:latin typeface="Calibri" panose="020F0502020204030204" pitchFamily="34" charset="0"/>
                <a:ea typeface="Calibri" panose="020F0502020204030204" pitchFamily="34" charset="0"/>
                <a:cs typeface="Times New Roman" panose="02020603050405020304" pitchFamily="18" charset="0"/>
              </a:rPr>
              <a:t>Normal</a:t>
            </a:r>
            <a:r>
              <a:rPr lang="nl-NL" dirty="0">
                <a:latin typeface="Calibri" panose="020F0502020204030204" pitchFamily="34" charset="0"/>
                <a:ea typeface="Calibri" panose="020F0502020204030204" pitchFamily="34" charset="0"/>
                <a:cs typeface="Times New Roman" panose="02020603050405020304" pitchFamily="18" charset="0"/>
              </a:rPr>
              <a:t> Q-Q) blijkt dat de errortermen bij benadering normaal verdeeld zijn.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Uit de </a:t>
            </a:r>
            <a:r>
              <a:rPr lang="nl-NL" dirty="0" err="1">
                <a:latin typeface="Calibri" panose="020F0502020204030204" pitchFamily="34" charset="0"/>
                <a:ea typeface="Calibri" panose="020F0502020204030204" pitchFamily="34" charset="0"/>
                <a:cs typeface="Times New Roman" panose="02020603050405020304" pitchFamily="18" charset="0"/>
              </a:rPr>
              <a:t>scale-location</a:t>
            </a:r>
            <a:r>
              <a:rPr lang="nl-NL" dirty="0">
                <a:latin typeface="Calibri" panose="020F0502020204030204" pitchFamily="34" charset="0"/>
                <a:ea typeface="Calibri" panose="020F0502020204030204" pitchFamily="34" charset="0"/>
                <a:cs typeface="Times New Roman" panose="02020603050405020304" pitchFamily="18" charset="0"/>
              </a:rPr>
              <a:t> plot blijkt dat er een probleem is met clustering.</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Er zijn geen problemen met multicollineariteit.</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modellen zouden opnieuw geschat moeten worden waarbij de data van respondent 545 wordt weggelaten.</a:t>
            </a:r>
            <a:endParaRPr lang="nl-BE"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nl-NL" dirty="0">
                <a:latin typeface="Calibri" panose="020F0502020204030204" pitchFamily="34" charset="0"/>
                <a:ea typeface="Calibri" panose="020F0502020204030204" pitchFamily="34" charset="0"/>
                <a:cs typeface="Times New Roman" panose="02020603050405020304" pitchFamily="18" charset="0"/>
              </a:rPr>
              <a:t>De samenhang tussen de onafhankelijke variabelen beïnvloedt de schatting van de parameters en significantietoetsen niet.</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Afbeelding 8"/>
          <p:cNvPicPr>
            <a:picLocks noChangeAspect="1"/>
          </p:cNvPicPr>
          <p:nvPr/>
        </p:nvPicPr>
        <p:blipFill>
          <a:blip r:embed="rId3"/>
          <a:stretch>
            <a:fillRect/>
          </a:stretch>
        </p:blipFill>
        <p:spPr>
          <a:xfrm>
            <a:off x="8055932" y="3438982"/>
            <a:ext cx="2817895" cy="2248623"/>
          </a:xfrm>
          <a:prstGeom prst="rect">
            <a:avLst/>
          </a:prstGeom>
        </p:spPr>
      </p:pic>
      <p:pic>
        <p:nvPicPr>
          <p:cNvPr id="10" name="Afbeelding 9"/>
          <p:cNvPicPr>
            <a:picLocks noChangeAspect="1"/>
          </p:cNvPicPr>
          <p:nvPr/>
        </p:nvPicPr>
        <p:blipFill>
          <a:blip r:embed="rId4"/>
          <a:stretch>
            <a:fillRect/>
          </a:stretch>
        </p:blipFill>
        <p:spPr>
          <a:xfrm>
            <a:off x="7751686" y="38154"/>
            <a:ext cx="3816427" cy="3420152"/>
          </a:xfrm>
          <a:prstGeom prst="rect">
            <a:avLst/>
          </a:prstGeom>
        </p:spPr>
      </p:pic>
      <p:pic>
        <p:nvPicPr>
          <p:cNvPr id="12" name="Afbeelding 11"/>
          <p:cNvPicPr>
            <a:picLocks noChangeAspect="1"/>
          </p:cNvPicPr>
          <p:nvPr/>
        </p:nvPicPr>
        <p:blipFill>
          <a:blip r:embed="rId5"/>
          <a:stretch>
            <a:fillRect/>
          </a:stretch>
        </p:blipFill>
        <p:spPr>
          <a:xfrm>
            <a:off x="3764913" y="5753300"/>
            <a:ext cx="6869032" cy="1016693"/>
          </a:xfrm>
          <a:prstGeom prst="rect">
            <a:avLst/>
          </a:prstGeom>
        </p:spPr>
      </p:pic>
      <p:sp>
        <p:nvSpPr>
          <p:cNvPr id="13" name="Rechthoek 12"/>
          <p:cNvSpPr/>
          <p:nvPr/>
        </p:nvSpPr>
        <p:spPr bwMode="auto">
          <a:xfrm>
            <a:off x="246926" y="3481773"/>
            <a:ext cx="6096000" cy="575183"/>
          </a:xfrm>
          <a:prstGeom prst="rect">
            <a:avLst/>
          </a:prstGeom>
          <a:noFill/>
          <a:ln w="38100">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5433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3887" y="536545"/>
            <a:ext cx="10944226" cy="791794"/>
          </a:xfrm>
        </p:spPr>
        <p:txBody>
          <a:bodyPr/>
          <a:lstStyle/>
          <a:p>
            <a:r>
              <a:rPr lang="nl-BE" dirty="0"/>
              <a:t>Vraag 14 – toelichting oplossing</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42</a:t>
            </a:fld>
            <a:endParaRPr lang="nl-BE" dirty="0"/>
          </a:p>
        </p:txBody>
      </p:sp>
      <p:sp>
        <p:nvSpPr>
          <p:cNvPr id="5" name="Rechthoek 4"/>
          <p:cNvSpPr/>
          <p:nvPr/>
        </p:nvSpPr>
        <p:spPr>
          <a:xfrm>
            <a:off x="538976" y="1509623"/>
            <a:ext cx="11259014" cy="3721596"/>
          </a:xfrm>
          <a:prstGeom prst="rect">
            <a:avLst/>
          </a:prstGeom>
        </p:spPr>
        <p:txBody>
          <a:bodyPr wrap="square">
            <a:spAutoFit/>
          </a:bodyPr>
          <a:lstStyle/>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Uit de plot rechtsboven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Normal</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Q-Q) blijkt dat de errortermen bij benadering normaal verdeeld zijn.</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is JUIST. Op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Normal</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Q-Q plot blijkt dat alle punten ongeveer de rechte volgen.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Uit de </a:t>
            </a:r>
            <a:r>
              <a:rPr lang="nl-BE" sz="1500" i="1"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scale-location</a:t>
            </a: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plot blijkt dat er een probleem is met clustering.</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klopt NIET. Op de plot linksonder is geen clustering van data te merken.</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Er zijn geen problemen met multicollineariteit.</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is JUIST. De VIF-waarden blijven allemaal mooi onder de kritische waarde van 10 en zijn zelfs lager dan 5!</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modellen zouden opnieuw geschat moeten worden waarbij de data van respondent 545 wordt weggelaten.</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is JUIST. Uit de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Cook's</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plot blijkt dat respondent 545 een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outlier</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veroorzaakt. Aangezien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outliers</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de resultaten van een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regressie-analyse</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kunnen vertekenen, is het aangewezen om de analyse te </a:t>
            </a:r>
            <a:r>
              <a:rPr lang="nl-BE" sz="1500" dirty="0" err="1">
                <a:solidFill>
                  <a:schemeClr val="accent1"/>
                </a:solidFill>
                <a:latin typeface="Calibri" panose="020F0502020204030204" pitchFamily="34" charset="0"/>
                <a:ea typeface="Calibri" panose="020F0502020204030204" pitchFamily="34" charset="0"/>
                <a:cs typeface="Times New Roman" panose="02020603050405020304" pitchFamily="18" charset="0"/>
              </a:rPr>
              <a:t>herdraaien</a:t>
            </a: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 zonder de data van deze respondent.</a:t>
            </a:r>
          </a:p>
          <a:p>
            <a:pPr marL="228600" indent="-228600">
              <a:lnSpc>
                <a:spcPct val="107000"/>
              </a:lnSpc>
              <a:spcAft>
                <a:spcPts val="800"/>
              </a:spcAft>
              <a:buFont typeface="+mj-lt"/>
              <a:buAutoNum type="arabicPeriod"/>
            </a:pPr>
            <a:r>
              <a:rPr lang="nl-BE" sz="1500" i="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 samenhang tussen de onafhankelijke variabelen beïnvloedt de schatting van de parameters en significantietoetsen niet. </a:t>
            </a:r>
          </a:p>
          <a:p>
            <a:pPr marL="895335" lvl="1" indent="-285750">
              <a:lnSpc>
                <a:spcPct val="107000"/>
              </a:lnSpc>
              <a:spcAft>
                <a:spcPts val="800"/>
              </a:spcAft>
              <a:buFont typeface="Arial" panose="020B0604020202020204" pitchFamily="34" charset="0"/>
              <a:buChar char="•"/>
            </a:pPr>
            <a:r>
              <a:rPr lang="nl-BE" sz="15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Deze uitspraak is JUIST. De VIF-waarden blijven allemaal mooi onder de kritische waarde van 10 en zijn zelfs lager dan 5!</a:t>
            </a:r>
          </a:p>
        </p:txBody>
      </p:sp>
    </p:spTree>
    <p:extLst>
      <p:ext uri="{BB962C8B-B14F-4D97-AF65-F5344CB8AC3E}">
        <p14:creationId xmlns:p14="http://schemas.microsoft.com/office/powerpoint/2010/main" val="2061236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14453" y="2809533"/>
            <a:ext cx="10963985" cy="1325563"/>
          </a:xfrm>
        </p:spPr>
        <p:txBody>
          <a:bodyPr>
            <a:normAutofit/>
          </a:bodyPr>
          <a:lstStyle/>
          <a:p>
            <a:r>
              <a:rPr lang="nl-BE" dirty="0" err="1"/>
              <a:t>AlephQ</a:t>
            </a:r>
            <a:endParaRPr lang="nl-BE" dirty="0"/>
          </a:p>
        </p:txBody>
      </p:sp>
    </p:spTree>
    <p:extLst>
      <p:ext uri="{BB962C8B-B14F-4D97-AF65-F5344CB8AC3E}">
        <p14:creationId xmlns:p14="http://schemas.microsoft.com/office/powerpoint/2010/main" val="894383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AlephQ</a:t>
            </a:r>
            <a:endParaRPr lang="nl-BE" dirty="0"/>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44</a:t>
            </a:fld>
            <a:endParaRPr lang="nl-BE" dirty="0"/>
          </a:p>
        </p:txBody>
      </p:sp>
      <p:sp>
        <p:nvSpPr>
          <p:cNvPr id="4" name="Tijdelijke aanduiding voor inhoud 3"/>
          <p:cNvSpPr>
            <a:spLocks noGrp="1"/>
          </p:cNvSpPr>
          <p:nvPr>
            <p:ph idx="1"/>
          </p:nvPr>
        </p:nvSpPr>
        <p:spPr/>
        <p:txBody>
          <a:bodyPr/>
          <a:lstStyle/>
          <a:p>
            <a:pPr marL="514350" indent="-514350">
              <a:buFont typeface="+mj-lt"/>
              <a:buAutoNum type="arabicPeriod"/>
            </a:pPr>
            <a:r>
              <a:rPr lang="nl-BE" dirty="0"/>
              <a:t>Aanmelden op de PC met je studentennummer (S…)en paswoord.</a:t>
            </a:r>
          </a:p>
          <a:p>
            <a:pPr marL="514350" indent="-514350">
              <a:buFont typeface="+mj-lt"/>
              <a:buAutoNum type="arabicPeriod"/>
            </a:pPr>
            <a:r>
              <a:rPr lang="nl-BE" dirty="0"/>
              <a:t>Aanmelden in </a:t>
            </a:r>
            <a:r>
              <a:rPr lang="nl-BE" dirty="0" err="1"/>
              <a:t>AlephQ</a:t>
            </a:r>
            <a:r>
              <a:rPr lang="nl-BE" dirty="0"/>
              <a:t> met je studentennummer (S…) en paswoord</a:t>
            </a:r>
          </a:p>
          <a:p>
            <a:pPr marL="980527" lvl="1" indent="-514350">
              <a:buFont typeface="Arial" panose="020B0604020202020204" pitchFamily="34" charset="0"/>
              <a:buChar char="•"/>
            </a:pPr>
            <a:r>
              <a:rPr lang="nl-BE" dirty="0"/>
              <a:t>“Toon wachtwoord” niet aanklikken of uitzetten voor het aanmelden(!)</a:t>
            </a:r>
          </a:p>
        </p:txBody>
      </p:sp>
      <p:pic>
        <p:nvPicPr>
          <p:cNvPr id="5" name="Picture 1"/>
          <p:cNvPicPr/>
          <p:nvPr/>
        </p:nvPicPr>
        <p:blipFill>
          <a:blip r:embed="rId2"/>
          <a:stretch>
            <a:fillRect/>
          </a:stretch>
        </p:blipFill>
        <p:spPr>
          <a:xfrm>
            <a:off x="2752915" y="3404043"/>
            <a:ext cx="1721549" cy="2220849"/>
          </a:xfrm>
          <a:prstGeom prst="rect">
            <a:avLst/>
          </a:prstGeom>
        </p:spPr>
      </p:pic>
      <p:pic>
        <p:nvPicPr>
          <p:cNvPr id="6" name="Picture 3"/>
          <p:cNvPicPr/>
          <p:nvPr/>
        </p:nvPicPr>
        <p:blipFill>
          <a:blip r:embed="rId3"/>
          <a:stretch>
            <a:fillRect/>
          </a:stretch>
        </p:blipFill>
        <p:spPr>
          <a:xfrm>
            <a:off x="6225826" y="3314318"/>
            <a:ext cx="3286125" cy="2400300"/>
          </a:xfrm>
          <a:prstGeom prst="rect">
            <a:avLst/>
          </a:prstGeom>
        </p:spPr>
      </p:pic>
    </p:spTree>
    <p:extLst>
      <p:ext uri="{BB962C8B-B14F-4D97-AF65-F5344CB8AC3E}">
        <p14:creationId xmlns:p14="http://schemas.microsoft.com/office/powerpoint/2010/main" val="1623548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AlephQ</a:t>
            </a:r>
            <a:r>
              <a:rPr lang="nl-BE" dirty="0"/>
              <a:t> (</a:t>
            </a:r>
            <a:r>
              <a:rPr lang="nl-BE" u="sng" dirty="0"/>
              <a:t>GB</a:t>
            </a:r>
            <a:r>
              <a:rPr lang="nl-BE" dirty="0"/>
              <a:t>)</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45</a:t>
            </a:fld>
            <a:endParaRPr lang="nl-BE" dirty="0"/>
          </a:p>
        </p:txBody>
      </p:sp>
      <p:pic>
        <p:nvPicPr>
          <p:cNvPr id="9" name="Afbeelding 8"/>
          <p:cNvPicPr>
            <a:picLocks noChangeAspect="1"/>
          </p:cNvPicPr>
          <p:nvPr/>
        </p:nvPicPr>
        <p:blipFill>
          <a:blip r:embed="rId2"/>
          <a:stretch>
            <a:fillRect/>
          </a:stretch>
        </p:blipFill>
        <p:spPr>
          <a:xfrm>
            <a:off x="623887" y="1577008"/>
            <a:ext cx="3403839" cy="3750895"/>
          </a:xfrm>
          <a:prstGeom prst="rect">
            <a:avLst/>
          </a:prstGeom>
        </p:spPr>
      </p:pic>
      <p:pic>
        <p:nvPicPr>
          <p:cNvPr id="11" name="Afbeelding 10"/>
          <p:cNvPicPr>
            <a:picLocks noChangeAspect="1"/>
          </p:cNvPicPr>
          <p:nvPr/>
        </p:nvPicPr>
        <p:blipFill>
          <a:blip r:embed="rId3"/>
          <a:stretch>
            <a:fillRect/>
          </a:stretch>
        </p:blipFill>
        <p:spPr>
          <a:xfrm>
            <a:off x="4509376" y="547560"/>
            <a:ext cx="7157317" cy="5689728"/>
          </a:xfrm>
          <a:prstGeom prst="rect">
            <a:avLst/>
          </a:prstGeom>
        </p:spPr>
      </p:pic>
      <p:cxnSp>
        <p:nvCxnSpPr>
          <p:cNvPr id="13" name="Rechte verbindingslijn met pijl 12"/>
          <p:cNvCxnSpPr/>
          <p:nvPr/>
        </p:nvCxnSpPr>
        <p:spPr>
          <a:xfrm>
            <a:off x="231648" y="1577008"/>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14" name="Rechte verbindingslijn met pijl 13"/>
          <p:cNvCxnSpPr/>
          <p:nvPr/>
        </p:nvCxnSpPr>
        <p:spPr>
          <a:xfrm>
            <a:off x="4422988" y="1475124"/>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7" name="Rechthoek 16"/>
          <p:cNvSpPr/>
          <p:nvPr/>
        </p:nvSpPr>
        <p:spPr bwMode="auto">
          <a:xfrm>
            <a:off x="4727788" y="2548128"/>
            <a:ext cx="1258484" cy="316992"/>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9" name="Rechthoek 18"/>
          <p:cNvSpPr/>
          <p:nvPr/>
        </p:nvSpPr>
        <p:spPr bwMode="auto">
          <a:xfrm>
            <a:off x="4880188" y="3135463"/>
            <a:ext cx="1484036" cy="229529"/>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20" name="Rechthoek 19"/>
          <p:cNvSpPr/>
          <p:nvPr/>
        </p:nvSpPr>
        <p:spPr bwMode="auto">
          <a:xfrm>
            <a:off x="4941148" y="3405806"/>
            <a:ext cx="1983908" cy="324946"/>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cxnSp>
        <p:nvCxnSpPr>
          <p:cNvPr id="22" name="Rechte verbindingslijn met pijl 21"/>
          <p:cNvCxnSpPr>
            <a:stCxn id="20" idx="3"/>
          </p:cNvCxnSpPr>
          <p:nvPr/>
        </p:nvCxnSpPr>
        <p:spPr>
          <a:xfrm flipV="1">
            <a:off x="6925056" y="2365248"/>
            <a:ext cx="804672" cy="12030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Rechte verbindingslijn met pijl 23"/>
          <p:cNvCxnSpPr/>
          <p:nvPr/>
        </p:nvCxnSpPr>
        <p:spPr>
          <a:xfrm>
            <a:off x="9046464" y="2365248"/>
            <a:ext cx="609600" cy="3450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47710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p:cNvPicPr>
            <a:picLocks noChangeAspect="1"/>
          </p:cNvPicPr>
          <p:nvPr/>
        </p:nvPicPr>
        <p:blipFill>
          <a:blip r:embed="rId2"/>
          <a:stretch>
            <a:fillRect/>
          </a:stretch>
        </p:blipFill>
        <p:spPr>
          <a:xfrm>
            <a:off x="4422988" y="551679"/>
            <a:ext cx="7145126" cy="5754106"/>
          </a:xfrm>
          <a:prstGeom prst="rect">
            <a:avLst/>
          </a:prstGeom>
        </p:spPr>
      </p:pic>
      <p:sp>
        <p:nvSpPr>
          <p:cNvPr id="2" name="Titel 1"/>
          <p:cNvSpPr>
            <a:spLocks noGrp="1"/>
          </p:cNvSpPr>
          <p:nvPr>
            <p:ph type="title"/>
          </p:nvPr>
        </p:nvSpPr>
        <p:spPr/>
        <p:txBody>
          <a:bodyPr/>
          <a:lstStyle/>
          <a:p>
            <a:r>
              <a:rPr lang="nl-BE" dirty="0" err="1"/>
              <a:t>AlephQ</a:t>
            </a:r>
            <a:r>
              <a:rPr lang="nl-BE" dirty="0"/>
              <a:t> (</a:t>
            </a:r>
            <a:r>
              <a:rPr lang="nl-BE" u="sng" dirty="0"/>
              <a:t>OB</a:t>
            </a:r>
            <a:r>
              <a:rPr lang="nl-BE" dirty="0"/>
              <a:t>)</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46</a:t>
            </a:fld>
            <a:endParaRPr lang="nl-BE" dirty="0"/>
          </a:p>
        </p:txBody>
      </p:sp>
      <p:pic>
        <p:nvPicPr>
          <p:cNvPr id="9" name="Afbeelding 8"/>
          <p:cNvPicPr>
            <a:picLocks noChangeAspect="1"/>
          </p:cNvPicPr>
          <p:nvPr/>
        </p:nvPicPr>
        <p:blipFill>
          <a:blip r:embed="rId3"/>
          <a:stretch>
            <a:fillRect/>
          </a:stretch>
        </p:blipFill>
        <p:spPr>
          <a:xfrm>
            <a:off x="623887" y="1577008"/>
            <a:ext cx="3403839" cy="3750895"/>
          </a:xfrm>
          <a:prstGeom prst="rect">
            <a:avLst/>
          </a:prstGeom>
        </p:spPr>
      </p:pic>
      <p:cxnSp>
        <p:nvCxnSpPr>
          <p:cNvPr id="13" name="Rechte verbindingslijn met pijl 12"/>
          <p:cNvCxnSpPr/>
          <p:nvPr/>
        </p:nvCxnSpPr>
        <p:spPr>
          <a:xfrm>
            <a:off x="231648" y="1577008"/>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14" name="Rechte verbindingslijn met pijl 13"/>
          <p:cNvCxnSpPr/>
          <p:nvPr/>
        </p:nvCxnSpPr>
        <p:spPr>
          <a:xfrm>
            <a:off x="4324409" y="1475124"/>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7" name="Rechthoek 16"/>
          <p:cNvSpPr/>
          <p:nvPr/>
        </p:nvSpPr>
        <p:spPr bwMode="auto">
          <a:xfrm>
            <a:off x="4727752" y="2565911"/>
            <a:ext cx="1100024" cy="233655"/>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9" name="Rechthoek 18"/>
          <p:cNvSpPr/>
          <p:nvPr/>
        </p:nvSpPr>
        <p:spPr bwMode="auto">
          <a:xfrm>
            <a:off x="4880188" y="3135463"/>
            <a:ext cx="1484036" cy="229529"/>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20" name="Rechthoek 19"/>
          <p:cNvSpPr/>
          <p:nvPr/>
        </p:nvSpPr>
        <p:spPr bwMode="auto">
          <a:xfrm>
            <a:off x="4945550" y="3662423"/>
            <a:ext cx="1983908" cy="324946"/>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cxnSp>
        <p:nvCxnSpPr>
          <p:cNvPr id="22" name="Rechte verbindingslijn met pijl 21"/>
          <p:cNvCxnSpPr>
            <a:stCxn id="20" idx="3"/>
          </p:cNvCxnSpPr>
          <p:nvPr/>
        </p:nvCxnSpPr>
        <p:spPr>
          <a:xfrm flipV="1">
            <a:off x="6925056" y="2365248"/>
            <a:ext cx="804672" cy="12030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Rechte verbindingslijn met pijl 23"/>
          <p:cNvCxnSpPr/>
          <p:nvPr/>
        </p:nvCxnSpPr>
        <p:spPr>
          <a:xfrm>
            <a:off x="9046464" y="2365248"/>
            <a:ext cx="609600" cy="34503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4224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p:cNvPicPr>
            <a:picLocks noChangeAspect="1"/>
          </p:cNvPicPr>
          <p:nvPr/>
        </p:nvPicPr>
        <p:blipFill>
          <a:blip r:embed="rId2"/>
          <a:stretch>
            <a:fillRect/>
          </a:stretch>
        </p:blipFill>
        <p:spPr>
          <a:xfrm>
            <a:off x="425737" y="1638181"/>
            <a:ext cx="4416150" cy="3565806"/>
          </a:xfrm>
          <a:prstGeom prst="rect">
            <a:avLst/>
          </a:prstGeom>
        </p:spPr>
      </p:pic>
      <p:sp>
        <p:nvSpPr>
          <p:cNvPr id="2" name="Titel 1"/>
          <p:cNvSpPr>
            <a:spLocks noGrp="1"/>
          </p:cNvSpPr>
          <p:nvPr>
            <p:ph type="title"/>
          </p:nvPr>
        </p:nvSpPr>
        <p:spPr/>
        <p:txBody>
          <a:bodyPr/>
          <a:lstStyle/>
          <a:p>
            <a:r>
              <a:rPr lang="nl-BE" dirty="0" err="1"/>
              <a:t>AlephQ</a:t>
            </a:r>
            <a:r>
              <a:rPr lang="nl-BE" dirty="0"/>
              <a:t> (</a:t>
            </a:r>
            <a:r>
              <a:rPr lang="nl-BE" u="sng" dirty="0"/>
              <a:t>bijlagen</a:t>
            </a:r>
            <a:r>
              <a:rPr lang="nl-BE" dirty="0"/>
              <a:t>)</a:t>
            </a:r>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47</a:t>
            </a:fld>
            <a:endParaRPr lang="nl-BE" dirty="0"/>
          </a:p>
        </p:txBody>
      </p:sp>
      <p:cxnSp>
        <p:nvCxnSpPr>
          <p:cNvPr id="13" name="Rechte verbindingslijn met pijl 12"/>
          <p:cNvCxnSpPr/>
          <p:nvPr/>
        </p:nvCxnSpPr>
        <p:spPr>
          <a:xfrm>
            <a:off x="1967163" y="1949041"/>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pic>
        <p:nvPicPr>
          <p:cNvPr id="6" name="Afbeelding 5"/>
          <p:cNvPicPr>
            <a:picLocks noChangeAspect="1"/>
          </p:cNvPicPr>
          <p:nvPr/>
        </p:nvPicPr>
        <p:blipFill>
          <a:blip r:embed="rId3"/>
          <a:stretch>
            <a:fillRect/>
          </a:stretch>
        </p:blipFill>
        <p:spPr>
          <a:xfrm>
            <a:off x="6394501" y="803231"/>
            <a:ext cx="4669941" cy="426757"/>
          </a:xfrm>
          <a:prstGeom prst="rect">
            <a:avLst/>
          </a:prstGeom>
        </p:spPr>
      </p:pic>
      <p:pic>
        <p:nvPicPr>
          <p:cNvPr id="7" name="Afbeelding 6"/>
          <p:cNvPicPr>
            <a:picLocks noChangeAspect="1"/>
          </p:cNvPicPr>
          <p:nvPr/>
        </p:nvPicPr>
        <p:blipFill rotWithShape="1">
          <a:blip r:embed="rId4"/>
          <a:srcRect r="31321"/>
          <a:stretch/>
        </p:blipFill>
        <p:spPr>
          <a:xfrm>
            <a:off x="5991373" y="1638181"/>
            <a:ext cx="5675320" cy="4474600"/>
          </a:xfrm>
          <a:prstGeom prst="rect">
            <a:avLst/>
          </a:prstGeom>
        </p:spPr>
      </p:pic>
      <p:cxnSp>
        <p:nvCxnSpPr>
          <p:cNvPr id="18" name="Rechte verbindingslijn met pijl 17"/>
          <p:cNvCxnSpPr/>
          <p:nvPr/>
        </p:nvCxnSpPr>
        <p:spPr>
          <a:xfrm>
            <a:off x="10446699" y="534344"/>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21" name="Rechte verbindingslijn met pijl 20"/>
          <p:cNvCxnSpPr/>
          <p:nvPr/>
        </p:nvCxnSpPr>
        <p:spPr>
          <a:xfrm>
            <a:off x="5943600" y="3532426"/>
            <a:ext cx="304800" cy="32494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23" name="Rechthoek 22"/>
          <p:cNvSpPr/>
          <p:nvPr/>
        </p:nvSpPr>
        <p:spPr bwMode="auto">
          <a:xfrm>
            <a:off x="6247349" y="4552059"/>
            <a:ext cx="1100024" cy="233655"/>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25" name="Rechthoek 24"/>
          <p:cNvSpPr/>
          <p:nvPr/>
        </p:nvSpPr>
        <p:spPr bwMode="auto">
          <a:xfrm>
            <a:off x="6353725" y="5082691"/>
            <a:ext cx="1484036" cy="229529"/>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26" name="Rechthoek 25"/>
          <p:cNvSpPr/>
          <p:nvPr/>
        </p:nvSpPr>
        <p:spPr bwMode="auto">
          <a:xfrm>
            <a:off x="6430026" y="5320772"/>
            <a:ext cx="917347" cy="217122"/>
          </a:xfrm>
          <a:prstGeom prst="rect">
            <a:avLst/>
          </a:prstGeom>
          <a:no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cxnSp>
        <p:nvCxnSpPr>
          <p:cNvPr id="27" name="Rechte verbindingslijn met pijl 26"/>
          <p:cNvCxnSpPr>
            <a:stCxn id="26" idx="3"/>
          </p:cNvCxnSpPr>
          <p:nvPr/>
        </p:nvCxnSpPr>
        <p:spPr>
          <a:xfrm flipV="1">
            <a:off x="7347373" y="2511552"/>
            <a:ext cx="2016083" cy="291778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81865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Aandachtspunten </a:t>
            </a:r>
            <a:r>
              <a:rPr lang="nl-BE" dirty="0" err="1"/>
              <a:t>AlephQ</a:t>
            </a:r>
            <a:endParaRPr lang="nl-BE" dirty="0"/>
          </a:p>
        </p:txBody>
      </p:sp>
      <p:sp>
        <p:nvSpPr>
          <p:cNvPr id="3" name="Tijdelijke aanduiding voor dianummer 2"/>
          <p:cNvSpPr>
            <a:spLocks noGrp="1"/>
          </p:cNvSpPr>
          <p:nvPr>
            <p:ph type="sldNum" sz="quarter" idx="10"/>
          </p:nvPr>
        </p:nvSpPr>
        <p:spPr/>
        <p:txBody>
          <a:bodyPr/>
          <a:lstStyle/>
          <a:p>
            <a:fld id="{E038E271-308C-2E46-A3EC-56326F9084CC}" type="slidenum">
              <a:rPr lang="nl-BE" smtClean="0"/>
              <a:pPr/>
              <a:t>48</a:t>
            </a:fld>
            <a:endParaRPr lang="nl-BE" dirty="0"/>
          </a:p>
        </p:txBody>
      </p:sp>
      <p:sp>
        <p:nvSpPr>
          <p:cNvPr id="4" name="Tijdelijke aanduiding voor inhoud 3"/>
          <p:cNvSpPr>
            <a:spLocks noGrp="1"/>
          </p:cNvSpPr>
          <p:nvPr>
            <p:ph idx="1"/>
          </p:nvPr>
        </p:nvSpPr>
        <p:spPr/>
        <p:txBody>
          <a:bodyPr/>
          <a:lstStyle/>
          <a:p>
            <a:r>
              <a:rPr lang="nl-BE" b="0" dirty="0"/>
              <a:t>Lees bij elke vraag goed de instructies</a:t>
            </a:r>
          </a:p>
          <a:p>
            <a:pPr lvl="0"/>
            <a:r>
              <a:rPr lang="nl-BE" b="0" dirty="0"/>
              <a:t>Rond de getallen af zoals ze in de instructie worden gevraagd.</a:t>
            </a:r>
          </a:p>
          <a:p>
            <a:pPr lvl="1"/>
            <a:r>
              <a:rPr lang="nl-BE" sz="2200" dirty="0"/>
              <a:t>Tussenuitkomsten (getallen die je uit de output haalt) om verder mee te rekenen</a:t>
            </a:r>
            <a:br>
              <a:rPr lang="nl-BE" sz="2200" dirty="0"/>
            </a:br>
            <a:r>
              <a:rPr lang="nl-BE" sz="2200" dirty="0"/>
              <a:t>(bv. voor voorspelde scores) als einduitkomsten </a:t>
            </a:r>
            <a:r>
              <a:rPr lang="nl-BE" sz="2200" u="sng" dirty="0"/>
              <a:t>steeds afronden op 2 cijfers na de komma </a:t>
            </a:r>
          </a:p>
          <a:p>
            <a:pPr lvl="0"/>
            <a:r>
              <a:rPr lang="nl-BE" b="0" dirty="0"/>
              <a:t>Hou rekening met het maximumaantal woorden dat wordt gevraagd</a:t>
            </a:r>
          </a:p>
          <a:p>
            <a:pPr lvl="0"/>
            <a:r>
              <a:rPr lang="nl-BE" b="0" dirty="0"/>
              <a:t>, of . maakt niet uit -&gt; </a:t>
            </a:r>
            <a:r>
              <a:rPr lang="nl-BE" b="0" dirty="0" err="1"/>
              <a:t>AlephQ</a:t>
            </a:r>
            <a:r>
              <a:rPr lang="nl-BE" b="0" dirty="0"/>
              <a:t> verandert . automatisch in ,</a:t>
            </a:r>
          </a:p>
          <a:p>
            <a:r>
              <a:rPr lang="nl-BE" b="0" dirty="0" err="1"/>
              <a:t>NaN</a:t>
            </a:r>
            <a:r>
              <a:rPr lang="nl-BE" b="0" dirty="0"/>
              <a:t> (‘</a:t>
            </a:r>
            <a:r>
              <a:rPr lang="nl-BE" b="0" dirty="0" err="1"/>
              <a:t>Not</a:t>
            </a:r>
            <a:r>
              <a:rPr lang="nl-BE" b="0" dirty="0"/>
              <a:t> a </a:t>
            </a:r>
            <a:r>
              <a:rPr lang="nl-BE" b="0" dirty="0" err="1"/>
              <a:t>Number</a:t>
            </a:r>
            <a:r>
              <a:rPr lang="nl-BE" b="0" dirty="0"/>
              <a:t>’) =&gt; jouw antwoord is niet in het juiste format </a:t>
            </a:r>
            <a:br>
              <a:rPr lang="nl-BE" b="0" dirty="0"/>
            </a:br>
            <a:r>
              <a:rPr lang="nl-BE" b="0" dirty="0"/>
              <a:t>waardoor het niet leesbaar is voor de docenten! ( bv. geen woorden </a:t>
            </a:r>
            <a:br>
              <a:rPr lang="nl-BE" b="0" dirty="0"/>
            </a:br>
            <a:r>
              <a:rPr lang="nl-BE" b="0" dirty="0"/>
              <a:t>ingeven als er een cijfer gevraagd wordt, geen tussenstappen noteren, enz.)</a:t>
            </a:r>
          </a:p>
        </p:txBody>
      </p:sp>
    </p:spTree>
    <p:extLst>
      <p:ext uri="{BB962C8B-B14F-4D97-AF65-F5344CB8AC3E}">
        <p14:creationId xmlns:p14="http://schemas.microsoft.com/office/powerpoint/2010/main" val="4036544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92CD598A-FD6E-4EAD-B493-73981FD0437E}"/>
              </a:ext>
            </a:extLst>
          </p:cNvPr>
          <p:cNvSpPr>
            <a:spLocks noGrp="1"/>
          </p:cNvSpPr>
          <p:nvPr>
            <p:ph type="sldNum" sz="quarter" idx="10"/>
          </p:nvPr>
        </p:nvSpPr>
        <p:spPr>
          <a:xfrm>
            <a:off x="8923493" y="6339173"/>
            <a:ext cx="2644619" cy="365125"/>
          </a:xfrm>
        </p:spPr>
        <p:txBody>
          <a:bodyPr/>
          <a:lstStyle/>
          <a:p>
            <a:pPr>
              <a:spcAft>
                <a:spcPts val="600"/>
              </a:spcAft>
            </a:pPr>
            <a:fld id="{E038E271-308C-2E46-A3EC-56326F9084CC}" type="slidenum">
              <a:rPr lang="nl-BE" smtClean="0"/>
              <a:pPr>
                <a:spcAft>
                  <a:spcPts val="600"/>
                </a:spcAft>
              </a:pPr>
              <a:t>49</a:t>
            </a:fld>
            <a:endParaRPr lang="nl-BE">
              <a:latin typeface="Calibri Light" panose="020F0302020204030204" pitchFamily="34" charset="0"/>
            </a:endParaRPr>
          </a:p>
        </p:txBody>
      </p:sp>
      <p:sp>
        <p:nvSpPr>
          <p:cNvPr id="4" name="Titel 3">
            <a:extLst>
              <a:ext uri="{FF2B5EF4-FFF2-40B4-BE49-F238E27FC236}">
                <a16:creationId xmlns:a16="http://schemas.microsoft.com/office/drawing/2014/main" id="{EB27F21E-0937-4552-946A-0F785DB95DE5}"/>
              </a:ext>
            </a:extLst>
          </p:cNvPr>
          <p:cNvSpPr>
            <a:spLocks noGrp="1"/>
          </p:cNvSpPr>
          <p:nvPr>
            <p:ph type="title"/>
          </p:nvPr>
        </p:nvSpPr>
        <p:spPr>
          <a:xfrm>
            <a:off x="6564313" y="620713"/>
            <a:ext cx="5003800" cy="1385085"/>
          </a:xfrm>
        </p:spPr>
        <p:txBody>
          <a:bodyPr anchor="t">
            <a:normAutofit/>
          </a:bodyPr>
          <a:lstStyle/>
          <a:p>
            <a:r>
              <a:rPr lang="nl-BE" dirty="0"/>
              <a:t>Tot slot…</a:t>
            </a:r>
          </a:p>
        </p:txBody>
      </p:sp>
      <p:pic>
        <p:nvPicPr>
          <p:cNvPr id="7" name="Graphic 6" descr="Klaver">
            <a:extLst>
              <a:ext uri="{FF2B5EF4-FFF2-40B4-BE49-F238E27FC236}">
                <a16:creationId xmlns:a16="http://schemas.microsoft.com/office/drawing/2014/main" id="{E800C4E0-CBB7-438E-A4E5-5C52AD276F0C}"/>
              </a:ext>
            </a:extLst>
          </p:cNvPr>
          <p:cNvPicPr>
            <a:picLocks noChangeAspect="1"/>
          </p:cNvPicPr>
          <p:nvPr/>
        </p:nvPicPr>
        <p:blipFill>
          <a:blip r:embed="rId3"/>
          <a:stretch>
            <a:fillRect/>
          </a:stretch>
        </p:blipFill>
        <p:spPr>
          <a:xfrm>
            <a:off x="623889" y="856134"/>
            <a:ext cx="5145732" cy="5145732"/>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p:spPr>
      </p:pic>
      <p:sp>
        <p:nvSpPr>
          <p:cNvPr id="5" name="Tijdelijke aanduiding voor tekst 4">
            <a:extLst>
              <a:ext uri="{FF2B5EF4-FFF2-40B4-BE49-F238E27FC236}">
                <a16:creationId xmlns:a16="http://schemas.microsoft.com/office/drawing/2014/main" id="{D7E8764D-3FFB-4D1D-8D7A-D68E87536249}"/>
              </a:ext>
            </a:extLst>
          </p:cNvPr>
          <p:cNvSpPr>
            <a:spLocks noGrp="1"/>
          </p:cNvSpPr>
          <p:nvPr>
            <p:ph sz="quarter" idx="12"/>
          </p:nvPr>
        </p:nvSpPr>
        <p:spPr>
          <a:xfrm>
            <a:off x="6096000" y="2271713"/>
            <a:ext cx="5472313" cy="3965575"/>
          </a:xfrm>
        </p:spPr>
        <p:txBody>
          <a:bodyPr>
            <a:normAutofit/>
          </a:bodyPr>
          <a:lstStyle/>
          <a:p>
            <a:r>
              <a:rPr lang="nl-BE" dirty="0"/>
              <a:t>Forum wordt opgevolgd t.e.m. 23/05/2025 – 12u ‘s middags.</a:t>
            </a:r>
          </a:p>
          <a:p>
            <a:endParaRPr lang="nl-BE" dirty="0"/>
          </a:p>
          <a:p>
            <a:r>
              <a:rPr lang="nl-BE" dirty="0"/>
              <a:t>Veel succes met de examens!</a:t>
            </a:r>
          </a:p>
          <a:p>
            <a:pPr marL="0" indent="0">
              <a:buNone/>
            </a:pPr>
            <a:endParaRPr lang="nl-BE" dirty="0"/>
          </a:p>
        </p:txBody>
      </p:sp>
    </p:spTree>
    <p:extLst>
      <p:ext uri="{BB962C8B-B14F-4D97-AF65-F5344CB8AC3E}">
        <p14:creationId xmlns:p14="http://schemas.microsoft.com/office/powerpoint/2010/main" val="2022697616"/>
      </p:ext>
    </p:extLst>
  </p:cSld>
  <p:clrMapOvr>
    <a:masterClrMapping/>
  </p:clrMapOvr>
</p:sld>
</file>

<file path=ppt/theme/theme1.xml><?xml version="1.0" encoding="utf-8"?>
<a:theme xmlns:a="http://schemas.openxmlformats.org/drawingml/2006/main" name="UAntwerpen-inhoud">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a:spPr>
      <a:bodyPr lIns="180000" tIns="180000" rIns="180000" bIns="180000" anchor="ctr"/>
      <a:lstStyle>
        <a:defPPr marL="179388" indent="-179388">
          <a:spcAft>
            <a:spcPts val="450"/>
          </a:spcAft>
          <a:buFont typeface="Arial" charset="0"/>
          <a:buChar char="•"/>
          <a:defRPr sz="1600" dirty="0">
            <a:latin typeface="Verdana" charset="0"/>
            <a:ea typeface="Verdana Regular" charset="0"/>
            <a:cs typeface="Verdana Regular" charset="0"/>
            <a:sym typeface="Securitas Sans Light" charset="0"/>
          </a:defRPr>
        </a:defPPr>
      </a:lstStyle>
    </a:spDef>
    <a:lnDef>
      <a:spPr>
        <a:ln>
          <a:tailEnd type="arrow"/>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2800" b="1" dirty="0">
            <a:solidFill>
              <a:schemeClr val="bg1"/>
            </a:solidFill>
            <a:latin typeface="Gotham" panose="02000603040000020004" pitchFamily="2" charset="0"/>
            <a:ea typeface="Verdana" panose="020B0604030504040204" pitchFamily="34" charset="0"/>
            <a:cs typeface="Verdana" panose="020B0604030504040204" pitchFamily="34" charset="0"/>
          </a:defRPr>
        </a:defPPr>
      </a:lstStyle>
    </a:txDef>
  </a:objectDefaults>
  <a:extraClrSchemeLst/>
  <a:extLst>
    <a:ext uri="{05A4C25C-085E-4340-85A3-A5531E510DB2}">
      <thm15:themeFamily xmlns:thm15="http://schemas.microsoft.com/office/thememl/2012/main" name="vdp_powerpoint" id="{FEF18948-FC9D-1340-AA00-430FBBA861E5}" vid="{591CA67A-998E-6049-B579-1B92244B0BFA}"/>
    </a:ext>
  </a:extLst>
</a:theme>
</file>

<file path=ppt/theme/theme2.xml><?xml version="1.0" encoding="utf-8"?>
<a:theme xmlns:a="http://schemas.openxmlformats.org/drawingml/2006/main" name="UAntwerpen_titelslide">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3E4096B1224744B14B28F94E3FEB1B" ma:contentTypeVersion="8" ma:contentTypeDescription="Een nieuw document maken." ma:contentTypeScope="" ma:versionID="dd69ad4b946f0bf0a6a24c2874057b2a">
  <xsd:schema xmlns:xsd="http://www.w3.org/2001/XMLSchema" xmlns:xs="http://www.w3.org/2001/XMLSchema" xmlns:p="http://schemas.microsoft.com/office/2006/metadata/properties" xmlns:ns2="6b30ab21-c247-4d68-a057-2d2e000e95f9" targetNamespace="http://schemas.microsoft.com/office/2006/metadata/properties" ma:root="true" ma:fieldsID="89681776de429ea430604d1296cc4f75" ns2:_="">
    <xsd:import namespace="6b30ab21-c247-4d68-a057-2d2e000e95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30ab21-c247-4d68-a057-2d2e000e9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31B655-3E01-40DC-A7AB-7F2FF321E9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30ab21-c247-4d68-a057-2d2e000e95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49E591-BED0-440F-9BD2-BDC2785ECAB3}">
  <ds:schemaRefs>
    <ds:schemaRef ds:uri="http://schemas.microsoft.com/sharepoint/v3/contenttype/forms"/>
  </ds:schemaRefs>
</ds:datastoreItem>
</file>

<file path=customXml/itemProps3.xml><?xml version="1.0" encoding="utf-8"?>
<ds:datastoreItem xmlns:ds="http://schemas.openxmlformats.org/officeDocument/2006/customXml" ds:itemID="{640E6F74-28B8-4186-90E2-B25E2EB34307}">
  <ds:schemaRefs>
    <ds:schemaRef ds:uri="http://schemas.microsoft.com/office/2006/documentManagement/types"/>
    <ds:schemaRef ds:uri="6b30ab21-c247-4d68-a057-2d2e000e95f9"/>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vdp_powerpoint</Template>
  <TotalTime>10775</TotalTime>
  <Words>8478</Words>
  <Application>Microsoft Office PowerPoint</Application>
  <PresentationFormat>Breedbeeld</PresentationFormat>
  <Paragraphs>595</Paragraphs>
  <Slides>49</Slides>
  <Notes>13</Notes>
  <HiddenSlides>0</HiddenSlides>
  <MMClips>0</MMClips>
  <ScaleCrop>false</ScaleCrop>
  <HeadingPairs>
    <vt:vector size="6" baseType="variant">
      <vt:variant>
        <vt:lpstr>Gebruikte lettertypen</vt:lpstr>
      </vt:variant>
      <vt:variant>
        <vt:i4>15</vt:i4>
      </vt:variant>
      <vt:variant>
        <vt:lpstr>Thema</vt:lpstr>
      </vt:variant>
      <vt:variant>
        <vt:i4>2</vt:i4>
      </vt:variant>
      <vt:variant>
        <vt:lpstr>Diatitels</vt:lpstr>
      </vt:variant>
      <vt:variant>
        <vt:i4>49</vt:i4>
      </vt:variant>
    </vt:vector>
  </HeadingPairs>
  <TitlesOfParts>
    <vt:vector size="66" baseType="lpstr">
      <vt:lpstr>Arial</vt:lpstr>
      <vt:lpstr>Calibri</vt:lpstr>
      <vt:lpstr>Calibri Light</vt:lpstr>
      <vt:lpstr>Cambria</vt:lpstr>
      <vt:lpstr>Cambria Math</vt:lpstr>
      <vt:lpstr>Courier New</vt:lpstr>
      <vt:lpstr>ITC Officina Sans Std Book</vt:lpstr>
      <vt:lpstr>MS Mincho</vt:lpstr>
      <vt:lpstr>Securitas Sans Light</vt:lpstr>
      <vt:lpstr>Symbol</vt:lpstr>
      <vt:lpstr>Times New Roman</vt:lpstr>
      <vt:lpstr>Trebuchet MS</vt:lpstr>
      <vt:lpstr>Verdana</vt:lpstr>
      <vt:lpstr>Verdana Regular</vt:lpstr>
      <vt:lpstr>Wingdings</vt:lpstr>
      <vt:lpstr>UAntwerpen-inhoud</vt:lpstr>
      <vt:lpstr>UAntwerpen_titelslide</vt:lpstr>
      <vt:lpstr>Statistiek B – contactmoment 7</vt:lpstr>
      <vt:lpstr>Praktische info examen</vt:lpstr>
      <vt:lpstr>Evaluatie</vt:lpstr>
      <vt:lpstr>Gesloten deel</vt:lpstr>
      <vt:lpstr>Voorbeeldexamenvraag m.b.t. theorie</vt:lpstr>
      <vt:lpstr>Open deel</vt:lpstr>
      <vt:lpstr>Terugkoppeling proefexamen gesloten gedeelte</vt:lpstr>
      <vt:lpstr>Vraag 1</vt:lpstr>
      <vt:lpstr>Vraag 1 – toelichting oplossing</vt:lpstr>
      <vt:lpstr>Vraag 2</vt:lpstr>
      <vt:lpstr>Vraag 2 – toelichting oplossing</vt:lpstr>
      <vt:lpstr>Vraag 3</vt:lpstr>
      <vt:lpstr>PowerPoint-presentatie</vt:lpstr>
      <vt:lpstr>Vraag 3 – toelichting oplossing</vt:lpstr>
      <vt:lpstr>Vraag 4</vt:lpstr>
      <vt:lpstr>PowerPoint-presentatie</vt:lpstr>
      <vt:lpstr>Vraag 4 – toelichting oplossing</vt:lpstr>
      <vt:lpstr>Vraag 5</vt:lpstr>
      <vt:lpstr>PowerPoint-presentatie</vt:lpstr>
      <vt:lpstr>Vraag 5 – toelichting oplossing</vt:lpstr>
      <vt:lpstr>Vraag 6</vt:lpstr>
      <vt:lpstr>Vraag 6 – toelichting oplossing</vt:lpstr>
      <vt:lpstr>Vraag 7</vt:lpstr>
      <vt:lpstr>PowerPoint-presentatie</vt:lpstr>
      <vt:lpstr>Vraag 7 – toelichting oplossing</vt:lpstr>
      <vt:lpstr>Vraag 8</vt:lpstr>
      <vt:lpstr>Vraag 8 – toelichting oplossing</vt:lpstr>
      <vt:lpstr>Vraag 9</vt:lpstr>
      <vt:lpstr>Vraag 9 – oplossing – te verdienen deelscores</vt:lpstr>
      <vt:lpstr>Vraag 10</vt:lpstr>
      <vt:lpstr>Vraag 10 – oplossing – te verdienen deelscores</vt:lpstr>
      <vt:lpstr>Vraag 11</vt:lpstr>
      <vt:lpstr>Vraag 11 – oplossing – te verdienen deelscores</vt:lpstr>
      <vt:lpstr>Vraag 12</vt:lpstr>
      <vt:lpstr>Vraag 12 – oplossing – te verdienen deelscores</vt:lpstr>
      <vt:lpstr>Vraag 12 – oplossing – te verdienen deelscores</vt:lpstr>
      <vt:lpstr>Vraag 13</vt:lpstr>
      <vt:lpstr>Vraag 13 - oplossing</vt:lpstr>
      <vt:lpstr>Vraag 13 - oplossing</vt:lpstr>
      <vt:lpstr>Extra oefenen op het berekenen van scores?</vt:lpstr>
      <vt:lpstr>Vraag 14</vt:lpstr>
      <vt:lpstr>Vraag 14 – toelichting oplossing</vt:lpstr>
      <vt:lpstr>AlephQ</vt:lpstr>
      <vt:lpstr>AlephQ</vt:lpstr>
      <vt:lpstr>AlephQ (GB)</vt:lpstr>
      <vt:lpstr>AlephQ (OB)</vt:lpstr>
      <vt:lpstr>AlephQ (bijlagen)</vt:lpstr>
      <vt:lpstr>Aandachtspunten AlephQ</vt:lpstr>
      <vt:lpstr>Tot slot…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Sofie Vermeiren</cp:lastModifiedBy>
  <cp:revision>491</cp:revision>
  <cp:lastPrinted>2021-05-05T06:39:48Z</cp:lastPrinted>
  <dcterms:created xsi:type="dcterms:W3CDTF">2020-12-07T09:05:54Z</dcterms:created>
  <dcterms:modified xsi:type="dcterms:W3CDTF">2025-05-21T13:17:15Z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0x010100D33E4096B1224744B14B28F94E3FEB1B</vt:lpwstr>
  </property>
</Properties>
</file>