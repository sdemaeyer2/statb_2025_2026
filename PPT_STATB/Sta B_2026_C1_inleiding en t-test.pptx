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notesMasterIdLst>
    <p:notesMasterId r:id="rId62"/>
  </p:notesMasterIdLst>
  <p:sldIdLst>
    <p:sldId id="257" r:id="rId6"/>
    <p:sldId id="268" r:id="rId7"/>
    <p:sldId id="273" r:id="rId8"/>
    <p:sldId id="274" r:id="rId9"/>
    <p:sldId id="275" r:id="rId10"/>
    <p:sldId id="277" r:id="rId11"/>
    <p:sldId id="276" r:id="rId12"/>
    <p:sldId id="279" r:id="rId13"/>
    <p:sldId id="278" r:id="rId14"/>
    <p:sldId id="318" r:id="rId15"/>
    <p:sldId id="280" r:id="rId16"/>
    <p:sldId id="283" r:id="rId17"/>
    <p:sldId id="288" r:id="rId18"/>
    <p:sldId id="287" r:id="rId19"/>
    <p:sldId id="281" r:id="rId20"/>
    <p:sldId id="284" r:id="rId21"/>
    <p:sldId id="285" r:id="rId22"/>
    <p:sldId id="289" r:id="rId23"/>
    <p:sldId id="282" r:id="rId24"/>
    <p:sldId id="290" r:id="rId25"/>
    <p:sldId id="291" r:id="rId26"/>
    <p:sldId id="294" r:id="rId27"/>
    <p:sldId id="295" r:id="rId28"/>
    <p:sldId id="292" r:id="rId29"/>
    <p:sldId id="296" r:id="rId30"/>
    <p:sldId id="321" r:id="rId31"/>
    <p:sldId id="297" r:id="rId32"/>
    <p:sldId id="298" r:id="rId33"/>
    <p:sldId id="299" r:id="rId34"/>
    <p:sldId id="322" r:id="rId35"/>
    <p:sldId id="304" r:id="rId36"/>
    <p:sldId id="303" r:id="rId37"/>
    <p:sldId id="300" r:id="rId38"/>
    <p:sldId id="333" r:id="rId39"/>
    <p:sldId id="305" r:id="rId40"/>
    <p:sldId id="306" r:id="rId41"/>
    <p:sldId id="330" r:id="rId42"/>
    <p:sldId id="334" r:id="rId43"/>
    <p:sldId id="307" r:id="rId44"/>
    <p:sldId id="308" r:id="rId45"/>
    <p:sldId id="309" r:id="rId46"/>
    <p:sldId id="336" r:id="rId47"/>
    <p:sldId id="310" r:id="rId48"/>
    <p:sldId id="311" r:id="rId49"/>
    <p:sldId id="337" r:id="rId50"/>
    <p:sldId id="338" r:id="rId51"/>
    <p:sldId id="339" r:id="rId52"/>
    <p:sldId id="340" r:id="rId53"/>
    <p:sldId id="312" r:id="rId54"/>
    <p:sldId id="270" r:id="rId55"/>
    <p:sldId id="327" r:id="rId56"/>
    <p:sldId id="313" r:id="rId57"/>
    <p:sldId id="324" r:id="rId58"/>
    <p:sldId id="325" r:id="rId59"/>
    <p:sldId id="331" r:id="rId60"/>
    <p:sldId id="332" r:id="rId61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e van Daal" initials="TvD" lastIdx="1" clrIdx="0">
    <p:extLst>
      <p:ext uri="{19B8F6BF-5375-455C-9EA6-DF929625EA0E}">
        <p15:presenceInfo xmlns:p15="http://schemas.microsoft.com/office/powerpoint/2012/main" userId="S::tvdaal@ad.ua.ac.be::ecf543c1-d1bd-4274-b68c-558406766bb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99FF"/>
    <a:srgbClr val="983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66041-3F98-C744-B159-9C13EB4B6B54}" v="52" dt="2026-02-11T07:18:50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65"/>
    <p:restoredTop sz="96405"/>
  </p:normalViewPr>
  <p:slideViewPr>
    <p:cSldViewPr snapToGrid="0" snapToObjects="1" showGuides="1">
      <p:cViewPr varScale="1">
        <p:scale>
          <a:sx n="220" d="100"/>
          <a:sy n="220" d="100"/>
        </p:scale>
        <p:origin x="3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De Maeyer" userId="a7710417-13f0-4fe1-865c-72edd2f5f89d" providerId="ADAL" clId="{3BD63810-B0EB-5A6E-8A65-25868AB27A41}"/>
    <pc:docChg chg="undo custSel addSld delSld modSld">
      <pc:chgData name="Sven De Maeyer" userId="a7710417-13f0-4fe1-865c-72edd2f5f89d" providerId="ADAL" clId="{3BD63810-B0EB-5A6E-8A65-25868AB27A41}" dt="2026-02-11T07:21:10.235" v="1657" actId="20577"/>
      <pc:docMkLst>
        <pc:docMk/>
      </pc:docMkLst>
      <pc:sldChg chg="modSp mod">
        <pc:chgData name="Sven De Maeyer" userId="a7710417-13f0-4fe1-865c-72edd2f5f89d" providerId="ADAL" clId="{3BD63810-B0EB-5A6E-8A65-25868AB27A41}" dt="2026-02-10T14:58:53.686" v="3" actId="20577"/>
        <pc:sldMkLst>
          <pc:docMk/>
          <pc:sldMk cId="3930189272" sldId="274"/>
        </pc:sldMkLst>
        <pc:spChg chg="mod">
          <ac:chgData name="Sven De Maeyer" userId="a7710417-13f0-4fe1-865c-72edd2f5f89d" providerId="ADAL" clId="{3BD63810-B0EB-5A6E-8A65-25868AB27A41}" dt="2026-02-10T14:58:53.686" v="3" actId="20577"/>
          <ac:spMkLst>
            <pc:docMk/>
            <pc:sldMk cId="3930189272" sldId="274"/>
            <ac:spMk id="5" creationId="{02E1BEEC-ECF9-3F45-91ED-957CE0F12C9C}"/>
          </ac:spMkLst>
        </pc:spChg>
      </pc:sldChg>
      <pc:sldChg chg="modSp mod">
        <pc:chgData name="Sven De Maeyer" userId="a7710417-13f0-4fe1-865c-72edd2f5f89d" providerId="ADAL" clId="{3BD63810-B0EB-5A6E-8A65-25868AB27A41}" dt="2026-02-10T15:02:04.293" v="8" actId="20577"/>
        <pc:sldMkLst>
          <pc:docMk/>
          <pc:sldMk cId="2047372167" sldId="276"/>
        </pc:sldMkLst>
        <pc:spChg chg="mod">
          <ac:chgData name="Sven De Maeyer" userId="a7710417-13f0-4fe1-865c-72edd2f5f89d" providerId="ADAL" clId="{3BD63810-B0EB-5A6E-8A65-25868AB27A41}" dt="2026-02-10T15:02:04.293" v="8" actId="20577"/>
          <ac:spMkLst>
            <pc:docMk/>
            <pc:sldMk cId="2047372167" sldId="276"/>
            <ac:spMk id="6" creationId="{313A8B5B-E409-3246-A1E2-639D2ABC9597}"/>
          </ac:spMkLst>
        </pc:spChg>
      </pc:sldChg>
      <pc:sldChg chg="addSp delSp modSp mod">
        <pc:chgData name="Sven De Maeyer" userId="a7710417-13f0-4fe1-865c-72edd2f5f89d" providerId="ADAL" clId="{3BD63810-B0EB-5A6E-8A65-25868AB27A41}" dt="2026-02-10T15:01:34.214" v="7" actId="14100"/>
        <pc:sldMkLst>
          <pc:docMk/>
          <pc:sldMk cId="3120319263" sldId="277"/>
        </pc:sldMkLst>
        <pc:picChg chg="add mod">
          <ac:chgData name="Sven De Maeyer" userId="a7710417-13f0-4fe1-865c-72edd2f5f89d" providerId="ADAL" clId="{3BD63810-B0EB-5A6E-8A65-25868AB27A41}" dt="2026-02-10T15:01:34.214" v="7" actId="14100"/>
          <ac:picMkLst>
            <pc:docMk/>
            <pc:sldMk cId="3120319263" sldId="277"/>
            <ac:picMk id="4" creationId="{9B66171B-B3F6-B832-B6A1-B405F0F0E2D8}"/>
          </ac:picMkLst>
        </pc:picChg>
        <pc:picChg chg="del">
          <ac:chgData name="Sven De Maeyer" userId="a7710417-13f0-4fe1-865c-72edd2f5f89d" providerId="ADAL" clId="{3BD63810-B0EB-5A6E-8A65-25868AB27A41}" dt="2026-02-10T14:59:19.630" v="4" actId="478"/>
          <ac:picMkLst>
            <pc:docMk/>
            <pc:sldMk cId="3120319263" sldId="277"/>
            <ac:picMk id="6" creationId="{69EA1639-694E-025E-C38E-F21C90D45E35}"/>
          </ac:picMkLst>
        </pc:picChg>
      </pc:sldChg>
      <pc:sldChg chg="modSp mod">
        <pc:chgData name="Sven De Maeyer" userId="a7710417-13f0-4fe1-865c-72edd2f5f89d" providerId="ADAL" clId="{3BD63810-B0EB-5A6E-8A65-25868AB27A41}" dt="2026-02-10T15:02:36.577" v="49" actId="114"/>
        <pc:sldMkLst>
          <pc:docMk/>
          <pc:sldMk cId="245471694" sldId="278"/>
        </pc:sldMkLst>
        <pc:spChg chg="mod">
          <ac:chgData name="Sven De Maeyer" userId="a7710417-13f0-4fe1-865c-72edd2f5f89d" providerId="ADAL" clId="{3BD63810-B0EB-5A6E-8A65-25868AB27A41}" dt="2026-02-10T15:02:36.577" v="49" actId="114"/>
          <ac:spMkLst>
            <pc:docMk/>
            <pc:sldMk cId="245471694" sldId="278"/>
            <ac:spMk id="4" creationId="{FD2E06DD-5EEF-C245-925D-855E9B42201F}"/>
          </ac:spMkLst>
        </pc:spChg>
      </pc:sldChg>
      <pc:sldChg chg="addSp modSp mod">
        <pc:chgData name="Sven De Maeyer" userId="a7710417-13f0-4fe1-865c-72edd2f5f89d" providerId="ADAL" clId="{3BD63810-B0EB-5A6E-8A65-25868AB27A41}" dt="2026-02-10T15:07:47.327" v="96" actId="20577"/>
        <pc:sldMkLst>
          <pc:docMk/>
          <pc:sldMk cId="1492718020" sldId="299"/>
        </pc:sldMkLst>
        <pc:spChg chg="add mod">
          <ac:chgData name="Sven De Maeyer" userId="a7710417-13f0-4fe1-865c-72edd2f5f89d" providerId="ADAL" clId="{3BD63810-B0EB-5A6E-8A65-25868AB27A41}" dt="2026-02-10T15:07:33.012" v="84" actId="1076"/>
          <ac:spMkLst>
            <pc:docMk/>
            <pc:sldMk cId="1492718020" sldId="299"/>
            <ac:spMk id="4" creationId="{237A01E7-598E-661C-C5B4-D9D07EBDA1D4}"/>
          </ac:spMkLst>
        </pc:spChg>
        <pc:spChg chg="add mod">
          <ac:chgData name="Sven De Maeyer" userId="a7710417-13f0-4fe1-865c-72edd2f5f89d" providerId="ADAL" clId="{3BD63810-B0EB-5A6E-8A65-25868AB27A41}" dt="2026-02-10T15:07:47.327" v="96" actId="20577"/>
          <ac:spMkLst>
            <pc:docMk/>
            <pc:sldMk cId="1492718020" sldId="299"/>
            <ac:spMk id="7" creationId="{98BF426B-14AD-C8D1-63EF-BDB157A88AFC}"/>
          </ac:spMkLst>
        </pc:spChg>
        <pc:graphicFrameChg chg="modGraphic">
          <ac:chgData name="Sven De Maeyer" userId="a7710417-13f0-4fe1-865c-72edd2f5f89d" providerId="ADAL" clId="{3BD63810-B0EB-5A6E-8A65-25868AB27A41}" dt="2026-02-10T15:05:38.969" v="63" actId="20577"/>
          <ac:graphicFrameMkLst>
            <pc:docMk/>
            <pc:sldMk cId="1492718020" sldId="299"/>
            <ac:graphicFrameMk id="5" creationId="{5B5836DB-C39A-8E41-BF3E-625BA5AE1B4B}"/>
          </ac:graphicFrameMkLst>
        </pc:graphicFrameChg>
      </pc:sldChg>
      <pc:sldChg chg="modSp mod">
        <pc:chgData name="Sven De Maeyer" userId="a7710417-13f0-4fe1-865c-72edd2f5f89d" providerId="ADAL" clId="{3BD63810-B0EB-5A6E-8A65-25868AB27A41}" dt="2026-02-10T15:26:22.052" v="782" actId="20577"/>
        <pc:sldMkLst>
          <pc:docMk/>
          <pc:sldMk cId="2023506331" sldId="305"/>
        </pc:sldMkLst>
        <pc:spChg chg="mod">
          <ac:chgData name="Sven De Maeyer" userId="a7710417-13f0-4fe1-865c-72edd2f5f89d" providerId="ADAL" clId="{3BD63810-B0EB-5A6E-8A65-25868AB27A41}" dt="2026-02-10T15:26:22.052" v="782" actId="20577"/>
          <ac:spMkLst>
            <pc:docMk/>
            <pc:sldMk cId="2023506331" sldId="305"/>
            <ac:spMk id="2" creationId="{22A34163-B58F-7D44-A2C5-A26F00183AEF}"/>
          </ac:spMkLst>
        </pc:spChg>
      </pc:sldChg>
      <pc:sldChg chg="modSp mod">
        <pc:chgData name="Sven De Maeyer" userId="a7710417-13f0-4fe1-865c-72edd2f5f89d" providerId="ADAL" clId="{3BD63810-B0EB-5A6E-8A65-25868AB27A41}" dt="2026-02-10T15:27:59.241" v="931" actId="114"/>
        <pc:sldMkLst>
          <pc:docMk/>
          <pc:sldMk cId="810816531" sldId="306"/>
        </pc:sldMkLst>
        <pc:spChg chg="mod">
          <ac:chgData name="Sven De Maeyer" userId="a7710417-13f0-4fe1-865c-72edd2f5f89d" providerId="ADAL" clId="{3BD63810-B0EB-5A6E-8A65-25868AB27A41}" dt="2026-02-10T15:26:55.177" v="822" actId="20577"/>
          <ac:spMkLst>
            <pc:docMk/>
            <pc:sldMk cId="810816531" sldId="306"/>
            <ac:spMk id="2" creationId="{E073A5C6-D689-9544-A7CD-3F2430A29236}"/>
          </ac:spMkLst>
        </pc:spChg>
        <pc:spChg chg="mod">
          <ac:chgData name="Sven De Maeyer" userId="a7710417-13f0-4fe1-865c-72edd2f5f89d" providerId="ADAL" clId="{3BD63810-B0EB-5A6E-8A65-25868AB27A41}" dt="2026-02-10T15:19:32.610" v="158" actId="114"/>
          <ac:spMkLst>
            <pc:docMk/>
            <pc:sldMk cId="810816531" sldId="306"/>
            <ac:spMk id="4" creationId="{D26DD001-E305-B746-ABB4-E2D2853205EB}"/>
          </ac:spMkLst>
        </pc:spChg>
        <pc:spChg chg="mod">
          <ac:chgData name="Sven De Maeyer" userId="a7710417-13f0-4fe1-865c-72edd2f5f89d" providerId="ADAL" clId="{3BD63810-B0EB-5A6E-8A65-25868AB27A41}" dt="2026-02-10T15:27:59.241" v="931" actId="114"/>
          <ac:spMkLst>
            <pc:docMk/>
            <pc:sldMk cId="810816531" sldId="306"/>
            <ac:spMk id="11" creationId="{4C65274B-18F0-8643-8179-836CE7713F73}"/>
          </ac:spMkLst>
        </pc:spChg>
        <pc:picChg chg="mod">
          <ac:chgData name="Sven De Maeyer" userId="a7710417-13f0-4fe1-865c-72edd2f5f89d" providerId="ADAL" clId="{3BD63810-B0EB-5A6E-8A65-25868AB27A41}" dt="2026-02-10T15:18:46.558" v="102" actId="1076"/>
          <ac:picMkLst>
            <pc:docMk/>
            <pc:sldMk cId="810816531" sldId="306"/>
            <ac:picMk id="6" creationId="{478E88AE-8D99-A545-AC58-7095F9DD505A}"/>
          </ac:picMkLst>
        </pc:picChg>
        <pc:picChg chg="mod">
          <ac:chgData name="Sven De Maeyer" userId="a7710417-13f0-4fe1-865c-72edd2f5f89d" providerId="ADAL" clId="{3BD63810-B0EB-5A6E-8A65-25868AB27A41}" dt="2026-02-10T15:19:07.270" v="137" actId="1076"/>
          <ac:picMkLst>
            <pc:docMk/>
            <pc:sldMk cId="810816531" sldId="306"/>
            <ac:picMk id="13" creationId="{EEC51E25-4D55-5B47-AB11-856F1C484043}"/>
          </ac:picMkLst>
        </pc:picChg>
      </pc:sldChg>
      <pc:sldChg chg="addSp delSp modSp mod">
        <pc:chgData name="Sven De Maeyer" userId="a7710417-13f0-4fe1-865c-72edd2f5f89d" providerId="ADAL" clId="{3BD63810-B0EB-5A6E-8A65-25868AB27A41}" dt="2026-02-11T07:09:50.158" v="1528" actId="1076"/>
        <pc:sldMkLst>
          <pc:docMk/>
          <pc:sldMk cId="2801139530" sldId="307"/>
        </pc:sldMkLst>
        <pc:spChg chg="mod">
          <ac:chgData name="Sven De Maeyer" userId="a7710417-13f0-4fe1-865c-72edd2f5f89d" providerId="ADAL" clId="{3BD63810-B0EB-5A6E-8A65-25868AB27A41}" dt="2026-02-10T15:28:58.551" v="979" actId="20577"/>
          <ac:spMkLst>
            <pc:docMk/>
            <pc:sldMk cId="2801139530" sldId="307"/>
            <ac:spMk id="2" creationId="{7DDCE1B1-01CB-054A-BB5B-4F25A704AAA1}"/>
          </ac:spMkLst>
        </pc:spChg>
        <pc:spChg chg="mod">
          <ac:chgData name="Sven De Maeyer" userId="a7710417-13f0-4fe1-865c-72edd2f5f89d" providerId="ADAL" clId="{3BD63810-B0EB-5A6E-8A65-25868AB27A41}" dt="2026-02-10T16:25:23.503" v="1050" actId="20577"/>
          <ac:spMkLst>
            <pc:docMk/>
            <pc:sldMk cId="2801139530" sldId="307"/>
            <ac:spMk id="4" creationId="{FA198248-B785-6F46-9C09-CB0CFECEC44F}"/>
          </ac:spMkLst>
        </pc:spChg>
        <pc:picChg chg="add del mod">
          <ac:chgData name="Sven De Maeyer" userId="a7710417-13f0-4fe1-865c-72edd2f5f89d" providerId="ADAL" clId="{3BD63810-B0EB-5A6E-8A65-25868AB27A41}" dt="2026-02-10T16:52:32.729" v="1053" actId="478"/>
          <ac:picMkLst>
            <pc:docMk/>
            <pc:sldMk cId="2801139530" sldId="307"/>
            <ac:picMk id="5" creationId="{772810E8-9E33-C8FA-7DFE-DEA31F3DCFB7}"/>
          </ac:picMkLst>
        </pc:picChg>
        <pc:picChg chg="del mod">
          <ac:chgData name="Sven De Maeyer" userId="a7710417-13f0-4fe1-865c-72edd2f5f89d" providerId="ADAL" clId="{3BD63810-B0EB-5A6E-8A65-25868AB27A41}" dt="2026-02-10T16:21:38.674" v="981" actId="478"/>
          <ac:picMkLst>
            <pc:docMk/>
            <pc:sldMk cId="2801139530" sldId="307"/>
            <ac:picMk id="6" creationId="{0E6C8B3A-E6CB-1443-B341-EDDA4AC34868}"/>
          </ac:picMkLst>
        </pc:picChg>
        <pc:picChg chg="add mod">
          <ac:chgData name="Sven De Maeyer" userId="a7710417-13f0-4fe1-865c-72edd2f5f89d" providerId="ADAL" clId="{3BD63810-B0EB-5A6E-8A65-25868AB27A41}" dt="2026-02-11T07:09:50.158" v="1528" actId="1076"/>
          <ac:picMkLst>
            <pc:docMk/>
            <pc:sldMk cId="2801139530" sldId="307"/>
            <ac:picMk id="7" creationId="{99C33E3E-1346-9232-7DEE-CB36B760B552}"/>
          </ac:picMkLst>
        </pc:picChg>
      </pc:sldChg>
      <pc:sldChg chg="addSp delSp modSp mod">
        <pc:chgData name="Sven De Maeyer" userId="a7710417-13f0-4fe1-865c-72edd2f5f89d" providerId="ADAL" clId="{3BD63810-B0EB-5A6E-8A65-25868AB27A41}" dt="2026-02-10T17:01:18.696" v="1074" actId="1076"/>
        <pc:sldMkLst>
          <pc:docMk/>
          <pc:sldMk cId="2313682654" sldId="309"/>
        </pc:sldMkLst>
        <pc:picChg chg="add del mod">
          <ac:chgData name="Sven De Maeyer" userId="a7710417-13f0-4fe1-865c-72edd2f5f89d" providerId="ADAL" clId="{3BD63810-B0EB-5A6E-8A65-25868AB27A41}" dt="2026-02-10T17:01:18.696" v="1074" actId="1076"/>
          <ac:picMkLst>
            <pc:docMk/>
            <pc:sldMk cId="2313682654" sldId="309"/>
            <ac:picMk id="5" creationId="{454295BE-5BD0-9C84-2AD1-85F087ABCBB2}"/>
          </ac:picMkLst>
        </pc:picChg>
      </pc:sldChg>
      <pc:sldChg chg="del">
        <pc:chgData name="Sven De Maeyer" userId="a7710417-13f0-4fe1-865c-72edd2f5f89d" providerId="ADAL" clId="{3BD63810-B0EB-5A6E-8A65-25868AB27A41}" dt="2026-02-11T07:10:08.020" v="1529" actId="2696"/>
        <pc:sldMkLst>
          <pc:docMk/>
          <pc:sldMk cId="3695309131" sldId="328"/>
        </pc:sldMkLst>
      </pc:sldChg>
      <pc:sldChg chg="modSp mod">
        <pc:chgData name="Sven De Maeyer" userId="a7710417-13f0-4fe1-865c-72edd2f5f89d" providerId="ADAL" clId="{3BD63810-B0EB-5A6E-8A65-25868AB27A41}" dt="2026-02-10T15:28:31.583" v="953" actId="20577"/>
        <pc:sldMkLst>
          <pc:docMk/>
          <pc:sldMk cId="3214359375" sldId="330"/>
        </pc:sldMkLst>
        <pc:spChg chg="mod">
          <ac:chgData name="Sven De Maeyer" userId="a7710417-13f0-4fe1-865c-72edd2f5f89d" providerId="ADAL" clId="{3BD63810-B0EB-5A6E-8A65-25868AB27A41}" dt="2026-02-10T15:28:31.583" v="953" actId="20577"/>
          <ac:spMkLst>
            <pc:docMk/>
            <pc:sldMk cId="3214359375" sldId="330"/>
            <ac:spMk id="7" creationId="{134FCA1B-98E0-3E17-C9BE-5EE97032263A}"/>
          </ac:spMkLst>
        </pc:spChg>
      </pc:sldChg>
      <pc:sldChg chg="modSp mod">
        <pc:chgData name="Sven De Maeyer" userId="a7710417-13f0-4fe1-865c-72edd2f5f89d" providerId="ADAL" clId="{3BD63810-B0EB-5A6E-8A65-25868AB27A41}" dt="2026-02-10T19:27:55.439" v="1524"/>
        <pc:sldMkLst>
          <pc:docMk/>
          <pc:sldMk cId="1477961659" sldId="331"/>
        </pc:sldMkLst>
        <pc:spChg chg="mod">
          <ac:chgData name="Sven De Maeyer" userId="a7710417-13f0-4fe1-865c-72edd2f5f89d" providerId="ADAL" clId="{3BD63810-B0EB-5A6E-8A65-25868AB27A41}" dt="2026-02-10T19:27:55.439" v="1524"/>
          <ac:spMkLst>
            <pc:docMk/>
            <pc:sldMk cId="1477961659" sldId="331"/>
            <ac:spMk id="7" creationId="{08B94770-57EA-DBB8-3D86-EE1E970C05DE}"/>
          </ac:spMkLst>
        </pc:spChg>
      </pc:sldChg>
      <pc:sldChg chg="modSp mod">
        <pc:chgData name="Sven De Maeyer" userId="a7710417-13f0-4fe1-865c-72edd2f5f89d" providerId="ADAL" clId="{3BD63810-B0EB-5A6E-8A65-25868AB27A41}" dt="2026-02-10T19:28:12.562" v="1526"/>
        <pc:sldMkLst>
          <pc:docMk/>
          <pc:sldMk cId="1104886985" sldId="332"/>
        </pc:sldMkLst>
        <pc:spChg chg="mod">
          <ac:chgData name="Sven De Maeyer" userId="a7710417-13f0-4fe1-865c-72edd2f5f89d" providerId="ADAL" clId="{3BD63810-B0EB-5A6E-8A65-25868AB27A41}" dt="2026-02-10T19:28:12.562" v="1526"/>
          <ac:spMkLst>
            <pc:docMk/>
            <pc:sldMk cId="1104886985" sldId="332"/>
            <ac:spMk id="7" creationId="{0BAB3990-EB89-4248-03E3-2904BC7E7B08}"/>
          </ac:spMkLst>
        </pc:spChg>
      </pc:sldChg>
      <pc:sldChg chg="addSp delSp modSp new mod modClrScheme chgLayout">
        <pc:chgData name="Sven De Maeyer" userId="a7710417-13f0-4fe1-865c-72edd2f5f89d" providerId="ADAL" clId="{3BD63810-B0EB-5A6E-8A65-25868AB27A41}" dt="2026-02-10T15:26:04.349" v="769" actId="20577"/>
        <pc:sldMkLst>
          <pc:docMk/>
          <pc:sldMk cId="4260008736" sldId="333"/>
        </pc:sldMkLst>
        <pc:spChg chg="mod ord">
          <ac:chgData name="Sven De Maeyer" userId="a7710417-13f0-4fe1-865c-72edd2f5f89d" providerId="ADAL" clId="{3BD63810-B0EB-5A6E-8A65-25868AB27A41}" dt="2026-02-10T15:19:59.912" v="160" actId="700"/>
          <ac:spMkLst>
            <pc:docMk/>
            <pc:sldMk cId="4260008736" sldId="333"/>
            <ac:spMk id="2" creationId="{2F42D4C8-272A-0A31-AA8A-8EC649F91E51}"/>
          </ac:spMkLst>
        </pc:spChg>
        <pc:spChg chg="del mod ord">
          <ac:chgData name="Sven De Maeyer" userId="a7710417-13f0-4fe1-865c-72edd2f5f89d" providerId="ADAL" clId="{3BD63810-B0EB-5A6E-8A65-25868AB27A41}" dt="2026-02-10T15:19:59.912" v="160" actId="700"/>
          <ac:spMkLst>
            <pc:docMk/>
            <pc:sldMk cId="4260008736" sldId="333"/>
            <ac:spMk id="3" creationId="{1CD67874-6403-2D3B-D707-80C77E99A2EA}"/>
          </ac:spMkLst>
        </pc:spChg>
        <pc:spChg chg="del mod ord">
          <ac:chgData name="Sven De Maeyer" userId="a7710417-13f0-4fe1-865c-72edd2f5f89d" providerId="ADAL" clId="{3BD63810-B0EB-5A6E-8A65-25868AB27A41}" dt="2026-02-10T15:19:59.912" v="160" actId="700"/>
          <ac:spMkLst>
            <pc:docMk/>
            <pc:sldMk cId="4260008736" sldId="333"/>
            <ac:spMk id="4" creationId="{97D6DE79-0C81-02C5-AF7C-FD09E7DFF866}"/>
          </ac:spMkLst>
        </pc:spChg>
        <pc:spChg chg="del">
          <ac:chgData name="Sven De Maeyer" userId="a7710417-13f0-4fe1-865c-72edd2f5f89d" providerId="ADAL" clId="{3BD63810-B0EB-5A6E-8A65-25868AB27A41}" dt="2026-02-10T15:19:59.912" v="160" actId="700"/>
          <ac:spMkLst>
            <pc:docMk/>
            <pc:sldMk cId="4260008736" sldId="333"/>
            <ac:spMk id="5" creationId="{B1A46931-3981-AF95-9325-F226754BEAC1}"/>
          </ac:spMkLst>
        </pc:spChg>
        <pc:spChg chg="add mod ord">
          <ac:chgData name="Sven De Maeyer" userId="a7710417-13f0-4fe1-865c-72edd2f5f89d" providerId="ADAL" clId="{3BD63810-B0EB-5A6E-8A65-25868AB27A41}" dt="2026-02-10T15:25:41.660" v="700" actId="20577"/>
          <ac:spMkLst>
            <pc:docMk/>
            <pc:sldMk cId="4260008736" sldId="333"/>
            <ac:spMk id="6" creationId="{3DF09BD2-B072-28EC-A63C-40D49E8C9CA9}"/>
          </ac:spMkLst>
        </pc:spChg>
        <pc:spChg chg="add mod ord">
          <ac:chgData name="Sven De Maeyer" userId="a7710417-13f0-4fe1-865c-72edd2f5f89d" providerId="ADAL" clId="{3BD63810-B0EB-5A6E-8A65-25868AB27A41}" dt="2026-02-10T15:26:04.349" v="769" actId="20577"/>
          <ac:spMkLst>
            <pc:docMk/>
            <pc:sldMk cId="4260008736" sldId="333"/>
            <ac:spMk id="7" creationId="{C2166DD3-4E44-5404-A4BB-EA072C0113A3}"/>
          </ac:spMkLst>
        </pc:spChg>
      </pc:sldChg>
      <pc:sldChg chg="addSp delSp modSp new mod modClrScheme chgLayout">
        <pc:chgData name="Sven De Maeyer" userId="a7710417-13f0-4fe1-865c-72edd2f5f89d" providerId="ADAL" clId="{3BD63810-B0EB-5A6E-8A65-25868AB27A41}" dt="2026-02-10T16:25:07.099" v="1047" actId="1036"/>
        <pc:sldMkLst>
          <pc:docMk/>
          <pc:sldMk cId="2914302979" sldId="334"/>
        </pc:sldMkLst>
        <pc:spChg chg="mod ord">
          <ac:chgData name="Sven De Maeyer" userId="a7710417-13f0-4fe1-865c-72edd2f5f89d" providerId="ADAL" clId="{3BD63810-B0EB-5A6E-8A65-25868AB27A41}" dt="2026-02-10T16:22:03.818" v="983" actId="700"/>
          <ac:spMkLst>
            <pc:docMk/>
            <pc:sldMk cId="2914302979" sldId="334"/>
            <ac:spMk id="2" creationId="{2ED372E4-3D8C-8D30-4A7C-90209653134D}"/>
          </ac:spMkLst>
        </pc:spChg>
        <pc:spChg chg="del mod ord">
          <ac:chgData name="Sven De Maeyer" userId="a7710417-13f0-4fe1-865c-72edd2f5f89d" providerId="ADAL" clId="{3BD63810-B0EB-5A6E-8A65-25868AB27A41}" dt="2026-02-10T16:22:03.818" v="983" actId="700"/>
          <ac:spMkLst>
            <pc:docMk/>
            <pc:sldMk cId="2914302979" sldId="334"/>
            <ac:spMk id="3" creationId="{F45C5D50-C91E-CE4C-92F0-CE7670404104}"/>
          </ac:spMkLst>
        </pc:spChg>
        <pc:spChg chg="del mod ord">
          <ac:chgData name="Sven De Maeyer" userId="a7710417-13f0-4fe1-865c-72edd2f5f89d" providerId="ADAL" clId="{3BD63810-B0EB-5A6E-8A65-25868AB27A41}" dt="2026-02-10T16:22:03.818" v="983" actId="700"/>
          <ac:spMkLst>
            <pc:docMk/>
            <pc:sldMk cId="2914302979" sldId="334"/>
            <ac:spMk id="4" creationId="{85BA4BB4-D652-E5C5-0804-65109E71FDBE}"/>
          </ac:spMkLst>
        </pc:spChg>
        <pc:spChg chg="del">
          <ac:chgData name="Sven De Maeyer" userId="a7710417-13f0-4fe1-865c-72edd2f5f89d" providerId="ADAL" clId="{3BD63810-B0EB-5A6E-8A65-25868AB27A41}" dt="2026-02-10T16:22:03.818" v="983" actId="700"/>
          <ac:spMkLst>
            <pc:docMk/>
            <pc:sldMk cId="2914302979" sldId="334"/>
            <ac:spMk id="5" creationId="{CF4C1684-CD32-4C50-0E04-318DEC214B2A}"/>
          </ac:spMkLst>
        </pc:spChg>
        <pc:spChg chg="add mod ord">
          <ac:chgData name="Sven De Maeyer" userId="a7710417-13f0-4fe1-865c-72edd2f5f89d" providerId="ADAL" clId="{3BD63810-B0EB-5A6E-8A65-25868AB27A41}" dt="2026-02-10T16:22:28.611" v="988"/>
          <ac:spMkLst>
            <pc:docMk/>
            <pc:sldMk cId="2914302979" sldId="334"/>
            <ac:spMk id="6" creationId="{E3D332EE-EA5F-B7FA-7BA4-4628E7917244}"/>
          </ac:spMkLst>
        </pc:spChg>
        <pc:spChg chg="add del mod ord">
          <ac:chgData name="Sven De Maeyer" userId="a7710417-13f0-4fe1-865c-72edd2f5f89d" providerId="ADAL" clId="{3BD63810-B0EB-5A6E-8A65-25868AB27A41}" dt="2026-02-10T16:22:06.929" v="984" actId="478"/>
          <ac:spMkLst>
            <pc:docMk/>
            <pc:sldMk cId="2914302979" sldId="334"/>
            <ac:spMk id="7" creationId="{9ADDD11E-7585-9BA9-9EF9-409A4E502732}"/>
          </ac:spMkLst>
        </pc:spChg>
        <pc:spChg chg="add mod">
          <ac:chgData name="Sven De Maeyer" userId="a7710417-13f0-4fe1-865c-72edd2f5f89d" providerId="ADAL" clId="{3BD63810-B0EB-5A6E-8A65-25868AB27A41}" dt="2026-02-10T16:23:35.112" v="1036" actId="1076"/>
          <ac:spMkLst>
            <pc:docMk/>
            <pc:sldMk cId="2914302979" sldId="334"/>
            <ac:spMk id="10" creationId="{7F3296CE-36EA-946F-7DD5-807E6D8B610D}"/>
          </ac:spMkLst>
        </pc:spChg>
        <pc:picChg chg="add del mod">
          <ac:chgData name="Sven De Maeyer" userId="a7710417-13f0-4fe1-865c-72edd2f5f89d" providerId="ADAL" clId="{3BD63810-B0EB-5A6E-8A65-25868AB27A41}" dt="2026-02-10T16:24:00.192" v="1037" actId="478"/>
          <ac:picMkLst>
            <pc:docMk/>
            <pc:sldMk cId="2914302979" sldId="334"/>
            <ac:picMk id="8" creationId="{5E50D98B-FF11-1265-77D3-F478761479D2}"/>
          </ac:picMkLst>
        </pc:picChg>
        <pc:picChg chg="add mod">
          <ac:chgData name="Sven De Maeyer" userId="a7710417-13f0-4fe1-865c-72edd2f5f89d" providerId="ADAL" clId="{3BD63810-B0EB-5A6E-8A65-25868AB27A41}" dt="2026-02-10T16:25:07.099" v="1047" actId="1036"/>
          <ac:picMkLst>
            <pc:docMk/>
            <pc:sldMk cId="2914302979" sldId="334"/>
            <ac:picMk id="11" creationId="{A4D74959-E975-062B-6C14-FA322A7017FE}"/>
          </ac:picMkLst>
        </pc:picChg>
      </pc:sldChg>
      <pc:sldChg chg="new del">
        <pc:chgData name="Sven De Maeyer" userId="a7710417-13f0-4fe1-865c-72edd2f5f89d" providerId="ADAL" clId="{3BD63810-B0EB-5A6E-8A65-25868AB27A41}" dt="2026-02-10T17:00:21.308" v="1066" actId="2696"/>
        <pc:sldMkLst>
          <pc:docMk/>
          <pc:sldMk cId="2130083851" sldId="335"/>
        </pc:sldMkLst>
      </pc:sldChg>
      <pc:sldChg chg="addSp modSp new add del mod">
        <pc:chgData name="Sven De Maeyer" userId="a7710417-13f0-4fe1-865c-72edd2f5f89d" providerId="ADAL" clId="{3BD63810-B0EB-5A6E-8A65-25868AB27A41}" dt="2026-02-10T17:01:26.172" v="1077" actId="14100"/>
        <pc:sldMkLst>
          <pc:docMk/>
          <pc:sldMk cId="350995237" sldId="336"/>
        </pc:sldMkLst>
        <pc:picChg chg="add mod">
          <ac:chgData name="Sven De Maeyer" userId="a7710417-13f0-4fe1-865c-72edd2f5f89d" providerId="ADAL" clId="{3BD63810-B0EB-5A6E-8A65-25868AB27A41}" dt="2026-02-10T17:01:26.172" v="1077" actId="14100"/>
          <ac:picMkLst>
            <pc:docMk/>
            <pc:sldMk cId="350995237" sldId="336"/>
            <ac:picMk id="2" creationId="{BD3CA0D8-8C62-52B6-F469-93CFBBB5FC5C}"/>
          </ac:picMkLst>
        </pc:picChg>
      </pc:sldChg>
      <pc:sldChg chg="addSp delSp modSp new mod">
        <pc:chgData name="Sven De Maeyer" userId="a7710417-13f0-4fe1-865c-72edd2f5f89d" providerId="ADAL" clId="{3BD63810-B0EB-5A6E-8A65-25868AB27A41}" dt="2026-02-11T07:18:30.546" v="1650" actId="20577"/>
        <pc:sldMkLst>
          <pc:docMk/>
          <pc:sldMk cId="2101468188" sldId="337"/>
        </pc:sldMkLst>
        <pc:spChg chg="mod">
          <ac:chgData name="Sven De Maeyer" userId="a7710417-13f0-4fe1-865c-72edd2f5f89d" providerId="ADAL" clId="{3BD63810-B0EB-5A6E-8A65-25868AB27A41}" dt="2026-02-11T07:18:30.546" v="1650" actId="20577"/>
          <ac:spMkLst>
            <pc:docMk/>
            <pc:sldMk cId="2101468188" sldId="337"/>
            <ac:spMk id="2" creationId="{F58400AE-50D4-65BF-E5DE-C6C8FA96D225}"/>
          </ac:spMkLst>
        </pc:spChg>
        <pc:spChg chg="del">
          <ac:chgData name="Sven De Maeyer" userId="a7710417-13f0-4fe1-865c-72edd2f5f89d" providerId="ADAL" clId="{3BD63810-B0EB-5A6E-8A65-25868AB27A41}" dt="2026-02-10T18:57:45.443" v="1096" actId="3680"/>
          <ac:spMkLst>
            <pc:docMk/>
            <pc:sldMk cId="2101468188" sldId="337"/>
            <ac:spMk id="4" creationId="{AB6C7AB3-C559-98DD-C6D1-68B9C8277238}"/>
          </ac:spMkLst>
        </pc:spChg>
        <pc:spChg chg="add mod">
          <ac:chgData name="Sven De Maeyer" userId="a7710417-13f0-4fe1-865c-72edd2f5f89d" providerId="ADAL" clId="{3BD63810-B0EB-5A6E-8A65-25868AB27A41}" dt="2026-02-10T19:03:27.934" v="1457" actId="114"/>
          <ac:spMkLst>
            <pc:docMk/>
            <pc:sldMk cId="2101468188" sldId="337"/>
            <ac:spMk id="6" creationId="{797F6CD2-18B7-3C39-3E6B-A9F9259844DE}"/>
          </ac:spMkLst>
        </pc:spChg>
        <pc:graphicFrameChg chg="add mod ord modGraphic">
          <ac:chgData name="Sven De Maeyer" userId="a7710417-13f0-4fe1-865c-72edd2f5f89d" providerId="ADAL" clId="{3BD63810-B0EB-5A6E-8A65-25868AB27A41}" dt="2026-02-10T18:59:34.804" v="1178" actId="122"/>
          <ac:graphicFrameMkLst>
            <pc:docMk/>
            <pc:sldMk cId="2101468188" sldId="337"/>
            <ac:graphicFrameMk id="5" creationId="{5957B635-9D77-C4C5-1016-52080AAED06B}"/>
          </ac:graphicFrameMkLst>
        </pc:graphicFrameChg>
      </pc:sldChg>
      <pc:sldChg chg="addSp delSp modSp new mod modClrScheme chgLayout">
        <pc:chgData name="Sven De Maeyer" userId="a7710417-13f0-4fe1-865c-72edd2f5f89d" providerId="ADAL" clId="{3BD63810-B0EB-5A6E-8A65-25868AB27A41}" dt="2026-02-11T07:12:59.070" v="1533" actId="14100"/>
        <pc:sldMkLst>
          <pc:docMk/>
          <pc:sldMk cId="350930256" sldId="338"/>
        </pc:sldMkLst>
        <pc:spChg chg="mod ord">
          <ac:chgData name="Sven De Maeyer" userId="a7710417-13f0-4fe1-865c-72edd2f5f89d" providerId="ADAL" clId="{3BD63810-B0EB-5A6E-8A65-25868AB27A41}" dt="2026-02-10T19:12:21.228" v="1459" actId="700"/>
          <ac:spMkLst>
            <pc:docMk/>
            <pc:sldMk cId="350930256" sldId="338"/>
            <ac:spMk id="2" creationId="{A41F350A-588B-D40D-2A6D-93E4D04D7CA7}"/>
          </ac:spMkLst>
        </pc:spChg>
        <pc:spChg chg="del">
          <ac:chgData name="Sven De Maeyer" userId="a7710417-13f0-4fe1-865c-72edd2f5f89d" providerId="ADAL" clId="{3BD63810-B0EB-5A6E-8A65-25868AB27A41}" dt="2026-02-10T19:12:21.228" v="1459" actId="700"/>
          <ac:spMkLst>
            <pc:docMk/>
            <pc:sldMk cId="350930256" sldId="338"/>
            <ac:spMk id="3" creationId="{B7A9A905-E19D-B22E-8E7D-F9444AE22829}"/>
          </ac:spMkLst>
        </pc:spChg>
        <pc:spChg chg="del">
          <ac:chgData name="Sven De Maeyer" userId="a7710417-13f0-4fe1-865c-72edd2f5f89d" providerId="ADAL" clId="{3BD63810-B0EB-5A6E-8A65-25868AB27A41}" dt="2026-02-10T19:12:21.228" v="1459" actId="700"/>
          <ac:spMkLst>
            <pc:docMk/>
            <pc:sldMk cId="350930256" sldId="338"/>
            <ac:spMk id="4" creationId="{FBA9B22C-B59B-629A-652A-E42A521354DE}"/>
          </ac:spMkLst>
        </pc:spChg>
        <pc:spChg chg="del">
          <ac:chgData name="Sven De Maeyer" userId="a7710417-13f0-4fe1-865c-72edd2f5f89d" providerId="ADAL" clId="{3BD63810-B0EB-5A6E-8A65-25868AB27A41}" dt="2026-02-10T19:12:21.228" v="1459" actId="700"/>
          <ac:spMkLst>
            <pc:docMk/>
            <pc:sldMk cId="350930256" sldId="338"/>
            <ac:spMk id="5" creationId="{AF4696D6-CD80-CDCA-2606-64DB68AF124F}"/>
          </ac:spMkLst>
        </pc:spChg>
        <pc:spChg chg="add del mod">
          <ac:chgData name="Sven De Maeyer" userId="a7710417-13f0-4fe1-865c-72edd2f5f89d" providerId="ADAL" clId="{3BD63810-B0EB-5A6E-8A65-25868AB27A41}" dt="2026-02-10T19:26:19.129" v="1520" actId="478"/>
          <ac:spMkLst>
            <pc:docMk/>
            <pc:sldMk cId="350930256" sldId="338"/>
            <ac:spMk id="9" creationId="{EE222440-307D-9C6F-DEB8-352987C555C6}"/>
          </ac:spMkLst>
        </pc:spChg>
        <pc:picChg chg="add del mod">
          <ac:chgData name="Sven De Maeyer" userId="a7710417-13f0-4fe1-865c-72edd2f5f89d" providerId="ADAL" clId="{3BD63810-B0EB-5A6E-8A65-25868AB27A41}" dt="2026-02-10T19:12:36.329" v="1461" actId="478"/>
          <ac:picMkLst>
            <pc:docMk/>
            <pc:sldMk cId="350930256" sldId="338"/>
            <ac:picMk id="6" creationId="{7D25A961-3AF9-9000-8F4E-D56FFD5397BE}"/>
          </ac:picMkLst>
        </pc:picChg>
        <pc:picChg chg="add del mod">
          <ac:chgData name="Sven De Maeyer" userId="a7710417-13f0-4fe1-865c-72edd2f5f89d" providerId="ADAL" clId="{3BD63810-B0EB-5A6E-8A65-25868AB27A41}" dt="2026-02-10T19:14:26.854" v="1463" actId="478"/>
          <ac:picMkLst>
            <pc:docMk/>
            <pc:sldMk cId="350930256" sldId="338"/>
            <ac:picMk id="7" creationId="{691E5B29-FAF1-04A2-8C5C-30220978E947}"/>
          </ac:picMkLst>
        </pc:picChg>
        <pc:picChg chg="add del mod">
          <ac:chgData name="Sven De Maeyer" userId="a7710417-13f0-4fe1-865c-72edd2f5f89d" providerId="ADAL" clId="{3BD63810-B0EB-5A6E-8A65-25868AB27A41}" dt="2026-02-11T07:12:50.177" v="1530" actId="478"/>
          <ac:picMkLst>
            <pc:docMk/>
            <pc:sldMk cId="350930256" sldId="338"/>
            <ac:picMk id="8" creationId="{FCBE950A-F44B-AEDF-C01D-0400235B05DC}"/>
          </ac:picMkLst>
        </pc:picChg>
        <pc:picChg chg="add mod">
          <ac:chgData name="Sven De Maeyer" userId="a7710417-13f0-4fe1-865c-72edd2f5f89d" providerId="ADAL" clId="{3BD63810-B0EB-5A6E-8A65-25868AB27A41}" dt="2026-02-11T07:12:59.070" v="1533" actId="14100"/>
          <ac:picMkLst>
            <pc:docMk/>
            <pc:sldMk cId="350930256" sldId="338"/>
            <ac:picMk id="10" creationId="{21E010AE-3667-3BE0-D656-C6078E59F436}"/>
          </ac:picMkLst>
        </pc:picChg>
      </pc:sldChg>
      <pc:sldChg chg="modSp add mod">
        <pc:chgData name="Sven De Maeyer" userId="a7710417-13f0-4fe1-865c-72edd2f5f89d" providerId="ADAL" clId="{3BD63810-B0EB-5A6E-8A65-25868AB27A41}" dt="2026-02-11T07:21:10.235" v="1657" actId="20577"/>
        <pc:sldMkLst>
          <pc:docMk/>
          <pc:sldMk cId="1136791642" sldId="339"/>
        </pc:sldMkLst>
        <pc:spChg chg="mod">
          <ac:chgData name="Sven De Maeyer" userId="a7710417-13f0-4fe1-865c-72edd2f5f89d" providerId="ADAL" clId="{3BD63810-B0EB-5A6E-8A65-25868AB27A41}" dt="2026-02-11T07:18:19.766" v="1641" actId="20577"/>
          <ac:spMkLst>
            <pc:docMk/>
            <pc:sldMk cId="1136791642" sldId="339"/>
            <ac:spMk id="2" creationId="{DE07D43B-0C17-73DF-7A9C-7F430A339E77}"/>
          </ac:spMkLst>
        </pc:spChg>
        <pc:spChg chg="mod">
          <ac:chgData name="Sven De Maeyer" userId="a7710417-13f0-4fe1-865c-72edd2f5f89d" providerId="ADAL" clId="{3BD63810-B0EB-5A6E-8A65-25868AB27A41}" dt="2026-02-11T07:21:10.235" v="1657" actId="20577"/>
          <ac:spMkLst>
            <pc:docMk/>
            <pc:sldMk cId="1136791642" sldId="339"/>
            <ac:spMk id="6" creationId="{44E5DD3A-5A22-99BD-EC45-62DCA129FDC6}"/>
          </ac:spMkLst>
        </pc:spChg>
        <pc:graphicFrameChg chg="modGraphic">
          <ac:chgData name="Sven De Maeyer" userId="a7710417-13f0-4fe1-865c-72edd2f5f89d" providerId="ADAL" clId="{3BD63810-B0EB-5A6E-8A65-25868AB27A41}" dt="2026-02-11T07:16:35.993" v="1629" actId="20577"/>
          <ac:graphicFrameMkLst>
            <pc:docMk/>
            <pc:sldMk cId="1136791642" sldId="339"/>
            <ac:graphicFrameMk id="5" creationId="{828D307D-0E82-59B3-E8A4-0548AA674034}"/>
          </ac:graphicFrameMkLst>
        </pc:graphicFrameChg>
      </pc:sldChg>
      <pc:sldChg chg="addSp delSp modSp add mod replId">
        <pc:chgData name="Sven De Maeyer" userId="a7710417-13f0-4fe1-865c-72edd2f5f89d" providerId="ADAL" clId="{3BD63810-B0EB-5A6E-8A65-25868AB27A41}" dt="2026-02-11T07:20:05.702" v="1655" actId="1076"/>
        <pc:sldMkLst>
          <pc:docMk/>
          <pc:sldMk cId="496827921" sldId="340"/>
        </pc:sldMkLst>
        <pc:picChg chg="add mod">
          <ac:chgData name="Sven De Maeyer" userId="a7710417-13f0-4fe1-865c-72edd2f5f89d" providerId="ADAL" clId="{3BD63810-B0EB-5A6E-8A65-25868AB27A41}" dt="2026-02-11T07:20:05.702" v="1655" actId="1076"/>
          <ac:picMkLst>
            <pc:docMk/>
            <pc:sldMk cId="496827921" sldId="340"/>
            <ac:picMk id="3" creationId="{DF228E4C-652C-BF43-E4C4-6C96D0E7F751}"/>
          </ac:picMkLst>
        </pc:picChg>
        <pc:picChg chg="del">
          <ac:chgData name="Sven De Maeyer" userId="a7710417-13f0-4fe1-865c-72edd2f5f89d" providerId="ADAL" clId="{3BD63810-B0EB-5A6E-8A65-25868AB27A41}" dt="2026-02-11T07:14:53.024" v="1617" actId="478"/>
          <ac:picMkLst>
            <pc:docMk/>
            <pc:sldMk cId="496827921" sldId="340"/>
            <ac:picMk id="10" creationId="{05AB3F40-3E6B-3DB3-DA1E-9435E4D17C2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A71E4-3466-FA49-A601-CEF4EE1254E9}" type="doc">
      <dgm:prSet loTypeId="urn:microsoft.com/office/officeart/2005/8/layout/gear1" loCatId="" qsTypeId="urn:microsoft.com/office/officeart/2005/8/quickstyle/simple1" qsCatId="simple" csTypeId="urn:microsoft.com/office/officeart/2005/8/colors/accent1_2" csCatId="accent1" phldr="1"/>
      <dgm:spPr/>
    </dgm:pt>
    <dgm:pt modelId="{1AF9CA83-2A1F-FF4E-BD1B-F013B483BFDD}">
      <dgm:prSet phldrT="[Tekst]" custT="1"/>
      <dgm:spPr/>
      <dgm:t>
        <a:bodyPr/>
        <a:lstStyle/>
        <a:p>
          <a:r>
            <a:rPr lang="nl-NL" sz="1600" dirty="0"/>
            <a:t>Causaal of niet-causaal</a:t>
          </a:r>
        </a:p>
      </dgm:t>
    </dgm:pt>
    <dgm:pt modelId="{D664027C-6204-D949-AADC-C4D2AA8CDD3F}" type="parTrans" cxnId="{A1F4012E-D2B2-FE40-8A9A-098993A054EA}">
      <dgm:prSet/>
      <dgm:spPr/>
      <dgm:t>
        <a:bodyPr/>
        <a:lstStyle/>
        <a:p>
          <a:endParaRPr lang="nl-NL"/>
        </a:p>
      </dgm:t>
    </dgm:pt>
    <dgm:pt modelId="{997CE66F-E49E-3942-8026-168962CB6494}" type="sibTrans" cxnId="{A1F4012E-D2B2-FE40-8A9A-098993A054EA}">
      <dgm:prSet/>
      <dgm:spPr/>
      <dgm:t>
        <a:bodyPr/>
        <a:lstStyle/>
        <a:p>
          <a:endParaRPr lang="nl-NL"/>
        </a:p>
      </dgm:t>
    </dgm:pt>
    <dgm:pt modelId="{9ED1B22B-3FB6-EB48-AF48-43239650AE24}">
      <dgm:prSet phldrT="[Tekst]" custT="1"/>
      <dgm:spPr/>
      <dgm:t>
        <a:bodyPr/>
        <a:lstStyle/>
        <a:p>
          <a:r>
            <a:rPr lang="nl-NL" sz="1600" dirty="0"/>
            <a:t>Controle-variabelen</a:t>
          </a:r>
        </a:p>
      </dgm:t>
    </dgm:pt>
    <dgm:pt modelId="{349D70DF-7AAE-4F41-8646-5CFD40D9EB95}" type="parTrans" cxnId="{56A97F44-7C11-1144-95A3-D489B26C6B76}">
      <dgm:prSet/>
      <dgm:spPr/>
      <dgm:t>
        <a:bodyPr/>
        <a:lstStyle/>
        <a:p>
          <a:endParaRPr lang="nl-NL"/>
        </a:p>
      </dgm:t>
    </dgm:pt>
    <dgm:pt modelId="{CFF31084-0867-BA47-AC0B-8AC47DD379A0}" type="sibTrans" cxnId="{56A97F44-7C11-1144-95A3-D489B26C6B76}">
      <dgm:prSet/>
      <dgm:spPr/>
      <dgm:t>
        <a:bodyPr/>
        <a:lstStyle/>
        <a:p>
          <a:endParaRPr lang="nl-NL"/>
        </a:p>
      </dgm:t>
    </dgm:pt>
    <dgm:pt modelId="{E126F412-9CF2-8B4D-A573-24D6C8EC8106}">
      <dgm:prSet phldrT="[Tekst]" custT="1"/>
      <dgm:spPr/>
      <dgm:t>
        <a:bodyPr/>
        <a:lstStyle/>
        <a:p>
          <a:r>
            <a:rPr lang="nl-NL" sz="1600" dirty="0"/>
            <a:t>Interactie tussen variabelen</a:t>
          </a:r>
        </a:p>
      </dgm:t>
    </dgm:pt>
    <dgm:pt modelId="{2DF0491F-A8E1-C04F-8576-FFE31E7D06E4}" type="parTrans" cxnId="{7C8D0D7E-42DA-5349-854C-8D22C3FF8669}">
      <dgm:prSet/>
      <dgm:spPr/>
      <dgm:t>
        <a:bodyPr/>
        <a:lstStyle/>
        <a:p>
          <a:endParaRPr lang="nl-NL"/>
        </a:p>
      </dgm:t>
    </dgm:pt>
    <dgm:pt modelId="{E1ACEB28-B5A1-384B-8D15-21689AABF226}" type="sibTrans" cxnId="{7C8D0D7E-42DA-5349-854C-8D22C3FF8669}">
      <dgm:prSet/>
      <dgm:spPr/>
      <dgm:t>
        <a:bodyPr/>
        <a:lstStyle/>
        <a:p>
          <a:endParaRPr lang="nl-NL"/>
        </a:p>
      </dgm:t>
    </dgm:pt>
    <dgm:pt modelId="{C2D00FC6-2191-D54C-A20B-9EE65461B4E9}" type="pres">
      <dgm:prSet presAssocID="{129A71E4-3466-FA49-A601-CEF4EE1254E9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1A933DD8-493C-7D4D-A69F-F27381B1D923}" type="pres">
      <dgm:prSet presAssocID="{1AF9CA83-2A1F-FF4E-BD1B-F013B483BFDD}" presName="gear1" presStyleLbl="node1" presStyleIdx="0" presStyleCnt="3">
        <dgm:presLayoutVars>
          <dgm:chMax val="1"/>
          <dgm:bulletEnabled val="1"/>
        </dgm:presLayoutVars>
      </dgm:prSet>
      <dgm:spPr/>
    </dgm:pt>
    <dgm:pt modelId="{258F36A1-3EC0-AA4D-8ADE-FABFAE463F88}" type="pres">
      <dgm:prSet presAssocID="{1AF9CA83-2A1F-FF4E-BD1B-F013B483BFDD}" presName="gear1srcNode" presStyleLbl="node1" presStyleIdx="0" presStyleCnt="3"/>
      <dgm:spPr/>
    </dgm:pt>
    <dgm:pt modelId="{40E724CE-9BCD-D94A-A61D-05AE11E93D31}" type="pres">
      <dgm:prSet presAssocID="{1AF9CA83-2A1F-FF4E-BD1B-F013B483BFDD}" presName="gear1dstNode" presStyleLbl="node1" presStyleIdx="0" presStyleCnt="3"/>
      <dgm:spPr/>
    </dgm:pt>
    <dgm:pt modelId="{D7165F0E-E523-564E-8376-87F380679920}" type="pres">
      <dgm:prSet presAssocID="{9ED1B22B-3FB6-EB48-AF48-43239650AE24}" presName="gear2" presStyleLbl="node1" presStyleIdx="1" presStyleCnt="3">
        <dgm:presLayoutVars>
          <dgm:chMax val="1"/>
          <dgm:bulletEnabled val="1"/>
        </dgm:presLayoutVars>
      </dgm:prSet>
      <dgm:spPr/>
    </dgm:pt>
    <dgm:pt modelId="{55B6CB79-3F10-E94F-8CDA-5E56AA0AE417}" type="pres">
      <dgm:prSet presAssocID="{9ED1B22B-3FB6-EB48-AF48-43239650AE24}" presName="gear2srcNode" presStyleLbl="node1" presStyleIdx="1" presStyleCnt="3"/>
      <dgm:spPr/>
    </dgm:pt>
    <dgm:pt modelId="{4C57572F-9BDA-1445-8E5E-3D561763756B}" type="pres">
      <dgm:prSet presAssocID="{9ED1B22B-3FB6-EB48-AF48-43239650AE24}" presName="gear2dstNode" presStyleLbl="node1" presStyleIdx="1" presStyleCnt="3"/>
      <dgm:spPr/>
    </dgm:pt>
    <dgm:pt modelId="{976B5CC5-22AD-D842-9BAE-6E56F5CD8E9D}" type="pres">
      <dgm:prSet presAssocID="{E126F412-9CF2-8B4D-A573-24D6C8EC8106}" presName="gear3" presStyleLbl="node1" presStyleIdx="2" presStyleCnt="3"/>
      <dgm:spPr/>
    </dgm:pt>
    <dgm:pt modelId="{AACD28DB-1CEB-CE48-93F0-A154F02DE6F6}" type="pres">
      <dgm:prSet presAssocID="{E126F412-9CF2-8B4D-A573-24D6C8EC8106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8B8C504A-63C9-6B49-9AD8-392CD53F7830}" type="pres">
      <dgm:prSet presAssocID="{E126F412-9CF2-8B4D-A573-24D6C8EC8106}" presName="gear3srcNode" presStyleLbl="node1" presStyleIdx="2" presStyleCnt="3"/>
      <dgm:spPr/>
    </dgm:pt>
    <dgm:pt modelId="{3DC20212-EA48-3747-8566-234D54EB7B1C}" type="pres">
      <dgm:prSet presAssocID="{E126F412-9CF2-8B4D-A573-24D6C8EC8106}" presName="gear3dstNode" presStyleLbl="node1" presStyleIdx="2" presStyleCnt="3"/>
      <dgm:spPr/>
    </dgm:pt>
    <dgm:pt modelId="{34B43E7F-7C4E-5A45-84DF-AE24FAE124EB}" type="pres">
      <dgm:prSet presAssocID="{997CE66F-E49E-3942-8026-168962CB6494}" presName="connector1" presStyleLbl="sibTrans2D1" presStyleIdx="0" presStyleCnt="3"/>
      <dgm:spPr/>
    </dgm:pt>
    <dgm:pt modelId="{6DCF298E-3447-0947-A672-4053FC1BC563}" type="pres">
      <dgm:prSet presAssocID="{CFF31084-0867-BA47-AC0B-8AC47DD379A0}" presName="connector2" presStyleLbl="sibTrans2D1" presStyleIdx="1" presStyleCnt="3"/>
      <dgm:spPr/>
    </dgm:pt>
    <dgm:pt modelId="{C37C5AB2-ACA7-A14A-8011-535A7400F9C2}" type="pres">
      <dgm:prSet presAssocID="{E1ACEB28-B5A1-384B-8D15-21689AABF226}" presName="connector3" presStyleLbl="sibTrans2D1" presStyleIdx="2" presStyleCnt="3"/>
      <dgm:spPr/>
    </dgm:pt>
  </dgm:ptLst>
  <dgm:cxnLst>
    <dgm:cxn modelId="{B8D3A405-519D-8B4B-9305-817102734923}" type="presOf" srcId="{1AF9CA83-2A1F-FF4E-BD1B-F013B483BFDD}" destId="{258F36A1-3EC0-AA4D-8ADE-FABFAE463F88}" srcOrd="1" destOrd="0" presId="urn:microsoft.com/office/officeart/2005/8/layout/gear1"/>
    <dgm:cxn modelId="{E888C80A-6E60-034D-9156-56FA75505F84}" type="presOf" srcId="{1AF9CA83-2A1F-FF4E-BD1B-F013B483BFDD}" destId="{40E724CE-9BCD-D94A-A61D-05AE11E93D31}" srcOrd="2" destOrd="0" presId="urn:microsoft.com/office/officeart/2005/8/layout/gear1"/>
    <dgm:cxn modelId="{49A89813-27F8-F941-B515-CE75D14E3E68}" type="presOf" srcId="{E1ACEB28-B5A1-384B-8D15-21689AABF226}" destId="{C37C5AB2-ACA7-A14A-8011-535A7400F9C2}" srcOrd="0" destOrd="0" presId="urn:microsoft.com/office/officeart/2005/8/layout/gear1"/>
    <dgm:cxn modelId="{9A6E5520-2281-C543-A36B-65D27F5B5BCF}" type="presOf" srcId="{E126F412-9CF2-8B4D-A573-24D6C8EC8106}" destId="{8B8C504A-63C9-6B49-9AD8-392CD53F7830}" srcOrd="2" destOrd="0" presId="urn:microsoft.com/office/officeart/2005/8/layout/gear1"/>
    <dgm:cxn modelId="{20CC6629-17E8-CA45-A31B-BAC6506BA265}" type="presOf" srcId="{9ED1B22B-3FB6-EB48-AF48-43239650AE24}" destId="{4C57572F-9BDA-1445-8E5E-3D561763756B}" srcOrd="2" destOrd="0" presId="urn:microsoft.com/office/officeart/2005/8/layout/gear1"/>
    <dgm:cxn modelId="{A1F4012E-D2B2-FE40-8A9A-098993A054EA}" srcId="{129A71E4-3466-FA49-A601-CEF4EE1254E9}" destId="{1AF9CA83-2A1F-FF4E-BD1B-F013B483BFDD}" srcOrd="0" destOrd="0" parTransId="{D664027C-6204-D949-AADC-C4D2AA8CDD3F}" sibTransId="{997CE66F-E49E-3942-8026-168962CB6494}"/>
    <dgm:cxn modelId="{270F1E35-2791-6B47-872F-193E6B852750}" type="presOf" srcId="{9ED1B22B-3FB6-EB48-AF48-43239650AE24}" destId="{55B6CB79-3F10-E94F-8CDA-5E56AA0AE417}" srcOrd="1" destOrd="0" presId="urn:microsoft.com/office/officeart/2005/8/layout/gear1"/>
    <dgm:cxn modelId="{56A97F44-7C11-1144-95A3-D489B26C6B76}" srcId="{129A71E4-3466-FA49-A601-CEF4EE1254E9}" destId="{9ED1B22B-3FB6-EB48-AF48-43239650AE24}" srcOrd="1" destOrd="0" parTransId="{349D70DF-7AAE-4F41-8646-5CFD40D9EB95}" sibTransId="{CFF31084-0867-BA47-AC0B-8AC47DD379A0}"/>
    <dgm:cxn modelId="{31088F4D-5025-2C44-96A1-43EE5927F9C8}" type="presOf" srcId="{9ED1B22B-3FB6-EB48-AF48-43239650AE24}" destId="{D7165F0E-E523-564E-8376-87F380679920}" srcOrd="0" destOrd="0" presId="urn:microsoft.com/office/officeart/2005/8/layout/gear1"/>
    <dgm:cxn modelId="{384A5662-EDD4-7F49-A01B-3E602B2E766A}" type="presOf" srcId="{1AF9CA83-2A1F-FF4E-BD1B-F013B483BFDD}" destId="{1A933DD8-493C-7D4D-A69F-F27381B1D923}" srcOrd="0" destOrd="0" presId="urn:microsoft.com/office/officeart/2005/8/layout/gear1"/>
    <dgm:cxn modelId="{17179F6B-0447-7241-939C-71EF81A670F4}" type="presOf" srcId="{CFF31084-0867-BA47-AC0B-8AC47DD379A0}" destId="{6DCF298E-3447-0947-A672-4053FC1BC563}" srcOrd="0" destOrd="0" presId="urn:microsoft.com/office/officeart/2005/8/layout/gear1"/>
    <dgm:cxn modelId="{7C8D0D7E-42DA-5349-854C-8D22C3FF8669}" srcId="{129A71E4-3466-FA49-A601-CEF4EE1254E9}" destId="{E126F412-9CF2-8B4D-A573-24D6C8EC8106}" srcOrd="2" destOrd="0" parTransId="{2DF0491F-A8E1-C04F-8576-FFE31E7D06E4}" sibTransId="{E1ACEB28-B5A1-384B-8D15-21689AABF226}"/>
    <dgm:cxn modelId="{27B92FA1-A45B-7D4B-AD12-ABD3E55ADC02}" type="presOf" srcId="{997CE66F-E49E-3942-8026-168962CB6494}" destId="{34B43E7F-7C4E-5A45-84DF-AE24FAE124EB}" srcOrd="0" destOrd="0" presId="urn:microsoft.com/office/officeart/2005/8/layout/gear1"/>
    <dgm:cxn modelId="{BD745AB4-9310-6F4B-8693-5BBE9EC6328A}" type="presOf" srcId="{E126F412-9CF2-8B4D-A573-24D6C8EC8106}" destId="{976B5CC5-22AD-D842-9BAE-6E56F5CD8E9D}" srcOrd="0" destOrd="0" presId="urn:microsoft.com/office/officeart/2005/8/layout/gear1"/>
    <dgm:cxn modelId="{E2BECED0-0783-B148-9C5D-89433BFF8224}" type="presOf" srcId="{129A71E4-3466-FA49-A601-CEF4EE1254E9}" destId="{C2D00FC6-2191-D54C-A20B-9EE65461B4E9}" srcOrd="0" destOrd="0" presId="urn:microsoft.com/office/officeart/2005/8/layout/gear1"/>
    <dgm:cxn modelId="{4D2742EA-E564-B940-AE3D-8997AD26C61A}" type="presOf" srcId="{E126F412-9CF2-8B4D-A573-24D6C8EC8106}" destId="{3DC20212-EA48-3747-8566-234D54EB7B1C}" srcOrd="3" destOrd="0" presId="urn:microsoft.com/office/officeart/2005/8/layout/gear1"/>
    <dgm:cxn modelId="{D9B619FF-8568-ED46-BF56-5014FECDF59A}" type="presOf" srcId="{E126F412-9CF2-8B4D-A573-24D6C8EC8106}" destId="{AACD28DB-1CEB-CE48-93F0-A154F02DE6F6}" srcOrd="1" destOrd="0" presId="urn:microsoft.com/office/officeart/2005/8/layout/gear1"/>
    <dgm:cxn modelId="{2B223409-D07A-0845-811F-DB357B735193}" type="presParOf" srcId="{C2D00FC6-2191-D54C-A20B-9EE65461B4E9}" destId="{1A933DD8-493C-7D4D-A69F-F27381B1D923}" srcOrd="0" destOrd="0" presId="urn:microsoft.com/office/officeart/2005/8/layout/gear1"/>
    <dgm:cxn modelId="{983517CB-7929-964F-80DF-FE6D7E4DF0CC}" type="presParOf" srcId="{C2D00FC6-2191-D54C-A20B-9EE65461B4E9}" destId="{258F36A1-3EC0-AA4D-8ADE-FABFAE463F88}" srcOrd="1" destOrd="0" presId="urn:microsoft.com/office/officeart/2005/8/layout/gear1"/>
    <dgm:cxn modelId="{665C3E37-AA60-6E4D-B09D-E1C2E753A10C}" type="presParOf" srcId="{C2D00FC6-2191-D54C-A20B-9EE65461B4E9}" destId="{40E724CE-9BCD-D94A-A61D-05AE11E93D31}" srcOrd="2" destOrd="0" presId="urn:microsoft.com/office/officeart/2005/8/layout/gear1"/>
    <dgm:cxn modelId="{5A5F25EA-5316-BB4B-ABC7-321D7CEB7604}" type="presParOf" srcId="{C2D00FC6-2191-D54C-A20B-9EE65461B4E9}" destId="{D7165F0E-E523-564E-8376-87F380679920}" srcOrd="3" destOrd="0" presId="urn:microsoft.com/office/officeart/2005/8/layout/gear1"/>
    <dgm:cxn modelId="{9F91931D-5F34-C34D-AA83-737D20B0661F}" type="presParOf" srcId="{C2D00FC6-2191-D54C-A20B-9EE65461B4E9}" destId="{55B6CB79-3F10-E94F-8CDA-5E56AA0AE417}" srcOrd="4" destOrd="0" presId="urn:microsoft.com/office/officeart/2005/8/layout/gear1"/>
    <dgm:cxn modelId="{2C6E9408-A377-3C4C-825F-ADEB30C04F5B}" type="presParOf" srcId="{C2D00FC6-2191-D54C-A20B-9EE65461B4E9}" destId="{4C57572F-9BDA-1445-8E5E-3D561763756B}" srcOrd="5" destOrd="0" presId="urn:microsoft.com/office/officeart/2005/8/layout/gear1"/>
    <dgm:cxn modelId="{235EA410-75DE-3D4F-A63A-97958588B7D7}" type="presParOf" srcId="{C2D00FC6-2191-D54C-A20B-9EE65461B4E9}" destId="{976B5CC5-22AD-D842-9BAE-6E56F5CD8E9D}" srcOrd="6" destOrd="0" presId="urn:microsoft.com/office/officeart/2005/8/layout/gear1"/>
    <dgm:cxn modelId="{BCD08A5F-DF62-1840-86C4-EAD7FD58BBEC}" type="presParOf" srcId="{C2D00FC6-2191-D54C-A20B-9EE65461B4E9}" destId="{AACD28DB-1CEB-CE48-93F0-A154F02DE6F6}" srcOrd="7" destOrd="0" presId="urn:microsoft.com/office/officeart/2005/8/layout/gear1"/>
    <dgm:cxn modelId="{53C7201B-B72F-B440-B8EB-D6DFEA3699F9}" type="presParOf" srcId="{C2D00FC6-2191-D54C-A20B-9EE65461B4E9}" destId="{8B8C504A-63C9-6B49-9AD8-392CD53F7830}" srcOrd="8" destOrd="0" presId="urn:microsoft.com/office/officeart/2005/8/layout/gear1"/>
    <dgm:cxn modelId="{D304D3B0-8E2E-BA45-B25B-8C2A64780AEC}" type="presParOf" srcId="{C2D00FC6-2191-D54C-A20B-9EE65461B4E9}" destId="{3DC20212-EA48-3747-8566-234D54EB7B1C}" srcOrd="9" destOrd="0" presId="urn:microsoft.com/office/officeart/2005/8/layout/gear1"/>
    <dgm:cxn modelId="{B271A46B-E9FF-6E44-BF8A-6535E10E7176}" type="presParOf" srcId="{C2D00FC6-2191-D54C-A20B-9EE65461B4E9}" destId="{34B43E7F-7C4E-5A45-84DF-AE24FAE124EB}" srcOrd="10" destOrd="0" presId="urn:microsoft.com/office/officeart/2005/8/layout/gear1"/>
    <dgm:cxn modelId="{B14CA96F-1177-734E-9FCD-23A9AEB0CCF9}" type="presParOf" srcId="{C2D00FC6-2191-D54C-A20B-9EE65461B4E9}" destId="{6DCF298E-3447-0947-A672-4053FC1BC563}" srcOrd="11" destOrd="0" presId="urn:microsoft.com/office/officeart/2005/8/layout/gear1"/>
    <dgm:cxn modelId="{364660CD-0C0D-B041-A116-DC97AB493184}" type="presParOf" srcId="{C2D00FC6-2191-D54C-A20B-9EE65461B4E9}" destId="{C37C5AB2-ACA7-A14A-8011-535A7400F9C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33DD8-493C-7D4D-A69F-F27381B1D923}">
      <dsp:nvSpPr>
        <dsp:cNvPr id="0" name=""/>
        <dsp:cNvSpPr/>
      </dsp:nvSpPr>
      <dsp:spPr>
        <a:xfrm>
          <a:off x="5239067" y="2097405"/>
          <a:ext cx="2563495" cy="2563495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Causaal of niet-causaal</a:t>
          </a:r>
        </a:p>
      </dsp:txBody>
      <dsp:txXfrm>
        <a:off x="5754444" y="2697891"/>
        <a:ext cx="1532741" cy="1317690"/>
      </dsp:txXfrm>
    </dsp:sp>
    <dsp:sp modelId="{D7165F0E-E523-564E-8376-87F380679920}">
      <dsp:nvSpPr>
        <dsp:cNvPr id="0" name=""/>
        <dsp:cNvSpPr/>
      </dsp:nvSpPr>
      <dsp:spPr>
        <a:xfrm>
          <a:off x="3747579" y="1491488"/>
          <a:ext cx="1864360" cy="186436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Controle-variabelen</a:t>
          </a:r>
        </a:p>
      </dsp:txBody>
      <dsp:txXfrm>
        <a:off x="4216937" y="1963683"/>
        <a:ext cx="925644" cy="919970"/>
      </dsp:txXfrm>
    </dsp:sp>
    <dsp:sp modelId="{976B5CC5-22AD-D842-9BAE-6E56F5CD8E9D}">
      <dsp:nvSpPr>
        <dsp:cNvPr id="0" name=""/>
        <dsp:cNvSpPr/>
      </dsp:nvSpPr>
      <dsp:spPr>
        <a:xfrm rot="20700000">
          <a:off x="4791811" y="205269"/>
          <a:ext cx="1826692" cy="1826692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600" kern="1200" dirty="0"/>
            <a:t>Interactie tussen variabelen</a:t>
          </a:r>
        </a:p>
      </dsp:txBody>
      <dsp:txXfrm rot="-20700000">
        <a:off x="5192458" y="605917"/>
        <a:ext cx="1025398" cy="1025398"/>
      </dsp:txXfrm>
    </dsp:sp>
    <dsp:sp modelId="{34B43E7F-7C4E-5A45-84DF-AE24FAE124EB}">
      <dsp:nvSpPr>
        <dsp:cNvPr id="0" name=""/>
        <dsp:cNvSpPr/>
      </dsp:nvSpPr>
      <dsp:spPr>
        <a:xfrm>
          <a:off x="5047104" y="1707641"/>
          <a:ext cx="3281273" cy="3281273"/>
        </a:xfrm>
        <a:prstGeom prst="circularArrow">
          <a:avLst>
            <a:gd name="adj1" fmla="val 4688"/>
            <a:gd name="adj2" fmla="val 299029"/>
            <a:gd name="adj3" fmla="val 2526290"/>
            <a:gd name="adj4" fmla="val 15839637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F298E-3447-0947-A672-4053FC1BC563}">
      <dsp:nvSpPr>
        <dsp:cNvPr id="0" name=""/>
        <dsp:cNvSpPr/>
      </dsp:nvSpPr>
      <dsp:spPr>
        <a:xfrm>
          <a:off x="3417404" y="1076973"/>
          <a:ext cx="2384050" cy="238405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C5AB2-ACA7-A14A-8011-535A7400F9C2}">
      <dsp:nvSpPr>
        <dsp:cNvPr id="0" name=""/>
        <dsp:cNvSpPr/>
      </dsp:nvSpPr>
      <dsp:spPr>
        <a:xfrm>
          <a:off x="4369278" y="-196846"/>
          <a:ext cx="2570486" cy="257048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BB6DB-26F8-3D44-8679-1FA91FCCBB64}" type="datetimeFigureOut">
              <a:rPr lang="nl-BE" smtClean="0"/>
              <a:t>10/02/2026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ECE38-3714-4B47-9619-03F93C682CD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285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ECE38-3714-4B47-9619-03F93C682CDA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5239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enkel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1F0EA669-8677-CD4C-AD8D-C4852AC0E3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7" y="1577009"/>
            <a:ext cx="10944226" cy="4660279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274638" indent="-274638"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SzPct val="75000"/>
              <a:buFont typeface="Wingdings" pitchFamily="2" charset="2"/>
              <a:buChar char="§"/>
              <a:defRPr sz="2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r>
              <a:rPr lang="nl-NL" dirty="0"/>
              <a:t>Eerste niveau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BE210D56-4E21-934F-8202-FD47D01F6AA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64313" y="2272145"/>
            <a:ext cx="5003800" cy="3965142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</p:spPr>
        <p:txBody>
          <a:bodyPr lIns="0" tIns="0" rIns="0" bIns="0">
            <a:noAutofit/>
          </a:bodyPr>
          <a:lstStyle>
            <a:lvl1pPr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6" name="Tijdelijke aanduiding voor dianummer 3">
            <a:extLst>
              <a:ext uri="{FF2B5EF4-FFF2-40B4-BE49-F238E27FC236}">
                <a16:creationId xmlns:a16="http://schemas.microsoft.com/office/drawing/2014/main" id="{00FD63E4-7A1F-3F45-BEA4-5214676296E8}"/>
              </a:ext>
            </a:extLst>
          </p:cNvPr>
          <p:cNvSpPr txBox="1">
            <a:spLocks/>
          </p:cNvSpPr>
          <p:nvPr userDrawn="1"/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chemeClr val="tx2"/>
                </a:solidFill>
                <a:latin typeface="ITC Officina Sans Std Book" panose="020B0506040203020204" pitchFamily="34" charset="77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9pPr>
          </a:lstStyle>
          <a:p>
            <a:fld id="{E038E271-308C-2E46-A3EC-56326F9084CC}" type="slidenum">
              <a:rPr lang="nl-BE" b="0" i="0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‹nr.›</a:t>
            </a:fld>
            <a:endParaRPr lang="nl-BE" b="0" i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/>
              <a:t>Quote</a:t>
            </a:r>
            <a:endParaRPr lang="en-BE" dirty="0"/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BE" sz="1600" b="0" i="0" dirty="0">
              <a:latin typeface="ITC Officina Sans Std Book" panose="020B0506040203020204" pitchFamily="34" charset="77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9ECB3C9-12BB-DD49-AC9C-6DE65FEA7E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550" cy="4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Picture Placeholder 24">
            <a:extLst>
              <a:ext uri="{FF2B5EF4-FFF2-40B4-BE49-F238E27FC236}">
                <a16:creationId xmlns:a16="http://schemas.microsoft.com/office/drawing/2014/main" id="{68654313-1537-5142-95BA-4A8661FBC4E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2596742" cy="5616575"/>
          </a:xfrm>
          <a:custGeom>
            <a:avLst/>
            <a:gdLst>
              <a:gd name="connsiteX0" fmla="*/ 0 w 2596742"/>
              <a:gd name="connsiteY0" fmla="*/ 0 h 5616575"/>
              <a:gd name="connsiteX1" fmla="*/ 2596742 w 2596742"/>
              <a:gd name="connsiteY1" fmla="*/ 0 h 5616575"/>
              <a:gd name="connsiteX2" fmla="*/ 2596742 w 2596742"/>
              <a:gd name="connsiteY2" fmla="*/ 5616575 h 5616575"/>
              <a:gd name="connsiteX3" fmla="*/ 253304 w 2596742"/>
              <a:gd name="connsiteY3" fmla="*/ 5616575 h 5616575"/>
              <a:gd name="connsiteX4" fmla="*/ 202263 w 2596742"/>
              <a:gd name="connsiteY4" fmla="*/ 5611430 h 5616575"/>
              <a:gd name="connsiteX5" fmla="*/ 0 w 259674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742" h="5616575">
                <a:moveTo>
                  <a:pt x="0" y="0"/>
                </a:moveTo>
                <a:lnTo>
                  <a:pt x="2596742" y="0"/>
                </a:lnTo>
                <a:lnTo>
                  <a:pt x="259674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breedbeeld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beel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001DE70-4479-594D-A26D-6DB2E92A0AF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2724" y="4184248"/>
            <a:ext cx="3434216" cy="2050586"/>
          </a:xfrm>
        </p:spPr>
        <p:txBody>
          <a:bodyPr lIns="0" tIns="0" rIns="0" bIns="0"/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67FEAD4B-4784-944D-8A3A-6F8F05B2424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9572" y="4184248"/>
            <a:ext cx="3444601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200DA6C-1B4D-7949-8FFA-3FD5A35A03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5016" y="4184248"/>
            <a:ext cx="3422523" cy="2053040"/>
          </a:xfrm>
        </p:spPr>
        <p:txBody>
          <a:bodyPr lIns="0" tIns="0" rIns="0" bIns="0"/>
          <a:lstStyle>
            <a:lvl1pPr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7770" y="3547641"/>
            <a:ext cx="345701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3711" y="3547641"/>
            <a:ext cx="3423828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35526" cy="522288"/>
          </a:xfrm>
        </p:spPr>
        <p:txBody>
          <a:bodyPr lIns="0" tIns="0" rIns="0" bIns="0">
            <a:normAutofit/>
          </a:bodyPr>
          <a:lstStyle>
            <a:lvl1pPr algn="l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3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106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8" y="643266"/>
            <a:ext cx="3447151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CEE21860-5FC5-0A4C-BF9F-FA989D78CD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466" y="4248036"/>
            <a:ext cx="3439464" cy="1989251"/>
          </a:xfrm>
        </p:spPr>
        <p:txBody>
          <a:bodyPr lIns="0" tIns="0" rIns="0" bIns="0"/>
          <a:lstStyle>
            <a:lvl1pPr algn="ctr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1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53126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16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25749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0" name="Tijdelijke aanduiding voor inhoud 19">
            <a:extLst>
              <a:ext uri="{FF2B5EF4-FFF2-40B4-BE49-F238E27FC236}">
                <a16:creationId xmlns:a16="http://schemas.microsoft.com/office/drawing/2014/main" id="{BAE77478-3281-CE4C-A99F-3E6F4A49E17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23177" y="4248037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2521" y="3725750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2" name="Tijdelijke aanduiding voor inhoud 19">
            <a:extLst>
              <a:ext uri="{FF2B5EF4-FFF2-40B4-BE49-F238E27FC236}">
                <a16:creationId xmlns:a16="http://schemas.microsoft.com/office/drawing/2014/main" id="{050AED9D-9374-024A-95E7-51259149F7B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70394" y="4226560"/>
            <a:ext cx="3439464" cy="1989251"/>
          </a:xfrm>
        </p:spPr>
        <p:txBody>
          <a:bodyPr lIns="0" tIns="0" rIns="0" bIns="0"/>
          <a:lstStyle>
            <a:lvl1pPr algn="ctr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69738" y="3704273"/>
            <a:ext cx="3440776" cy="522288"/>
          </a:xfrm>
        </p:spPr>
        <p:txBody>
          <a:bodyPr lIns="0" tIns="0" rIns="0" bIns="0">
            <a:normAutofit/>
          </a:bodyPr>
          <a:lstStyle>
            <a:lvl1pPr algn="ctr"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pictogra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inhoud 19">
            <a:extLst>
              <a:ext uri="{FF2B5EF4-FFF2-40B4-BE49-F238E27FC236}">
                <a16:creationId xmlns:a16="http://schemas.microsoft.com/office/drawing/2014/main" id="{A56CA53A-2F47-F94E-BBC9-739AF3FD799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39266" y="2133247"/>
            <a:ext cx="2406350" cy="1404432"/>
          </a:xfrm>
        </p:spPr>
        <p:txBody>
          <a:bodyPr lIns="0" tIns="0" rIns="0" bIns="0"/>
          <a:lstStyle>
            <a:lvl1pPr algn="l"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6" name="Tijdelijke aanduiding voor inhoud 19">
            <a:extLst>
              <a:ext uri="{FF2B5EF4-FFF2-40B4-BE49-F238E27FC236}">
                <a16:creationId xmlns:a16="http://schemas.microsoft.com/office/drawing/2014/main" id="{9D9A0FC3-0D38-0441-BB3C-75F8A95AF94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70977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8" name="Tijdelijke aanduiding voor inhoud 19">
            <a:extLst>
              <a:ext uri="{FF2B5EF4-FFF2-40B4-BE49-F238E27FC236}">
                <a16:creationId xmlns:a16="http://schemas.microsoft.com/office/drawing/2014/main" id="{2045FFF3-F25B-614B-A526-AC100D6B9B0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15080" y="2133247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14" name="Tijdelijke aanduiding voor inhoud 19">
            <a:extLst>
              <a:ext uri="{FF2B5EF4-FFF2-40B4-BE49-F238E27FC236}">
                <a16:creationId xmlns:a16="http://schemas.microsoft.com/office/drawing/2014/main" id="{0385125A-3379-2746-BD83-583F817C5CC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339266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6" name="Tijdelijke aanduiding voor inhoud 19">
            <a:extLst>
              <a:ext uri="{FF2B5EF4-FFF2-40B4-BE49-F238E27FC236}">
                <a16:creationId xmlns:a16="http://schemas.microsoft.com/office/drawing/2014/main" id="{2459C232-5B0E-134D-B9C4-9B40E0751E2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5070977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18" name="Tijdelijke aanduiding voor inhoud 19">
            <a:extLst>
              <a:ext uri="{FF2B5EF4-FFF2-40B4-BE49-F238E27FC236}">
                <a16:creationId xmlns:a16="http://schemas.microsoft.com/office/drawing/2014/main" id="{FA64A415-5531-2B4D-907A-7C688388BF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815080" y="4585989"/>
            <a:ext cx="2406350" cy="1404432"/>
          </a:xfrm>
        </p:spPr>
        <p:txBody>
          <a:bodyPr lIns="0" tIns="0" rIns="0" bIns="0"/>
          <a:lstStyle>
            <a:lvl1pPr algn="l">
              <a:defRPr lang="nl-BE" sz="16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Inhoud</a:t>
            </a:r>
            <a:endParaRPr lang="nl-BE" dirty="0"/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>
              <a:defRPr lang="nl-BE" sz="800" b="0" i="0" kern="1200" dirty="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om een witte afbeelding toe </a:t>
            </a:r>
            <a:r>
              <a:rPr lang="nl-NL" dirty="0" err="1"/>
              <a:t>tevoegen</a:t>
            </a:r>
            <a:r>
              <a:rPr lang="nl-NL" dirty="0"/>
              <a:t> (</a:t>
            </a:r>
            <a:r>
              <a:rPr lang="nl-NL" dirty="0" err="1"/>
              <a:t>png</a:t>
            </a:r>
            <a:r>
              <a:rPr lang="nl-NL" dirty="0"/>
              <a:t>)</a:t>
            </a:r>
            <a:endParaRPr lang="nl-BE" dirty="0"/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18742" cy="563562"/>
          </a:xfrm>
        </p:spPr>
        <p:txBody>
          <a:bodyPr lIns="0" tIns="0" rIns="0" bIns="0">
            <a:noAutofit/>
          </a:bodyPr>
          <a:lstStyle>
            <a:lvl1pPr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dirty="0"/>
              <a:t>Project titel</a:t>
            </a:r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grafieken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Klik op het pictogram als u een object wilt toevoegen</a:t>
            </a:r>
            <a:endParaRPr lang="nl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</p:spPr>
        <p:txBody>
          <a:bodyPr/>
          <a:lstStyle>
            <a:lvl1pPr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volvl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35C0A10-7AE5-B54C-981D-2DBA7B6F34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49850" y="1613587"/>
            <a:ext cx="1892300" cy="5334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el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3E52E258-A471-1A48-9273-7FE52ACD15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</a:t>
            </a:r>
            <a:r>
              <a:rPr lang="en-GB" dirty="0" err="1"/>
              <a:t>mastertitel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nl-B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GB" dirty="0" err="1"/>
              <a:t>Klik</a:t>
            </a:r>
            <a:r>
              <a:rPr lang="en-GB" dirty="0"/>
              <a:t> om de </a:t>
            </a:r>
            <a:r>
              <a:rPr lang="en-GB" dirty="0" err="1"/>
              <a:t>stijl</a:t>
            </a:r>
            <a:r>
              <a:rPr lang="en-GB" dirty="0"/>
              <a:t> van de master </a:t>
            </a:r>
            <a:r>
              <a:rPr lang="en-GB" dirty="0" err="1"/>
              <a:t>ondertitel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me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40E03AEB-DCFF-FA42-98DA-C3ACA4374F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en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beeldquote e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om een afbeelding wilt toevoegen</a:t>
            </a:r>
            <a:endParaRPr lang="nl-BE" dirty="0"/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Voornaam Naam</a:t>
            </a:r>
            <a:endParaRPr lang="nl-BE" dirty="0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Quote</a:t>
            </a:r>
            <a:endParaRPr lang="nl-BE" dirty="0"/>
          </a:p>
        </p:txBody>
      </p:sp>
      <p:pic>
        <p:nvPicPr>
          <p:cNvPr id="6" name="Afbeelding 4">
            <a:extLst>
              <a:ext uri="{FF2B5EF4-FFF2-40B4-BE49-F238E27FC236}">
                <a16:creationId xmlns:a16="http://schemas.microsoft.com/office/drawing/2014/main" id="{A0A6BFC5-0BDC-5046-9C6A-AAF1C2A72D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</a:t>
            </a:r>
            <a:endParaRPr lang="nl-BE" dirty="0"/>
          </a:p>
        </p:txBody>
      </p:sp>
      <p:sp>
        <p:nvSpPr>
          <p:cNvPr id="8" name="Tijdelijke aanduiding voor tekst 13">
            <a:extLst>
              <a:ext uri="{FF2B5EF4-FFF2-40B4-BE49-F238E27FC236}">
                <a16:creationId xmlns:a16="http://schemas.microsoft.com/office/drawing/2014/main" id="{FC89CC1E-5699-C54E-83AE-63F796F3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04479"/>
            <a:ext cx="10944226" cy="6210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nl-NL" dirty="0"/>
              <a:t>Ondertitel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0" name="Afbeelding 4">
            <a:extLst>
              <a:ext uri="{FF2B5EF4-FFF2-40B4-BE49-F238E27FC236}">
                <a16:creationId xmlns:a16="http://schemas.microsoft.com/office/drawing/2014/main" id="{B2CABEA2-6FA0-0245-B24A-C92832AA0D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3888" y="6429781"/>
            <a:ext cx="794485" cy="2239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3" r:id="rId9"/>
    <p:sldLayoutId id="2147484112" r:id="rId10"/>
    <p:sldLayoutId id="2147484102" r:id="rId11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rgbClr val="FF0000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740815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2pPr>
      <a:lvl3pPr marL="1090057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733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3pPr>
      <a:lvl4pPr marL="1454114" indent="-378875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4pPr>
      <a:lvl5pPr marL="1663658" indent="-22647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Verdana" charset="0"/>
          <a:ea typeface="Verdana" charset="0"/>
          <a:cs typeface="Verdana" charset="0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b-2025-2026.netlify.app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Bouwsteen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Bouwsteen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Bouwsteen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microsoft.com/office/2007/relationships/hdphoto" Target="../media/hdphoto2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Statistiek B – contactmoment 1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dirty="0"/>
              <a:t>Analysetechnieken</a:t>
            </a:r>
          </a:p>
          <a:p>
            <a:r>
              <a:rPr lang="nl-BE" dirty="0"/>
              <a:t>t-test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9D7D5-11ED-B94F-B3FF-72321C7F8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CE03B-4E38-E04D-860A-E6536083114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13" name="Tijdelijke aanduiding voor afbeelding 12" descr="Afbeelding met tekst, schermafbeelding&#10;&#10;Automatisch gegenereerde beschrijving">
            <a:extLst>
              <a:ext uri="{FF2B5EF4-FFF2-40B4-BE49-F238E27FC236}">
                <a16:creationId xmlns:a16="http://schemas.microsoft.com/office/drawing/2014/main" id="{B380940B-464A-3D4A-9D51-18C9EAA1A95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-25488" r="-25488"/>
          <a:stretch/>
        </p:blipFill>
        <p:spPr>
          <a:noFill/>
        </p:spPr>
      </p:pic>
      <p:pic>
        <p:nvPicPr>
          <p:cNvPr id="15" name="Tijdelijke aanduiding voor afbeelding 14">
            <a:extLst>
              <a:ext uri="{FF2B5EF4-FFF2-40B4-BE49-F238E27FC236}">
                <a16:creationId xmlns:a16="http://schemas.microsoft.com/office/drawing/2014/main" id="{19EE8D0B-EFB8-DF4E-A771-E7ED2DE62AC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15741" r="15741"/>
          <a:stretch>
            <a:fillRect/>
          </a:stretch>
        </p:blipFill>
        <p:spPr>
          <a:prstGeom prst="roundRect">
            <a:avLst>
              <a:gd name="adj" fmla="val 50000"/>
            </a:avLst>
          </a:prstGeom>
        </p:spPr>
      </p:pic>
      <p:pic>
        <p:nvPicPr>
          <p:cNvPr id="17" name="Tijdelijke aanduiding voor afbeelding 16">
            <a:extLst>
              <a:ext uri="{FF2B5EF4-FFF2-40B4-BE49-F238E27FC236}">
                <a16:creationId xmlns:a16="http://schemas.microsoft.com/office/drawing/2014/main" id="{8B125C63-E17C-4743-8DB7-1795A93F7971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7" b="47"/>
          <a:stretch>
            <a:fillRect/>
          </a:stretch>
        </p:blipFill>
        <p:spPr>
          <a:prstGeom prst="roundRect">
            <a:avLst>
              <a:gd name="adj" fmla="val 50000"/>
            </a:avLst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3FF37A-7607-954E-B668-B3051AFFDF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BE" dirty="0"/>
              <a:t>Praktisch</a:t>
            </a:r>
            <a:endParaRPr lang="en-B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58EBD4-6BC5-D844-98F0-F06FCADD0653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090C32-1664-AD4C-90CB-B21340D4B1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nl-BE" dirty="0"/>
              <a:t>t-test</a:t>
            </a:r>
            <a:endParaRPr lang="en-B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72CD1A8-D6A8-3C42-A93B-672CCFBA05C0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2DBBB3-1531-CD4F-90B1-1F37ABD2F58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l-BE" dirty="0"/>
              <a:t>Analysetechnieken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37111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Praktisch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Tijdelijke aanduiding voor afbeelding 6" descr="Afbeelding met tekst, schermafbeelding&#10;&#10;Automatisch gegenereerde beschrijving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9088" r="-19088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147286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D8DF1-6178-5849-B632-554ACD6A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Cursusmateriaal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53F53C1-B888-1B40-A030-01705EEA3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2E1BEEC-ECF9-3F45-91ED-957CE0F12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274320" indent="-274320"/>
            <a:r>
              <a:rPr lang="nl-BE" dirty="0"/>
              <a:t>Cursus website: </a:t>
            </a:r>
            <a:r>
              <a:rPr lang="nl-BE" dirty="0">
                <a:hlinkClick r:id="rId2"/>
              </a:rPr>
              <a:t>https://statb-2025-2026.netlify.app/</a:t>
            </a:r>
            <a:r>
              <a:rPr lang="nl-BE" dirty="0"/>
              <a:t> </a:t>
            </a:r>
          </a:p>
          <a:p>
            <a:pPr marL="274320" indent="-274320"/>
            <a:r>
              <a:rPr lang="nl-BE" dirty="0"/>
              <a:t>Open leerpakket (via ACCO)</a:t>
            </a:r>
            <a:endParaRPr lang="en-US" dirty="0"/>
          </a:p>
          <a:p>
            <a:pPr marL="740410" lvl="1" indent="-378460"/>
            <a:r>
              <a:rPr lang="nl-BE" dirty="0"/>
              <a:t>‘Bivariate en multivariate statistiek met R. Een openleerpakket.’  (De Maeyer, Coertjens en Ardies, 2012 )</a:t>
            </a:r>
          </a:p>
          <a:p>
            <a:pPr marL="740410" lvl="1" indent="-378460"/>
            <a:r>
              <a:rPr lang="nl-BE" dirty="0">
                <a:latin typeface="Calibri Light"/>
                <a:ea typeface="Verdana"/>
                <a:cs typeface="Calibri Light"/>
              </a:rPr>
              <a:t>Hoofdstuk 10 is herwerkt: </a:t>
            </a:r>
            <a:br>
              <a:rPr lang="nl-BE" dirty="0">
                <a:latin typeface="Calibri Light"/>
                <a:ea typeface="Verdana"/>
                <a:cs typeface="Calibri Light"/>
              </a:rPr>
            </a:br>
            <a:r>
              <a:rPr lang="nl-BE" i="1" dirty="0">
                <a:latin typeface="Calibri Light"/>
                <a:ea typeface="Verdana"/>
                <a:cs typeface="Calibri Light"/>
              </a:rPr>
              <a:t>Studiemateriaal &gt; Openleerpakket &gt; </a:t>
            </a:r>
            <a:r>
              <a:rPr lang="nl-BE" b="1" i="1" dirty="0">
                <a:solidFill>
                  <a:srgbClr val="92D050"/>
                </a:solidFill>
                <a:latin typeface="Calibri Light"/>
                <a:ea typeface="Verdana"/>
                <a:cs typeface="Calibri Light"/>
              </a:rPr>
              <a:t> Hoofdstuk 10 HERWERKT</a:t>
            </a:r>
            <a:endParaRPr lang="nl-BE" i="1" dirty="0">
              <a:latin typeface="Calibri Light"/>
              <a:ea typeface="Verdana"/>
              <a:cs typeface="Calibri Light"/>
            </a:endParaRPr>
          </a:p>
          <a:p>
            <a:pPr marL="740410" lvl="1" indent="-378460"/>
            <a:r>
              <a:rPr lang="nl-BE" dirty="0">
                <a:latin typeface="Calibri Light"/>
                <a:ea typeface="Verdana"/>
                <a:cs typeface="Calibri Light"/>
              </a:rPr>
              <a:t>Errata: </a:t>
            </a:r>
            <a:r>
              <a:rPr lang="nl-BE" i="1" dirty="0">
                <a:latin typeface="Calibri Light"/>
                <a:ea typeface="Calibri Light"/>
                <a:cs typeface="Calibri Light"/>
              </a:rPr>
              <a:t>Studiemateriaal &gt; </a:t>
            </a:r>
            <a:r>
              <a:rPr lang="nl-BE" i="1" dirty="0">
                <a:solidFill>
                  <a:srgbClr val="002E65"/>
                </a:solidFill>
                <a:latin typeface="Calibri Light"/>
                <a:ea typeface="Calibri Light"/>
                <a:cs typeface="Calibri Light"/>
              </a:rPr>
              <a:t>Openleerpakket &gt;</a:t>
            </a:r>
            <a:r>
              <a:rPr lang="nl-BE" i="1" dirty="0">
                <a:solidFill>
                  <a:srgbClr val="002E65"/>
                </a:solidFill>
                <a:latin typeface="Calibri Light"/>
                <a:ea typeface="Verdana"/>
                <a:cs typeface="Calibri Light"/>
              </a:rPr>
              <a:t> </a:t>
            </a:r>
            <a:r>
              <a:rPr lang="nl-BE" b="1" i="1" dirty="0">
                <a:solidFill>
                  <a:srgbClr val="92D050"/>
                </a:solidFill>
                <a:latin typeface="Calibri Light"/>
                <a:ea typeface="Verdana"/>
                <a:cs typeface="Calibri Light"/>
              </a:rPr>
              <a:t>Wijzigingen aan het openleerpakket</a:t>
            </a:r>
            <a:endParaRPr lang="nl-BE" i="1" dirty="0">
              <a:solidFill>
                <a:srgbClr val="92D050"/>
              </a:solidFill>
              <a:latin typeface="Calibri Light"/>
              <a:ea typeface="Verdana"/>
              <a:cs typeface="Calibri Light"/>
            </a:endParaRPr>
          </a:p>
          <a:p>
            <a:pPr marL="274320" indent="-274320"/>
            <a:r>
              <a:rPr lang="nl-BE" dirty="0"/>
              <a:t>Videolessen</a:t>
            </a:r>
          </a:p>
          <a:p>
            <a:pPr marL="274320" indent="-274320"/>
            <a:r>
              <a:rPr lang="nl-BE" dirty="0"/>
              <a:t>ZSO’s</a:t>
            </a:r>
          </a:p>
          <a:p>
            <a:pPr marL="0" indent="0">
              <a:buNone/>
            </a:pPr>
            <a:endParaRPr lang="nl-BE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18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D8DF1-6178-5849-B632-554ACD6A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Opbouw statistiek B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53F53C1-B888-1B40-A030-01705EEA3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E923AA64-A445-2A4A-9CC3-2B543CA8A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none" lIns="0" tIns="0" rIns="0" bIns="0" rtlCol="0" anchor="t">
            <a:noAutofit/>
          </a:bodyPr>
          <a:lstStyle/>
          <a:p>
            <a:pPr marL="274320" indent="-274320"/>
            <a:r>
              <a:rPr lang="nl-BE" dirty="0"/>
              <a:t>Voorbereid student is er 2 </a:t>
            </a:r>
            <a:r>
              <a:rPr lang="nl-BE" sz="1400" dirty="0"/>
              <a:t>(of meer)</a:t>
            </a:r>
            <a:r>
              <a:rPr lang="nl-BE" dirty="0"/>
              <a:t> waard</a:t>
            </a:r>
            <a:endParaRPr lang="en-US" dirty="0"/>
          </a:p>
          <a:p>
            <a:pPr marL="740410" lvl="1" indent="-378460"/>
            <a:r>
              <a:rPr lang="nl-BE" dirty="0"/>
              <a:t>Hoofdstukken uit OLP doornemen</a:t>
            </a:r>
          </a:p>
          <a:p>
            <a:pPr marL="740410" lvl="1" indent="-378460"/>
            <a:r>
              <a:rPr lang="nl-BE" dirty="0"/>
              <a:t>Videolessen bekijken</a:t>
            </a:r>
          </a:p>
          <a:p>
            <a:pPr marL="740410" lvl="1" indent="-378460"/>
            <a:r>
              <a:rPr lang="nl-BE" dirty="0"/>
              <a:t>Online (R) oefeningen maken</a:t>
            </a:r>
          </a:p>
          <a:p>
            <a:pPr marL="740410" lvl="1" indent="-378460"/>
            <a:r>
              <a:rPr lang="nl-BE" dirty="0"/>
              <a:t>ZSO’s van afgeronde hoofdstukken maken</a:t>
            </a:r>
          </a:p>
          <a:p>
            <a:pPr marL="740410" lvl="1" indent="-378460"/>
            <a:r>
              <a:rPr lang="nl-BE" dirty="0">
                <a:latin typeface="Calibri Light"/>
                <a:ea typeface="Verdana"/>
                <a:cs typeface="Calibri Light"/>
              </a:rPr>
              <a:t>Vragen -&gt; discussieforum</a:t>
            </a:r>
            <a:endParaRPr lang="nl-BE" dirty="0"/>
          </a:p>
          <a:p>
            <a:pPr marL="274320" indent="-274320"/>
            <a:r>
              <a:rPr lang="nl-BE" dirty="0"/>
              <a:t>Contactmoment:</a:t>
            </a:r>
          </a:p>
          <a:p>
            <a:pPr marL="740410" lvl="1" indent="-378460"/>
            <a:r>
              <a:rPr lang="nl-BE" dirty="0"/>
              <a:t>Korte herhaling</a:t>
            </a:r>
          </a:p>
          <a:p>
            <a:pPr marL="740410" lvl="1" indent="-378460"/>
            <a:r>
              <a:rPr lang="nl-BE" dirty="0"/>
              <a:t>Korte instructie leerinhoud voor dat contactmoment</a:t>
            </a:r>
          </a:p>
          <a:p>
            <a:pPr marL="740410" lvl="1" indent="-378460"/>
            <a:r>
              <a:rPr lang="nl-BE" dirty="0"/>
              <a:t>Oefenen!</a:t>
            </a:r>
          </a:p>
          <a:p>
            <a:pPr marL="274320" indent="-274320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1798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BA031A-5F7D-064D-A8C8-5FB3B9C4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Opbouw statistiek B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6DDF499-7528-8142-927B-A954DD9A1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6F0CEFCB-8C17-B246-9328-78167D4A2E76}"/>
                  </a:ext>
                </a:extLst>
              </p:cNvPr>
              <p:cNvSpPr txBox="1"/>
              <p:nvPr/>
            </p:nvSpPr>
            <p:spPr>
              <a:xfrm>
                <a:off x="8434763" y="737970"/>
                <a:ext cx="2601100" cy="425669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nl-BE" sz="28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≠</m:t>
                    </m:r>
                  </m:oMath>
                </a14:m>
                <a:r>
                  <a:rPr lang="nl-BE" sz="2800" b="1" dirty="0">
                    <a:solidFill>
                      <a:schemeClr val="accent1"/>
                    </a:solidFill>
                    <a:latin typeface="Gotham" panose="02000603040000020004" pitchFamily="2" charset="0"/>
                    <a:ea typeface="Verdana" panose="020B0604030504040204" pitchFamily="34" charset="0"/>
                    <a:cs typeface="Verdana" panose="020B0604030504040204" pitchFamily="34" charset="0"/>
                  </a:rPr>
                  <a:t> volgorde boek</a:t>
                </a:r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6F0CEFCB-8C17-B246-9328-78167D4A2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763" y="737970"/>
                <a:ext cx="2601100" cy="425669"/>
              </a:xfrm>
              <a:prstGeom prst="rect">
                <a:avLst/>
              </a:prstGeom>
              <a:blipFill>
                <a:blip r:embed="rId3"/>
                <a:stretch>
                  <a:fillRect l="-3865" t="-22222" r="-2415" b="-44444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5511BA17-1BA5-0640-93F0-A08D62B7D705}"/>
              </a:ext>
            </a:extLst>
          </p:cNvPr>
          <p:cNvCxnSpPr>
            <a:cxnSpLocks/>
          </p:cNvCxnSpPr>
          <p:nvPr/>
        </p:nvCxnSpPr>
        <p:spPr>
          <a:xfrm flipH="1">
            <a:off x="8071945" y="1163639"/>
            <a:ext cx="362818" cy="412749"/>
          </a:xfrm>
          <a:prstGeom prst="straightConnector1">
            <a:avLst/>
          </a:prstGeom>
          <a:ln w="190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Afbeelding 3">
            <a:extLst>
              <a:ext uri="{FF2B5EF4-FFF2-40B4-BE49-F238E27FC236}">
                <a16:creationId xmlns:a16="http://schemas.microsoft.com/office/drawing/2014/main" id="{9B66171B-B3F6-B832-B6A1-B405F0F0E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37" y="1706565"/>
            <a:ext cx="9096263" cy="438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1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D8DF1-6178-5849-B632-554ACD6A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Evaluatie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53F53C1-B888-1B40-A030-01705EEA3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13A8B5B-E409-3246-A1E2-639D2ABC9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Schriftelijk PC-examen in twee delen:</a:t>
            </a:r>
          </a:p>
          <a:p>
            <a:pPr lvl="1"/>
            <a:r>
              <a:rPr lang="nl-BE" dirty="0"/>
              <a:t>GESLOTEN DEEL (70%): focus op kennis, inzicht en output interpreteren</a:t>
            </a:r>
          </a:p>
          <a:p>
            <a:pPr lvl="1"/>
            <a:r>
              <a:rPr lang="nl-BE" dirty="0"/>
              <a:t>OPEN DEEL (30%):  focus op analyseren in R (~output genereren)</a:t>
            </a:r>
          </a:p>
          <a:p>
            <a:pPr lvl="1"/>
            <a:endParaRPr lang="nl-BE" dirty="0"/>
          </a:p>
          <a:p>
            <a:pPr marL="361940" lvl="1" indent="0">
              <a:buNone/>
            </a:pPr>
            <a:r>
              <a:rPr lang="nl-BE" i="1" dirty="0"/>
              <a:t>Je moet minimaal de helft halen op het gesloten deel om te kunnen slagen </a:t>
            </a:r>
          </a:p>
          <a:p>
            <a:pPr marL="361940" lvl="1" indent="0">
              <a:buNone/>
            </a:pPr>
            <a:r>
              <a:rPr lang="nl-BE" i="1" dirty="0"/>
              <a:t>voor Statistiek B. Anders bedraagt de score voor Statistiek B maximaal 8/20.</a:t>
            </a:r>
          </a:p>
          <a:p>
            <a:pPr marL="361940" lvl="1" indent="0">
              <a:buNone/>
            </a:pPr>
            <a:endParaRPr lang="nl-BE" i="1" dirty="0"/>
          </a:p>
          <a:p>
            <a:r>
              <a:rPr lang="nl-BE" dirty="0"/>
              <a:t>Voorbereiden?</a:t>
            </a:r>
          </a:p>
          <a:p>
            <a:pPr lvl="1"/>
            <a:r>
              <a:rPr lang="nl-BE" dirty="0"/>
              <a:t>Laatste sessies ~ proefexamen</a:t>
            </a:r>
          </a:p>
          <a:p>
            <a:pPr lvl="1"/>
            <a:r>
              <a:rPr lang="nl-BE" dirty="0"/>
              <a:t>Sc     ipt</a:t>
            </a:r>
          </a:p>
        </p:txBody>
      </p:sp>
      <p:pic>
        <p:nvPicPr>
          <p:cNvPr id="7" name="Picture 1" descr="a81dba592b932dc622b15ecb2e422e08.jpg.png">
            <a:extLst>
              <a:ext uri="{FF2B5EF4-FFF2-40B4-BE49-F238E27FC236}">
                <a16:creationId xmlns:a16="http://schemas.microsoft.com/office/drawing/2014/main" id="{E5162C96-A9B6-FA41-BA34-D3C0BB614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462" y="5688104"/>
            <a:ext cx="339232" cy="33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37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D81316-48F4-3243-8252-848624BF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Statistiek A?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8D48A9B-06E4-2248-BE0A-33A5710FA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26F0608-B8B4-E04E-8E0E-F6C4AFD5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We breiden uit…</a:t>
            </a:r>
          </a:p>
          <a:p>
            <a:pPr lvl="1"/>
            <a:r>
              <a:rPr lang="nl-BE" dirty="0"/>
              <a:t>Van “</a:t>
            </a:r>
            <a:r>
              <a:rPr lang="nl-BE" i="1" dirty="0"/>
              <a:t>Hoe hoog scoort een gemiddelde leerling in Vlaanderen op deze kennistest techniek?”</a:t>
            </a:r>
            <a:endParaRPr lang="nl-BE" dirty="0"/>
          </a:p>
          <a:p>
            <a:pPr lvl="1"/>
            <a:r>
              <a:rPr lang="nl-BE" dirty="0"/>
              <a:t>Naar “</a:t>
            </a:r>
            <a:r>
              <a:rPr lang="nl-BE" i="1" dirty="0"/>
              <a:t>Scoren jongens en meisjes anders op techniek?</a:t>
            </a:r>
            <a:r>
              <a:rPr lang="nl-BE" dirty="0"/>
              <a:t>”</a:t>
            </a:r>
          </a:p>
          <a:p>
            <a:pPr marL="361940" lvl="1" indent="0">
              <a:buNone/>
            </a:pPr>
            <a:endParaRPr lang="nl-BE" dirty="0"/>
          </a:p>
          <a:p>
            <a:r>
              <a:rPr lang="nl-BE" dirty="0"/>
              <a:t>Wat als je niet geslaagd bent voor statistiek A?</a:t>
            </a:r>
          </a:p>
          <a:p>
            <a:pPr lvl="1"/>
            <a:r>
              <a:rPr lang="nl-BE" dirty="0"/>
              <a:t>No worries! </a:t>
            </a:r>
            <a:r>
              <a:rPr lang="nl-BE" dirty="0">
                <a:sym typeface="Wingdings" pitchFamily="2" charset="2"/>
              </a:rPr>
              <a:t></a:t>
            </a:r>
            <a:endParaRPr lang="nl-BE" dirty="0"/>
          </a:p>
          <a:p>
            <a:pPr lvl="1"/>
            <a:r>
              <a:rPr lang="nl-BE" dirty="0"/>
              <a:t>Meetniveaus variabelen en z-scores!</a:t>
            </a:r>
          </a:p>
        </p:txBody>
      </p:sp>
    </p:spTree>
    <p:extLst>
      <p:ext uri="{BB962C8B-B14F-4D97-AF65-F5344CB8AC3E}">
        <p14:creationId xmlns:p14="http://schemas.microsoft.com/office/powerpoint/2010/main" val="720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Analysetechnieken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BE" i="1" dirty="0"/>
              <a:t>Hoe kies je de juiste analyse-</a:t>
            </a:r>
          </a:p>
          <a:p>
            <a:r>
              <a:rPr lang="nl-BE" i="1" dirty="0"/>
              <a:t>techniek?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29727" b="-29727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245471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3B6B2-C8ED-4F45-89B6-F509F021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Meetniveau 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6C938A8-A109-5948-8723-C5A208F37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/>
          </a:p>
        </p:txBody>
      </p:sp>
      <p:pic>
        <p:nvPicPr>
          <p:cNvPr id="6" name="Afbeelding 5" descr="Afbeelding met baksteen, bouwmateriaal, buiten, gebouw&#10;&#10;Automatisch gegenereerde beschrijving">
            <a:extLst>
              <a:ext uri="{FF2B5EF4-FFF2-40B4-BE49-F238E27FC236}">
                <a16:creationId xmlns:a16="http://schemas.microsoft.com/office/drawing/2014/main" id="{1BC2EBCA-8EA8-574C-B248-B152252E4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5868" y="1891204"/>
            <a:ext cx="5340132" cy="4005099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6E0DEF56-FEC6-4543-884F-782EBEEBEE4B}"/>
              </a:ext>
            </a:extLst>
          </p:cNvPr>
          <p:cNvSpPr txBox="1"/>
          <p:nvPr/>
        </p:nvSpPr>
        <p:spPr>
          <a:xfrm>
            <a:off x="3038925" y="3357724"/>
            <a:ext cx="2634693" cy="4194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Zittenblijven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C3EE844-B739-DB40-A8BA-A7C1228966C3}"/>
              </a:ext>
            </a:extLst>
          </p:cNvPr>
          <p:cNvSpPr txBox="1"/>
          <p:nvPr/>
        </p:nvSpPr>
        <p:spPr>
          <a:xfrm>
            <a:off x="3315574" y="5310278"/>
            <a:ext cx="2632239" cy="4887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Motivatie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B95C343-74D9-7143-8498-62AFFBD0B76E}"/>
              </a:ext>
            </a:extLst>
          </p:cNvPr>
          <p:cNvSpPr txBox="1"/>
          <p:nvPr/>
        </p:nvSpPr>
        <p:spPr>
          <a:xfrm>
            <a:off x="1912447" y="4753138"/>
            <a:ext cx="2632239" cy="4887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</p:spTree>
    <p:extLst>
      <p:ext uri="{BB962C8B-B14F-4D97-AF65-F5344CB8AC3E}">
        <p14:creationId xmlns:p14="http://schemas.microsoft.com/office/powerpoint/2010/main" val="427307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3B6B2-C8ED-4F45-89B6-F509F021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Meetniveau 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6C938A8-A109-5948-8723-C5A208F37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D5B4E3E-25A0-A945-8FD9-B39D9A594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5957" y="1412507"/>
            <a:ext cx="6060692" cy="4660279"/>
          </a:xfrm>
        </p:spPr>
        <p:txBody>
          <a:bodyPr/>
          <a:lstStyle/>
          <a:p>
            <a:endParaRPr lang="nl-BE" dirty="0"/>
          </a:p>
          <a:p>
            <a:r>
              <a:rPr lang="nl-BE" dirty="0"/>
              <a:t>Kwalitatieve variabelen</a:t>
            </a:r>
          </a:p>
          <a:p>
            <a:pPr lvl="1"/>
            <a:r>
              <a:rPr lang="nl-BE" dirty="0"/>
              <a:t>2 categorieën</a:t>
            </a:r>
          </a:p>
          <a:p>
            <a:pPr lvl="1"/>
            <a:endParaRPr lang="nl-BE" dirty="0"/>
          </a:p>
          <a:p>
            <a:pPr lvl="1"/>
            <a:r>
              <a:rPr lang="nl-BE" dirty="0"/>
              <a:t>3 of meer categorieën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r>
              <a:rPr lang="nl-BE" dirty="0"/>
              <a:t>Kwantitatieve variabelen</a:t>
            </a:r>
          </a:p>
        </p:txBody>
      </p:sp>
      <p:pic>
        <p:nvPicPr>
          <p:cNvPr id="6" name="Afbeelding 5" descr="Afbeelding met baksteen, bouwmateriaal, buiten, gebouw&#10;&#10;Automatisch gegenereerde beschrijving">
            <a:extLst>
              <a:ext uri="{FF2B5EF4-FFF2-40B4-BE49-F238E27FC236}">
                <a16:creationId xmlns:a16="http://schemas.microsoft.com/office/drawing/2014/main" id="{1BC2EBCA-8EA8-574C-B248-B152252E4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5868" y="1891204"/>
            <a:ext cx="5340132" cy="4005099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6E0DEF56-FEC6-4543-884F-782EBEEBEE4B}"/>
              </a:ext>
            </a:extLst>
          </p:cNvPr>
          <p:cNvSpPr txBox="1"/>
          <p:nvPr/>
        </p:nvSpPr>
        <p:spPr>
          <a:xfrm>
            <a:off x="3038925" y="3349787"/>
            <a:ext cx="2585336" cy="5382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Zittenblijven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C3EE844-B739-DB40-A8BA-A7C1228966C3}"/>
              </a:ext>
            </a:extLst>
          </p:cNvPr>
          <p:cNvSpPr txBox="1"/>
          <p:nvPr/>
        </p:nvSpPr>
        <p:spPr>
          <a:xfrm>
            <a:off x="3315574" y="5310278"/>
            <a:ext cx="2425864" cy="4887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Motivatie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B95C343-74D9-7143-8498-62AFFBD0B76E}"/>
              </a:ext>
            </a:extLst>
          </p:cNvPr>
          <p:cNvSpPr txBox="1"/>
          <p:nvPr/>
        </p:nvSpPr>
        <p:spPr>
          <a:xfrm>
            <a:off x="1912447" y="4753138"/>
            <a:ext cx="2671927" cy="4887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26F65C71-5A31-2E40-AA13-5385BADD7889}"/>
              </a:ext>
            </a:extLst>
          </p:cNvPr>
          <p:cNvSpPr/>
          <p:nvPr/>
        </p:nvSpPr>
        <p:spPr bwMode="auto">
          <a:xfrm>
            <a:off x="9317420" y="2427890"/>
            <a:ext cx="709448" cy="34684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371A272D-F062-ED43-854D-CB3838B31791}"/>
              </a:ext>
            </a:extLst>
          </p:cNvPr>
          <p:cNvSpPr/>
          <p:nvPr/>
        </p:nvSpPr>
        <p:spPr bwMode="auto">
          <a:xfrm>
            <a:off x="9317420" y="2774731"/>
            <a:ext cx="709448" cy="34684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F903284E-A454-B942-8F8B-A8353E7CA78F}"/>
              </a:ext>
            </a:extLst>
          </p:cNvPr>
          <p:cNvSpPr/>
          <p:nvPr/>
        </p:nvSpPr>
        <p:spPr bwMode="auto">
          <a:xfrm>
            <a:off x="10277371" y="3596563"/>
            <a:ext cx="709448" cy="34684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01128E7A-9831-D347-953B-FD26BE77E618}"/>
              </a:ext>
            </a:extLst>
          </p:cNvPr>
          <p:cNvSpPr/>
          <p:nvPr/>
        </p:nvSpPr>
        <p:spPr bwMode="auto">
          <a:xfrm>
            <a:off x="10277371" y="3943404"/>
            <a:ext cx="709448" cy="34684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3A5D3E3-27E4-9E48-B547-E313C140D6DE}"/>
              </a:ext>
            </a:extLst>
          </p:cNvPr>
          <p:cNvSpPr/>
          <p:nvPr/>
        </p:nvSpPr>
        <p:spPr bwMode="auto">
          <a:xfrm>
            <a:off x="10277371" y="4290245"/>
            <a:ext cx="709448" cy="346841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5B4FA8CF-9200-D640-9E26-5AEECA55F7EB}"/>
              </a:ext>
            </a:extLst>
          </p:cNvPr>
          <p:cNvSpPr txBox="1"/>
          <p:nvPr/>
        </p:nvSpPr>
        <p:spPr>
          <a:xfrm>
            <a:off x="9114151" y="2477091"/>
            <a:ext cx="1115986" cy="2779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Ja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55B26FE4-F0A1-BC43-9B99-231022F3A5D1}"/>
              </a:ext>
            </a:extLst>
          </p:cNvPr>
          <p:cNvSpPr txBox="1"/>
          <p:nvPr/>
        </p:nvSpPr>
        <p:spPr>
          <a:xfrm>
            <a:off x="9124660" y="2802915"/>
            <a:ext cx="1115986" cy="2779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Nee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976D059A-AC1B-1C44-B36F-AC5CE97A9065}"/>
              </a:ext>
            </a:extLst>
          </p:cNvPr>
          <p:cNvSpPr txBox="1"/>
          <p:nvPr/>
        </p:nvSpPr>
        <p:spPr>
          <a:xfrm>
            <a:off x="10026694" y="3347223"/>
            <a:ext cx="1822406" cy="2900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Onderwijsvorm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5484577A-C9FA-4F4C-A587-287542E87054}"/>
              </a:ext>
            </a:extLst>
          </p:cNvPr>
          <p:cNvSpPr/>
          <p:nvPr/>
        </p:nvSpPr>
        <p:spPr bwMode="auto">
          <a:xfrm>
            <a:off x="8471787" y="5381222"/>
            <a:ext cx="1132486" cy="501227"/>
          </a:xfrm>
          <a:prstGeom prst="rect">
            <a:avLst/>
          </a:prstGeom>
          <a:noFill/>
          <a:ln w="19050"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77AA5781-0211-D148-9C3D-B8286681EAAB}"/>
              </a:ext>
            </a:extLst>
          </p:cNvPr>
          <p:cNvSpPr txBox="1"/>
          <p:nvPr/>
        </p:nvSpPr>
        <p:spPr>
          <a:xfrm>
            <a:off x="8479695" y="5501393"/>
            <a:ext cx="1115986" cy="2779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1600" b="1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Motivatie</a:t>
            </a:r>
          </a:p>
        </p:txBody>
      </p:sp>
    </p:spTree>
    <p:extLst>
      <p:ext uri="{BB962C8B-B14F-4D97-AF65-F5344CB8AC3E}">
        <p14:creationId xmlns:p14="http://schemas.microsoft.com/office/powerpoint/2010/main" val="1178568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E9278-5040-B941-B5A0-88041AEF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Welke variabelen?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81B63F4-E131-9B4E-9DDE-5692CC74B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2580B5-A6E4-D741-B04E-086398992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b="0" i="1" dirty="0"/>
              <a:t>OV1) 	Kan attestering (a-attest, c-attest) in het 6de jaar ASO verklaard 	worden door sociale economische achtergrond (laag, midden, 	hoog)?</a:t>
            </a:r>
          </a:p>
          <a:p>
            <a:endParaRPr lang="nl-BE" b="0" i="1" dirty="0"/>
          </a:p>
          <a:p>
            <a:r>
              <a:rPr lang="nl-BE" b="0" i="1" dirty="0"/>
              <a:t>OV2)	Hangt de werkmotivatie van werknemers (schaalscore) samen 	met de bedrijfsgrootte (uitgedrukt in aantal werknemers)?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420C8E3-458F-824B-80E8-1D3C2E559262}"/>
              </a:ext>
            </a:extLst>
          </p:cNvPr>
          <p:cNvSpPr txBox="1"/>
          <p:nvPr/>
        </p:nvSpPr>
        <p:spPr>
          <a:xfrm>
            <a:off x="3563003" y="5431137"/>
            <a:ext cx="5628290" cy="776460"/>
          </a:xfrm>
          <a:prstGeom prst="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514350" indent="-514350" algn="r">
              <a:buAutoNum type="arabicPeriod"/>
            </a:pPr>
            <a:r>
              <a:rPr lang="nl-BE" sz="24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Wat zijn de variabelen?			   </a:t>
            </a:r>
          </a:p>
          <a:p>
            <a:pPr marL="514350" indent="-514350" algn="r">
              <a:buAutoNum type="arabicPeriod"/>
            </a:pPr>
            <a:r>
              <a:rPr lang="nl-BE" sz="24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Teken deze variabelen</a:t>
            </a:r>
            <a:r>
              <a:rPr lang="nl-BE" sz="28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			</a:t>
            </a:r>
          </a:p>
        </p:txBody>
      </p:sp>
      <p:pic>
        <p:nvPicPr>
          <p:cNvPr id="3074" name="Picture 2" descr="Afbeeldingsresultaat voor task">
            <a:extLst>
              <a:ext uri="{FF2B5EF4-FFF2-40B4-BE49-F238E27FC236}">
                <a16:creationId xmlns:a16="http://schemas.microsoft.com/office/drawing/2014/main" id="{8D502692-A423-6A41-ABA6-DD7A3C8B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959" y="5485143"/>
            <a:ext cx="663278" cy="66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84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97F50-3C58-1D44-B651-BB788E29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Relaties tussen variabelen?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B62A491-F879-C341-BF14-83A7C2453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00A4BDD-92F9-E341-B03C-76AAE0663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5" name="Afbeelding 4" descr="Afbeelding met baksteen, bouwmateriaal, buiten, gebouw&#10;&#10;Automatisch gegenereerde beschrijving">
            <a:extLst>
              <a:ext uri="{FF2B5EF4-FFF2-40B4-BE49-F238E27FC236}">
                <a16:creationId xmlns:a16="http://schemas.microsoft.com/office/drawing/2014/main" id="{6F511B14-5927-3A47-A438-80159693D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5570" y="1681916"/>
            <a:ext cx="3312291" cy="2484218"/>
          </a:xfrm>
          <a:prstGeom prst="rect">
            <a:avLst/>
          </a:prstGeom>
        </p:spPr>
      </p:pic>
      <p:pic>
        <p:nvPicPr>
          <p:cNvPr id="6" name="Picture 4" descr="Afbeeldingsresultaat voor toren van stenen">
            <a:extLst>
              <a:ext uri="{FF2B5EF4-FFF2-40B4-BE49-F238E27FC236}">
                <a16:creationId xmlns:a16="http://schemas.microsoft.com/office/drawing/2014/main" id="{145F0F5E-023B-F446-A6F2-2DFBBB4A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552" y="2673811"/>
            <a:ext cx="2634895" cy="395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Afbeeldingsresultaat voor pad van stenen">
            <a:extLst>
              <a:ext uri="{FF2B5EF4-FFF2-40B4-BE49-F238E27FC236}">
                <a16:creationId xmlns:a16="http://schemas.microsoft.com/office/drawing/2014/main" id="{6AD78818-5A96-5A46-B95F-533C469C0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613" y="2048613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103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EA5B56-00DC-6C4F-88F7-4CC701D3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Relaties tussen 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E984D24-F73D-3C49-8879-DF7B543A1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14</a:t>
            </a:fld>
            <a:endParaRPr lang="nl-BE" dirty="0"/>
          </a:p>
        </p:txBody>
      </p:sp>
      <p:graphicFrame>
        <p:nvGraphicFramePr>
          <p:cNvPr id="8" name="Tijdelijke aanduiding voor inhoud 7">
            <a:extLst>
              <a:ext uri="{FF2B5EF4-FFF2-40B4-BE49-F238E27FC236}">
                <a16:creationId xmlns:a16="http://schemas.microsoft.com/office/drawing/2014/main" id="{6D3643A6-D8CE-5E40-87E3-96F6B6B86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878992"/>
              </p:ext>
            </p:extLst>
          </p:nvPr>
        </p:nvGraphicFramePr>
        <p:xfrm>
          <a:off x="623888" y="1576388"/>
          <a:ext cx="10944225" cy="4660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898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D751B-B17B-E347-ACA6-C91E2028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Causale versus niet-causale verbanden (1)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26FFB1-4768-2D40-9C35-D9C9BECA1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15</a:t>
            </a:fld>
            <a:endParaRPr lang="nl-BE" dirty="0"/>
          </a:p>
        </p:txBody>
      </p:sp>
      <p:pic>
        <p:nvPicPr>
          <p:cNvPr id="4098" name="Picture 2" descr="Afbeeldingsresultaat voor causal relation cartoon">
            <a:extLst>
              <a:ext uri="{FF2B5EF4-FFF2-40B4-BE49-F238E27FC236}">
                <a16:creationId xmlns:a16="http://schemas.microsoft.com/office/drawing/2014/main" id="{8D1E3142-7332-FB48-984F-A854B4094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62"/>
          <a:stretch/>
        </p:blipFill>
        <p:spPr bwMode="auto">
          <a:xfrm>
            <a:off x="1681147" y="1986915"/>
            <a:ext cx="4180811" cy="2344843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fbeeldingsresultaat voor causal relation">
            <a:extLst>
              <a:ext uri="{FF2B5EF4-FFF2-40B4-BE49-F238E27FC236}">
                <a16:creationId xmlns:a16="http://schemas.microsoft.com/office/drawing/2014/main" id="{DB92A793-B0EA-2C42-934C-1A0C1F4C5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97" r="31636" b="34191"/>
          <a:stretch/>
        </p:blipFill>
        <p:spPr bwMode="auto">
          <a:xfrm>
            <a:off x="6827693" y="1986916"/>
            <a:ext cx="3734328" cy="2344844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072D765B-C710-E54F-B177-5B8E6F7FD3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891" b="61007" l="52154" r="60851"/>
                    </a14:imgEffect>
                  </a14:imgLayer>
                </a14:imgProps>
              </a:ext>
            </a:extLst>
          </a:blip>
          <a:srcRect l="51067" t="51877" r="38062" b="37979"/>
          <a:stretch/>
        </p:blipFill>
        <p:spPr>
          <a:xfrm>
            <a:off x="8172706" y="4331758"/>
            <a:ext cx="798086" cy="623429"/>
          </a:xfrm>
          <a:prstGeom prst="rect">
            <a:avLst/>
          </a:prstGeom>
        </p:spPr>
      </p:pic>
      <p:pic>
        <p:nvPicPr>
          <p:cNvPr id="9" name="Afbeelding 8" descr="Afbeelding met tafel&#10;&#10;Automatisch gegenereerde beschrijving">
            <a:extLst>
              <a:ext uri="{FF2B5EF4-FFF2-40B4-BE49-F238E27FC236}">
                <a16:creationId xmlns:a16="http://schemas.microsoft.com/office/drawing/2014/main" id="{00689949-B69A-2944-9303-436B09AB9BF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1705" b="60820" l="1173" r="10553"/>
                    </a14:imgEffect>
                  </a14:imgLayer>
                </a14:imgProps>
              </a:ext>
            </a:extLst>
          </a:blip>
          <a:srcRect t="50566" r="88275" b="38041"/>
          <a:stretch/>
        </p:blipFill>
        <p:spPr>
          <a:xfrm>
            <a:off x="3212793" y="4242674"/>
            <a:ext cx="915636" cy="744816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CE51E9B2-5EF8-7C40-A80A-F081B45AE546}"/>
              </a:ext>
            </a:extLst>
          </p:cNvPr>
          <p:cNvSpPr txBox="1"/>
          <p:nvPr/>
        </p:nvSpPr>
        <p:spPr>
          <a:xfrm>
            <a:off x="3563003" y="5390041"/>
            <a:ext cx="5628290" cy="776460"/>
          </a:xfrm>
          <a:prstGeom prst="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BE" sz="24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Causaal?			  </a:t>
            </a:r>
            <a:r>
              <a:rPr lang="nl-BE" sz="28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78801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D751B-B17B-E347-ACA6-C91E2028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Causale versus niet-causale verbanden (2)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26FFB1-4768-2D40-9C35-D9C9BECA1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334D2F-9218-5642-B135-9297A746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Niet-causale verbanden = associaties zonder causaliteit</a:t>
            </a:r>
          </a:p>
          <a:p>
            <a:pPr marL="361940" lvl="1" indent="0">
              <a:buNone/>
            </a:pPr>
            <a:r>
              <a:rPr lang="nl-BE" u="sng" dirty="0"/>
              <a:t>Herkennen in OV</a:t>
            </a:r>
            <a:r>
              <a:rPr lang="nl-BE" dirty="0"/>
              <a:t>? </a:t>
            </a:r>
            <a:r>
              <a:rPr lang="nl-BE" i="1" dirty="0"/>
              <a:t>samenhang, geassocieerd met, …</a:t>
            </a:r>
          </a:p>
          <a:p>
            <a:pPr marL="361940" lvl="1" indent="0">
              <a:buNone/>
            </a:pPr>
            <a:r>
              <a:rPr lang="nl-BE" u="sng" dirty="0"/>
              <a:t>Tekenen</a:t>
            </a:r>
            <a:r>
              <a:rPr lang="nl-BE" dirty="0"/>
              <a:t>?</a:t>
            </a:r>
          </a:p>
          <a:p>
            <a:pPr marL="0" indent="0">
              <a:buNone/>
            </a:pPr>
            <a:endParaRPr lang="nl-BE" sz="4000" dirty="0"/>
          </a:p>
          <a:p>
            <a:r>
              <a:rPr lang="nl-BE" dirty="0"/>
              <a:t>Causale verbanden = associaties in termen van oorzaak </a:t>
            </a:r>
            <a:r>
              <a:rPr lang="nl-BE" sz="1800" dirty="0"/>
              <a:t>(</a:t>
            </a:r>
            <a:r>
              <a:rPr lang="nl-BE" sz="1800" i="1" dirty="0"/>
              <a:t>onafhankelijke var.</a:t>
            </a:r>
            <a:r>
              <a:rPr lang="nl-BE" sz="1800" dirty="0"/>
              <a:t>)</a:t>
            </a:r>
            <a:r>
              <a:rPr lang="nl-BE" dirty="0"/>
              <a:t> en 		            gevolg </a:t>
            </a:r>
            <a:r>
              <a:rPr lang="nl-BE" sz="1800" dirty="0"/>
              <a:t>(</a:t>
            </a:r>
            <a:r>
              <a:rPr lang="nl-BE" sz="1800" i="1" dirty="0"/>
              <a:t>afhankelijke var.</a:t>
            </a:r>
            <a:r>
              <a:rPr lang="nl-BE" sz="1800" dirty="0"/>
              <a:t>)</a:t>
            </a:r>
          </a:p>
          <a:p>
            <a:pPr marL="361940" lvl="1" indent="0">
              <a:buNone/>
            </a:pPr>
            <a:r>
              <a:rPr lang="nl-BE" u="sng" dirty="0"/>
              <a:t>Herkennen in OV</a:t>
            </a:r>
            <a:r>
              <a:rPr lang="nl-BE" dirty="0"/>
              <a:t>? </a:t>
            </a:r>
            <a:r>
              <a:rPr lang="nl-BE" i="1" dirty="0"/>
              <a:t>effect, impact, voorspellen, verklaren, …</a:t>
            </a:r>
          </a:p>
          <a:p>
            <a:pPr marL="361940" lvl="1" indent="0">
              <a:buNone/>
            </a:pPr>
            <a:r>
              <a:rPr lang="nl-BE" u="sng" dirty="0"/>
              <a:t>Tekenen</a:t>
            </a:r>
            <a:r>
              <a:rPr lang="nl-BE" dirty="0"/>
              <a:t>?</a:t>
            </a:r>
          </a:p>
        </p:txBody>
      </p:sp>
      <p:pic>
        <p:nvPicPr>
          <p:cNvPr id="12" name="Picture 2" descr="Schermafbeelding 2017-02-12 om 11.22.04.png">
            <a:extLst>
              <a:ext uri="{FF2B5EF4-FFF2-40B4-BE49-F238E27FC236}">
                <a16:creationId xmlns:a16="http://schemas.microsoft.com/office/drawing/2014/main" id="{5AD5C5C2-6D43-3345-9C83-9789851C8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332" y="2619867"/>
            <a:ext cx="4119562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" descr="Schermafbeelding 2017-02-12 om 11.20.40.png">
            <a:extLst>
              <a:ext uri="{FF2B5EF4-FFF2-40B4-BE49-F238E27FC236}">
                <a16:creationId xmlns:a16="http://schemas.microsoft.com/office/drawing/2014/main" id="{7073A409-3E02-DA4D-8112-E09CCFDE1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800" y="5280991"/>
            <a:ext cx="3675062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522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3B0193-AAFE-124D-8F7C-2DA7E89B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Complexere verbanden: controle 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4CF3220-72D7-AD4A-810F-15B4A7989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85B0221-6DE4-124B-84F4-C49D8224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Bijvoorbeeld:</a:t>
            </a:r>
          </a:p>
          <a:p>
            <a:pPr marL="361940" lvl="1" indent="0">
              <a:buNone/>
            </a:pPr>
            <a:r>
              <a:rPr lang="nl-BE" altLang="nl-BE" i="1" dirty="0"/>
              <a:t>Heeft het aantal uren dat een leerling studeert voor een toets een invloed op de scores voor die toets, </a:t>
            </a:r>
            <a:r>
              <a:rPr lang="nl-BE" altLang="nl-BE" i="1" u="sng" dirty="0"/>
              <a:t>ongeacht het IQ van de leerling</a:t>
            </a:r>
            <a:r>
              <a:rPr lang="nl-BE" altLang="nl-BE" i="1" dirty="0"/>
              <a:t>?</a:t>
            </a:r>
          </a:p>
          <a:p>
            <a:pPr marL="361940" lvl="1" indent="0">
              <a:buNone/>
            </a:pPr>
            <a:endParaRPr lang="nl-BE" i="1" dirty="0"/>
          </a:p>
          <a:p>
            <a:r>
              <a:rPr lang="nl-BE" dirty="0"/>
              <a:t>Om oneigenlijke verbanden uit te sluiten </a:t>
            </a:r>
            <a:r>
              <a:rPr lang="nl-BE" sz="1800" dirty="0"/>
              <a:t>(~interne validiteit, zie IMT!)</a:t>
            </a:r>
          </a:p>
          <a:p>
            <a:pPr marL="361940" lvl="1" indent="0">
              <a:spcBef>
                <a:spcPts val="0"/>
              </a:spcBef>
              <a:buNone/>
            </a:pPr>
            <a:r>
              <a:rPr lang="nl-BE" u="sng" dirty="0"/>
              <a:t>Herkennen in OV</a:t>
            </a:r>
            <a:r>
              <a:rPr lang="nl-BE" dirty="0"/>
              <a:t>? </a:t>
            </a:r>
            <a:r>
              <a:rPr lang="nl-BE" i="1" dirty="0"/>
              <a:t>Wat is het effect van X op Y, ongeacht Z;</a:t>
            </a:r>
          </a:p>
          <a:p>
            <a:pPr marL="361940" lvl="1" indent="0">
              <a:spcBef>
                <a:spcPts val="0"/>
              </a:spcBef>
              <a:buNone/>
            </a:pPr>
            <a:r>
              <a:rPr lang="nl-BE" i="1" dirty="0"/>
              <a:t>					rekening houdend met Z;</a:t>
            </a:r>
          </a:p>
          <a:p>
            <a:pPr marL="361940" lvl="1" indent="0">
              <a:spcBef>
                <a:spcPts val="0"/>
              </a:spcBef>
              <a:buNone/>
            </a:pPr>
            <a:r>
              <a:rPr lang="nl-BE" i="1" dirty="0"/>
              <a:t>					controlerend voor Z?</a:t>
            </a:r>
          </a:p>
          <a:p>
            <a:pPr marL="361940" lvl="1" indent="0">
              <a:buNone/>
            </a:pPr>
            <a:r>
              <a:rPr lang="nl-BE" u="sng" dirty="0"/>
              <a:t>Tekenen</a:t>
            </a:r>
            <a:r>
              <a:rPr lang="nl-BE" dirty="0"/>
              <a:t>?</a:t>
            </a:r>
          </a:p>
          <a:p>
            <a:pPr lvl="1"/>
            <a:endParaRPr lang="nl-BE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8CB5DC1-DE36-714C-8E45-A45E59F47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752" y="5005126"/>
            <a:ext cx="3521370" cy="152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7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32A76-0594-8E46-A3FD-22B07DCD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Complexere verbanden: interactie tussen variabelen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FBDDDAB-DF21-5244-8B15-C997CE371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7B18C7D-5787-6442-B931-BD8B7B29B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Bijvoorbeeld:</a:t>
            </a:r>
            <a:endParaRPr lang="nl-BE" b="0" dirty="0"/>
          </a:p>
          <a:p>
            <a:pPr marL="361940" lvl="1" indent="0">
              <a:buNone/>
            </a:pPr>
            <a:r>
              <a:rPr lang="nl-BE" altLang="nl-BE" i="1" dirty="0"/>
              <a:t>Is het verband tussen het aantal studieuren en de toetsscore </a:t>
            </a:r>
            <a:r>
              <a:rPr lang="nl-BE" altLang="nl-BE" i="1" u="sng" dirty="0"/>
              <a:t>afhankelijk van het IQ van een leerling</a:t>
            </a:r>
            <a:r>
              <a:rPr lang="nl-BE" altLang="nl-BE" i="1" dirty="0"/>
              <a:t>?</a:t>
            </a:r>
          </a:p>
          <a:p>
            <a:endParaRPr lang="nl-BE" dirty="0"/>
          </a:p>
          <a:p>
            <a:r>
              <a:rPr lang="nl-BE" dirty="0"/>
              <a:t>Om complexere relaties in kaart te brengen</a:t>
            </a:r>
          </a:p>
          <a:p>
            <a:pPr marL="361940" lvl="1" indent="0">
              <a:spcBef>
                <a:spcPts val="0"/>
              </a:spcBef>
              <a:buNone/>
            </a:pPr>
            <a:r>
              <a:rPr lang="nl-BE" u="sng" dirty="0"/>
              <a:t>Herkennen in OV</a:t>
            </a:r>
            <a:r>
              <a:rPr lang="nl-BE" dirty="0"/>
              <a:t>? </a:t>
            </a:r>
            <a:r>
              <a:rPr lang="nl-BE" i="1" dirty="0"/>
              <a:t>Is het effect van X op Y… afhankelijk van Z; 					                             hetzelfde/identiek voor … als voor …?</a:t>
            </a:r>
          </a:p>
          <a:p>
            <a:pPr marL="361940" lvl="1" indent="0">
              <a:buNone/>
            </a:pPr>
            <a:r>
              <a:rPr lang="nl-BE" u="sng" dirty="0"/>
              <a:t>Tekenen</a:t>
            </a:r>
            <a:r>
              <a:rPr lang="nl-BE" dirty="0"/>
              <a:t>?</a:t>
            </a:r>
          </a:p>
          <a:p>
            <a:pPr marL="0" indent="0">
              <a:buNone/>
            </a:pPr>
            <a:endParaRPr lang="nl-BE" b="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666D142-CEC6-9648-99AE-7CCF19507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7" t="13310" r="43794" b="14407"/>
          <a:stretch/>
        </p:blipFill>
        <p:spPr bwMode="auto">
          <a:xfrm>
            <a:off x="2475652" y="4687354"/>
            <a:ext cx="4445410" cy="183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8021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D751B-B17B-E347-ACA6-C91E2028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gepaste techniek kiezen?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26FFB1-4768-2D40-9C35-D9C9BECA1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D79EB22-04B3-164C-9B2A-B4996B6CE7A8}"/>
              </a:ext>
            </a:extLst>
          </p:cNvPr>
          <p:cNvSpPr/>
          <p:nvPr/>
        </p:nvSpPr>
        <p:spPr bwMode="auto">
          <a:xfrm>
            <a:off x="6779172" y="2349062"/>
            <a:ext cx="5234152" cy="399011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334D2F-9218-5642-B135-9297A746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BE" dirty="0"/>
              <a:t>Teken je onderzoeksvraag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/>
              <a:t>Gebruik de flowcharts in het OLP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0F9E53A-3854-2C4C-83F1-91D35A907FDC}"/>
              </a:ext>
            </a:extLst>
          </p:cNvPr>
          <p:cNvSpPr/>
          <p:nvPr/>
        </p:nvSpPr>
        <p:spPr bwMode="auto">
          <a:xfrm>
            <a:off x="4177862" y="3216166"/>
            <a:ext cx="930166" cy="42566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4FF37-B5A9-2848-BFC1-26D5D8B96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0" t="17896" r="13396" b="16260"/>
          <a:stretch>
            <a:fillRect/>
          </a:stretch>
        </p:blipFill>
        <p:spPr bwMode="auto">
          <a:xfrm>
            <a:off x="6931081" y="2489473"/>
            <a:ext cx="4956556" cy="374781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07B7672-5535-0C42-B1DD-0187BCCAF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2" r="8952" b="5644"/>
          <a:stretch/>
        </p:blipFill>
        <p:spPr>
          <a:xfrm>
            <a:off x="609390" y="2629173"/>
            <a:ext cx="5486610" cy="346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83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32E22-44CB-BF4C-B981-0E466176B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258D65E-CF8D-C446-998C-18BAB280D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7A4CC58-AD3A-B846-8B1A-D222086CD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altLang="nl-BE" b="0" i="1" dirty="0"/>
              <a:t>OV1)	Scoren meisjes anders op wiskunde dan jongens?</a:t>
            </a:r>
          </a:p>
          <a:p>
            <a:r>
              <a:rPr lang="nl-BE" altLang="nl-BE" b="0" i="1" dirty="0"/>
              <a:t>OV2)	In welke mate hangt sociaal-economische status (</a:t>
            </a:r>
            <a:r>
              <a:rPr lang="nl-BE" altLang="en-GB" b="0" i="1" dirty="0"/>
              <a:t>‘</a:t>
            </a:r>
            <a:r>
              <a:rPr lang="nl-BE" altLang="nl-BE" b="0" i="1" dirty="0"/>
              <a:t>laag</a:t>
            </a:r>
            <a:r>
              <a:rPr lang="nl-BE" altLang="en-GB" b="0" i="1" dirty="0"/>
              <a:t>’</a:t>
            </a:r>
            <a:r>
              <a:rPr lang="nl-BE" altLang="nl-BE" b="0" i="1" dirty="0"/>
              <a:t>, </a:t>
            </a:r>
            <a:r>
              <a:rPr lang="nl-BE" altLang="en-GB" b="0" i="1" dirty="0"/>
              <a:t>‘</a:t>
            </a:r>
            <a:r>
              <a:rPr lang="nl-BE" altLang="nl-BE" b="0" i="1" dirty="0"/>
              <a:t>midden</a:t>
            </a:r>
            <a:r>
              <a:rPr lang="nl-BE" altLang="en-GB" b="0" i="1" dirty="0"/>
              <a:t>’</a:t>
            </a:r>
            <a:r>
              <a:rPr lang="nl-BE" altLang="nl-BE" b="0" i="1" dirty="0"/>
              <a:t>, 	</a:t>
            </a:r>
            <a:r>
              <a:rPr lang="nl-BE" altLang="en-GB" b="0" i="1" dirty="0"/>
              <a:t>‘</a:t>
            </a:r>
            <a:r>
              <a:rPr lang="nl-BE" altLang="nl-BE" b="0" i="1" dirty="0"/>
              <a:t>hoog</a:t>
            </a:r>
            <a:r>
              <a:rPr lang="nl-BE" altLang="en-GB" b="0" i="1" dirty="0"/>
              <a:t>’</a:t>
            </a:r>
            <a:r>
              <a:rPr lang="nl-BE" altLang="nl-BE" b="0" i="1" dirty="0"/>
              <a:t>) samen met al dan niet bijscholing krijgen?</a:t>
            </a:r>
          </a:p>
          <a:p>
            <a:r>
              <a:rPr lang="nl-BE" altLang="nl-BE" b="0" i="1" dirty="0"/>
              <a:t>OV3)	Is de invloed van zelfeffectiviteit op wiskundescores (schaalscore) 	anders naargelang studiemotivatie (schaalscore) van de leerling, 	ongeacht het geslacht?</a:t>
            </a:r>
          </a:p>
          <a:p>
            <a:pPr>
              <a:lnSpc>
                <a:spcPct val="80000"/>
              </a:lnSpc>
              <a:buFontTx/>
              <a:buNone/>
            </a:pPr>
            <a:endParaRPr lang="nl-BE" altLang="nl-BE" b="0" dirty="0"/>
          </a:p>
          <a:p>
            <a:pPr>
              <a:lnSpc>
                <a:spcPct val="80000"/>
              </a:lnSpc>
              <a:buFontTx/>
              <a:buNone/>
            </a:pPr>
            <a:endParaRPr lang="nl-BE" altLang="nl-BE" b="0" dirty="0"/>
          </a:p>
          <a:p>
            <a:endParaRPr lang="nl-BE" b="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11FBE12-60A4-054B-805A-58590828D26A}"/>
              </a:ext>
            </a:extLst>
          </p:cNvPr>
          <p:cNvSpPr txBox="1"/>
          <p:nvPr/>
        </p:nvSpPr>
        <p:spPr>
          <a:xfrm>
            <a:off x="3563003" y="5379764"/>
            <a:ext cx="5628290" cy="776460"/>
          </a:xfrm>
          <a:prstGeom prst="rect">
            <a:avLst/>
          </a:prstGeom>
          <a:solidFill>
            <a:schemeClr val="bg1">
              <a:lumMod val="65000"/>
              <a:alpha val="44000"/>
            </a:schemeClr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514350" indent="-514350" algn="r">
              <a:buAutoNum type="arabicPeriod"/>
            </a:pPr>
            <a:r>
              <a:rPr lang="nl-BE" sz="24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Teken de onderzoeksvraag		   </a:t>
            </a:r>
          </a:p>
          <a:p>
            <a:pPr marL="514350" indent="-514350" algn="r">
              <a:buAutoNum type="arabicPeriod"/>
            </a:pPr>
            <a:r>
              <a:rPr lang="nl-BE" sz="2400" b="1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Kies de gepaste techniek			</a:t>
            </a:r>
            <a:endParaRPr lang="nl-BE" sz="2800" b="1" i="1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2" descr="Afbeeldingsresultaat voor task">
            <a:extLst>
              <a:ext uri="{FF2B5EF4-FFF2-40B4-BE49-F238E27FC236}">
                <a16:creationId xmlns:a16="http://schemas.microsoft.com/office/drawing/2014/main" id="{F4A6EBC1-C3FF-2842-815F-D14A61948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959" y="5433770"/>
            <a:ext cx="663278" cy="66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754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21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4575" b="-4575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68929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9B13793-9192-464F-BC6D-C6C025837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BBB4E847-CA46-4B43-8402-9585CBA5399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5578" y="4161695"/>
            <a:ext cx="3444601" cy="2053040"/>
          </a:xfrm>
        </p:spPr>
        <p:txBody>
          <a:bodyPr/>
          <a:lstStyle/>
          <a:p>
            <a:r>
              <a:rPr lang="nl-BE" b="1" dirty="0"/>
              <a:t>EFFECT VAN EDUCATIEVE CAMPAGNE?</a:t>
            </a:r>
          </a:p>
          <a:p>
            <a:r>
              <a:rPr lang="nl-BE" dirty="0"/>
              <a:t>Meting van </a:t>
            </a:r>
            <a:r>
              <a:rPr lang="nl-BE" dirty="0">
                <a:solidFill>
                  <a:schemeClr val="accent5"/>
                </a:solidFill>
              </a:rPr>
              <a:t>hoeveelheid huishoudelijk afval (in kg)</a:t>
            </a:r>
            <a:r>
              <a:rPr lang="nl-BE" dirty="0"/>
              <a:t> bij </a:t>
            </a:r>
            <a:r>
              <a:rPr lang="nl-BE" dirty="0">
                <a:solidFill>
                  <a:schemeClr val="accent6"/>
                </a:solidFill>
              </a:rPr>
              <a:t>100 gezinnen voor </a:t>
            </a:r>
            <a:r>
              <a:rPr lang="nl-BE" dirty="0"/>
              <a:t>de campagne en meting bij </a:t>
            </a:r>
            <a:r>
              <a:rPr lang="nl-BE" dirty="0">
                <a:solidFill>
                  <a:schemeClr val="accent6"/>
                </a:solidFill>
              </a:rPr>
              <a:t>dezelfde 100  gezinnen nadat</a:t>
            </a:r>
            <a:r>
              <a:rPr lang="nl-BE" dirty="0"/>
              <a:t> de campagne een maand gelopen heeft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E2AE1A1-8EE5-3B4B-98B1-256E6D5F6E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83776" y="3525088"/>
            <a:ext cx="3457018" cy="522288"/>
          </a:xfrm>
        </p:spPr>
        <p:txBody>
          <a:bodyPr/>
          <a:lstStyle/>
          <a:p>
            <a:pPr algn="ctr"/>
            <a:r>
              <a:rPr lang="nl-BE" dirty="0"/>
              <a:t>Studie 2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646A9F58-7D11-7F4C-BE7B-0B5977E9C0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7108" y="3547641"/>
            <a:ext cx="3435526" cy="522288"/>
          </a:xfrm>
        </p:spPr>
        <p:txBody>
          <a:bodyPr/>
          <a:lstStyle/>
          <a:p>
            <a:pPr algn="ctr"/>
            <a:r>
              <a:rPr lang="nl-BE" dirty="0"/>
              <a:t>Studie 1</a:t>
            </a:r>
          </a:p>
        </p:txBody>
      </p:sp>
      <p:pic>
        <p:nvPicPr>
          <p:cNvPr id="18" name="Tijdelijke aanduiding voor afbeelding 17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81C034DB-A01C-8842-935E-B04FBAADFC5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-101405" r="-101405"/>
          <a:stretch/>
        </p:blipFill>
        <p:spPr>
          <a:xfrm>
            <a:off x="797107" y="643266"/>
            <a:ext cx="3447151" cy="2447925"/>
          </a:xfrm>
        </p:spPr>
      </p:pic>
      <p:pic>
        <p:nvPicPr>
          <p:cNvPr id="22" name="Tijdelijke aanduiding voor afbeelding 21">
            <a:extLst>
              <a:ext uri="{FF2B5EF4-FFF2-40B4-BE49-F238E27FC236}">
                <a16:creationId xmlns:a16="http://schemas.microsoft.com/office/drawing/2014/main" id="{EB270A86-CDD1-F945-A9D7-C00BD978FEB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t="-21701" b="-21701"/>
          <a:stretch/>
        </p:blipFill>
        <p:spPr>
          <a:xfrm>
            <a:off x="7497763" y="620713"/>
            <a:ext cx="3446462" cy="2447925"/>
          </a:xfrm>
        </p:spPr>
      </p:pic>
      <p:sp>
        <p:nvSpPr>
          <p:cNvPr id="19" name="Tijdelijke aanduiding voor inhoud 18">
            <a:extLst>
              <a:ext uri="{FF2B5EF4-FFF2-40B4-BE49-F238E27FC236}">
                <a16:creationId xmlns:a16="http://schemas.microsoft.com/office/drawing/2014/main" id="{CD8C8B69-1605-1B43-9B6A-F831E25AAF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7108" y="4184248"/>
            <a:ext cx="3434216" cy="2050586"/>
          </a:xfrm>
        </p:spPr>
        <p:txBody>
          <a:bodyPr/>
          <a:lstStyle/>
          <a:p>
            <a:r>
              <a:rPr lang="nl-BE" b="1" dirty="0"/>
              <a:t>EFFECT VAN OPLEIDING?</a:t>
            </a:r>
          </a:p>
          <a:p>
            <a:r>
              <a:rPr lang="nl-BE" dirty="0"/>
              <a:t>Vergelijking van </a:t>
            </a:r>
            <a:r>
              <a:rPr lang="nl-BE" dirty="0">
                <a:solidFill>
                  <a:schemeClr val="accent5"/>
                </a:solidFill>
              </a:rPr>
              <a:t>hoeveelheid huishoudelijk afval (in kg) </a:t>
            </a:r>
            <a:r>
              <a:rPr lang="nl-BE" dirty="0"/>
              <a:t>geproduceerd door </a:t>
            </a:r>
            <a:r>
              <a:rPr lang="nl-BE" dirty="0">
                <a:solidFill>
                  <a:schemeClr val="accent6"/>
                </a:solidFill>
              </a:rPr>
              <a:t>100 gezinnen die training volgden</a:t>
            </a:r>
            <a:r>
              <a:rPr lang="nl-BE" dirty="0"/>
              <a:t> en </a:t>
            </a:r>
            <a:r>
              <a:rPr lang="nl-BE" dirty="0">
                <a:solidFill>
                  <a:schemeClr val="accent6"/>
                </a:solidFill>
              </a:rPr>
              <a:t>100 willekeurig gekozen gezinnen </a:t>
            </a:r>
            <a:r>
              <a:rPr lang="nl-BE" dirty="0"/>
              <a:t>uit dezelfde populatie</a:t>
            </a:r>
          </a:p>
          <a:p>
            <a:endParaRPr lang="nl-BE" dirty="0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B02F02DF-45CE-E441-BAC5-2BA4E59CE51B}"/>
              </a:ext>
            </a:extLst>
          </p:cNvPr>
          <p:cNvSpPr/>
          <p:nvPr/>
        </p:nvSpPr>
        <p:spPr>
          <a:xfrm rot="19798170">
            <a:off x="697425" y="851305"/>
            <a:ext cx="120577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Opleiding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C6C3F8E6-3F15-9044-959E-FA66E904D24D}"/>
              </a:ext>
            </a:extLst>
          </p:cNvPr>
          <p:cNvSpPr/>
          <p:nvPr/>
        </p:nvSpPr>
        <p:spPr>
          <a:xfrm>
            <a:off x="8505775" y="574372"/>
            <a:ext cx="129073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Campagne</a:t>
            </a:r>
          </a:p>
        </p:txBody>
      </p:sp>
    </p:spTree>
    <p:extLst>
      <p:ext uri="{BB962C8B-B14F-4D97-AF65-F5344CB8AC3E}">
        <p14:creationId xmlns:p14="http://schemas.microsoft.com/office/powerpoint/2010/main" val="2661406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9B13793-9192-464F-BC6D-C6C025837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E2AE1A1-8EE5-3B4B-98B1-256E6D5F6E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83776" y="3525088"/>
            <a:ext cx="3457018" cy="522288"/>
          </a:xfrm>
        </p:spPr>
        <p:txBody>
          <a:bodyPr/>
          <a:lstStyle/>
          <a:p>
            <a:pPr algn="ctr"/>
            <a:r>
              <a:rPr lang="nl-BE" dirty="0"/>
              <a:t>Studie 2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646A9F58-7D11-7F4C-BE7B-0B5977E9C0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7382" y="3547641"/>
            <a:ext cx="3435526" cy="522288"/>
          </a:xfrm>
        </p:spPr>
        <p:txBody>
          <a:bodyPr/>
          <a:lstStyle/>
          <a:p>
            <a:pPr algn="ctr"/>
            <a:r>
              <a:rPr lang="nl-BE" dirty="0"/>
              <a:t>Studie 1</a:t>
            </a:r>
          </a:p>
        </p:txBody>
      </p:sp>
      <p:pic>
        <p:nvPicPr>
          <p:cNvPr id="18" name="Tijdelijke aanduiding voor afbeelding 17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81C034DB-A01C-8842-935E-B04FBAADFC5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-101405" r="-101405"/>
          <a:stretch/>
        </p:blipFill>
        <p:spPr>
          <a:xfrm>
            <a:off x="807381" y="643266"/>
            <a:ext cx="3447151" cy="2447925"/>
          </a:xfrm>
        </p:spPr>
      </p:pic>
      <p:pic>
        <p:nvPicPr>
          <p:cNvPr id="22" name="Tijdelijke aanduiding voor afbeelding 21">
            <a:extLst>
              <a:ext uri="{FF2B5EF4-FFF2-40B4-BE49-F238E27FC236}">
                <a16:creationId xmlns:a16="http://schemas.microsoft.com/office/drawing/2014/main" id="{EB270A86-CDD1-F945-A9D7-C00BD978FEB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/>
          <a:srcRect t="-21701" b="-21701"/>
          <a:stretch/>
        </p:blipFill>
        <p:spPr>
          <a:xfrm>
            <a:off x="7497763" y="620713"/>
            <a:ext cx="3446462" cy="2447925"/>
          </a:xfrm>
        </p:spPr>
      </p:pic>
      <p:sp>
        <p:nvSpPr>
          <p:cNvPr id="20" name="Rechthoek 19">
            <a:extLst>
              <a:ext uri="{FF2B5EF4-FFF2-40B4-BE49-F238E27FC236}">
                <a16:creationId xmlns:a16="http://schemas.microsoft.com/office/drawing/2014/main" id="{B02F02DF-45CE-E441-BAC5-2BA4E59CE51B}"/>
              </a:ext>
            </a:extLst>
          </p:cNvPr>
          <p:cNvSpPr/>
          <p:nvPr/>
        </p:nvSpPr>
        <p:spPr>
          <a:xfrm rot="19798170">
            <a:off x="738518" y="851305"/>
            <a:ext cx="120577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Opleiding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C6C3F8E6-3F15-9044-959E-FA66E904D24D}"/>
              </a:ext>
            </a:extLst>
          </p:cNvPr>
          <p:cNvSpPr/>
          <p:nvPr/>
        </p:nvSpPr>
        <p:spPr>
          <a:xfrm>
            <a:off x="8505775" y="574372"/>
            <a:ext cx="129073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Campagne</a:t>
            </a:r>
          </a:p>
        </p:txBody>
      </p:sp>
      <p:pic>
        <p:nvPicPr>
          <p:cNvPr id="8" name="Afbeelding 7" descr="Afbeelding met tafel&#10;&#10;Automatisch gegenereerde beschrijving">
            <a:extLst>
              <a:ext uri="{FF2B5EF4-FFF2-40B4-BE49-F238E27FC236}">
                <a16:creationId xmlns:a16="http://schemas.microsoft.com/office/drawing/2014/main" id="{EABB7856-4800-434E-907A-9BA75DA3B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81" y="4267295"/>
            <a:ext cx="3457018" cy="130111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80040202-6094-2747-A38B-5271B3CB3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523" y="4267295"/>
            <a:ext cx="3495290" cy="1301110"/>
          </a:xfrm>
          <a:prstGeom prst="rect">
            <a:avLst/>
          </a:prstGeom>
        </p:spPr>
      </p:pic>
      <p:sp>
        <p:nvSpPr>
          <p:cNvPr id="27" name="TextBox 13">
            <a:extLst>
              <a:ext uri="{FF2B5EF4-FFF2-40B4-BE49-F238E27FC236}">
                <a16:creationId xmlns:a16="http://schemas.microsoft.com/office/drawing/2014/main" id="{69E83CBD-56B5-5947-B947-73A68C828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1818" y="5858581"/>
            <a:ext cx="30607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nl-BE" altLang="nl-BE" sz="1400" i="1" dirty="0">
                <a:solidFill>
                  <a:schemeClr val="accent1"/>
                </a:solidFill>
                <a:latin typeface="Times New Roman" panose="02020603050405020304" pitchFamily="18" charset="0"/>
              </a:rPr>
              <a:t>Deze zou je eventueel zo kunnen visualiseren, maar eigenlijk gaat het 2 maal om kg afval (kg voor en kg na)</a:t>
            </a:r>
            <a:endParaRPr lang="en-US" altLang="nl-BE" sz="1400" i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22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A8F41-451C-FC40-9179-6377A8A7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2 vormen van t-test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1C7604C-2E8C-9745-A880-7F79AA100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2BCB91F-3CCB-6E44-8FBF-4D95A3263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Independent samples design</a:t>
            </a:r>
          </a:p>
          <a:p>
            <a:pPr lvl="1"/>
            <a:r>
              <a:rPr lang="nl-BE" altLang="nl-BE" dirty="0"/>
              <a:t>Respondenten Conditie 1 </a:t>
            </a:r>
            <a:r>
              <a:rPr lang="nl-BE" altLang="nl-BE" dirty="0">
                <a:solidFill>
                  <a:schemeClr val="accent5"/>
                </a:solidFill>
              </a:rPr>
              <a:t>≠</a:t>
            </a:r>
            <a:r>
              <a:rPr lang="nl-BE" altLang="nl-BE" dirty="0"/>
              <a:t> respondenten Conditie 2</a:t>
            </a:r>
          </a:p>
          <a:p>
            <a:pPr marL="361940" lvl="1" indent="0">
              <a:buNone/>
            </a:pPr>
            <a:r>
              <a:rPr lang="nl-BE" altLang="nl-BE" dirty="0"/>
              <a:t>	=&gt; Independent samples t-test</a:t>
            </a:r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Repeated measures design</a:t>
            </a:r>
          </a:p>
          <a:p>
            <a:pPr lvl="1"/>
            <a:r>
              <a:rPr lang="nl-BE" dirty="0"/>
              <a:t>Respondenten Conditie 1 </a:t>
            </a:r>
            <a:r>
              <a:rPr lang="nl-BE" dirty="0">
                <a:solidFill>
                  <a:schemeClr val="accent5"/>
                </a:solidFill>
              </a:rPr>
              <a:t>=</a:t>
            </a:r>
            <a:r>
              <a:rPr lang="nl-BE" dirty="0"/>
              <a:t> respondenten Conditie 2</a:t>
            </a:r>
          </a:p>
          <a:p>
            <a:pPr marL="361940" lvl="1" indent="0">
              <a:buNone/>
            </a:pPr>
            <a:r>
              <a:rPr lang="nl-BE" altLang="nl-BE" dirty="0"/>
              <a:t>	=&gt; Paired-samples t-test</a:t>
            </a:r>
          </a:p>
          <a:p>
            <a:pPr marL="361940" lvl="1" indent="0">
              <a:buNone/>
            </a:pPr>
            <a:endParaRPr lang="nl-BE" dirty="0"/>
          </a:p>
        </p:txBody>
      </p:sp>
      <p:pic>
        <p:nvPicPr>
          <p:cNvPr id="7" name="Afbeelding 6" descr="Afbeelding met tekst, whiteboard&#10;&#10;Automatisch gegenereerde beschrijving">
            <a:extLst>
              <a:ext uri="{FF2B5EF4-FFF2-40B4-BE49-F238E27FC236}">
                <a16:creationId xmlns:a16="http://schemas.microsoft.com/office/drawing/2014/main" id="{731BD477-6590-754B-A461-264324362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493" y="1412507"/>
            <a:ext cx="818134" cy="176544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FACA934-67DC-7046-B73F-F4E73F17D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601" y="4514127"/>
            <a:ext cx="1760943" cy="87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23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1E8C3-5799-2947-8A40-FD2B3378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nagaan of er een effect is?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1E6A4D5-A140-524B-BC28-E704EB522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25</a:t>
            </a:fld>
            <a:endParaRPr lang="nl-BE" dirty="0"/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011CB4D8-8422-D140-BE83-5E46FEC64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567" y="3090840"/>
            <a:ext cx="5663594" cy="213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04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1E8C3-5799-2947-8A40-FD2B3378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nagaan of er een effect is?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1E6A4D5-A140-524B-BC28-E704EB522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9D9906E-A200-D74A-A5AE-C243A1E3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Gemiddeldes vergelijken</a:t>
            </a:r>
          </a:p>
          <a:p>
            <a:r>
              <a:rPr lang="nl-BE" dirty="0"/>
              <a:t>Betrouwbaarheidsintervallen rond gemiddelde!</a:t>
            </a:r>
          </a:p>
        </p:txBody>
      </p:sp>
      <p:pic>
        <p:nvPicPr>
          <p:cNvPr id="5" name="Afbeelding 4" descr="Afbeelding met tafel&#10;&#10;Automatisch gegenereerde beschrijving">
            <a:extLst>
              <a:ext uri="{FF2B5EF4-FFF2-40B4-BE49-F238E27FC236}">
                <a16:creationId xmlns:a16="http://schemas.microsoft.com/office/drawing/2014/main" id="{011CB4D8-8422-D140-BE83-5E46FEC64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567" y="3090840"/>
            <a:ext cx="5663594" cy="213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35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B4A07-4B1D-6148-864A-2128D82F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Hoe nagaan of er een effect is?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271935D-EAC2-6C43-9D51-D7537FB0C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D2FC9E5-30AD-1946-9B1B-FEBBD6D82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nl-BE" altLang="nl-BE" sz="1400" dirty="0">
                <a:latin typeface="Courier New" panose="02070309020205020404" pitchFamily="49" charset="0"/>
              </a:rPr>
              <a:t>&gt; </a:t>
            </a:r>
            <a:r>
              <a:rPr lang="nl-BE" altLang="nl-BE" sz="1400" dirty="0">
                <a:solidFill>
                  <a:srgbClr val="0000FF"/>
                </a:solidFill>
                <a:latin typeface="Courier New" panose="02070309020205020404" pitchFamily="49" charset="0"/>
              </a:rPr>
              <a:t>tapply(Afval$Afval.in.kg, Afval$Conditie, mean)</a:t>
            </a:r>
          </a:p>
          <a:p>
            <a:pPr marL="0" indent="0">
              <a:buFontTx/>
              <a:buNone/>
            </a:pPr>
            <a:r>
              <a:rPr lang="nl-BE" altLang="nl-BE" sz="1400" dirty="0">
                <a:solidFill>
                  <a:srgbClr val="0000FF"/>
                </a:solidFill>
                <a:latin typeface="Courier New" panose="02070309020205020404" pitchFamily="49" charset="0"/>
              </a:rPr>
              <a:t>  </a:t>
            </a:r>
            <a:r>
              <a:rPr lang="nl-BE" altLang="nl-BE" sz="1400" dirty="0">
                <a:latin typeface="Courier New" panose="02070309020205020404" pitchFamily="49" charset="0"/>
              </a:rPr>
              <a:t>    Controle conditie    Experimentele conditie  </a:t>
            </a:r>
          </a:p>
          <a:p>
            <a:pPr marL="0" indent="0">
              <a:buFontTx/>
              <a:buNone/>
            </a:pPr>
            <a:r>
              <a:rPr lang="nl-BE" altLang="nl-BE" sz="1400" dirty="0">
                <a:latin typeface="Courier New" panose="02070309020205020404" pitchFamily="49" charset="0"/>
              </a:rPr>
              <a:t>               10.32127                  </a:t>
            </a:r>
            <a:r>
              <a:rPr lang="nl-BE" altLang="nl-BE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12.06773</a:t>
            </a:r>
            <a:r>
              <a:rPr lang="nl-BE" altLang="nl-BE" sz="1400" dirty="0">
                <a:latin typeface="Courier New" panose="020703090202050204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nl-BE" altLang="nl-BE" sz="1400" dirty="0">
                <a:latin typeface="Courier New" panose="02070309020205020404" pitchFamily="49" charset="0"/>
              </a:rPr>
              <a:t>&gt; </a:t>
            </a:r>
            <a:r>
              <a:rPr lang="nl-BE" altLang="nl-BE" sz="1400" dirty="0">
                <a:solidFill>
                  <a:srgbClr val="0000FF"/>
                </a:solidFill>
                <a:latin typeface="Courier New" panose="02070309020205020404" pitchFamily="49" charset="0"/>
              </a:rPr>
              <a:t>errorbar(Afval$Afval.in.kg ~ Afval$Conditie,</a:t>
            </a:r>
          </a:p>
          <a:p>
            <a:pPr marL="0" indent="0">
              <a:buFontTx/>
              <a:buNone/>
            </a:pPr>
            <a:r>
              <a:rPr lang="nl-BE" altLang="nl-BE" sz="1400" dirty="0">
                <a:latin typeface="Courier New" panose="02070309020205020404" pitchFamily="49" charset="0"/>
              </a:rPr>
              <a:t>          </a:t>
            </a:r>
            <a:r>
              <a:rPr lang="nl-BE" altLang="nl-BE" sz="1400" dirty="0">
                <a:solidFill>
                  <a:srgbClr val="0000FF"/>
                </a:solidFill>
                <a:latin typeface="Courier New" panose="02070309020205020404" pitchFamily="49" charset="0"/>
              </a:rPr>
              <a:t>xlab = "Conditie",</a:t>
            </a:r>
          </a:p>
          <a:p>
            <a:pPr marL="0" indent="0">
              <a:buFontTx/>
              <a:buNone/>
            </a:pPr>
            <a:r>
              <a:rPr lang="nl-BE" altLang="nl-BE" sz="1400" dirty="0">
                <a:latin typeface="Courier New" panose="02070309020205020404" pitchFamily="49" charset="0"/>
              </a:rPr>
              <a:t>          </a:t>
            </a:r>
            <a:r>
              <a:rPr lang="nl-BE" altLang="nl-BE" sz="1400" dirty="0">
                <a:solidFill>
                  <a:srgbClr val="0000FF"/>
                </a:solidFill>
                <a:latin typeface="Courier New" panose="02070309020205020404" pitchFamily="49" charset="0"/>
              </a:rPr>
              <a:t>ylab = "Afval in kg”,</a:t>
            </a:r>
          </a:p>
          <a:p>
            <a:pPr marL="0" indent="0">
              <a:buFontTx/>
              <a:buNone/>
            </a:pPr>
            <a:r>
              <a:rPr lang="nl-BE" altLang="nl-BE" sz="1400">
                <a:solidFill>
                  <a:srgbClr val="0000FF"/>
                </a:solidFill>
                <a:latin typeface="Courier New" panose="02070309020205020404" pitchFamily="49" charset="0"/>
              </a:rPr>
              <a:t>          </a:t>
            </a:r>
            <a:r>
              <a:rPr lang="nl-BE" altLang="nl-BE" sz="1400" dirty="0">
                <a:solidFill>
                  <a:srgbClr val="0000FF"/>
                </a:solidFill>
                <a:latin typeface="Courier New" panose="02070309020205020404" pitchFamily="49" charset="0"/>
              </a:rPr>
              <a:t>ylim = c(9,15</a:t>
            </a:r>
            <a:r>
              <a:rPr lang="nl-BE" altLang="nl-BE" sz="1400">
                <a:solidFill>
                  <a:srgbClr val="0000FF"/>
                </a:solidFill>
                <a:latin typeface="Courier New" panose="02070309020205020404" pitchFamily="49" charset="0"/>
              </a:rPr>
              <a:t>))</a:t>
            </a:r>
            <a:r>
              <a:rPr lang="nl-BE" altLang="nl-BE" sz="1600" dirty="0">
                <a:latin typeface="Courier New" panose="02070309020205020404" pitchFamily="49" charset="0"/>
              </a:rPr>
              <a:t>	</a:t>
            </a:r>
            <a:endParaRPr lang="nl-NL" altLang="nl-BE" sz="1600" dirty="0"/>
          </a:p>
          <a:p>
            <a:pPr marL="0" indent="0">
              <a:buNone/>
            </a:pPr>
            <a:endParaRPr lang="nl-B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D729B80-8E20-A942-AA0B-DFA0A8B6913E}"/>
              </a:ext>
            </a:extLst>
          </p:cNvPr>
          <p:cNvSpPr txBox="1"/>
          <p:nvPr/>
        </p:nvSpPr>
        <p:spPr>
          <a:xfrm>
            <a:off x="8398186" y="4533880"/>
            <a:ext cx="3268507" cy="2046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nl-BE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endParaRPr lang="nl-BE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2936AC2B-E0BD-6842-879C-740EA4A9FCC0}"/>
              </a:ext>
            </a:extLst>
          </p:cNvPr>
          <p:cNvSpPr txBox="1"/>
          <p:nvPr/>
        </p:nvSpPr>
        <p:spPr>
          <a:xfrm>
            <a:off x="10295093" y="1911565"/>
            <a:ext cx="1413219" cy="596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4400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DUS?</a:t>
            </a:r>
          </a:p>
        </p:txBody>
      </p:sp>
      <p:pic>
        <p:nvPicPr>
          <p:cNvPr id="5" name="Afbeelding 5">
            <a:extLst>
              <a:ext uri="{FF2B5EF4-FFF2-40B4-BE49-F238E27FC236}">
                <a16:creationId xmlns:a16="http://schemas.microsoft.com/office/drawing/2014/main" id="{0253F674-C4AF-4B9D-B0F0-863E89165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63" y="2513600"/>
            <a:ext cx="6460793" cy="40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84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AC17B-61D9-7A40-80D2-F1B4E121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kan er aan de hand zijn?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71B730-3A57-A247-9559-6BD5A8464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28</a:t>
            </a:fld>
            <a:endParaRPr lang="nl-B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B7791DD-7BED-414B-B81E-31B9871B9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1577009"/>
            <a:ext cx="4673600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652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4B9B5-7D30-BB4C-B044-F61D51C31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 ene fout is de andere niet…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FA9A2F8-DC19-EA41-BD81-89CEC791A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29</a:t>
            </a:fld>
            <a:endParaRPr lang="nl-BE" dirty="0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5B5836DB-C39A-8E41-BF3E-625BA5AE1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405832"/>
              </p:ext>
            </p:extLst>
          </p:nvPr>
        </p:nvGraphicFramePr>
        <p:xfrm>
          <a:off x="1068724" y="1630371"/>
          <a:ext cx="9276326" cy="4424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204">
                  <a:extLst>
                    <a:ext uri="{9D8B030D-6E8A-4147-A177-3AD203B41FA5}">
                      <a16:colId xmlns:a16="http://schemas.microsoft.com/office/drawing/2014/main" val="2205526260"/>
                    </a:ext>
                  </a:extLst>
                </a:gridCol>
                <a:gridCol w="1913676">
                  <a:extLst>
                    <a:ext uri="{9D8B030D-6E8A-4147-A177-3AD203B41FA5}">
                      <a16:colId xmlns:a16="http://schemas.microsoft.com/office/drawing/2014/main" val="1342297470"/>
                    </a:ext>
                  </a:extLst>
                </a:gridCol>
                <a:gridCol w="3330223">
                  <a:extLst>
                    <a:ext uri="{9D8B030D-6E8A-4147-A177-3AD203B41FA5}">
                      <a16:colId xmlns:a16="http://schemas.microsoft.com/office/drawing/2014/main" val="4051104574"/>
                    </a:ext>
                  </a:extLst>
                </a:gridCol>
                <a:gridCol w="3330223">
                  <a:extLst>
                    <a:ext uri="{9D8B030D-6E8A-4147-A177-3AD203B41FA5}">
                      <a16:colId xmlns:a16="http://schemas.microsoft.com/office/drawing/2014/main" val="2661376492"/>
                    </a:ext>
                  </a:extLst>
                </a:gridCol>
              </a:tblGrid>
              <a:tr h="501894">
                <a:tc gridSpan="2"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nl-BE" sz="2800" dirty="0">
                          <a:solidFill>
                            <a:schemeClr val="tx1"/>
                          </a:solidFill>
                        </a:rPr>
                        <a:t>Brandalarm gaat al dan niet af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613567"/>
                  </a:ext>
                </a:extLst>
              </a:tr>
              <a:tr h="493133">
                <a:tc gridSpan="2"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i="1" dirty="0"/>
                        <a:t>Niets aan de hand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i="1" dirty="0"/>
                        <a:t>     Er is brand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058625"/>
                  </a:ext>
                </a:extLst>
              </a:tr>
              <a:tr h="1706441">
                <a:tc rowSpan="2">
                  <a:txBody>
                    <a:bodyPr/>
                    <a:lstStyle/>
                    <a:p>
                      <a:pPr algn="ctr"/>
                      <a:r>
                        <a:rPr lang="nl-BE" sz="3200" b="1" dirty="0"/>
                        <a:t>Realiteit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4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😴</a:t>
                      </a:r>
                      <a:endParaRPr lang="nl-BE" sz="4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4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😡</a:t>
                      </a:r>
                      <a:endParaRPr lang="nl-BE" sz="48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682411"/>
                  </a:ext>
                </a:extLst>
              </a:tr>
              <a:tr h="1706441">
                <a:tc vMerge="1">
                  <a:txBody>
                    <a:bodyPr/>
                    <a:lstStyle/>
                    <a:p>
                      <a:endParaRPr lang="nl-BE" dirty="0"/>
                    </a:p>
                    <a:p>
                      <a:endParaRPr lang="nl-BE" dirty="0"/>
                    </a:p>
                    <a:p>
                      <a:endParaRPr lang="nl-BE" dirty="0"/>
                    </a:p>
                    <a:p>
                      <a:endParaRPr lang="nl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4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😱</a:t>
                      </a:r>
                      <a:endParaRPr lang="nl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4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☎️🚒</a:t>
                      </a:r>
                      <a:endParaRPr lang="nl-BE" sz="48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129402"/>
                  </a:ext>
                </a:extLst>
              </a:tr>
            </a:tbl>
          </a:graphicData>
        </a:graphic>
      </p:graphicFrame>
      <p:pic>
        <p:nvPicPr>
          <p:cNvPr id="11" name="Picture 2" descr="Afbeeldingsresultaat voor tekening huis">
            <a:extLst>
              <a:ext uri="{FF2B5EF4-FFF2-40B4-BE49-F238E27FC236}">
                <a16:creationId xmlns:a16="http://schemas.microsoft.com/office/drawing/2014/main" id="{29287B2F-DDF7-3E4A-8BD4-72A44338A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546" y="4653046"/>
            <a:ext cx="1349681" cy="113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Afbeeldingsresultaat voor vuur">
            <a:extLst>
              <a:ext uri="{FF2B5EF4-FFF2-40B4-BE49-F238E27FC236}">
                <a16:creationId xmlns:a16="http://schemas.microsoft.com/office/drawing/2014/main" id="{ADCBCB0A-3D98-FB4A-8896-8363ACF007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3" t="17626" r="11614" b="20541"/>
          <a:stretch/>
        </p:blipFill>
        <p:spPr bwMode="auto">
          <a:xfrm>
            <a:off x="2150869" y="4583600"/>
            <a:ext cx="1125667" cy="115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Afbeeldingsresultaat voor tekening huis">
            <a:extLst>
              <a:ext uri="{FF2B5EF4-FFF2-40B4-BE49-F238E27FC236}">
                <a16:creationId xmlns:a16="http://schemas.microsoft.com/office/drawing/2014/main" id="{1D839640-7218-2A49-A85A-7A0A947CD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174" y="2915478"/>
            <a:ext cx="1349681" cy="113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05070082-9D04-CF43-B59C-013D2786A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61" y="1481953"/>
            <a:ext cx="419261" cy="41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856AA505-2F51-4C41-96DE-D6ADB6377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366" y="1390741"/>
            <a:ext cx="461209" cy="46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Wolkvormige toelichting 5">
            <a:extLst>
              <a:ext uri="{FF2B5EF4-FFF2-40B4-BE49-F238E27FC236}">
                <a16:creationId xmlns:a16="http://schemas.microsoft.com/office/drawing/2014/main" id="{09966217-78EF-7D4C-BD39-D8968B53BCC6}"/>
              </a:ext>
            </a:extLst>
          </p:cNvPr>
          <p:cNvSpPr/>
          <p:nvPr/>
        </p:nvSpPr>
        <p:spPr bwMode="auto">
          <a:xfrm>
            <a:off x="2291786" y="1297412"/>
            <a:ext cx="1226921" cy="791793"/>
          </a:xfrm>
          <a:prstGeom prst="cloudCallout">
            <a:avLst>
              <a:gd name="adj1" fmla="val 100718"/>
              <a:gd name="adj2" fmla="val 82451"/>
            </a:avLst>
          </a:prstGeom>
          <a:noFill/>
          <a:ln>
            <a:solidFill>
              <a:schemeClr val="tx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0" name="Wolkvormige toelichting 19">
            <a:extLst>
              <a:ext uri="{FF2B5EF4-FFF2-40B4-BE49-F238E27FC236}">
                <a16:creationId xmlns:a16="http://schemas.microsoft.com/office/drawing/2014/main" id="{94CA43D1-A993-2F4A-BB10-6F97EB529072}"/>
              </a:ext>
            </a:extLst>
          </p:cNvPr>
          <p:cNvSpPr/>
          <p:nvPr/>
        </p:nvSpPr>
        <p:spPr bwMode="auto">
          <a:xfrm flipH="1">
            <a:off x="10514815" y="1264743"/>
            <a:ext cx="1226921" cy="791793"/>
          </a:xfrm>
          <a:prstGeom prst="cloudCallout">
            <a:avLst>
              <a:gd name="adj1" fmla="val 123557"/>
              <a:gd name="adj2" fmla="val 87077"/>
            </a:avLst>
          </a:prstGeom>
          <a:noFill/>
          <a:ln>
            <a:solidFill>
              <a:schemeClr val="tx2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7188" name="Picture 20" descr="Afbeeldingsresultaat voor geluid">
            <a:extLst>
              <a:ext uri="{FF2B5EF4-FFF2-40B4-BE49-F238E27FC236}">
                <a16:creationId xmlns:a16="http://schemas.microsoft.com/office/drawing/2014/main" id="{B5793774-8513-1740-BFFE-410F2AEDE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433" y="1511186"/>
            <a:ext cx="453286" cy="29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0" name="Picture 22" descr="Afbeeldingsresultaat voor geluid mute">
            <a:extLst>
              <a:ext uri="{FF2B5EF4-FFF2-40B4-BE49-F238E27FC236}">
                <a16:creationId xmlns:a16="http://schemas.microsoft.com/office/drawing/2014/main" id="{14A3FF48-CE3F-5840-B3F0-0B4CA059F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919" y="1529379"/>
            <a:ext cx="350478" cy="26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237A01E7-598E-661C-C5B4-D9D07EBDA1D4}"/>
              </a:ext>
            </a:extLst>
          </p:cNvPr>
          <p:cNvSpPr txBox="1"/>
          <p:nvPr/>
        </p:nvSpPr>
        <p:spPr>
          <a:xfrm>
            <a:off x="8129980" y="3733414"/>
            <a:ext cx="1316334" cy="327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Vals positief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8BF426B-14AD-C8D1-63EF-BDB157A88AFC}"/>
              </a:ext>
            </a:extLst>
          </p:cNvPr>
          <p:cNvSpPr txBox="1"/>
          <p:nvPr/>
        </p:nvSpPr>
        <p:spPr>
          <a:xfrm>
            <a:off x="4779666" y="5465506"/>
            <a:ext cx="1316334" cy="3270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Vals negatief</a:t>
            </a:r>
          </a:p>
        </p:txBody>
      </p:sp>
    </p:spTree>
    <p:extLst>
      <p:ext uri="{BB962C8B-B14F-4D97-AF65-F5344CB8AC3E}">
        <p14:creationId xmlns:p14="http://schemas.microsoft.com/office/powerpoint/2010/main" val="1492718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16CF5-D30A-1047-A6B8-28B39333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Van brandalarm naar statistiek?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4AD0A2-AF5B-AC4B-B105-362E0D05C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30</a:t>
            </a:fld>
            <a:endParaRPr lang="nl-BE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57C94B4F-651E-674F-850B-EB2153B2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nl-BE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6A583952-11F8-824A-ABA3-B5A491A64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21" y="1577009"/>
            <a:ext cx="4673600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0255046E-772F-D84D-8103-19A1C057B349}"/>
              </a:ext>
            </a:extLst>
          </p:cNvPr>
          <p:cNvSpPr txBox="1"/>
          <p:nvPr/>
        </p:nvSpPr>
        <p:spPr>
          <a:xfrm>
            <a:off x="1837897" y="1716691"/>
            <a:ext cx="3104748" cy="679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~steekproef </a:t>
            </a:r>
          </a:p>
        </p:txBody>
      </p:sp>
    </p:spTree>
    <p:extLst>
      <p:ext uri="{BB962C8B-B14F-4D97-AF65-F5344CB8AC3E}">
        <p14:creationId xmlns:p14="http://schemas.microsoft.com/office/powerpoint/2010/main" val="1078104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16CF5-D30A-1047-A6B8-28B39333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Van brandalarm naar statistiek?</a:t>
            </a:r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A338535A-8DD8-5E41-AEBF-BC77131A4CF7}"/>
              </a:ext>
            </a:extLst>
          </p:cNvPr>
          <p:cNvSpPr/>
          <p:nvPr/>
        </p:nvSpPr>
        <p:spPr bwMode="auto">
          <a:xfrm>
            <a:off x="5330356" y="2029163"/>
            <a:ext cx="6603143" cy="12001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48522E5-FD8E-CB4D-9054-EDEF5B2E2C43}"/>
              </a:ext>
            </a:extLst>
          </p:cNvPr>
          <p:cNvSpPr/>
          <p:nvPr/>
        </p:nvSpPr>
        <p:spPr bwMode="auto">
          <a:xfrm>
            <a:off x="5330356" y="4359354"/>
            <a:ext cx="6603143" cy="12001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B4AD0A2-AF5B-AC4B-B105-362E0D05C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31</a:t>
            </a:fld>
            <a:endParaRPr lang="nl-BE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57C94B4F-651E-674F-850B-EB2153B2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nl-BE" dirty="0"/>
          </a:p>
        </p:txBody>
      </p:sp>
      <p:pic>
        <p:nvPicPr>
          <p:cNvPr id="11" name="Picture 22" descr="Afbeeldingsresultaat voor geluid mute">
            <a:extLst>
              <a:ext uri="{FF2B5EF4-FFF2-40B4-BE49-F238E27FC236}">
                <a16:creationId xmlns:a16="http://schemas.microsoft.com/office/drawing/2014/main" id="{19D9F61B-33B0-DA47-BB0F-4855D9050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609" y="2242572"/>
            <a:ext cx="1021784" cy="76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0" descr="Afbeeldingsresultaat voor geluid">
            <a:extLst>
              <a:ext uri="{FF2B5EF4-FFF2-40B4-BE49-F238E27FC236}">
                <a16:creationId xmlns:a16="http://schemas.microsoft.com/office/drawing/2014/main" id="{49291AE9-E358-9A48-AF84-DCD271303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819" y="4563320"/>
            <a:ext cx="1198048" cy="79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6A583952-11F8-824A-ABA3-B5A491A64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21" y="1577009"/>
            <a:ext cx="4673600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0255046E-772F-D84D-8103-19A1C057B349}"/>
              </a:ext>
            </a:extLst>
          </p:cNvPr>
          <p:cNvSpPr txBox="1"/>
          <p:nvPr/>
        </p:nvSpPr>
        <p:spPr>
          <a:xfrm>
            <a:off x="1837897" y="1716691"/>
            <a:ext cx="3041248" cy="679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b="1" dirty="0">
                <a:solidFill>
                  <a:schemeClr val="bg1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~steekproef 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82D02C45-581F-644D-8E54-D3281C62A43B}"/>
              </a:ext>
            </a:extLst>
          </p:cNvPr>
          <p:cNvSpPr txBox="1"/>
          <p:nvPr/>
        </p:nvSpPr>
        <p:spPr>
          <a:xfrm>
            <a:off x="6798745" y="2131048"/>
            <a:ext cx="5443959" cy="7653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1600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Er is niets aan de hand …</a:t>
            </a:r>
          </a:p>
          <a:p>
            <a:r>
              <a:rPr lang="nl-BE" sz="16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~ Er is </a:t>
            </a:r>
            <a:r>
              <a:rPr lang="nl-BE" sz="1600" u="sng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geen verschil</a:t>
            </a:r>
            <a:r>
              <a:rPr lang="nl-BE" sz="16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tussen beide condities in de populatie</a:t>
            </a:r>
          </a:p>
          <a:p>
            <a:pPr algn="l"/>
            <a:endParaRPr lang="nl-BE" b="1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nl-BE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NULHYPOTHESE (H</a:t>
            </a:r>
            <a:r>
              <a:rPr lang="nl-BE" b="1" baseline="-250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algn="l"/>
            <a:endParaRPr lang="nl-BE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7465E245-65A7-B34A-AD7E-5E35ED64894E}"/>
              </a:ext>
            </a:extLst>
          </p:cNvPr>
          <p:cNvSpPr txBox="1"/>
          <p:nvPr/>
        </p:nvSpPr>
        <p:spPr>
          <a:xfrm>
            <a:off x="6724882" y="4450467"/>
            <a:ext cx="5443959" cy="7653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nl-BE" sz="1600" i="1" dirty="0">
                <a:latin typeface="Gotham"/>
                <a:ea typeface="Verdana"/>
                <a:cs typeface="Verdana" panose="020B0604030504040204" pitchFamily="34" charset="0"/>
              </a:rPr>
              <a:t>Het brandt …</a:t>
            </a:r>
          </a:p>
          <a:p>
            <a:r>
              <a:rPr lang="nl-BE" sz="16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~ Er is </a:t>
            </a:r>
            <a:r>
              <a:rPr lang="nl-BE" sz="1600" u="sng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wel een verschil</a:t>
            </a:r>
            <a:r>
              <a:rPr lang="nl-BE" sz="16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 tussen beide condities in de populatie </a:t>
            </a:r>
          </a:p>
          <a:p>
            <a:pPr algn="l"/>
            <a:endParaRPr lang="nl-BE" b="1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nl-BE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ALTERNATIEVE HYPOTHESE (H</a:t>
            </a:r>
            <a:r>
              <a:rPr lang="nl-BE" b="1" baseline="-25000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b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algn="l"/>
            <a:endParaRPr lang="nl-BE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524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4B9B5-7D30-BB4C-B044-F61D51C31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Type I en type II fouten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FA9A2F8-DC19-EA41-BD81-89CEC791A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32</a:t>
            </a:fld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5B5836DB-C39A-8E41-BF3E-625BA5AE1B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8844150"/>
                  </p:ext>
                </p:extLst>
              </p:nvPr>
            </p:nvGraphicFramePr>
            <p:xfrm>
              <a:off x="1068719" y="1537772"/>
              <a:ext cx="9276326" cy="44241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2204">
                      <a:extLst>
                        <a:ext uri="{9D8B030D-6E8A-4147-A177-3AD203B41FA5}">
                          <a16:colId xmlns:a16="http://schemas.microsoft.com/office/drawing/2014/main" val="2205526260"/>
                        </a:ext>
                      </a:extLst>
                    </a:gridCol>
                    <a:gridCol w="1913676">
                      <a:extLst>
                        <a:ext uri="{9D8B030D-6E8A-4147-A177-3AD203B41FA5}">
                          <a16:colId xmlns:a16="http://schemas.microsoft.com/office/drawing/2014/main" val="1342297470"/>
                        </a:ext>
                      </a:extLst>
                    </a:gridCol>
                    <a:gridCol w="3330223">
                      <a:extLst>
                        <a:ext uri="{9D8B030D-6E8A-4147-A177-3AD203B41FA5}">
                          <a16:colId xmlns:a16="http://schemas.microsoft.com/office/drawing/2014/main" val="4051104574"/>
                        </a:ext>
                      </a:extLst>
                    </a:gridCol>
                    <a:gridCol w="3330223">
                      <a:extLst>
                        <a:ext uri="{9D8B030D-6E8A-4147-A177-3AD203B41FA5}">
                          <a16:colId xmlns:a16="http://schemas.microsoft.com/office/drawing/2014/main" val="2661376492"/>
                        </a:ext>
                      </a:extLst>
                    </a:gridCol>
                  </a:tblGrid>
                  <a:tr h="501894">
                    <a:tc gridSpan="2"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nl-BE" sz="2800" dirty="0">
                              <a:solidFill>
                                <a:schemeClr val="tx1"/>
                              </a:solidFill>
                            </a:rPr>
                            <a:t>Steekproef (onze data) zegt 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613567"/>
                      </a:ext>
                    </a:extLst>
                  </a:tr>
                  <a:tr h="493133">
                    <a:tc gridSpan="2"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juist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fout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1058625"/>
                      </a:ext>
                    </a:extLst>
                  </a:tr>
                  <a:tr h="170644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nl-BE" sz="3200" b="1" dirty="0"/>
                            <a:t>Realiteit</a:t>
                          </a:r>
                        </a:p>
                      </a:txBody>
                      <a:tcPr vert="vert2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juist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4800" b="0" i="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😃</a:t>
                          </a:r>
                          <a:endParaRPr lang="nl-BE" sz="4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2400" dirty="0"/>
                            <a:t>Type I fout </a:t>
                          </a:r>
                          <a:r>
                            <a:rPr lang="nl-BE" sz="1400" dirty="0"/>
                            <a:t>(</a:t>
                          </a:r>
                          <a:r>
                            <a:rPr lang="nl-BE" sz="1400" i="1" dirty="0"/>
                            <a:t>vals positief</a:t>
                          </a:r>
                          <a:r>
                            <a:rPr lang="nl-BE" sz="1400" dirty="0"/>
                            <a:t>)</a:t>
                          </a:r>
                          <a:r>
                            <a:rPr lang="nl-BE" sz="2400" dirty="0"/>
                            <a:t> 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nl-BE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nl-BE" sz="24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4682411"/>
                      </a:ext>
                    </a:extLst>
                  </a:tr>
                  <a:tr h="1706441">
                    <a:tc vMerge="1">
                      <a:txBody>
                        <a:bodyPr/>
                        <a:lstStyle/>
                        <a:p>
                          <a:endParaRPr lang="nl-BE" dirty="0"/>
                        </a:p>
                        <a:p>
                          <a:endParaRPr lang="nl-BE" dirty="0"/>
                        </a:p>
                        <a:p>
                          <a:endParaRPr lang="nl-BE" dirty="0"/>
                        </a:p>
                        <a:p>
                          <a:endParaRPr lang="nl-B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fout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sz="2400" dirty="0"/>
                            <a:t>Type II fout </a:t>
                          </a:r>
                          <a:r>
                            <a:rPr lang="nl-BE" sz="1400" dirty="0"/>
                            <a:t>(</a:t>
                          </a:r>
                          <a:r>
                            <a:rPr lang="nl-BE" sz="1400" i="1" dirty="0"/>
                            <a:t>vals negatief</a:t>
                          </a:r>
                          <a:r>
                            <a:rPr lang="nl-BE" sz="1400" dirty="0"/>
                            <a:t>)</a:t>
                          </a:r>
                          <a:r>
                            <a:rPr lang="nl-BE" sz="4000" dirty="0"/>
                            <a:t> </a:t>
                          </a:r>
                          <a:endParaRPr lang="nl-BE" sz="24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BE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nl-BE" sz="2400" dirty="0"/>
                        </a:p>
                        <a:p>
                          <a:pPr algn="ctr"/>
                          <a:endParaRPr lang="nl-BE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4800" b="0" i="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😃</a:t>
                          </a:r>
                          <a:endParaRPr lang="nl-BE" sz="48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612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 5">
                <a:extLst>
                  <a:ext uri="{FF2B5EF4-FFF2-40B4-BE49-F238E27FC236}">
                    <a16:creationId xmlns:a16="http://schemas.microsoft.com/office/drawing/2014/main" id="{5B5836DB-C39A-8E41-BF3E-625BA5AE1B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8844150"/>
                  </p:ext>
                </p:extLst>
              </p:nvPr>
            </p:nvGraphicFramePr>
            <p:xfrm>
              <a:off x="1068719" y="1537772"/>
              <a:ext cx="9276326" cy="44241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2204">
                      <a:extLst>
                        <a:ext uri="{9D8B030D-6E8A-4147-A177-3AD203B41FA5}">
                          <a16:colId xmlns:a16="http://schemas.microsoft.com/office/drawing/2014/main" val="2205526260"/>
                        </a:ext>
                      </a:extLst>
                    </a:gridCol>
                    <a:gridCol w="1913676">
                      <a:extLst>
                        <a:ext uri="{9D8B030D-6E8A-4147-A177-3AD203B41FA5}">
                          <a16:colId xmlns:a16="http://schemas.microsoft.com/office/drawing/2014/main" val="1342297470"/>
                        </a:ext>
                      </a:extLst>
                    </a:gridCol>
                    <a:gridCol w="3330223">
                      <a:extLst>
                        <a:ext uri="{9D8B030D-6E8A-4147-A177-3AD203B41FA5}">
                          <a16:colId xmlns:a16="http://schemas.microsoft.com/office/drawing/2014/main" val="4051104574"/>
                        </a:ext>
                      </a:extLst>
                    </a:gridCol>
                    <a:gridCol w="3330223">
                      <a:extLst>
                        <a:ext uri="{9D8B030D-6E8A-4147-A177-3AD203B41FA5}">
                          <a16:colId xmlns:a16="http://schemas.microsoft.com/office/drawing/2014/main" val="2661376492"/>
                        </a:ext>
                      </a:extLst>
                    </a:gridCol>
                  </a:tblGrid>
                  <a:tr h="518160">
                    <a:tc gridSpan="2"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nl-BE" sz="2800" dirty="0">
                              <a:solidFill>
                                <a:schemeClr val="tx1"/>
                              </a:solidFill>
                            </a:rPr>
                            <a:t>Steekproef (onze data) zegt 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7613567"/>
                      </a:ext>
                    </a:extLst>
                  </a:tr>
                  <a:tr h="493133">
                    <a:tc gridSpan="2">
                      <a:txBody>
                        <a:bodyPr/>
                        <a:lstStyle/>
                        <a:p>
                          <a:endParaRPr lang="nl-BE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juist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fout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1058625"/>
                      </a:ext>
                    </a:extLst>
                  </a:tr>
                  <a:tr h="170644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nl-BE" sz="3200" b="1" dirty="0"/>
                            <a:t>Realiteit</a:t>
                          </a:r>
                        </a:p>
                      </a:txBody>
                      <a:tcPr vert="vert27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juist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4800" b="0" i="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😃</a:t>
                          </a:r>
                          <a:endParaRPr lang="nl-BE" sz="4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0153" t="-63433" r="-763" b="-101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4682411"/>
                      </a:ext>
                    </a:extLst>
                  </a:tr>
                  <a:tr h="1706441">
                    <a:tc vMerge="1">
                      <a:txBody>
                        <a:bodyPr/>
                        <a:lstStyle/>
                        <a:p>
                          <a:endParaRPr lang="nl-BE" dirty="0"/>
                        </a:p>
                        <a:p>
                          <a:endParaRPr lang="nl-BE" dirty="0"/>
                        </a:p>
                        <a:p>
                          <a:endParaRPr lang="nl-BE" dirty="0"/>
                        </a:p>
                        <a:p>
                          <a:endParaRPr lang="nl-B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4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nl-BE" i="1" dirty="0"/>
                            <a:t>H</a:t>
                          </a:r>
                          <a:r>
                            <a:rPr lang="nl-BE" i="1" baseline="-25000" dirty="0"/>
                            <a:t>0</a:t>
                          </a:r>
                          <a:r>
                            <a:rPr lang="nl-BE" i="1" dirty="0"/>
                            <a:t> = fout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nl-B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468" t="-162222" r="-100380" b="-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BE" sz="4800" b="0" i="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😃</a:t>
                          </a:r>
                          <a:endParaRPr lang="nl-BE" sz="48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61294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Wolkvormige toelichting 3">
            <a:extLst>
              <a:ext uri="{FF2B5EF4-FFF2-40B4-BE49-F238E27FC236}">
                <a16:creationId xmlns:a16="http://schemas.microsoft.com/office/drawing/2014/main" id="{CF2AC173-EFB5-CC4C-B068-6026F65B7777}"/>
              </a:ext>
            </a:extLst>
          </p:cNvPr>
          <p:cNvSpPr/>
          <p:nvPr/>
        </p:nvSpPr>
        <p:spPr bwMode="auto">
          <a:xfrm>
            <a:off x="775501" y="1445175"/>
            <a:ext cx="2835799" cy="1043381"/>
          </a:xfrm>
          <a:prstGeom prst="cloudCallout">
            <a:avLst>
              <a:gd name="adj1" fmla="val 91433"/>
              <a:gd name="adj2" fmla="val 108931"/>
            </a:avLst>
          </a:prstGeom>
          <a:solidFill>
            <a:srgbClr val="92D050"/>
          </a:solidFill>
          <a:ln>
            <a:solidFill>
              <a:schemeClr val="accent6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sz="1200" i="1" dirty="0">
                <a:solidFill>
                  <a:schemeClr val="tx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Opleiding heeft GEEN effect in steekproef én ook NIET in populatie</a:t>
            </a:r>
          </a:p>
        </p:txBody>
      </p:sp>
      <p:sp>
        <p:nvSpPr>
          <p:cNvPr id="10" name="Wolkvormige toelichting 9">
            <a:extLst>
              <a:ext uri="{FF2B5EF4-FFF2-40B4-BE49-F238E27FC236}">
                <a16:creationId xmlns:a16="http://schemas.microsoft.com/office/drawing/2014/main" id="{A4E61E2F-A6C1-4B4D-919B-81291B0CCDA6}"/>
              </a:ext>
            </a:extLst>
          </p:cNvPr>
          <p:cNvSpPr/>
          <p:nvPr/>
        </p:nvSpPr>
        <p:spPr bwMode="auto">
          <a:xfrm>
            <a:off x="9356201" y="5193906"/>
            <a:ext cx="2835799" cy="1043381"/>
          </a:xfrm>
          <a:prstGeom prst="cloudCallout">
            <a:avLst>
              <a:gd name="adj1" fmla="val -59996"/>
              <a:gd name="adj2" fmla="val -71892"/>
            </a:avLst>
          </a:prstGeom>
          <a:solidFill>
            <a:srgbClr val="92D050"/>
          </a:solidFill>
          <a:ln>
            <a:solidFill>
              <a:schemeClr val="accent6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sz="1200" i="1" dirty="0">
                <a:solidFill>
                  <a:schemeClr val="tx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Opleiding heeft WEL een effect in steekproef én OOK in populatie</a:t>
            </a:r>
          </a:p>
        </p:txBody>
      </p:sp>
      <p:sp>
        <p:nvSpPr>
          <p:cNvPr id="12" name="Wolkvormige toelichting 11">
            <a:extLst>
              <a:ext uri="{FF2B5EF4-FFF2-40B4-BE49-F238E27FC236}">
                <a16:creationId xmlns:a16="http://schemas.microsoft.com/office/drawing/2014/main" id="{B1E7396F-51F7-7840-B7F3-F2C63FEC7266}"/>
              </a:ext>
            </a:extLst>
          </p:cNvPr>
          <p:cNvSpPr/>
          <p:nvPr/>
        </p:nvSpPr>
        <p:spPr bwMode="auto">
          <a:xfrm>
            <a:off x="9220363" y="620713"/>
            <a:ext cx="2835799" cy="1043381"/>
          </a:xfrm>
          <a:prstGeom prst="cloudCallout">
            <a:avLst>
              <a:gd name="adj1" fmla="val -66527"/>
              <a:gd name="adj2" fmla="val 17105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sz="1200" i="1" dirty="0">
                <a:solidFill>
                  <a:schemeClr val="tx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Opleiding heeft WEL een effect in steekproef maar NIET in populatie</a:t>
            </a:r>
          </a:p>
        </p:txBody>
      </p:sp>
      <p:sp>
        <p:nvSpPr>
          <p:cNvPr id="13" name="Wolkvormige toelichting 12">
            <a:extLst>
              <a:ext uri="{FF2B5EF4-FFF2-40B4-BE49-F238E27FC236}">
                <a16:creationId xmlns:a16="http://schemas.microsoft.com/office/drawing/2014/main" id="{319C4223-8271-FF4F-937B-C68C0BC34DB5}"/>
              </a:ext>
            </a:extLst>
          </p:cNvPr>
          <p:cNvSpPr/>
          <p:nvPr/>
        </p:nvSpPr>
        <p:spPr bwMode="auto">
          <a:xfrm>
            <a:off x="2060268" y="5628870"/>
            <a:ext cx="2835799" cy="1043381"/>
          </a:xfrm>
          <a:prstGeom prst="cloudCallout">
            <a:avLst>
              <a:gd name="adj1" fmla="val 56738"/>
              <a:gd name="adj2" fmla="val -98516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r>
              <a:rPr lang="nl-BE" sz="1200" i="1" dirty="0">
                <a:solidFill>
                  <a:schemeClr val="tx2"/>
                </a:solidFill>
                <a:latin typeface="Verdana" charset="0"/>
                <a:ea typeface="Verdana Regular" charset="0"/>
                <a:cs typeface="Verdana Regular" charset="0"/>
                <a:sym typeface="Securitas Sans Light" charset="0"/>
              </a:rPr>
              <a:t>Opleiding heeft GEEN effect in steekproef maar WEL in populatie</a:t>
            </a:r>
          </a:p>
        </p:txBody>
      </p:sp>
    </p:spTree>
    <p:extLst>
      <p:ext uri="{BB962C8B-B14F-4D97-AF65-F5344CB8AC3E}">
        <p14:creationId xmlns:p14="http://schemas.microsoft.com/office/powerpoint/2010/main" val="1722141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DCAC0-F9D2-6A48-B2F0-9A50888A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Type 1 en 2 fouten bij brandalarm: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3B04AF6-FFD2-1E4E-AB33-714C5A437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33</a:t>
            </a:fld>
            <a:endParaRPr lang="nl-BE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DD7007-B645-AE44-AF6E-666D20D39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75" y="2227195"/>
            <a:ext cx="2121368" cy="212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Afbeeldingsresultaat voor frank debooseren weerbericht">
            <a:extLst>
              <a:ext uri="{FF2B5EF4-FFF2-40B4-BE49-F238E27FC236}">
                <a16:creationId xmlns:a16="http://schemas.microsoft.com/office/drawing/2014/main" id="{DE8C358C-693B-BC4B-86CB-B13EB77A5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378" y="2239427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7BB4F05E-4227-7B62-D236-0D77C444FF0C}"/>
              </a:ext>
            </a:extLst>
          </p:cNvPr>
          <p:cNvSpPr txBox="1"/>
          <p:nvPr/>
        </p:nvSpPr>
        <p:spPr>
          <a:xfrm>
            <a:off x="6208378" y="4633645"/>
            <a:ext cx="3810000" cy="141783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l-BE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Brandalarm gaat af, maar er is geen brand… Het is gewoon warm!</a:t>
            </a:r>
          </a:p>
          <a:p>
            <a:pPr algn="l"/>
            <a:r>
              <a:rPr lang="nl-BE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Toch denken dat er brand is, is een type 1 fout (</a:t>
            </a:r>
            <a:r>
              <a:rPr lang="nl-BE" dirty="0">
                <a:solidFill>
                  <a:schemeClr val="accent2"/>
                </a:solidFill>
                <a:highlight>
                  <a:srgbClr val="FFFF00"/>
                </a:highlight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vals positief</a:t>
            </a:r>
            <a:r>
              <a:rPr lang="nl-BE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973078C-BF3C-5CCC-A1D0-D8F75CCC943A}"/>
              </a:ext>
            </a:extLst>
          </p:cNvPr>
          <p:cNvSpPr txBox="1"/>
          <p:nvPr/>
        </p:nvSpPr>
        <p:spPr>
          <a:xfrm>
            <a:off x="631975" y="4633645"/>
            <a:ext cx="4176331" cy="141783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l-BE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Brandalarm gaat niet af, maar er is brand…</a:t>
            </a:r>
          </a:p>
          <a:p>
            <a:pPr algn="l"/>
            <a:r>
              <a:rPr lang="nl-BE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Toch denken dat er geen brand is, is een type 2 fout (</a:t>
            </a:r>
            <a:r>
              <a:rPr lang="nl-BE" dirty="0">
                <a:solidFill>
                  <a:schemeClr val="accent2"/>
                </a:solidFill>
                <a:highlight>
                  <a:srgbClr val="FFFF00"/>
                </a:highlight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vals negatief</a:t>
            </a:r>
            <a:r>
              <a:rPr lang="nl-BE" dirty="0">
                <a:solidFill>
                  <a:schemeClr val="accent2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3F2C017-4C41-6ECE-B15D-537239B6045E}"/>
              </a:ext>
            </a:extLst>
          </p:cNvPr>
          <p:cNvSpPr txBox="1"/>
          <p:nvPr/>
        </p:nvSpPr>
        <p:spPr>
          <a:xfrm>
            <a:off x="7600912" y="1301684"/>
            <a:ext cx="1024932" cy="10363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2800" b="1" dirty="0">
                <a:solidFill>
                  <a:srgbClr val="FF0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FOCUS</a:t>
            </a:r>
          </a:p>
          <a:p>
            <a:pPr algn="ctr"/>
            <a:r>
              <a:rPr lang="nl-BE" sz="2800" b="1" dirty="0">
                <a:solidFill>
                  <a:srgbClr val="FF0000"/>
                </a:solidFill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t-test</a:t>
            </a:r>
          </a:p>
        </p:txBody>
      </p:sp>
    </p:spTree>
    <p:extLst>
      <p:ext uri="{BB962C8B-B14F-4D97-AF65-F5344CB8AC3E}">
        <p14:creationId xmlns:p14="http://schemas.microsoft.com/office/powerpoint/2010/main" val="3846578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DF09BD2-B072-28EC-A63C-40D49E8C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rationale van de t-test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F42D4C8-272A-0A31-AA8A-8EC649F91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34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C2166DD3-4E44-5404-A4BB-EA072C011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Vertrekpunt: er is een signaal (verschil in gemiddelden in de steekproef)</a:t>
            </a:r>
          </a:p>
          <a:p>
            <a:endParaRPr lang="nl-BE" dirty="0"/>
          </a:p>
          <a:p>
            <a:r>
              <a:rPr lang="nl-BE" dirty="0"/>
              <a:t>t-test = kwantificeren van de kans op een type 1 fout</a:t>
            </a:r>
          </a:p>
          <a:p>
            <a:endParaRPr lang="nl-BE" dirty="0"/>
          </a:p>
          <a:p>
            <a:r>
              <a:rPr lang="nl-BE" dirty="0"/>
              <a:t>Ofwel: kans dat het signaal uit de steekproef een vals “positief is”</a:t>
            </a:r>
          </a:p>
          <a:p>
            <a:endParaRPr lang="nl-BE" dirty="0"/>
          </a:p>
          <a:p>
            <a:r>
              <a:rPr lang="nl-BE" dirty="0"/>
              <a:t>Ofwel: kans dat het signaal zich voordoet als </a:t>
            </a:r>
            <a:r>
              <a:rPr lang="nl-BE" i="1" dirty="0"/>
              <a:t>H0</a:t>
            </a:r>
            <a:r>
              <a:rPr lang="nl-BE" dirty="0"/>
              <a:t> juist is</a:t>
            </a:r>
          </a:p>
          <a:p>
            <a:endParaRPr lang="nl-BE" dirty="0"/>
          </a:p>
          <a:p>
            <a:r>
              <a:rPr lang="nl-BE" dirty="0"/>
              <a:t> op basis van statistische theorie kunnen we die kans inschatten</a:t>
            </a:r>
          </a:p>
        </p:txBody>
      </p:sp>
    </p:spTree>
    <p:extLst>
      <p:ext uri="{BB962C8B-B14F-4D97-AF65-F5344CB8AC3E}">
        <p14:creationId xmlns:p14="http://schemas.microsoft.com/office/powerpoint/2010/main" val="4260008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34163-B58F-7D44-A2C5-A26F0018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basis van de t-test: twee soorten variantie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7097A7-8BCC-1349-AC01-26E45308F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35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A956FD3-F91D-484C-A815-BBACEBA01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1A76B10-066D-D242-A416-64417D720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26916"/>
            <a:ext cx="4418036" cy="2004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29F809A-BC39-E34D-9B43-DED660D39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23" y="3176587"/>
            <a:ext cx="6300888" cy="3037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12">
            <a:extLst>
              <a:ext uri="{FF2B5EF4-FFF2-40B4-BE49-F238E27FC236}">
                <a16:creationId xmlns:a16="http://schemas.microsoft.com/office/drawing/2014/main" id="{A20CD918-0327-B442-A69D-D2ED0CB175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96643" y="2253325"/>
            <a:ext cx="1740306" cy="1621844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63B05086-5FF0-5542-961F-01AE7A2F5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2136" y="1989138"/>
            <a:ext cx="25209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nl-BE" altLang="nl-BE" sz="1600" b="1">
                <a:solidFill>
                  <a:schemeClr val="tx1"/>
                </a:solidFill>
              </a:rPr>
              <a:t>TOTALE VARIANTIE</a:t>
            </a:r>
            <a:endParaRPr lang="nl-NL" altLang="nl-BE" sz="1600" b="1">
              <a:solidFill>
                <a:schemeClr val="tx1"/>
              </a:solidFill>
            </a:endParaRP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131366A-1404-EB46-96C7-150686440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2593" y="3842960"/>
            <a:ext cx="7371" cy="2187451"/>
          </a:xfrm>
          <a:prstGeom prst="line">
            <a:avLst/>
          </a:prstGeom>
          <a:noFill/>
          <a:ln w="76200">
            <a:solidFill>
              <a:srgbClr val="9A99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11C3377-675C-8D4C-8CA2-25BD36F2C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16016" y="4828593"/>
            <a:ext cx="3009419" cy="0"/>
          </a:xfrm>
          <a:prstGeom prst="line">
            <a:avLst/>
          </a:prstGeom>
          <a:noFill/>
          <a:ln w="76200">
            <a:solidFill>
              <a:srgbClr val="9834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5C3F47E0-BBB1-4B4F-8DA3-E4B1A219D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076" y="4161123"/>
            <a:ext cx="24114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nl-BE" altLang="nl-BE" sz="1800" b="1" baseline="-25000" dirty="0">
                <a:solidFill>
                  <a:srgbClr val="9A99FF"/>
                </a:solidFill>
              </a:rPr>
              <a:t>binnen-groepen-variantie</a:t>
            </a:r>
            <a:endParaRPr lang="nl-NL" altLang="nl-BE" sz="1600" b="1" baseline="-25000" dirty="0">
              <a:solidFill>
                <a:srgbClr val="9A99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568648-0CB9-304D-B3FB-3989E4331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319" y="3854611"/>
            <a:ext cx="4176713" cy="21526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nl-NL" altLang="nl-BE" sz="2400">
              <a:solidFill>
                <a:srgbClr val="25256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D37C1197-7F7A-6041-B07E-E4C35D98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768" y="4818208"/>
            <a:ext cx="30972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5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-"/>
              <a:defRPr sz="22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-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D62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nl-BE" altLang="nl-BE" sz="1800" b="1" baseline="-25000" dirty="0">
                <a:solidFill>
                  <a:srgbClr val="983466"/>
                </a:solidFill>
              </a:rPr>
              <a:t>tussen-groepen-variantie</a:t>
            </a:r>
            <a:endParaRPr lang="nl-NL" altLang="nl-BE" sz="1800" b="1" baseline="-25000" dirty="0">
              <a:solidFill>
                <a:srgbClr val="9834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506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73A5C6-D689-9544-A7CD-3F2430A2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 steunt op een t-waarde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202F3AD-D436-F147-BA41-94FC8DCD3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36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26DD001-E305-B746-ABB4-E2D285320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altLang="nl-BE" dirty="0"/>
              <a:t>Toets gebaseerd op verhouding </a:t>
            </a:r>
            <a:r>
              <a:rPr lang="nl-BE" altLang="en-GB" dirty="0"/>
              <a:t>‘</a:t>
            </a:r>
            <a:r>
              <a:rPr lang="nl-BE" altLang="nl-BE" dirty="0">
                <a:solidFill>
                  <a:srgbClr val="983466"/>
                </a:solidFill>
              </a:rPr>
              <a:t>tussen-groepen-variantie</a:t>
            </a:r>
            <a:r>
              <a:rPr lang="nl-BE" altLang="en-GB" dirty="0"/>
              <a:t>’</a:t>
            </a:r>
            <a:r>
              <a:rPr lang="nl-BE" altLang="nl-BE" dirty="0"/>
              <a:t> en </a:t>
            </a:r>
            <a:r>
              <a:rPr lang="nl-BE" altLang="en-GB" dirty="0"/>
              <a:t>‘</a:t>
            </a:r>
            <a:r>
              <a:rPr lang="nl-BE" altLang="nl-BE" dirty="0">
                <a:solidFill>
                  <a:srgbClr val="9A99FF"/>
                </a:solidFill>
              </a:rPr>
              <a:t>binnen-groepen-variantie</a:t>
            </a:r>
            <a:r>
              <a:rPr lang="nl-BE" altLang="en-GB" dirty="0"/>
              <a:t>’: </a:t>
            </a:r>
          </a:p>
          <a:p>
            <a:endParaRPr lang="nl-BE" altLang="en-GB" dirty="0"/>
          </a:p>
          <a:p>
            <a:endParaRPr lang="nl-BE" altLang="en-GB" dirty="0"/>
          </a:p>
          <a:p>
            <a:endParaRPr lang="nl-BE" altLang="en-GB" dirty="0"/>
          </a:p>
          <a:p>
            <a:pPr lvl="1"/>
            <a:r>
              <a:rPr lang="nl-BE" dirty="0"/>
              <a:t>Indicator ‘</a:t>
            </a:r>
            <a:r>
              <a:rPr lang="nl-BE" dirty="0">
                <a:solidFill>
                  <a:srgbClr val="983466"/>
                </a:solidFill>
              </a:rPr>
              <a:t>tussen-groepen-variantie</a:t>
            </a:r>
            <a:r>
              <a:rPr lang="nl-BE" dirty="0"/>
              <a:t>’: 	     </a:t>
            </a:r>
            <a:r>
              <a:rPr lang="nl-BE" i="1" dirty="0"/>
              <a:t>(verschil in gemiddeldes)</a:t>
            </a:r>
          </a:p>
          <a:p>
            <a:pPr lvl="1"/>
            <a:r>
              <a:rPr lang="nl-BE" dirty="0"/>
              <a:t>Indicator ‘</a:t>
            </a:r>
            <a:r>
              <a:rPr lang="nl-BE" dirty="0">
                <a:solidFill>
                  <a:srgbClr val="9A99FF"/>
                </a:solidFill>
              </a:rPr>
              <a:t>binnen-groepen-variantie</a:t>
            </a:r>
            <a:r>
              <a:rPr lang="nl-BE" dirty="0"/>
              <a:t>’:</a:t>
            </a:r>
          </a:p>
          <a:p>
            <a:pPr lvl="1"/>
            <a:endParaRPr lang="nl-BE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A37242B-3EA0-0B45-87C8-E2DBD85F6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00" y="2110947"/>
            <a:ext cx="3175193" cy="144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478E88AE-8D99-A545-AC58-7095F9DD5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41" t="26329" b="24937"/>
          <a:stretch/>
        </p:blipFill>
        <p:spPr bwMode="auto">
          <a:xfrm>
            <a:off x="6347449" y="4513357"/>
            <a:ext cx="1291141" cy="87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Pijl links 9">
            <a:extLst>
              <a:ext uri="{FF2B5EF4-FFF2-40B4-BE49-F238E27FC236}">
                <a16:creationId xmlns:a16="http://schemas.microsoft.com/office/drawing/2014/main" id="{C17D02E2-F2A2-D345-85C7-54123C632AC7}"/>
              </a:ext>
            </a:extLst>
          </p:cNvPr>
          <p:cNvSpPr/>
          <p:nvPr/>
        </p:nvSpPr>
        <p:spPr bwMode="auto">
          <a:xfrm rot="5400000">
            <a:off x="5566759" y="5220171"/>
            <a:ext cx="428263" cy="347240"/>
          </a:xfrm>
          <a:prstGeom prst="rightArrow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4C65274B-18F0-8643-8179-836CE7713F73}"/>
              </a:ext>
            </a:extLst>
          </p:cNvPr>
          <p:cNvSpPr txBox="1"/>
          <p:nvPr/>
        </p:nvSpPr>
        <p:spPr>
          <a:xfrm>
            <a:off x="1286190" y="5640286"/>
            <a:ext cx="8988807" cy="7615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nl-BE" sz="24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t-waarde</a:t>
            </a:r>
          </a:p>
          <a:p>
            <a:pPr algn="ctr"/>
            <a:r>
              <a:rPr lang="nl-BE" sz="2400" i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= andere manier om het verschil in gemiddelden uit te drukken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76ACDC57-2B64-CC42-BD67-353F364A83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41" b="23888"/>
          <a:stretch/>
        </p:blipFill>
        <p:spPr bwMode="auto">
          <a:xfrm>
            <a:off x="4564287" y="2149262"/>
            <a:ext cx="1327228" cy="1402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EEC51E25-4D55-5B47-AB11-856F1C4840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41" t="-1" b="78063"/>
          <a:stretch/>
        </p:blipFill>
        <p:spPr bwMode="auto">
          <a:xfrm>
            <a:off x="5995022" y="4036182"/>
            <a:ext cx="1291141" cy="39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0816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642DE37-8837-2405-63F1-6BE1226D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Betekenis t-waarde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5502A72-D5F3-E0EC-C7EF-DB4430BF0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37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134FCA1B-98E0-3E17-C9BE-5EE970322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r>
              <a:rPr lang="nl-NL" dirty="0"/>
              <a:t>t-waarde is hoog </a:t>
            </a:r>
            <a:r>
              <a:rPr lang="nl-NL" dirty="0">
                <a:sym typeface="Wingdings" pitchFamily="2" charset="2"/>
              </a:rPr>
              <a:t> groot verschil tussen beide gemiddelden</a:t>
            </a:r>
          </a:p>
          <a:p>
            <a:endParaRPr lang="nl-NL" dirty="0">
              <a:sym typeface="Wingdings" pitchFamily="2" charset="2"/>
            </a:endParaRPr>
          </a:p>
          <a:p>
            <a:endParaRPr lang="nl-NL" dirty="0">
              <a:sym typeface="Wingdings" pitchFamily="2" charset="2"/>
            </a:endParaRPr>
          </a:p>
          <a:p>
            <a:r>
              <a:rPr lang="nl-NL" dirty="0">
                <a:sym typeface="Wingdings" pitchFamily="2" charset="2"/>
              </a:rPr>
              <a:t>t-waarde is laag  klein verschil tussen beide gemiddelden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4359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3D332EE-EA5F-B7FA-7BA4-4628E791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van t-waarde naar de t-test, de t-verdeling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ED372E4-3D8C-8D30-4A7C-902096531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38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7F3296CE-36EA-946F-7DD5-807E6D8B610D}"/>
              </a:ext>
            </a:extLst>
          </p:cNvPr>
          <p:cNvSpPr txBox="1"/>
          <p:nvPr/>
        </p:nvSpPr>
        <p:spPr>
          <a:xfrm>
            <a:off x="623887" y="1341063"/>
            <a:ext cx="10770943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altLang="nl-BE" dirty="0"/>
              <a:t>t-verdeling = kansenverdeling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nl-BE" altLang="nl-BE" dirty="0"/>
              <a:t>vorm is afhankelijk van een andere grootheid: </a:t>
            </a:r>
            <a:r>
              <a:rPr lang="nl-BE" altLang="en-GB" dirty="0"/>
              <a:t>‘</a:t>
            </a:r>
            <a:r>
              <a:rPr lang="nl-BE" altLang="nl-BE" b="1" dirty="0"/>
              <a:t>vrijheidsgraden</a:t>
            </a:r>
            <a:r>
              <a:rPr lang="nl-BE" altLang="en-GB" dirty="0"/>
              <a:t>’ (</a:t>
            </a:r>
            <a:r>
              <a:rPr lang="nl-BE" altLang="en-GB" i="1" dirty="0"/>
              <a:t>df</a:t>
            </a:r>
            <a:r>
              <a:rPr lang="nl-BE" altLang="en-GB" dirty="0"/>
              <a:t>)</a:t>
            </a:r>
            <a:r>
              <a:rPr lang="nl-BE" altLang="nl-BE" dirty="0"/>
              <a:t> </a:t>
            </a:r>
            <a:r>
              <a:rPr lang="nl-BE" altLang="nl-BE" sz="1200" dirty="0"/>
              <a:t>(= aantal respondenten – aantal condities)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4D74959-E975-062B-6C14-FA322A701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1" y="1930885"/>
            <a:ext cx="7867859" cy="485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02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CE1B1-01CB-054A-BB5B-4F25A704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van t-waarde naar de t-test, de t-verdeling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C51726E-0C41-FC4F-84B2-45BC79701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A198248-B785-6F46-9C09-CB0CFECEC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6" y="1577009"/>
            <a:ext cx="11298037" cy="4660279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274320" indent="-274320">
              <a:lnSpc>
                <a:spcPct val="90000"/>
              </a:lnSpc>
            </a:pPr>
            <a:r>
              <a:rPr lang="nl-BE" altLang="nl-BE" dirty="0"/>
              <a:t>Theoretische kansverdeling</a:t>
            </a:r>
            <a:endParaRPr lang="nl-NL" dirty="0"/>
          </a:p>
          <a:p>
            <a:pPr marL="740410" lvl="1" indent="-378460">
              <a:lnSpc>
                <a:spcPct val="90000"/>
              </a:lnSpc>
            </a:pPr>
            <a:r>
              <a:rPr lang="nl-BE" altLang="nl-BE" dirty="0"/>
              <a:t>Wat is de kans (</a:t>
            </a:r>
            <a:r>
              <a:rPr lang="nl-BE" altLang="nl-BE" i="1" dirty="0"/>
              <a:t>p</a:t>
            </a:r>
            <a:r>
              <a:rPr lang="nl-BE" altLang="nl-BE" dirty="0"/>
              <a:t>) om een t-waarde te bekomen in een steekproef </a:t>
            </a:r>
            <a:r>
              <a:rPr lang="nl-BE" altLang="nl-BE" u="sng" dirty="0"/>
              <a:t>indien H</a:t>
            </a:r>
            <a:r>
              <a:rPr lang="nl-BE" altLang="nl-BE" u="sng" baseline="-25000" dirty="0"/>
              <a:t>0</a:t>
            </a:r>
            <a:r>
              <a:rPr lang="nl-BE" altLang="nl-BE" u="sng" dirty="0"/>
              <a:t> geldig is in de populatie</a:t>
            </a:r>
            <a:r>
              <a:rPr lang="nl-BE" altLang="nl-BE" dirty="0"/>
              <a:t>?</a:t>
            </a:r>
          </a:p>
          <a:p>
            <a:pPr marL="740410" lvl="1" indent="-378460">
              <a:lnSpc>
                <a:spcPct val="90000"/>
              </a:lnSpc>
            </a:pPr>
            <a:r>
              <a:rPr lang="nl-BE" altLang="nl-BE" i="1" dirty="0">
                <a:latin typeface="Calibri Light"/>
                <a:ea typeface="Verdana"/>
                <a:cs typeface="Calibri Light"/>
              </a:rPr>
              <a:t>In hoeveel % van gelijkaardige steekproeven zouden we zo’n t-waarde of hoger tegenkomen als er in de gehele populatie geen verschil is?</a:t>
            </a:r>
          </a:p>
          <a:p>
            <a:pPr marL="361950" lvl="1" indent="0">
              <a:lnSpc>
                <a:spcPct val="90000"/>
              </a:lnSpc>
              <a:buNone/>
            </a:pPr>
            <a:endParaRPr lang="nl-NL" altLang="nl-BE" dirty="0"/>
          </a:p>
          <a:p>
            <a:pPr marL="274320" indent="-274320"/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9C33E3E-1346-9232-7DEE-CB36B760B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245" y="3429000"/>
            <a:ext cx="5367493" cy="331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39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9447E9-D0DA-3948-B38F-AF902916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t-test: vuistregel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CDE8F11-8793-784A-A829-10C587A14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40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3FC563D-7C4F-A545-B0AD-2573EC6F7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altLang="nl-BE" i="1" dirty="0"/>
              <a:t>p</a:t>
            </a:r>
            <a:r>
              <a:rPr lang="nl-BE" altLang="nl-BE" dirty="0"/>
              <a:t> ≤ 0,05 wijst op een statistisch significant verschil</a:t>
            </a:r>
          </a:p>
          <a:p>
            <a:pPr marL="361940" lvl="1" indent="0">
              <a:buNone/>
            </a:pPr>
            <a:r>
              <a:rPr lang="nl-BE" altLang="nl-BE" dirty="0"/>
              <a:t>“</a:t>
            </a:r>
            <a:r>
              <a:rPr lang="nl-BE" altLang="nl-BE" i="1" dirty="0"/>
              <a:t>Kans dat we dit verschil in onze steekproef zouden vaststellen indien de nulhypothese opgaat voor de populatie is kleiner dan of gelijk aan 0,05 (~5%)</a:t>
            </a:r>
            <a:r>
              <a:rPr lang="nl-BE" altLang="nl-BE" dirty="0"/>
              <a:t>” of </a:t>
            </a:r>
          </a:p>
          <a:p>
            <a:pPr marL="361940" lvl="1" indent="0">
              <a:buNone/>
            </a:pPr>
            <a:r>
              <a:rPr lang="nl-BE" altLang="nl-BE" i="1" dirty="0"/>
              <a:t>“We hebben 5% kans of minder om een type-I fout te maken (= ten onrechte de nulhypothese verwerpen)”</a:t>
            </a:r>
          </a:p>
          <a:p>
            <a:endParaRPr lang="nl-BE" dirty="0"/>
          </a:p>
          <a:p>
            <a:r>
              <a:rPr lang="nl-BE" dirty="0"/>
              <a:t>Dus?</a:t>
            </a:r>
          </a:p>
          <a:p>
            <a:pPr lvl="1">
              <a:lnSpc>
                <a:spcPct val="90000"/>
              </a:lnSpc>
            </a:pPr>
            <a:r>
              <a:rPr lang="nl-BE" altLang="nl-BE" u="sng" dirty="0"/>
              <a:t>H</a:t>
            </a:r>
            <a:r>
              <a:rPr lang="nl-BE" altLang="nl-BE" u="sng" baseline="-25000" dirty="0"/>
              <a:t>0</a:t>
            </a:r>
            <a:r>
              <a:rPr lang="nl-BE" altLang="nl-BE" u="sng" dirty="0"/>
              <a:t> geldig</a:t>
            </a:r>
            <a:r>
              <a:rPr lang="nl-BE" altLang="nl-BE" dirty="0"/>
              <a:t>? Bijzonder kleine kans!</a:t>
            </a:r>
          </a:p>
          <a:p>
            <a:pPr lvl="1">
              <a:lnSpc>
                <a:spcPct val="90000"/>
              </a:lnSpc>
            </a:pPr>
            <a:r>
              <a:rPr lang="nl-BE" altLang="nl-BE" u="sng" dirty="0"/>
              <a:t>H</a:t>
            </a:r>
            <a:r>
              <a:rPr lang="nl-BE" altLang="nl-BE" u="sng" baseline="-25000" dirty="0"/>
              <a:t>1</a:t>
            </a:r>
            <a:r>
              <a:rPr lang="nl-BE" altLang="nl-BE" u="sng" dirty="0"/>
              <a:t> aannemen</a:t>
            </a:r>
            <a:r>
              <a:rPr lang="nl-BE" altLang="nl-BE" dirty="0"/>
              <a:t>: er is een verschil tussen gemiddeldes in de populatie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14040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C276C-4834-C043-9070-EF6435B4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 in R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60C7525-6DCA-3344-BB01-09EB967DC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41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2E56C5F-3BD1-E441-B849-498058B20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altLang="nl-BE" sz="1800" dirty="0">
                <a:solidFill>
                  <a:srgbClr val="3333FF"/>
                </a:solidFill>
                <a:latin typeface="Courier New" panose="02070309020205020404" pitchFamily="49" charset="0"/>
              </a:rPr>
              <a:t>t.test(Afval$Afval.in.kg ~ Afval$Conditie, var.equal = TRUE)</a:t>
            </a:r>
            <a:endParaRPr lang="nl-BE" sz="1800" dirty="0"/>
          </a:p>
        </p:txBody>
      </p:sp>
      <p:pic>
        <p:nvPicPr>
          <p:cNvPr id="12" name="Afbeelding 11" descr="Afbeelding met tekst&#10;&#10;Automatisch gegenereerde beschrijving">
            <a:extLst>
              <a:ext uri="{FF2B5EF4-FFF2-40B4-BE49-F238E27FC236}">
                <a16:creationId xmlns:a16="http://schemas.microsoft.com/office/drawing/2014/main" id="{9DCAAA5C-E52B-8B4E-80C2-6BEE73764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85" y="2198410"/>
            <a:ext cx="8667957" cy="281342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AF33A2E-A574-1743-9D0B-B887EBFE8E6F}"/>
              </a:ext>
            </a:extLst>
          </p:cNvPr>
          <p:cNvSpPr/>
          <p:nvPr/>
        </p:nvSpPr>
        <p:spPr bwMode="auto">
          <a:xfrm>
            <a:off x="593524" y="3036364"/>
            <a:ext cx="1196354" cy="287337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nl-NL" dirty="0">
                <a:solidFill>
                  <a:srgbClr val="25256F"/>
                </a:solidFill>
                <a:latin typeface="Times New Roman" pitchFamily="-111" charset="0"/>
              </a:rPr>
              <a:t>           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BE7E664-8262-5E41-B610-145FAE6519F9}"/>
              </a:ext>
            </a:extLst>
          </p:cNvPr>
          <p:cNvSpPr/>
          <p:nvPr/>
        </p:nvSpPr>
        <p:spPr bwMode="auto">
          <a:xfrm>
            <a:off x="1959562" y="3037272"/>
            <a:ext cx="1003559" cy="287337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nl-NL">
              <a:solidFill>
                <a:srgbClr val="25256F"/>
              </a:solidFill>
              <a:latin typeface="Times New Roman" pitchFamily="-111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73AE62F-3108-D14C-AB7B-874B20BD3C98}"/>
              </a:ext>
            </a:extLst>
          </p:cNvPr>
          <p:cNvSpPr/>
          <p:nvPr/>
        </p:nvSpPr>
        <p:spPr bwMode="auto">
          <a:xfrm>
            <a:off x="3132805" y="3049749"/>
            <a:ext cx="2365171" cy="287337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nl-NL" b="1" dirty="0">
              <a:solidFill>
                <a:srgbClr val="25256F"/>
              </a:solidFill>
              <a:latin typeface="Times New Roman" pitchFamily="-111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831BD576-033A-D245-B10D-8D19B7F83E40}"/>
              </a:ext>
            </a:extLst>
          </p:cNvPr>
          <p:cNvSpPr/>
          <p:nvPr/>
        </p:nvSpPr>
        <p:spPr bwMode="auto">
          <a:xfrm>
            <a:off x="3785243" y="4660483"/>
            <a:ext cx="5418123" cy="288925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nl-NL">
              <a:solidFill>
                <a:srgbClr val="25256F"/>
              </a:solidFill>
              <a:latin typeface="Times New Roman" pitchFamily="-111" charset="0"/>
            </a:endParaRPr>
          </a:p>
        </p:txBody>
      </p:sp>
      <p:sp>
        <p:nvSpPr>
          <p:cNvPr id="13" name="Wolkvormige toelichting 12">
            <a:extLst>
              <a:ext uri="{FF2B5EF4-FFF2-40B4-BE49-F238E27FC236}">
                <a16:creationId xmlns:a16="http://schemas.microsoft.com/office/drawing/2014/main" id="{591D26BE-B279-424F-A370-CBC53D00A330}"/>
              </a:ext>
            </a:extLst>
          </p:cNvPr>
          <p:cNvSpPr/>
          <p:nvPr/>
        </p:nvSpPr>
        <p:spPr bwMode="auto">
          <a:xfrm>
            <a:off x="8414794" y="2037144"/>
            <a:ext cx="3414531" cy="1176899"/>
          </a:xfrm>
          <a:prstGeom prst="cloudCallout">
            <a:avLst>
              <a:gd name="adj1" fmla="val -134164"/>
              <a:gd name="adj2" fmla="val 37302"/>
            </a:avLst>
          </a:prstGeom>
          <a:noFill/>
          <a:ln>
            <a:solidFill>
              <a:schemeClr val="tx2"/>
            </a:solidFill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marL="179388" indent="-179388" algn="ctr">
              <a:spcAft>
                <a:spcPts val="450"/>
              </a:spcAft>
              <a:buFont typeface="Arial" charset="0"/>
              <a:buChar char="•"/>
            </a:pPr>
            <a:endParaRPr lang="nl-BE" sz="1600" dirty="0">
              <a:latin typeface="Verdana" charset="0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504F96FC-5AED-5C46-B30E-AABD5AA3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398" y="2241621"/>
            <a:ext cx="2066879" cy="65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82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BD3CA0D8-8C62-52B6-F469-93CFBBB5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668" y="1336431"/>
            <a:ext cx="6852108" cy="423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5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D0FADBE-B4DE-A04B-B00F-EB7E14EA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t-test: assumpties (1)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F21C5C0-CE28-3148-9BD2-6876A1D78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BCBF0FDD-EB54-1A4B-82C4-033286B23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nl-BE" dirty="0">
                <a:ea typeface="ＭＳ Ｐゴシック" pitchFamily="-111" charset="-128"/>
                <a:cs typeface="ＭＳ Ｐゴシック" pitchFamily="-111" charset="-128"/>
              </a:rPr>
              <a:t>Voorwaarden om t-test te mogen gebruiken?</a:t>
            </a:r>
          </a:p>
          <a:p>
            <a:pPr lvl="1">
              <a:lnSpc>
                <a:spcPct val="90000"/>
              </a:lnSpc>
              <a:defRPr/>
            </a:pPr>
            <a:r>
              <a:rPr lang="nl-BE" dirty="0">
                <a:ea typeface="ＭＳ Ｐゴシック" pitchFamily="-111" charset="-128"/>
                <a:cs typeface="ＭＳ Ｐゴシック" pitchFamily="-111" charset="-128"/>
              </a:rPr>
              <a:t>Afhankelijke variabele is normaal verdeeld</a:t>
            </a:r>
          </a:p>
          <a:p>
            <a:pPr lvl="1">
              <a:lnSpc>
                <a:spcPct val="90000"/>
              </a:lnSpc>
              <a:defRPr/>
            </a:pPr>
            <a:r>
              <a:rPr lang="nl-BE" dirty="0">
                <a:ea typeface="ＭＳ Ｐゴシック" pitchFamily="-111" charset="-128"/>
                <a:cs typeface="ＭＳ Ｐゴシック" pitchFamily="-111" charset="-128"/>
              </a:rPr>
              <a:t>Binnengroepvarianties zijn gelijk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nl-BE" dirty="0">
              <a:ea typeface="ＭＳ Ｐゴシック" pitchFamily="-111" charset="-128"/>
              <a:cs typeface="ＭＳ Ｐゴシック" pitchFamily="-111" charset="-128"/>
            </a:endParaRPr>
          </a:p>
          <a:p>
            <a:pPr>
              <a:lnSpc>
                <a:spcPct val="90000"/>
              </a:lnSpc>
              <a:defRPr/>
            </a:pPr>
            <a:r>
              <a:rPr lang="nl-BE" dirty="0">
                <a:ea typeface="ＭＳ Ｐゴシック" pitchFamily="-111" charset="-128"/>
                <a:cs typeface="ＭＳ Ｐゴシック" pitchFamily="-111" charset="-128"/>
              </a:rPr>
              <a:t>Assumptie m.b.t. binnengroepvarianties checken in R </a:t>
            </a:r>
            <a:r>
              <a:rPr lang="nl-BE" sz="1800" dirty="0">
                <a:ea typeface="ＭＳ Ｐゴシック" pitchFamily="-111" charset="-128"/>
                <a:cs typeface="ＭＳ Ｐゴシック" pitchFamily="-111" charset="-128"/>
              </a:rPr>
              <a:t>(package car laden)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nl-BE" dirty="0">
              <a:ea typeface="ＭＳ Ｐゴシック" pitchFamily="-111" charset="-128"/>
              <a:cs typeface="ＭＳ Ｐゴシック" pitchFamily="-111" charset="-128"/>
            </a:endParaRP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nl-BE" dirty="0">
              <a:latin typeface="Courier New" pitchFamily="-111" charset="0"/>
              <a:ea typeface="ＭＳ Ｐゴシック" pitchFamily="-111" charset="-128"/>
              <a:cs typeface="Courier New" pitchFamily="-111" charset="0"/>
            </a:endParaRP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nl-BE" dirty="0">
              <a:latin typeface="Courier New" pitchFamily="-111" charset="0"/>
              <a:ea typeface="ＭＳ Ｐゴシック" pitchFamily="-111" charset="-128"/>
              <a:cs typeface="Courier New" pitchFamily="-111" charset="0"/>
            </a:endParaRP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nl-BE" dirty="0">
              <a:latin typeface="Courier New" pitchFamily="-111" charset="0"/>
              <a:ea typeface="ＭＳ Ｐゴシック" pitchFamily="-111" charset="-128"/>
              <a:cs typeface="Courier New" pitchFamily="-111" charset="0"/>
            </a:endParaRPr>
          </a:p>
          <a:p>
            <a:pPr marL="0" indent="0">
              <a:lnSpc>
                <a:spcPct val="90000"/>
              </a:lnSpc>
              <a:defRPr/>
            </a:pPr>
            <a:endParaRPr lang="nl-BE" dirty="0">
              <a:ea typeface="ＭＳ Ｐゴシック" pitchFamily="-111" charset="-128"/>
              <a:cs typeface="ＭＳ Ｐゴシック" pitchFamily="-111" charset="-128"/>
            </a:endParaRPr>
          </a:p>
          <a:p>
            <a:endParaRPr lang="nl-BE" dirty="0"/>
          </a:p>
        </p:txBody>
      </p:sp>
      <p:pic>
        <p:nvPicPr>
          <p:cNvPr id="10" name="Afbeelding 9" descr="Afbeelding met tekst&#10;&#10;Automatisch gegenereerde beschrijving">
            <a:extLst>
              <a:ext uri="{FF2B5EF4-FFF2-40B4-BE49-F238E27FC236}">
                <a16:creationId xmlns:a16="http://schemas.microsoft.com/office/drawing/2014/main" id="{DB58656E-385E-784B-BF1B-75ED0556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19" y="3907148"/>
            <a:ext cx="7301133" cy="1710938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E50482A-6173-2146-A730-44BF4287B585}"/>
              </a:ext>
            </a:extLst>
          </p:cNvPr>
          <p:cNvSpPr/>
          <p:nvPr/>
        </p:nvSpPr>
        <p:spPr bwMode="auto">
          <a:xfrm>
            <a:off x="3061143" y="4993653"/>
            <a:ext cx="862676" cy="287338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nl-NL">
              <a:solidFill>
                <a:srgbClr val="25256F"/>
              </a:solidFill>
              <a:latin typeface="Times New Roman" pitchFamily="-111" charset="0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E818F175-EE65-084B-BAB2-D0815E435DAF}"/>
              </a:ext>
            </a:extLst>
          </p:cNvPr>
          <p:cNvSpPr txBox="1"/>
          <p:nvPr/>
        </p:nvSpPr>
        <p:spPr>
          <a:xfrm>
            <a:off x="5173884" y="5092861"/>
            <a:ext cx="4977113" cy="124631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b="1" i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lang="nl-BE" b="1" i="1" baseline="-250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nl-BE" b="1" i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: er is geen verschil in binnengroepvarianties</a:t>
            </a:r>
          </a:p>
          <a:p>
            <a:r>
              <a:rPr lang="nl-BE" b="1" i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lang="nl-BE" b="1" i="1" baseline="-250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nl-BE" b="1" i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: er is wel een verschil in binnengroepvarianties</a:t>
            </a:r>
          </a:p>
          <a:p>
            <a:endParaRPr lang="nl-BE" b="1" i="1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/>
            <a:r>
              <a:rPr lang="nl-BE" b="1" i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DUS…</a:t>
            </a:r>
          </a:p>
        </p:txBody>
      </p:sp>
    </p:spTree>
    <p:extLst>
      <p:ext uri="{BB962C8B-B14F-4D97-AF65-F5344CB8AC3E}">
        <p14:creationId xmlns:p14="http://schemas.microsoft.com/office/powerpoint/2010/main" val="34132681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4DC3F-011F-C645-9C33-AD3F68F3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t-test: assumpties (2)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D8D08BD-344B-5248-BA89-EBFA72326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44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30D6969-7804-494D-8227-4D7D3D0C0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Wat als binnengroepvarianties wel verschillen?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F17ADF7-C27F-5D49-AEBE-B3CCF4126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6" t="6752" r="9723"/>
          <a:stretch/>
        </p:blipFill>
        <p:spPr bwMode="auto">
          <a:xfrm>
            <a:off x="1898247" y="2268637"/>
            <a:ext cx="7396223" cy="3106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37B38B92-80D3-F440-A000-15D7F45DEDED}"/>
              </a:ext>
            </a:extLst>
          </p:cNvPr>
          <p:cNvCxnSpPr/>
          <p:nvPr/>
        </p:nvCxnSpPr>
        <p:spPr>
          <a:xfrm>
            <a:off x="3345084" y="5092861"/>
            <a:ext cx="1851949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79D4E1D-A34C-AC4A-9939-34E5B273D2AA}"/>
              </a:ext>
            </a:extLst>
          </p:cNvPr>
          <p:cNvCxnSpPr/>
          <p:nvPr/>
        </p:nvCxnSpPr>
        <p:spPr>
          <a:xfrm>
            <a:off x="7085641" y="5094788"/>
            <a:ext cx="1851949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377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8400AE-50D4-65BF-E5DE-C6C8FA96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Ander voorbeeldje (deel 1)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2BA7E5D-5440-C635-7E4B-1B5FF8965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45</a:t>
            </a:fld>
            <a:endParaRPr lang="nl-BE" dirty="0"/>
          </a:p>
        </p:txBody>
      </p:sp>
      <p:graphicFrame>
        <p:nvGraphicFramePr>
          <p:cNvPr id="5" name="Tijdelijke aanduiding voor inhoud 4">
            <a:extLst>
              <a:ext uri="{FF2B5EF4-FFF2-40B4-BE49-F238E27FC236}">
                <a16:creationId xmlns:a16="http://schemas.microsoft.com/office/drawing/2014/main" id="{5957B635-9D77-C4C5-1016-52080AAED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1630927"/>
              </p:ext>
            </p:extLst>
          </p:nvPr>
        </p:nvGraphicFramePr>
        <p:xfrm>
          <a:off x="623888" y="1576388"/>
          <a:ext cx="794772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611">
                  <a:extLst>
                    <a:ext uri="{9D8B030D-6E8A-4147-A177-3AD203B41FA5}">
                      <a16:colId xmlns:a16="http://schemas.microsoft.com/office/drawing/2014/main" val="3059383917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552565108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4090646854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744708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Gemiddelde</a:t>
                      </a:r>
                    </a:p>
                    <a:p>
                      <a:pPr algn="ctr"/>
                      <a:r>
                        <a:rPr lang="nl-B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4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2024 (controle)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2025 (interventie)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984587"/>
                  </a:ext>
                </a:extLst>
              </a:tr>
            </a:tbl>
          </a:graphicData>
        </a:graphic>
      </p:graphicFrame>
      <p:sp>
        <p:nvSpPr>
          <p:cNvPr id="6" name="Tekstvak 5">
            <a:extLst>
              <a:ext uri="{FF2B5EF4-FFF2-40B4-BE49-F238E27FC236}">
                <a16:creationId xmlns:a16="http://schemas.microsoft.com/office/drawing/2014/main" id="{797F6CD2-18B7-3C39-3E6B-A9F9259844DE}"/>
              </a:ext>
            </a:extLst>
          </p:cNvPr>
          <p:cNvSpPr txBox="1"/>
          <p:nvPr/>
        </p:nvSpPr>
        <p:spPr>
          <a:xfrm>
            <a:off x="623888" y="3597310"/>
            <a:ext cx="10944225" cy="26399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Een leerkracht wil weten of het introduceren van een extra rondje peerfeedback (= interventie) ertoe leidt dat z’n leerlingen een betere argumentatieve tekst schrijven.  </a:t>
            </a:r>
          </a:p>
          <a:p>
            <a:pPr algn="l"/>
            <a:endParaRPr lang="nl-BE" sz="2800" i="1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nl-BE" sz="2800" i="1" dirty="0">
                <a:solidFill>
                  <a:schemeClr val="accent2"/>
                </a:solidFill>
              </a:rPr>
              <a:t>Is het verschil van 5 punten groter dan wat je van jaar-op-jaar variatie zou verwachten?</a:t>
            </a:r>
            <a:endParaRPr lang="nl-BE" sz="2800" i="1" dirty="0">
              <a:solidFill>
                <a:schemeClr val="accent2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4681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41F350A-588B-D40D-2A6D-93E4D04D7C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38888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46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1E010AE-3667-3BE0-D656-C6078E59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55" y="879675"/>
            <a:ext cx="7322159" cy="476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0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EB6A-7E7B-F319-F29C-FEFBEEF45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7D43B-0C17-73DF-7A9C-7F430A33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Ander voorbeeldje (deel 2)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91E12-829B-6D2B-2CB1-19FE30334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47</a:t>
            </a:fld>
            <a:endParaRPr lang="nl-BE" dirty="0"/>
          </a:p>
        </p:txBody>
      </p:sp>
      <p:graphicFrame>
        <p:nvGraphicFramePr>
          <p:cNvPr id="5" name="Tijdelijke aanduiding voor inhoud 4">
            <a:extLst>
              <a:ext uri="{FF2B5EF4-FFF2-40B4-BE49-F238E27FC236}">
                <a16:creationId xmlns:a16="http://schemas.microsoft.com/office/drawing/2014/main" id="{828D307D-0E82-59B3-E8A4-0548AA6740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12190"/>
              </p:ext>
            </p:extLst>
          </p:nvPr>
        </p:nvGraphicFramePr>
        <p:xfrm>
          <a:off x="623888" y="1576388"/>
          <a:ext cx="794772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611">
                  <a:extLst>
                    <a:ext uri="{9D8B030D-6E8A-4147-A177-3AD203B41FA5}">
                      <a16:colId xmlns:a16="http://schemas.microsoft.com/office/drawing/2014/main" val="3059383917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552565108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4090646854"/>
                    </a:ext>
                  </a:extLst>
                </a:gridCol>
                <a:gridCol w="1824037">
                  <a:extLst>
                    <a:ext uri="{9D8B030D-6E8A-4147-A177-3AD203B41FA5}">
                      <a16:colId xmlns:a16="http://schemas.microsoft.com/office/drawing/2014/main" val="2744708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Gemiddelde</a:t>
                      </a:r>
                    </a:p>
                    <a:p>
                      <a:pPr algn="ctr"/>
                      <a:r>
                        <a:rPr lang="nl-B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49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2024 (controle)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rgbClr val="C00000"/>
                          </a:solidFill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0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2025 (interventie)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rgbClr val="C00000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dirty="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984587"/>
                  </a:ext>
                </a:extLst>
              </a:tr>
            </a:tbl>
          </a:graphicData>
        </a:graphic>
      </p:graphicFrame>
      <p:sp>
        <p:nvSpPr>
          <p:cNvPr id="6" name="Tekstvak 5">
            <a:extLst>
              <a:ext uri="{FF2B5EF4-FFF2-40B4-BE49-F238E27FC236}">
                <a16:creationId xmlns:a16="http://schemas.microsoft.com/office/drawing/2014/main" id="{44E5DD3A-5A22-99BD-EC45-62DCA129FDC6}"/>
              </a:ext>
            </a:extLst>
          </p:cNvPr>
          <p:cNvSpPr txBox="1"/>
          <p:nvPr/>
        </p:nvSpPr>
        <p:spPr>
          <a:xfrm>
            <a:off x="623888" y="3597310"/>
            <a:ext cx="10944225" cy="26399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nl-BE" sz="2800" i="1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Een onderzoekster </a:t>
            </a:r>
            <a:r>
              <a:rPr lang="nl-BE" sz="2800" i="1" dirty="0">
                <a:latin typeface="Gotham" panose="02000603040000020004" pitchFamily="2" charset="0"/>
                <a:ea typeface="Verdana" panose="020B0604030504040204" pitchFamily="34" charset="0"/>
                <a:cs typeface="Verdana" panose="020B0604030504040204" pitchFamily="34" charset="0"/>
              </a:rPr>
              <a:t>wil weten of het introduceren van een extra rondje peerfeedback (= interventie) ertoe leidt dat leerlingen een betere argumentatieve tekst schrijven. Ze zet een studie uit bij 168 leerlingen.  </a:t>
            </a:r>
          </a:p>
          <a:p>
            <a:pPr algn="l"/>
            <a:endParaRPr lang="nl-BE" sz="2800" i="1" dirty="0"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nl-BE" sz="2800" i="1" dirty="0">
                <a:solidFill>
                  <a:schemeClr val="accent2"/>
                </a:solidFill>
              </a:rPr>
              <a:t>Is het verschil van 5 punten groter dan wat je van jaar-op-jaar variatie zou verwachten?</a:t>
            </a:r>
            <a:endParaRPr lang="nl-BE" sz="2800" i="1" dirty="0">
              <a:solidFill>
                <a:schemeClr val="accent2"/>
              </a:solidFill>
              <a:latin typeface="Gotham" panose="0200060304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791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28C8-A2F8-F469-EF80-A1CEB6F0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D1AFF57-88C3-1DA4-2111-550967553A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38888"/>
            <a:ext cx="2743200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48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F228E4C-652C-BF43-E4C4-6C96D0E7F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46" y="1111248"/>
            <a:ext cx="7326000" cy="477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27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7205D-CF05-524B-96D7-CAA81FF1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t-test: hoe groot is het effect?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681C029-9A98-4642-A46D-1D2E29975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49</a:t>
            </a:fld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CB5AD2C-946F-A34F-B9D6-0C3017E2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Cohen’s d: </a:t>
            </a:r>
          </a:p>
          <a:p>
            <a:pPr marL="0" indent="0">
              <a:buNone/>
            </a:pPr>
            <a:endParaRPr lang="nl-BE" dirty="0"/>
          </a:p>
          <a:p>
            <a:r>
              <a:rPr lang="nl-BE" dirty="0"/>
              <a:t>Interpretatie?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In R:</a:t>
            </a:r>
          </a:p>
          <a:p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7CB6DDF-C424-2E45-81BD-69136BAD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83" y="5020399"/>
            <a:ext cx="6232865" cy="882689"/>
          </a:xfrm>
          <a:prstGeom prst="rect">
            <a:avLst/>
          </a:prstGeom>
        </p:spPr>
      </p:pic>
      <p:pic>
        <p:nvPicPr>
          <p:cNvPr id="9" name="Afbeelding 8" descr="Afbeelding met tafel&#10;&#10;Automatisch gegenereerde beschrijving">
            <a:extLst>
              <a:ext uri="{FF2B5EF4-FFF2-40B4-BE49-F238E27FC236}">
                <a16:creationId xmlns:a16="http://schemas.microsoft.com/office/drawing/2014/main" id="{55B761FF-2CFF-D042-B9CC-40E5F5231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990" y="2588909"/>
            <a:ext cx="4965700" cy="1866900"/>
          </a:xfrm>
          <a:prstGeom prst="rect">
            <a:avLst/>
          </a:prstGeom>
        </p:spPr>
      </p:pic>
      <p:pic>
        <p:nvPicPr>
          <p:cNvPr id="6" name="Afbeelding 7">
            <a:extLst>
              <a:ext uri="{FF2B5EF4-FFF2-40B4-BE49-F238E27FC236}">
                <a16:creationId xmlns:a16="http://schemas.microsoft.com/office/drawing/2014/main" id="{76AC9A9E-1462-421D-97F9-CBC97B850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025" y="1219952"/>
            <a:ext cx="2743200" cy="122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325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0AD0-D595-E14F-B23C-32853A09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Significantie en effectgrootte</a:t>
            </a:r>
            <a:endParaRPr lang="en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9C863-A5D5-2E4E-BD1E-C5C0C33F5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50</a:t>
            </a:fld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EE56D-9E70-0247-BF90-A55B885DB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Kan je verklaren waarom… </a:t>
            </a:r>
          </a:p>
          <a:p>
            <a:pPr lvl="1"/>
            <a:r>
              <a:rPr lang="nl-BE" dirty="0"/>
              <a:t>een miniem verschil tussen beide condities toch een significante t-test oplevert?</a:t>
            </a:r>
          </a:p>
          <a:p>
            <a:pPr lvl="1"/>
            <a:r>
              <a:rPr lang="nl-BE" dirty="0"/>
              <a:t>een verschil niet significant is, maar wel een medium tot sterk effect heeft?</a:t>
            </a:r>
          </a:p>
          <a:p>
            <a:endParaRPr lang="nl-BE" dirty="0"/>
          </a:p>
          <a:p>
            <a:pPr marL="0" indent="0">
              <a:buNone/>
            </a:pP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140102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0AD0-D595-E14F-B23C-32853A09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Significantie en effectgrootte</a:t>
            </a:r>
            <a:endParaRPr lang="en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9C863-A5D5-2E4E-BD1E-C5C0C33F5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51</a:t>
            </a:fld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EE56D-9E70-0247-BF90-A55B885DB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nl-BE" dirty="0"/>
              <a:t>Kan je verklaren waarom… </a:t>
            </a:r>
          </a:p>
          <a:p>
            <a:pPr lvl="1"/>
            <a:r>
              <a:rPr lang="nl-BE" dirty="0"/>
              <a:t>een miniem verschil tussen beide condities toch een significante t-test oplevert?</a:t>
            </a:r>
          </a:p>
          <a:p>
            <a:pPr lvl="1"/>
            <a:r>
              <a:rPr lang="nl-BE" dirty="0"/>
              <a:t>een verschil niet significant is, maar wel een medium tot sterk effect heeft?</a:t>
            </a:r>
          </a:p>
          <a:p>
            <a:endParaRPr lang="nl-BE" dirty="0"/>
          </a:p>
          <a:p>
            <a:r>
              <a:rPr lang="nl-BE" dirty="0"/>
              <a:t>Vergelijking gebaseerd op betrouwbaarheidsintervallen</a:t>
            </a:r>
          </a:p>
          <a:p>
            <a:endParaRPr lang="en-BE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0EEAA64-5171-6248-941A-F931C2084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572" y="4094726"/>
            <a:ext cx="27368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6584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603D24-3188-014B-8B9E-F9C69EA92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met een repeated measures design?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38D5BBC-D8CC-8B4D-B88B-90DAEBCD6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52</a:t>
            </a:fld>
            <a:endParaRPr lang="nl-BE" dirty="0"/>
          </a:p>
        </p:txBody>
      </p:sp>
      <p:pic>
        <p:nvPicPr>
          <p:cNvPr id="5" name="Picture 20">
            <a:extLst>
              <a:ext uri="{FF2B5EF4-FFF2-40B4-BE49-F238E27FC236}">
                <a16:creationId xmlns:a16="http://schemas.microsoft.com/office/drawing/2014/main" id="{0834F47D-9CE4-344F-927E-58FEF176B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2" t="16847" r="24794" b="7680"/>
          <a:stretch>
            <a:fillRect/>
          </a:stretch>
        </p:blipFill>
        <p:spPr bwMode="auto">
          <a:xfrm>
            <a:off x="3116495" y="1309104"/>
            <a:ext cx="5101882" cy="53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CC08DA3D-2ED0-A74D-9F8F-991C858C4C4C}"/>
              </a:ext>
            </a:extLst>
          </p:cNvPr>
          <p:cNvSpPr/>
          <p:nvPr/>
        </p:nvSpPr>
        <p:spPr bwMode="auto">
          <a:xfrm>
            <a:off x="3116494" y="2852337"/>
            <a:ext cx="1212437" cy="458022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nl-NL">
              <a:solidFill>
                <a:srgbClr val="25256F"/>
              </a:solidFill>
              <a:latin typeface="Times New Roman" pitchFamily="-11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8930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795E3E2C-A823-1240-87B6-6EAD5DE6A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E5430D-CD53-7642-86E1-BD495317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t-test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2E06DD-5EEF-C245-925D-855E9B4220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nl-BE" dirty="0"/>
              <a:t>Gemiddeldes?</a:t>
            </a:r>
          </a:p>
          <a:p>
            <a:r>
              <a:rPr lang="nl-BE" dirty="0"/>
              <a:t>Assumptie binnengroepvariantie?</a:t>
            </a:r>
          </a:p>
          <a:p>
            <a:r>
              <a:rPr lang="nl-BE" dirty="0"/>
              <a:t>Statistische significantie? (t-test)</a:t>
            </a:r>
          </a:p>
          <a:p>
            <a:r>
              <a:rPr lang="nl-BE" dirty="0"/>
              <a:t>Effectgrootte?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02CB0FD9-9CCA-654F-A7ED-877FDBB83B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4575" b="-4575"/>
          <a:stretch/>
        </p:blipFill>
        <p:spPr>
          <a:xfrm>
            <a:off x="623889" y="620713"/>
            <a:ext cx="5145732" cy="5616575"/>
          </a:xfrm>
        </p:spPr>
      </p:pic>
    </p:spTree>
    <p:extLst>
      <p:ext uri="{BB962C8B-B14F-4D97-AF65-F5344CB8AC3E}">
        <p14:creationId xmlns:p14="http://schemas.microsoft.com/office/powerpoint/2010/main" val="301525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6FC219E-2B52-8B46-BCE5-D6ECF9B24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54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D75492-2D3D-2347-964F-1B7AC12D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47588DA9-5F49-F746-B1D9-BBA874481F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300680" b="-300680"/>
          <a:stretch/>
        </p:blipFill>
        <p:spPr/>
      </p:pic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8524A9C-561A-9C4D-A0F8-CCF427CC2B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6631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6">
            <a:extLst>
              <a:ext uri="{FF2B5EF4-FFF2-40B4-BE49-F238E27FC236}">
                <a16:creationId xmlns:a16="http://schemas.microsoft.com/office/drawing/2014/main" id="{08B94770-57EA-DBB8-3D86-EE1E970C05DE}"/>
              </a:ext>
            </a:extLst>
          </p:cNvPr>
          <p:cNvSpPr txBox="1"/>
          <p:nvPr/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defTabSz="1217054" eaLnBrk="1" hangingPunct="1">
              <a:spcAft>
                <a:spcPts val="600"/>
              </a:spcAft>
            </a:pPr>
            <a:r>
              <a:rPr lang="en-US" sz="3800" b="1" dirty="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rPr>
              <a:t>https://statb-2025-2026.netlify.app/</a:t>
            </a:r>
            <a:r>
              <a:rPr lang="en-US" sz="3800" b="1" dirty="0" err="1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rPr>
              <a:t>computer_labs</a:t>
            </a:r>
            <a:endParaRPr lang="en-US" sz="3800" b="1" dirty="0">
              <a:solidFill>
                <a:srgbClr val="FF0000"/>
              </a:solidFill>
              <a:latin typeface="Calibri" panose="020F0502020204030204" pitchFamily="34" charset="0"/>
              <a:ea typeface="Verdana" charset="0"/>
              <a:cs typeface="Calibri" panose="020F0502020204030204" pitchFamily="34" charset="0"/>
            </a:endParaRP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5609313-94F3-503B-FB67-442DE4769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55</a:t>
            </a:fld>
            <a:endParaRPr lang="nl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B9D759A-0FA3-2EFD-33F0-B92E6529B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0" r="2" b="23314"/>
          <a:stretch/>
        </p:blipFill>
        <p:spPr>
          <a:xfrm>
            <a:off x="623887" y="1577009"/>
            <a:ext cx="10944226" cy="46602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7961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2D397-0105-099C-AF21-E3AA920E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6">
            <a:extLst>
              <a:ext uri="{FF2B5EF4-FFF2-40B4-BE49-F238E27FC236}">
                <a16:creationId xmlns:a16="http://schemas.microsoft.com/office/drawing/2014/main" id="{0BAB3990-EB89-4248-03E3-2904BC7E7B08}"/>
              </a:ext>
            </a:extLst>
          </p:cNvPr>
          <p:cNvSpPr txBox="1"/>
          <p:nvPr/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defTabSz="1217054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2700" b="1" dirty="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rPr>
              <a:t>https://statb-2025-2026.netlify.app/</a:t>
            </a:r>
            <a:r>
              <a:rPr lang="en-US" sz="2700" b="1" dirty="0" err="1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rPr>
              <a:t>contactmomenten</a:t>
            </a:r>
            <a:r>
              <a:rPr lang="en-US" sz="2700" b="1" dirty="0">
                <a:solidFill>
                  <a:srgbClr val="FF0000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rPr>
              <a:t>/c1/opdrachten_c1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9ADA599-C214-60BB-FD1D-B0D8B393C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56</a:t>
            </a:fld>
            <a:endParaRPr lang="nl-BE"/>
          </a:p>
        </p:txBody>
      </p:sp>
      <p:pic>
        <p:nvPicPr>
          <p:cNvPr id="3" name="Afbeelding 2" descr="Afbeelding met tekst, schermopname, Lettertype, ontwerp&#10;&#10;Door AI gegenereerde inhoud is mogelijk onjuist.">
            <a:extLst>
              <a:ext uri="{FF2B5EF4-FFF2-40B4-BE49-F238E27FC236}">
                <a16:creationId xmlns:a16="http://schemas.microsoft.com/office/drawing/2014/main" id="{0FD3653C-B4FA-0386-6103-4AE6F2D30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9934" y="960595"/>
            <a:ext cx="8629842" cy="5743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4886985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inhoud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anchor="ctr"/>
      <a:lstStyle>
        <a:defPPr marL="179388" indent="-179388">
          <a:spcAft>
            <a:spcPts val="450"/>
          </a:spcAft>
          <a:buFont typeface="Arial" charset="0"/>
          <a:buChar char="•"/>
          <a:defRPr sz="1600" dirty="0">
            <a:latin typeface="Verdana" charset="0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2800" b="1" dirty="0">
            <a:solidFill>
              <a:schemeClr val="bg1"/>
            </a:solidFill>
            <a:latin typeface="Gotham" panose="02000603040000020004" pitchFamily="2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elslide">
  <a:themeElements>
    <a:clrScheme name="Kleuren_universiteitAntwerpen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EA2C38"/>
      </a:accent2>
      <a:accent3>
        <a:srgbClr val="44B8F3"/>
      </a:accent3>
      <a:accent4>
        <a:srgbClr val="ADA500"/>
      </a:accent4>
      <a:accent5>
        <a:srgbClr val="AC242A"/>
      </a:accent5>
      <a:accent6>
        <a:srgbClr val="65A812"/>
      </a:accent6>
      <a:hlink>
        <a:srgbClr val="006CA9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3E4096B1224744B14B28F94E3FEB1B" ma:contentTypeVersion="8" ma:contentTypeDescription="Een nieuw document maken." ma:contentTypeScope="" ma:versionID="dd69ad4b946f0bf0a6a24c2874057b2a">
  <xsd:schema xmlns:xsd="http://www.w3.org/2001/XMLSchema" xmlns:xs="http://www.w3.org/2001/XMLSchema" xmlns:p="http://schemas.microsoft.com/office/2006/metadata/properties" xmlns:ns2="6b30ab21-c247-4d68-a057-2d2e000e95f9" targetNamespace="http://schemas.microsoft.com/office/2006/metadata/properties" ma:root="true" ma:fieldsID="89681776de429ea430604d1296cc4f75" ns2:_="">
    <xsd:import namespace="6b30ab21-c247-4d68-a057-2d2e000e9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0ab21-c247-4d68-a057-2d2e000e9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20CB21-9F62-47FD-B7F7-36DB82D241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B22DFF-6DA5-4C17-8140-63EE3C33F6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30ab21-c247-4d68-a057-2d2e000e9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A34A2B-D391-4E7B-9E35-48290D9CD6C9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6b30ab21-c247-4d68-a057-2d2e000e95f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3301</TotalTime>
  <Words>1902</Words>
  <Application>Microsoft Macintosh PowerPoint</Application>
  <PresentationFormat>Breedbeeld</PresentationFormat>
  <Paragraphs>380</Paragraphs>
  <Slides>56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56</vt:i4>
      </vt:variant>
    </vt:vector>
  </HeadingPairs>
  <TitlesOfParts>
    <vt:vector size="71" baseType="lpstr">
      <vt:lpstr>ＭＳ Ｐゴシック</vt:lpstr>
      <vt:lpstr>Aptos</vt:lpstr>
      <vt:lpstr>Arial</vt:lpstr>
      <vt:lpstr>Calibri</vt:lpstr>
      <vt:lpstr>Calibri Light</vt:lpstr>
      <vt:lpstr>Cambria Math</vt:lpstr>
      <vt:lpstr>Courier New</vt:lpstr>
      <vt:lpstr>Gotham</vt:lpstr>
      <vt:lpstr>ITC Officina Sans Std Book</vt:lpstr>
      <vt:lpstr>Times New Roman</vt:lpstr>
      <vt:lpstr>Trebuchet MS</vt:lpstr>
      <vt:lpstr>Verdana</vt:lpstr>
      <vt:lpstr>Wingdings</vt:lpstr>
      <vt:lpstr>UAntwerpen-inhoud</vt:lpstr>
      <vt:lpstr>UAntwerpen_titelslide</vt:lpstr>
      <vt:lpstr>Statistiek B – contactmoment 1</vt:lpstr>
      <vt:lpstr>PowerPoint-presentatie</vt:lpstr>
      <vt:lpstr>Praktisch</vt:lpstr>
      <vt:lpstr>Cursusmateriaal</vt:lpstr>
      <vt:lpstr>Opbouw statistiek B</vt:lpstr>
      <vt:lpstr>Opbouw statistiek B</vt:lpstr>
      <vt:lpstr>Evaluatie</vt:lpstr>
      <vt:lpstr>Statistiek A?</vt:lpstr>
      <vt:lpstr>Analysetechnieken</vt:lpstr>
      <vt:lpstr>Meetniveau variabelen</vt:lpstr>
      <vt:lpstr>Meetniveau variabelen</vt:lpstr>
      <vt:lpstr>Welke variabelen?</vt:lpstr>
      <vt:lpstr>Relaties tussen variabelen?</vt:lpstr>
      <vt:lpstr>Relaties tussen variabelen</vt:lpstr>
      <vt:lpstr>Causale versus niet-causale verbanden (1)</vt:lpstr>
      <vt:lpstr>Causale versus niet-causale verbanden (2)</vt:lpstr>
      <vt:lpstr>Complexere verbanden: controle variabelen</vt:lpstr>
      <vt:lpstr>Complexere verbanden: interactie tussen variabelen</vt:lpstr>
      <vt:lpstr>Hoe gepaste techniek kiezen?</vt:lpstr>
      <vt:lpstr>Oefening</vt:lpstr>
      <vt:lpstr>t-test</vt:lpstr>
      <vt:lpstr>PowerPoint-presentatie</vt:lpstr>
      <vt:lpstr>PowerPoint-presentatie</vt:lpstr>
      <vt:lpstr>2 vormen van t-test</vt:lpstr>
      <vt:lpstr>Hoe nagaan of er een effect is?</vt:lpstr>
      <vt:lpstr>Hoe nagaan of er een effect is?</vt:lpstr>
      <vt:lpstr>Hoe nagaan of er een effect is?</vt:lpstr>
      <vt:lpstr>Wat kan er aan de hand zijn?</vt:lpstr>
      <vt:lpstr>De ene fout is de andere niet…</vt:lpstr>
      <vt:lpstr>Van brandalarm naar statistiek?</vt:lpstr>
      <vt:lpstr>Van brandalarm naar statistiek?</vt:lpstr>
      <vt:lpstr>Type I en type II fouten</vt:lpstr>
      <vt:lpstr>Type 1 en 2 fouten bij brandalarm:</vt:lpstr>
      <vt:lpstr>rationale van de t-test</vt:lpstr>
      <vt:lpstr>basis van de t-test: twee soorten variantie</vt:lpstr>
      <vt:lpstr>t-test steunt op een t-waarde</vt:lpstr>
      <vt:lpstr>Betekenis t-waarde</vt:lpstr>
      <vt:lpstr>van t-waarde naar de t-test, de t-verdeling</vt:lpstr>
      <vt:lpstr>van t-waarde naar de t-test, de t-verdeling</vt:lpstr>
      <vt:lpstr>t-test: vuistregel</vt:lpstr>
      <vt:lpstr>t-test in R</vt:lpstr>
      <vt:lpstr>PowerPoint-presentatie</vt:lpstr>
      <vt:lpstr>t-test: assumpties (1)</vt:lpstr>
      <vt:lpstr>t-test: assumpties (2)</vt:lpstr>
      <vt:lpstr>Ander voorbeeldje (deel 1)</vt:lpstr>
      <vt:lpstr>PowerPoint-presentatie</vt:lpstr>
      <vt:lpstr>Ander voorbeeldje (deel 2)</vt:lpstr>
      <vt:lpstr>PowerPoint-presentatie</vt:lpstr>
      <vt:lpstr>t-test: hoe groot is het effect?</vt:lpstr>
      <vt:lpstr>Significantie en effectgrootte</vt:lpstr>
      <vt:lpstr>Significantie en effectgrootte</vt:lpstr>
      <vt:lpstr>Wat met een repeated measures design?</vt:lpstr>
      <vt:lpstr>t-test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Sven De Maeyer</cp:lastModifiedBy>
  <cp:revision>146</cp:revision>
  <dcterms:created xsi:type="dcterms:W3CDTF">2020-12-07T09:05:54Z</dcterms:created>
  <dcterms:modified xsi:type="dcterms:W3CDTF">2026-02-11T07:21:20Z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0x010100D33E4096B1224744B14B28F94E3FEB1B</vt:lpwstr>
  </property>
</Properties>
</file>