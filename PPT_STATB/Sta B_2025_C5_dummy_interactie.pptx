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72"/>
  </p:notesMasterIdLst>
  <p:sldIdLst>
    <p:sldId id="257" r:id="rId6"/>
    <p:sldId id="268" r:id="rId7"/>
    <p:sldId id="273" r:id="rId8"/>
    <p:sldId id="451" r:id="rId9"/>
    <p:sldId id="429" r:id="rId10"/>
    <p:sldId id="450" r:id="rId11"/>
    <p:sldId id="470" r:id="rId12"/>
    <p:sldId id="458" r:id="rId13"/>
    <p:sldId id="452" r:id="rId14"/>
    <p:sldId id="386" r:id="rId15"/>
    <p:sldId id="522" r:id="rId16"/>
    <p:sldId id="453" r:id="rId17"/>
    <p:sldId id="454" r:id="rId18"/>
    <p:sldId id="455" r:id="rId19"/>
    <p:sldId id="456" r:id="rId20"/>
    <p:sldId id="457" r:id="rId21"/>
    <p:sldId id="459" r:id="rId22"/>
    <p:sldId id="462" r:id="rId23"/>
    <p:sldId id="463" r:id="rId24"/>
    <p:sldId id="464" r:id="rId25"/>
    <p:sldId id="460" r:id="rId26"/>
    <p:sldId id="465" r:id="rId27"/>
    <p:sldId id="466" r:id="rId28"/>
    <p:sldId id="496" r:id="rId29"/>
    <p:sldId id="461" r:id="rId30"/>
    <p:sldId id="497" r:id="rId31"/>
    <p:sldId id="469" r:id="rId32"/>
    <p:sldId id="468" r:id="rId33"/>
    <p:sldId id="479" r:id="rId34"/>
    <p:sldId id="473" r:id="rId35"/>
    <p:sldId id="472" r:id="rId36"/>
    <p:sldId id="474" r:id="rId37"/>
    <p:sldId id="477" r:id="rId38"/>
    <p:sldId id="471" r:id="rId39"/>
    <p:sldId id="478" r:id="rId40"/>
    <p:sldId id="475" r:id="rId41"/>
    <p:sldId id="480" r:id="rId42"/>
    <p:sldId id="481" r:id="rId43"/>
    <p:sldId id="482" r:id="rId44"/>
    <p:sldId id="483" r:id="rId45"/>
    <p:sldId id="498" r:id="rId46"/>
    <p:sldId id="499" r:id="rId47"/>
    <p:sldId id="485" r:id="rId48"/>
    <p:sldId id="518" r:id="rId49"/>
    <p:sldId id="291" r:id="rId50"/>
    <p:sldId id="486" r:id="rId51"/>
    <p:sldId id="384" r:id="rId52"/>
    <p:sldId id="503" r:id="rId53"/>
    <p:sldId id="519" r:id="rId54"/>
    <p:sldId id="504" r:id="rId55"/>
    <p:sldId id="523" r:id="rId56"/>
    <p:sldId id="506" r:id="rId57"/>
    <p:sldId id="507" r:id="rId58"/>
    <p:sldId id="508" r:id="rId59"/>
    <p:sldId id="509" r:id="rId60"/>
    <p:sldId id="524" r:id="rId61"/>
    <p:sldId id="510" r:id="rId62"/>
    <p:sldId id="520" r:id="rId63"/>
    <p:sldId id="521" r:id="rId64"/>
    <p:sldId id="511" r:id="rId65"/>
    <p:sldId id="512" r:id="rId66"/>
    <p:sldId id="513" r:id="rId67"/>
    <p:sldId id="514" r:id="rId68"/>
    <p:sldId id="516" r:id="rId69"/>
    <p:sldId id="517" r:id="rId70"/>
    <p:sldId id="325" r:id="rId71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e van Daal" initials="TvD" lastIdx="2" clrIdx="0">
    <p:extLst>
      <p:ext uri="{19B8F6BF-5375-455C-9EA6-DF929625EA0E}">
        <p15:presenceInfo xmlns:p15="http://schemas.microsoft.com/office/powerpoint/2012/main" userId="S::tvdaal@ad.ua.ac.be::ecf543c1-d1bd-4274-b68c-558406766b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594"/>
    <a:srgbClr val="9ECAE1"/>
    <a:srgbClr val="1C00FF"/>
    <a:srgbClr val="D6D6D6"/>
    <a:srgbClr val="2A77CF"/>
    <a:srgbClr val="983466"/>
    <a:srgbClr val="000000"/>
    <a:srgbClr val="9A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B1032C-EA38-4F05-BA0D-38AFFFC7BED3}" styleName="Stijl, licht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ijl, licht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ijl, licht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8"/>
    <p:restoredTop sz="95068"/>
  </p:normalViewPr>
  <p:slideViewPr>
    <p:cSldViewPr snapToGrid="0" snapToObjects="1" showGuides="1">
      <p:cViewPr varScale="1">
        <p:scale>
          <a:sx n="120" d="100"/>
          <a:sy n="120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commentAuthors" Target="commentAuthors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De Maeyer" userId="a7710417-13f0-4fe1-865c-72edd2f5f89d" providerId="ADAL" clId="{3BD63810-B0EB-5A6E-8A65-25868AB27A41}"/>
    <pc:docChg chg="modSld">
      <pc:chgData name="Sven De Maeyer" userId="a7710417-13f0-4fe1-865c-72edd2f5f89d" providerId="ADAL" clId="{3BD63810-B0EB-5A6E-8A65-25868AB27A41}" dt="2026-03-28T11:24:11.618" v="10" actId="20577"/>
      <pc:docMkLst>
        <pc:docMk/>
      </pc:docMkLst>
      <pc:sldChg chg="modSp mod">
        <pc:chgData name="Sven De Maeyer" userId="a7710417-13f0-4fe1-865c-72edd2f5f89d" providerId="ADAL" clId="{3BD63810-B0EB-5A6E-8A65-25868AB27A41}" dt="2026-03-28T11:24:11.618" v="10" actId="20577"/>
        <pc:sldMkLst>
          <pc:docMk/>
          <pc:sldMk cId="2323801077" sldId="257"/>
        </pc:sldMkLst>
        <pc:spChg chg="mod">
          <ac:chgData name="Sven De Maeyer" userId="a7710417-13f0-4fe1-865c-72edd2f5f89d" providerId="ADAL" clId="{3BD63810-B0EB-5A6E-8A65-25868AB27A41}" dt="2026-03-28T11:24:11.618" v="10" actId="20577"/>
          <ac:spMkLst>
            <pc:docMk/>
            <pc:sldMk cId="2323801077" sldId="257"/>
            <ac:spMk id="3" creationId="{BE59F27B-4FA1-1945-B3AE-2234EB3F59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024AD-D02E-1148-9813-A0DDE1A9AA61}" type="datetimeFigureOut">
              <a:rPr lang="nl-BE" smtClean="0"/>
              <a:t>28/03/2026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03808-A6AE-8847-8EC6-9F383425AE8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95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577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62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enkel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1F0EA669-8677-CD4C-AD8D-C4852AC0E3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SzPct val="75000"/>
              <a:buFont typeface="Wingdings" pitchFamily="2" charset="2"/>
              <a:buChar char="§"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r>
              <a:rPr lang="nl-NL" dirty="0"/>
              <a:t>Eerste niveau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BE210D56-4E21-934F-8202-FD47D01F6AA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64313" y="2272145"/>
            <a:ext cx="5003800" cy="3965142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</p:spPr>
        <p:txBody>
          <a:bodyPr lIns="0" tIns="0" rIns="0" bIns="0">
            <a:noAutofit/>
          </a:bodyPr>
          <a:lstStyle>
            <a:lvl1pPr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6" name="Tijdelijke aanduiding voor dianummer 3">
            <a:extLst>
              <a:ext uri="{FF2B5EF4-FFF2-40B4-BE49-F238E27FC236}">
                <a16:creationId xmlns:a16="http://schemas.microsoft.com/office/drawing/2014/main" id="{00FD63E4-7A1F-3F45-BEA4-5214676296E8}"/>
              </a:ext>
            </a:extLst>
          </p:cNvPr>
          <p:cNvSpPr txBox="1">
            <a:spLocks/>
          </p:cNvSpPr>
          <p:nvPr userDrawn="1"/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fld id="{E038E271-308C-2E46-A3EC-56326F9084CC}" type="slidenum">
              <a:rPr lang="nl-BE" b="0" i="0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‹nr.›</a:t>
            </a:fld>
            <a:endParaRPr lang="nl-BE" b="0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/>
              <a:t>Quote</a:t>
            </a:r>
            <a:endParaRPr lang="en-BE" dirty="0"/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BE" sz="1600" b="0" i="0" dirty="0">
              <a:latin typeface="ITC Officina Sans Std Book" panose="020B0506040203020204" pitchFamily="34" charset="77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9ECB3C9-12BB-DD49-AC9C-6DE65FEA7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550" cy="4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Picture Placeholder 24">
            <a:extLst>
              <a:ext uri="{FF2B5EF4-FFF2-40B4-BE49-F238E27FC236}">
                <a16:creationId xmlns:a16="http://schemas.microsoft.com/office/drawing/2014/main" id="{68654313-1537-5142-95BA-4A8661FBC4E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2596742" cy="5616575"/>
          </a:xfrm>
          <a:custGeom>
            <a:avLst/>
            <a:gdLst>
              <a:gd name="connsiteX0" fmla="*/ 0 w 2596742"/>
              <a:gd name="connsiteY0" fmla="*/ 0 h 5616575"/>
              <a:gd name="connsiteX1" fmla="*/ 2596742 w 2596742"/>
              <a:gd name="connsiteY1" fmla="*/ 0 h 5616575"/>
              <a:gd name="connsiteX2" fmla="*/ 2596742 w 2596742"/>
              <a:gd name="connsiteY2" fmla="*/ 5616575 h 5616575"/>
              <a:gd name="connsiteX3" fmla="*/ 253304 w 2596742"/>
              <a:gd name="connsiteY3" fmla="*/ 5616575 h 5616575"/>
              <a:gd name="connsiteX4" fmla="*/ 202263 w 2596742"/>
              <a:gd name="connsiteY4" fmla="*/ 5611430 h 5616575"/>
              <a:gd name="connsiteX5" fmla="*/ 0 w 259674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742" h="5616575">
                <a:moveTo>
                  <a:pt x="0" y="0"/>
                </a:moveTo>
                <a:lnTo>
                  <a:pt x="2596742" y="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reed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beel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001DE70-4479-594D-A26D-6DB2E92A0AF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2724" y="4184248"/>
            <a:ext cx="3434216" cy="2050586"/>
          </a:xfrm>
        </p:spPr>
        <p:txBody>
          <a:bodyPr lIns="0" tIns="0" rIns="0" bIns="0"/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67FEAD4B-4784-944D-8A3A-6F8F05B2424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9572" y="4184248"/>
            <a:ext cx="3444601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200DA6C-1B4D-7949-8FFA-3FD5A35A03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5016" y="4184248"/>
            <a:ext cx="3422523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7770" y="3547641"/>
            <a:ext cx="345701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3711" y="3547641"/>
            <a:ext cx="342382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35526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3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106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EE21860-5FC5-0A4C-BF9F-FA989D78CD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466" y="4248036"/>
            <a:ext cx="3439464" cy="1989251"/>
          </a:xfrm>
        </p:spPr>
        <p:txBody>
          <a:bodyPr lIns="0" tIns="0" rIns="0" bIns="0"/>
          <a:lstStyle>
            <a:lvl1pPr algn="ctr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1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53126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25749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0" name="Tijdelijke aanduiding voor inhoud 19">
            <a:extLst>
              <a:ext uri="{FF2B5EF4-FFF2-40B4-BE49-F238E27FC236}">
                <a16:creationId xmlns:a16="http://schemas.microsoft.com/office/drawing/2014/main" id="{BAE77478-3281-CE4C-A99F-3E6F4A49E17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23177" y="4248037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2521" y="3725750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2" name="Tijdelijke aanduiding voor inhoud 19">
            <a:extLst>
              <a:ext uri="{FF2B5EF4-FFF2-40B4-BE49-F238E27FC236}">
                <a16:creationId xmlns:a16="http://schemas.microsoft.com/office/drawing/2014/main" id="{050AED9D-9374-024A-95E7-51259149F7B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0394" y="4226560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9738" y="3704273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A56CA53A-2F47-F94E-BBC9-739AF3FD799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39266" y="2133247"/>
            <a:ext cx="2406350" cy="1404432"/>
          </a:xfrm>
        </p:spPr>
        <p:txBody>
          <a:bodyPr lIns="0" tIns="0" rIns="0" bIns="0"/>
          <a:lstStyle>
            <a:lvl1pPr algn="l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D9A0FC3-0D38-0441-BB3C-75F8A95AF94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70977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2045FFF3-F25B-614B-A526-AC100D6B9B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15080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4" name="Tijdelijke aanduiding voor inhoud 19">
            <a:extLst>
              <a:ext uri="{FF2B5EF4-FFF2-40B4-BE49-F238E27FC236}">
                <a16:creationId xmlns:a16="http://schemas.microsoft.com/office/drawing/2014/main" id="{0385125A-3379-2746-BD83-583F817C5CC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339266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6" name="Tijdelijke aanduiding voor inhoud 19">
            <a:extLst>
              <a:ext uri="{FF2B5EF4-FFF2-40B4-BE49-F238E27FC236}">
                <a16:creationId xmlns:a16="http://schemas.microsoft.com/office/drawing/2014/main" id="{2459C232-5B0E-134D-B9C4-9B40E0751E2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070977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8" name="Tijdelijke aanduiding voor inhoud 19">
            <a:extLst>
              <a:ext uri="{FF2B5EF4-FFF2-40B4-BE49-F238E27FC236}">
                <a16:creationId xmlns:a16="http://schemas.microsoft.com/office/drawing/2014/main" id="{FA64A415-5531-2B4D-907A-7C688388BF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815080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grafiek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</p:spPr>
        <p:txBody>
          <a:bodyPr/>
          <a:lstStyle>
            <a:lvl1pPr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volvl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35C0A10-7AE5-B54C-981D-2DBA7B6F3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49850" y="1613587"/>
            <a:ext cx="1892300" cy="5334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3E52E258-A471-1A48-9273-7FE52ACD1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me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40E03AEB-DCFF-FA42-98DA-C3ACA4374F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quote e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  <p:pic>
        <p:nvPicPr>
          <p:cNvPr id="6" name="Afbeelding 4">
            <a:extLst>
              <a:ext uri="{FF2B5EF4-FFF2-40B4-BE49-F238E27FC236}">
                <a16:creationId xmlns:a16="http://schemas.microsoft.com/office/drawing/2014/main" id="{A0A6BFC5-0BDC-5046-9C6A-AAF1C2A72D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</a:t>
            </a:r>
            <a:endParaRPr lang="nl-BE" dirty="0"/>
          </a:p>
        </p:txBody>
      </p:sp>
      <p:sp>
        <p:nvSpPr>
          <p:cNvPr id="8" name="Tijdelijke aanduiding voor tekst 13">
            <a:extLst>
              <a:ext uri="{FF2B5EF4-FFF2-40B4-BE49-F238E27FC236}">
                <a16:creationId xmlns:a16="http://schemas.microsoft.com/office/drawing/2014/main" id="{FC89CC1E-5699-C54E-83AE-63F796F3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04479"/>
            <a:ext cx="10944226" cy="6210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nl-NL" dirty="0"/>
              <a:t>Ondertitel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Afbeelding 4">
            <a:extLst>
              <a:ext uri="{FF2B5EF4-FFF2-40B4-BE49-F238E27FC236}">
                <a16:creationId xmlns:a16="http://schemas.microsoft.com/office/drawing/2014/main" id="{B2CABEA2-6FA0-0245-B24A-C92832AA0D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3" r:id="rId9"/>
    <p:sldLayoutId id="2147484112" r:id="rId10"/>
    <p:sldLayoutId id="2147484102" r:id="rId11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740815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2pPr>
      <a:lvl3pPr marL="1090057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3pPr>
      <a:lvl4pPr marL="1454114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4pPr>
      <a:lvl5pPr marL="1663658" indent="-22647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Statistiek B – contactmoment 5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i="1" dirty="0"/>
              <a:t>R-kwadraat</a:t>
            </a:r>
          </a:p>
          <a:p>
            <a:r>
              <a:rPr lang="nl-BE" i="1" dirty="0"/>
              <a:t>Regressieanalyse als lingua franca</a:t>
            </a:r>
          </a:p>
          <a:p>
            <a:r>
              <a:rPr lang="nl-BE" i="1" dirty="0"/>
              <a:t>Interacties (deel 1)</a:t>
            </a:r>
          </a:p>
          <a:p>
            <a:pPr algn="l"/>
            <a:r>
              <a:rPr lang="nl-BE" dirty="0"/>
              <a:t>										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9D7D5-11ED-B94F-B3FF-72321C7F8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FF37A-7607-954E-B668-B3051AFFDF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BE" dirty="0"/>
              <a:t>Regressieanalyse als Lingua Franca</a:t>
            </a:r>
            <a:endParaRPr lang="en-B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72CD1A8-D6A8-3C42-A93B-672CCFBA05C0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2DBBB3-1531-CD4F-90B1-1F37ABD2F5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rPr lang="nl-BE" dirty="0"/>
              <a:t>Interacties (deel 1)</a:t>
            </a:r>
            <a:endParaRPr lang="en-BE"/>
          </a:p>
        </p:txBody>
      </p:sp>
      <p:pic>
        <p:nvPicPr>
          <p:cNvPr id="1026" name="Picture 2" descr="Afbeeldingsresultaat voor lineaire regressie">
            <a:extLst>
              <a:ext uri="{FF2B5EF4-FFF2-40B4-BE49-F238E27FC236}">
                <a16:creationId xmlns:a16="http://schemas.microsoft.com/office/drawing/2014/main" id="{4E07EFA0-DD24-404B-8C76-9FDA855B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3777">
            <a:off x="7249399" y="-549269"/>
            <a:ext cx="260229" cy="13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AC1844-DEFE-ED4A-A4CE-2A0E3BE20D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22" name="Tijdelijke aanduiding voor afbeelding 21">
            <a:extLst>
              <a:ext uri="{FF2B5EF4-FFF2-40B4-BE49-F238E27FC236}">
                <a16:creationId xmlns:a16="http://schemas.microsoft.com/office/drawing/2014/main" id="{2394DF99-89BB-5B44-A0D2-F4E4EB0CAED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/>
          <a:srcRect t="-5530" b="-5530"/>
          <a:stretch/>
        </p:blipFill>
        <p:spPr>
          <a:xfrm>
            <a:off x="5253126" y="1378339"/>
            <a:ext cx="1674000" cy="1672263"/>
          </a:xfrm>
        </p:spPr>
      </p:pic>
      <p:pic>
        <p:nvPicPr>
          <p:cNvPr id="6" name="Tijdelijke aanduiding voor afbeelding 5">
            <a:extLst>
              <a:ext uri="{FF2B5EF4-FFF2-40B4-BE49-F238E27FC236}">
                <a16:creationId xmlns:a16="http://schemas.microsoft.com/office/drawing/2014/main" id="{94AEF770-42A0-104E-B98F-17248BB69F8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/>
          <a:srcRect t="-29693" b="-29693"/>
          <a:stretch/>
        </p:blipFill>
        <p:spPr>
          <a:xfrm>
            <a:off x="1514198" y="1378339"/>
            <a:ext cx="1674000" cy="1672263"/>
          </a:xfrm>
        </p:spPr>
      </p:pic>
    </p:spTree>
    <p:extLst>
      <p:ext uri="{BB962C8B-B14F-4D97-AF65-F5344CB8AC3E}">
        <p14:creationId xmlns:p14="http://schemas.microsoft.com/office/powerpoint/2010/main" val="233711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121" y="620713"/>
            <a:ext cx="5003800" cy="1385085"/>
          </a:xfrm>
        </p:spPr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04BFA3DA-DFC8-E74A-BE29-3A9BE645EE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289" r="21289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147286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6000"/>
            <a:lum/>
          </a:blip>
          <a:srcRect/>
          <a:stretch>
            <a:fillRect l="-32000" r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0B47242-72CD-5D4E-BFDA-DD3596F88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38E271-308C-2E46-A3EC-56326F9084CC}" type="slidenum">
              <a:rPr kumimoji="0" lang="nl-B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2E6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000" b="0" i="0" u="none" strike="noStrike" kern="1200" cap="none" spc="0" normalizeH="0" baseline="0" noProof="0" dirty="0">
              <a:ln>
                <a:noFill/>
              </a:ln>
              <a:solidFill>
                <a:srgbClr val="002E65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6BC146-99F3-8146-B708-09DF0CE8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 algn="ctr">
              <a:buNone/>
              <a:defRPr/>
            </a:pPr>
            <a:r>
              <a:rPr lang="nl-BE" sz="4800" dirty="0">
                <a:ea typeface="ＭＳ Ｐゴシック" charset="0"/>
                <a:cs typeface="ＭＳ Ｐゴシック" charset="0"/>
              </a:rPr>
              <a:t>Welke aspecten spelen een rol in het aanpassingsproces van studenten in het eerste jaar hoger onderwijs?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nl-BE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6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6000"/>
            <a:lum/>
          </a:blip>
          <a:srcRect/>
          <a:stretch>
            <a:fillRect l="-32000" r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0B47242-72CD-5D4E-BFDA-DD3596F88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6BC146-99F3-8146-B708-09DF0CE8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 algn="ctr">
              <a:buNone/>
              <a:defRPr/>
            </a:pPr>
            <a:r>
              <a:rPr lang="nl-BE" sz="4800" dirty="0">
                <a:ea typeface="ＭＳ Ｐゴシック" charset="0"/>
                <a:cs typeface="ＭＳ Ｐゴシック" charset="0"/>
              </a:rPr>
              <a:t>Welke aspecten spelen een rol in het aanpassingsproces van studenten in het eerste jaar hoger onderwijs?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nl-BE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74DEEFB-888B-1245-9414-B98AB38EB759}"/>
              </a:ext>
            </a:extLst>
          </p:cNvPr>
          <p:cNvSpPr txBox="1"/>
          <p:nvPr/>
        </p:nvSpPr>
        <p:spPr>
          <a:xfrm rot="202458">
            <a:off x="350954" y="4074996"/>
            <a:ext cx="5726723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Achtergrondkenmerken?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DBA121B-6D61-AF4C-AEE8-E43AF9F36A4F}"/>
              </a:ext>
            </a:extLst>
          </p:cNvPr>
          <p:cNvSpPr txBox="1"/>
          <p:nvPr/>
        </p:nvSpPr>
        <p:spPr>
          <a:xfrm rot="21118264">
            <a:off x="1681523" y="5402554"/>
            <a:ext cx="5726723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Motivatie?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44BE739-244D-404C-B9ED-01A7A248E821}"/>
              </a:ext>
            </a:extLst>
          </p:cNvPr>
          <p:cNvSpPr txBox="1"/>
          <p:nvPr/>
        </p:nvSpPr>
        <p:spPr>
          <a:xfrm>
            <a:off x="5602521" y="4890947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Persoonlijkheidskenmerken?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A0F0435-494B-7144-8C71-34BF768D6506}"/>
              </a:ext>
            </a:extLst>
          </p:cNvPr>
          <p:cNvSpPr txBox="1"/>
          <p:nvPr/>
        </p:nvSpPr>
        <p:spPr>
          <a:xfrm>
            <a:off x="332630" y="115793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Sociale integratie?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B7E5C8B-1E89-8C4B-BE6E-2F05D909DEB0}"/>
              </a:ext>
            </a:extLst>
          </p:cNvPr>
          <p:cNvSpPr txBox="1"/>
          <p:nvPr/>
        </p:nvSpPr>
        <p:spPr>
          <a:xfrm>
            <a:off x="1654328" y="668918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Academische integratie?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E91017A-7CE2-5B47-AF9B-F9FE2D522D4A}"/>
              </a:ext>
            </a:extLst>
          </p:cNvPr>
          <p:cNvSpPr txBox="1"/>
          <p:nvPr/>
        </p:nvSpPr>
        <p:spPr>
          <a:xfrm>
            <a:off x="5165389" y="-44451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Fit?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2A402F77-5316-3E4C-BF7D-95A86DB69D2A}"/>
              </a:ext>
            </a:extLst>
          </p:cNvPr>
          <p:cNvSpPr txBox="1"/>
          <p:nvPr/>
        </p:nvSpPr>
        <p:spPr>
          <a:xfrm>
            <a:off x="7166668" y="397585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Kwaliteit keuzeproces?</a:t>
            </a:r>
          </a:p>
        </p:txBody>
      </p:sp>
    </p:spTree>
    <p:extLst>
      <p:ext uri="{BB962C8B-B14F-4D97-AF65-F5344CB8AC3E}">
        <p14:creationId xmlns:p14="http://schemas.microsoft.com/office/powerpoint/2010/main" val="386403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7B821F2-5FFB-544F-9F19-396B45FFE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324D18C-1A47-474E-A48F-E29A194D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67053"/>
            <a:ext cx="11042806" cy="4660279"/>
          </a:xfrm>
          <a:ln>
            <a:noFill/>
          </a:ln>
        </p:spPr>
        <p:txBody>
          <a:bodyPr wrap="square"/>
          <a:lstStyle/>
          <a:p>
            <a:pPr marL="0" indent="0" algn="just">
              <a:buNone/>
            </a:pPr>
            <a:r>
              <a:rPr lang="nl-BE" dirty="0"/>
              <a:t>In welke mate wordt de mate waarin studenten ervaren dat ze zich moeten aanpassen aan studeren in het hoger onderwijs (variabele ‘Aanpassing’) verklaard door:</a:t>
            </a:r>
          </a:p>
          <a:p>
            <a:endParaRPr lang="nl-BE" dirty="0"/>
          </a:p>
          <a:p>
            <a:r>
              <a:rPr lang="nl-BE" b="0" dirty="0">
                <a:solidFill>
                  <a:schemeClr val="accent4"/>
                </a:solidFill>
              </a:rPr>
              <a:t>achtergrondkenmerken</a:t>
            </a:r>
            <a:r>
              <a:rPr lang="nl-BE" b="0" dirty="0"/>
              <a:t> </a:t>
            </a:r>
            <a:r>
              <a:rPr lang="nl-BE" sz="2000" b="0" dirty="0"/>
              <a:t>(variabelen ‘SES’, ‘Geslacht’, ‘IQ’, ‘Onderwijsvorm’)</a:t>
            </a:r>
            <a:endParaRPr lang="nl-BE" b="0" dirty="0"/>
          </a:p>
          <a:p>
            <a:r>
              <a:rPr lang="nl-BE" b="0" dirty="0"/>
              <a:t>EN </a:t>
            </a:r>
            <a:r>
              <a:rPr lang="nl-BE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persoonlijkheidskenmerken</a:t>
            </a:r>
            <a:r>
              <a:rPr lang="nl-BE" b="0" dirty="0"/>
              <a:t> </a:t>
            </a:r>
            <a:r>
              <a:rPr lang="nl-BE" sz="2000" b="0" dirty="0"/>
              <a:t>(variabelen ‘Conscientieusheid’, ‘Openheid’, ‘Neuroticisme’)</a:t>
            </a:r>
            <a:endParaRPr lang="nl-BE" b="0" dirty="0"/>
          </a:p>
          <a:p>
            <a:r>
              <a:rPr lang="nl-BE" b="0" dirty="0"/>
              <a:t>EN </a:t>
            </a:r>
            <a:r>
              <a:rPr lang="nl-BE" b="0" dirty="0">
                <a:solidFill>
                  <a:schemeClr val="accent5"/>
                </a:solidFill>
              </a:rPr>
              <a:t>motivatie</a:t>
            </a:r>
            <a:r>
              <a:rPr lang="nl-BE" b="0" dirty="0"/>
              <a:t> </a:t>
            </a:r>
            <a:r>
              <a:rPr lang="nl-BE" sz="2000" b="0" dirty="0"/>
              <a:t>(variabelen ‘Zelfeffectiviteit3’, ‘Demotivatie3’)</a:t>
            </a:r>
            <a:endParaRPr lang="nl-BE" b="0" dirty="0"/>
          </a:p>
        </p:txBody>
      </p:sp>
    </p:spTree>
    <p:extLst>
      <p:ext uri="{BB962C8B-B14F-4D97-AF65-F5344CB8AC3E}">
        <p14:creationId xmlns:p14="http://schemas.microsoft.com/office/powerpoint/2010/main" val="49188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104C274-473F-1C4E-B1FA-4C90E88E8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/>
          </a:p>
        </p:txBody>
      </p:sp>
      <p:pic>
        <p:nvPicPr>
          <p:cNvPr id="6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1B3C2273-8B67-8F4D-8D98-83DF5953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2253765"/>
            <a:ext cx="11442700" cy="2667000"/>
          </a:xfrm>
          <a:prstGeom prst="rect">
            <a:avLst/>
          </a:prstGeom>
        </p:spPr>
      </p:pic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284CF402-1544-5846-A433-4786663D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b="0" i="1" dirty="0"/>
              <a:t>Score ‘Aanpassing’ is resultaat van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4A0B3AF-B89F-6D40-B976-930ABE206552}"/>
              </a:ext>
            </a:extLst>
          </p:cNvPr>
          <p:cNvSpPr txBox="1"/>
          <p:nvPr/>
        </p:nvSpPr>
        <p:spPr>
          <a:xfrm>
            <a:off x="1143000" y="4981149"/>
            <a:ext cx="1239016" cy="10550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8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0487A922-7088-FB4D-808F-7FCA5CEC8D86}"/>
              </a:ext>
            </a:extLst>
          </p:cNvPr>
          <p:cNvSpPr/>
          <p:nvPr/>
        </p:nvSpPr>
        <p:spPr bwMode="auto">
          <a:xfrm>
            <a:off x="374650" y="2253764"/>
            <a:ext cx="11442700" cy="3782461"/>
          </a:xfrm>
          <a:custGeom>
            <a:avLst/>
            <a:gdLst>
              <a:gd name="csX0" fmla="*/ 0 w 11442700"/>
              <a:gd name="csY0" fmla="*/ 0 h 3782461"/>
              <a:gd name="csX1" fmla="*/ 457708 w 11442700"/>
              <a:gd name="csY1" fmla="*/ 0 h 3782461"/>
              <a:gd name="csX2" fmla="*/ 686562 w 11442700"/>
              <a:gd name="csY2" fmla="*/ 0 h 3782461"/>
              <a:gd name="csX3" fmla="*/ 1487551 w 11442700"/>
              <a:gd name="csY3" fmla="*/ 0 h 3782461"/>
              <a:gd name="csX4" fmla="*/ 1945259 w 11442700"/>
              <a:gd name="csY4" fmla="*/ 0 h 3782461"/>
              <a:gd name="csX5" fmla="*/ 2402967 w 11442700"/>
              <a:gd name="csY5" fmla="*/ 0 h 3782461"/>
              <a:gd name="csX6" fmla="*/ 3203956 w 11442700"/>
              <a:gd name="csY6" fmla="*/ 0 h 3782461"/>
              <a:gd name="csX7" fmla="*/ 3547237 w 11442700"/>
              <a:gd name="csY7" fmla="*/ 0 h 3782461"/>
              <a:gd name="csX8" fmla="*/ 4348226 w 11442700"/>
              <a:gd name="csY8" fmla="*/ 0 h 3782461"/>
              <a:gd name="csX9" fmla="*/ 5149215 w 11442700"/>
              <a:gd name="csY9" fmla="*/ 0 h 3782461"/>
              <a:gd name="csX10" fmla="*/ 5721350 w 11442700"/>
              <a:gd name="csY10" fmla="*/ 0 h 3782461"/>
              <a:gd name="csX11" fmla="*/ 6522339 w 11442700"/>
              <a:gd name="csY11" fmla="*/ 0 h 3782461"/>
              <a:gd name="csX12" fmla="*/ 6980047 w 11442700"/>
              <a:gd name="csY12" fmla="*/ 0 h 3782461"/>
              <a:gd name="csX13" fmla="*/ 7437755 w 11442700"/>
              <a:gd name="csY13" fmla="*/ 0 h 3782461"/>
              <a:gd name="csX14" fmla="*/ 8124317 w 11442700"/>
              <a:gd name="csY14" fmla="*/ 0 h 3782461"/>
              <a:gd name="csX15" fmla="*/ 8582025 w 11442700"/>
              <a:gd name="csY15" fmla="*/ 0 h 3782461"/>
              <a:gd name="csX16" fmla="*/ 9383014 w 11442700"/>
              <a:gd name="csY16" fmla="*/ 0 h 3782461"/>
              <a:gd name="csX17" fmla="*/ 10184003 w 11442700"/>
              <a:gd name="csY17" fmla="*/ 0 h 3782461"/>
              <a:gd name="csX18" fmla="*/ 10756138 w 11442700"/>
              <a:gd name="csY18" fmla="*/ 0 h 3782461"/>
              <a:gd name="csX19" fmla="*/ 11442700 w 11442700"/>
              <a:gd name="csY19" fmla="*/ 0 h 3782461"/>
              <a:gd name="csX20" fmla="*/ 11442700 w 11442700"/>
              <a:gd name="csY20" fmla="*/ 426878 h 3782461"/>
              <a:gd name="csX21" fmla="*/ 11442700 w 11442700"/>
              <a:gd name="csY21" fmla="*/ 891580 h 3782461"/>
              <a:gd name="csX22" fmla="*/ 11442700 w 11442700"/>
              <a:gd name="csY22" fmla="*/ 1469756 h 3782461"/>
              <a:gd name="csX23" fmla="*/ 11442700 w 11442700"/>
              <a:gd name="csY23" fmla="*/ 1972283 h 3782461"/>
              <a:gd name="csX24" fmla="*/ 11442700 w 11442700"/>
              <a:gd name="csY24" fmla="*/ 2436986 h 3782461"/>
              <a:gd name="csX25" fmla="*/ 11442700 w 11442700"/>
              <a:gd name="csY25" fmla="*/ 3015162 h 3782461"/>
              <a:gd name="csX26" fmla="*/ 11442700 w 11442700"/>
              <a:gd name="csY26" fmla="*/ 3782461 h 3782461"/>
              <a:gd name="csX27" fmla="*/ 10870565 w 11442700"/>
              <a:gd name="csY27" fmla="*/ 3782461 h 3782461"/>
              <a:gd name="csX28" fmla="*/ 10527284 w 11442700"/>
              <a:gd name="csY28" fmla="*/ 3782461 h 3782461"/>
              <a:gd name="csX29" fmla="*/ 9840722 w 11442700"/>
              <a:gd name="csY29" fmla="*/ 3782461 h 3782461"/>
              <a:gd name="csX30" fmla="*/ 9497441 w 11442700"/>
              <a:gd name="csY30" fmla="*/ 3782461 h 3782461"/>
              <a:gd name="csX31" fmla="*/ 8810879 w 11442700"/>
              <a:gd name="csY31" fmla="*/ 3782461 h 3782461"/>
              <a:gd name="csX32" fmla="*/ 8582025 w 11442700"/>
              <a:gd name="csY32" fmla="*/ 3782461 h 3782461"/>
              <a:gd name="csX33" fmla="*/ 7895463 w 11442700"/>
              <a:gd name="csY33" fmla="*/ 3782461 h 3782461"/>
              <a:gd name="csX34" fmla="*/ 7552182 w 11442700"/>
              <a:gd name="csY34" fmla="*/ 3782461 h 3782461"/>
              <a:gd name="csX35" fmla="*/ 7323328 w 11442700"/>
              <a:gd name="csY35" fmla="*/ 3782461 h 3782461"/>
              <a:gd name="csX36" fmla="*/ 6980047 w 11442700"/>
              <a:gd name="csY36" fmla="*/ 3782461 h 3782461"/>
              <a:gd name="csX37" fmla="*/ 6293485 w 11442700"/>
              <a:gd name="csY37" fmla="*/ 3782461 h 3782461"/>
              <a:gd name="csX38" fmla="*/ 5950204 w 11442700"/>
              <a:gd name="csY38" fmla="*/ 3782461 h 3782461"/>
              <a:gd name="csX39" fmla="*/ 5721350 w 11442700"/>
              <a:gd name="csY39" fmla="*/ 3782461 h 3782461"/>
              <a:gd name="csX40" fmla="*/ 5378069 w 11442700"/>
              <a:gd name="csY40" fmla="*/ 3782461 h 3782461"/>
              <a:gd name="csX41" fmla="*/ 4920361 w 11442700"/>
              <a:gd name="csY41" fmla="*/ 3782461 h 3782461"/>
              <a:gd name="csX42" fmla="*/ 4348226 w 11442700"/>
              <a:gd name="csY42" fmla="*/ 3782461 h 3782461"/>
              <a:gd name="csX43" fmla="*/ 4004945 w 11442700"/>
              <a:gd name="csY43" fmla="*/ 3782461 h 3782461"/>
              <a:gd name="csX44" fmla="*/ 3203956 w 11442700"/>
              <a:gd name="csY44" fmla="*/ 3782461 h 3782461"/>
              <a:gd name="csX45" fmla="*/ 2631821 w 11442700"/>
              <a:gd name="csY45" fmla="*/ 3782461 h 3782461"/>
              <a:gd name="csX46" fmla="*/ 1830832 w 11442700"/>
              <a:gd name="csY46" fmla="*/ 3782461 h 3782461"/>
              <a:gd name="csX47" fmla="*/ 1144270 w 11442700"/>
              <a:gd name="csY47" fmla="*/ 3782461 h 3782461"/>
              <a:gd name="csX48" fmla="*/ 686562 w 11442700"/>
              <a:gd name="csY48" fmla="*/ 3782461 h 3782461"/>
              <a:gd name="csX49" fmla="*/ 0 w 11442700"/>
              <a:gd name="csY49" fmla="*/ 3782461 h 3782461"/>
              <a:gd name="csX50" fmla="*/ 0 w 11442700"/>
              <a:gd name="csY50" fmla="*/ 3317759 h 3782461"/>
              <a:gd name="csX51" fmla="*/ 0 w 11442700"/>
              <a:gd name="csY51" fmla="*/ 2777407 h 3782461"/>
              <a:gd name="csX52" fmla="*/ 0 w 11442700"/>
              <a:gd name="csY52" fmla="*/ 2161406 h 3782461"/>
              <a:gd name="csX53" fmla="*/ 0 w 11442700"/>
              <a:gd name="csY53" fmla="*/ 1545405 h 3782461"/>
              <a:gd name="csX54" fmla="*/ 0 w 11442700"/>
              <a:gd name="csY54" fmla="*/ 967229 h 3782461"/>
              <a:gd name="csX55" fmla="*/ 0 w 11442700"/>
              <a:gd name="csY55" fmla="*/ 0 h 3782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1442700" h="3782461" extrusionOk="0">
                <a:moveTo>
                  <a:pt x="0" y="0"/>
                </a:moveTo>
                <a:cubicBezTo>
                  <a:pt x="210634" y="-40286"/>
                  <a:pt x="336447" y="46999"/>
                  <a:pt x="457708" y="0"/>
                </a:cubicBezTo>
                <a:cubicBezTo>
                  <a:pt x="578969" y="-46999"/>
                  <a:pt x="637014" y="12878"/>
                  <a:pt x="686562" y="0"/>
                </a:cubicBezTo>
                <a:cubicBezTo>
                  <a:pt x="736110" y="-12878"/>
                  <a:pt x="1106108" y="48643"/>
                  <a:pt x="1487551" y="0"/>
                </a:cubicBezTo>
                <a:cubicBezTo>
                  <a:pt x="1868994" y="-48643"/>
                  <a:pt x="1787809" y="34371"/>
                  <a:pt x="1945259" y="0"/>
                </a:cubicBezTo>
                <a:cubicBezTo>
                  <a:pt x="2102709" y="-34371"/>
                  <a:pt x="2214564" y="32748"/>
                  <a:pt x="2402967" y="0"/>
                </a:cubicBezTo>
                <a:cubicBezTo>
                  <a:pt x="2591370" y="-32748"/>
                  <a:pt x="2821839" y="68554"/>
                  <a:pt x="3203956" y="0"/>
                </a:cubicBezTo>
                <a:cubicBezTo>
                  <a:pt x="3586073" y="-68554"/>
                  <a:pt x="3451793" y="12968"/>
                  <a:pt x="3547237" y="0"/>
                </a:cubicBezTo>
                <a:cubicBezTo>
                  <a:pt x="3642681" y="-12968"/>
                  <a:pt x="4011929" y="80302"/>
                  <a:pt x="4348226" y="0"/>
                </a:cubicBezTo>
                <a:cubicBezTo>
                  <a:pt x="4684523" y="-80302"/>
                  <a:pt x="4904656" y="61719"/>
                  <a:pt x="5149215" y="0"/>
                </a:cubicBezTo>
                <a:cubicBezTo>
                  <a:pt x="5393774" y="-61719"/>
                  <a:pt x="5451117" y="9033"/>
                  <a:pt x="5721350" y="0"/>
                </a:cubicBezTo>
                <a:cubicBezTo>
                  <a:pt x="5991584" y="-9033"/>
                  <a:pt x="6187830" y="49431"/>
                  <a:pt x="6522339" y="0"/>
                </a:cubicBezTo>
                <a:cubicBezTo>
                  <a:pt x="6856848" y="-49431"/>
                  <a:pt x="6878319" y="41014"/>
                  <a:pt x="6980047" y="0"/>
                </a:cubicBezTo>
                <a:cubicBezTo>
                  <a:pt x="7081775" y="-41014"/>
                  <a:pt x="7275781" y="24654"/>
                  <a:pt x="7437755" y="0"/>
                </a:cubicBezTo>
                <a:cubicBezTo>
                  <a:pt x="7599729" y="-24654"/>
                  <a:pt x="7910010" y="50206"/>
                  <a:pt x="8124317" y="0"/>
                </a:cubicBezTo>
                <a:cubicBezTo>
                  <a:pt x="8338624" y="-50206"/>
                  <a:pt x="8387338" y="53817"/>
                  <a:pt x="8582025" y="0"/>
                </a:cubicBezTo>
                <a:cubicBezTo>
                  <a:pt x="8776712" y="-53817"/>
                  <a:pt x="9068099" y="60957"/>
                  <a:pt x="9383014" y="0"/>
                </a:cubicBezTo>
                <a:cubicBezTo>
                  <a:pt x="9697929" y="-60957"/>
                  <a:pt x="9921457" y="9521"/>
                  <a:pt x="10184003" y="0"/>
                </a:cubicBezTo>
                <a:cubicBezTo>
                  <a:pt x="10446549" y="-9521"/>
                  <a:pt x="10484807" y="38525"/>
                  <a:pt x="10756138" y="0"/>
                </a:cubicBezTo>
                <a:cubicBezTo>
                  <a:pt x="11027470" y="-38525"/>
                  <a:pt x="11140672" y="52362"/>
                  <a:pt x="11442700" y="0"/>
                </a:cubicBezTo>
                <a:cubicBezTo>
                  <a:pt x="11459502" y="202308"/>
                  <a:pt x="11426545" y="296442"/>
                  <a:pt x="11442700" y="426878"/>
                </a:cubicBezTo>
                <a:cubicBezTo>
                  <a:pt x="11458855" y="557314"/>
                  <a:pt x="11434680" y="715286"/>
                  <a:pt x="11442700" y="891580"/>
                </a:cubicBezTo>
                <a:cubicBezTo>
                  <a:pt x="11450720" y="1067874"/>
                  <a:pt x="11431136" y="1221890"/>
                  <a:pt x="11442700" y="1469756"/>
                </a:cubicBezTo>
                <a:cubicBezTo>
                  <a:pt x="11454264" y="1717622"/>
                  <a:pt x="11421079" y="1862521"/>
                  <a:pt x="11442700" y="1972283"/>
                </a:cubicBezTo>
                <a:cubicBezTo>
                  <a:pt x="11464321" y="2082045"/>
                  <a:pt x="11395010" y="2300314"/>
                  <a:pt x="11442700" y="2436986"/>
                </a:cubicBezTo>
                <a:cubicBezTo>
                  <a:pt x="11490390" y="2573658"/>
                  <a:pt x="11377431" y="2838533"/>
                  <a:pt x="11442700" y="3015162"/>
                </a:cubicBezTo>
                <a:cubicBezTo>
                  <a:pt x="11507969" y="3191791"/>
                  <a:pt x="11383950" y="3587281"/>
                  <a:pt x="11442700" y="3782461"/>
                </a:cubicBezTo>
                <a:cubicBezTo>
                  <a:pt x="11180996" y="3829908"/>
                  <a:pt x="11068386" y="3737873"/>
                  <a:pt x="10870565" y="3782461"/>
                </a:cubicBezTo>
                <a:cubicBezTo>
                  <a:pt x="10672744" y="3827049"/>
                  <a:pt x="10627126" y="3753268"/>
                  <a:pt x="10527284" y="3782461"/>
                </a:cubicBezTo>
                <a:cubicBezTo>
                  <a:pt x="10427442" y="3811654"/>
                  <a:pt x="10013863" y="3771857"/>
                  <a:pt x="9840722" y="3782461"/>
                </a:cubicBezTo>
                <a:cubicBezTo>
                  <a:pt x="9667581" y="3793065"/>
                  <a:pt x="9648950" y="3750088"/>
                  <a:pt x="9497441" y="3782461"/>
                </a:cubicBezTo>
                <a:cubicBezTo>
                  <a:pt x="9345932" y="3814834"/>
                  <a:pt x="8953929" y="3769852"/>
                  <a:pt x="8810879" y="3782461"/>
                </a:cubicBezTo>
                <a:cubicBezTo>
                  <a:pt x="8667829" y="3795070"/>
                  <a:pt x="8633136" y="3777871"/>
                  <a:pt x="8582025" y="3782461"/>
                </a:cubicBezTo>
                <a:cubicBezTo>
                  <a:pt x="8530914" y="3787051"/>
                  <a:pt x="8091061" y="3758402"/>
                  <a:pt x="7895463" y="3782461"/>
                </a:cubicBezTo>
                <a:cubicBezTo>
                  <a:pt x="7699865" y="3806520"/>
                  <a:pt x="7669240" y="3750412"/>
                  <a:pt x="7552182" y="3782461"/>
                </a:cubicBezTo>
                <a:cubicBezTo>
                  <a:pt x="7435124" y="3814510"/>
                  <a:pt x="7386421" y="3781571"/>
                  <a:pt x="7323328" y="3782461"/>
                </a:cubicBezTo>
                <a:cubicBezTo>
                  <a:pt x="7260235" y="3783351"/>
                  <a:pt x="7124295" y="3777543"/>
                  <a:pt x="6980047" y="3782461"/>
                </a:cubicBezTo>
                <a:cubicBezTo>
                  <a:pt x="6835799" y="3787379"/>
                  <a:pt x="6554249" y="3737159"/>
                  <a:pt x="6293485" y="3782461"/>
                </a:cubicBezTo>
                <a:cubicBezTo>
                  <a:pt x="6032721" y="3827763"/>
                  <a:pt x="6101921" y="3763803"/>
                  <a:pt x="5950204" y="3782461"/>
                </a:cubicBezTo>
                <a:cubicBezTo>
                  <a:pt x="5798487" y="3801119"/>
                  <a:pt x="5822439" y="3760914"/>
                  <a:pt x="5721350" y="3782461"/>
                </a:cubicBezTo>
                <a:cubicBezTo>
                  <a:pt x="5620261" y="3804008"/>
                  <a:pt x="5472803" y="3744941"/>
                  <a:pt x="5378069" y="3782461"/>
                </a:cubicBezTo>
                <a:cubicBezTo>
                  <a:pt x="5283335" y="3819981"/>
                  <a:pt x="5096129" y="3777543"/>
                  <a:pt x="4920361" y="3782461"/>
                </a:cubicBezTo>
                <a:cubicBezTo>
                  <a:pt x="4744593" y="3787379"/>
                  <a:pt x="4514240" y="3731597"/>
                  <a:pt x="4348226" y="3782461"/>
                </a:cubicBezTo>
                <a:cubicBezTo>
                  <a:pt x="4182212" y="3833325"/>
                  <a:pt x="4140423" y="3774219"/>
                  <a:pt x="4004945" y="3782461"/>
                </a:cubicBezTo>
                <a:cubicBezTo>
                  <a:pt x="3869467" y="3790703"/>
                  <a:pt x="3428595" y="3713555"/>
                  <a:pt x="3203956" y="3782461"/>
                </a:cubicBezTo>
                <a:cubicBezTo>
                  <a:pt x="2979317" y="3851367"/>
                  <a:pt x="2788873" y="3766516"/>
                  <a:pt x="2631821" y="3782461"/>
                </a:cubicBezTo>
                <a:cubicBezTo>
                  <a:pt x="2474770" y="3798406"/>
                  <a:pt x="2076129" y="3699661"/>
                  <a:pt x="1830832" y="3782461"/>
                </a:cubicBezTo>
                <a:cubicBezTo>
                  <a:pt x="1585535" y="3865261"/>
                  <a:pt x="1393698" y="3772860"/>
                  <a:pt x="1144270" y="3782461"/>
                </a:cubicBezTo>
                <a:cubicBezTo>
                  <a:pt x="894842" y="3792062"/>
                  <a:pt x="873185" y="3744128"/>
                  <a:pt x="686562" y="3782461"/>
                </a:cubicBezTo>
                <a:cubicBezTo>
                  <a:pt x="499939" y="3820794"/>
                  <a:pt x="206412" y="3718673"/>
                  <a:pt x="0" y="3782461"/>
                </a:cubicBezTo>
                <a:cubicBezTo>
                  <a:pt x="-1439" y="3668190"/>
                  <a:pt x="20162" y="3478327"/>
                  <a:pt x="0" y="3317759"/>
                </a:cubicBezTo>
                <a:cubicBezTo>
                  <a:pt x="-20162" y="3157191"/>
                  <a:pt x="61918" y="2939409"/>
                  <a:pt x="0" y="2777407"/>
                </a:cubicBezTo>
                <a:cubicBezTo>
                  <a:pt x="-61918" y="2615405"/>
                  <a:pt x="64535" y="2459082"/>
                  <a:pt x="0" y="2161406"/>
                </a:cubicBezTo>
                <a:cubicBezTo>
                  <a:pt x="-64535" y="1863730"/>
                  <a:pt x="57738" y="1715013"/>
                  <a:pt x="0" y="1545405"/>
                </a:cubicBezTo>
                <a:cubicBezTo>
                  <a:pt x="-57738" y="1375797"/>
                  <a:pt x="60009" y="1208799"/>
                  <a:pt x="0" y="967229"/>
                </a:cubicBezTo>
                <a:cubicBezTo>
                  <a:pt x="-60009" y="725659"/>
                  <a:pt x="10021" y="312738"/>
                  <a:pt x="0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86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AFA7EBE-F23D-F744-985E-58400C3D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25D1BF9-A366-D643-B336-EB1B352B4BA1}"/>
              </a:ext>
            </a:extLst>
          </p:cNvPr>
          <p:cNvSpPr txBox="1"/>
          <p:nvPr/>
        </p:nvSpPr>
        <p:spPr>
          <a:xfrm>
            <a:off x="2866294" y="263767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E9F1A9-3D5C-7646-BEDA-C2696D5728C1}"/>
              </a:ext>
            </a:extLst>
          </p:cNvPr>
          <p:cNvSpPr txBox="1"/>
          <p:nvPr/>
        </p:nvSpPr>
        <p:spPr>
          <a:xfrm>
            <a:off x="2866294" y="961294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0315AF3-53F9-C945-B21D-A78E57114BF1}"/>
              </a:ext>
            </a:extLst>
          </p:cNvPr>
          <p:cNvSpPr txBox="1"/>
          <p:nvPr/>
        </p:nvSpPr>
        <p:spPr>
          <a:xfrm>
            <a:off x="2866294" y="160606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8053D3B-416E-444A-B2F8-8EF59B61A160}"/>
              </a:ext>
            </a:extLst>
          </p:cNvPr>
          <p:cNvSpPr txBox="1"/>
          <p:nvPr/>
        </p:nvSpPr>
        <p:spPr>
          <a:xfrm>
            <a:off x="2866294" y="2280143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7616EDD-6BD2-064E-9A68-D103F3DC3B8D}"/>
              </a:ext>
            </a:extLst>
          </p:cNvPr>
          <p:cNvSpPr txBox="1"/>
          <p:nvPr/>
        </p:nvSpPr>
        <p:spPr>
          <a:xfrm>
            <a:off x="2860434" y="-17584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SES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215C86F-5BE1-3F4A-AC6E-CAAA21D4AAD3}"/>
              </a:ext>
            </a:extLst>
          </p:cNvPr>
          <p:cNvSpPr txBox="1"/>
          <p:nvPr/>
        </p:nvSpPr>
        <p:spPr>
          <a:xfrm>
            <a:off x="2872157" y="679941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Geslacht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7DDB96D-0FA2-1540-9023-F3C26755257C}"/>
              </a:ext>
            </a:extLst>
          </p:cNvPr>
          <p:cNvSpPr txBox="1"/>
          <p:nvPr/>
        </p:nvSpPr>
        <p:spPr>
          <a:xfrm>
            <a:off x="2854570" y="1330577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IQ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6056C04-E085-7148-8DD9-BA2DE41AF100}"/>
              </a:ext>
            </a:extLst>
          </p:cNvPr>
          <p:cNvSpPr txBox="1"/>
          <p:nvPr/>
        </p:nvSpPr>
        <p:spPr>
          <a:xfrm>
            <a:off x="2373920" y="1975347"/>
            <a:ext cx="2057404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96F1745-66B2-AC43-BEE4-2B761819436D}"/>
              </a:ext>
            </a:extLst>
          </p:cNvPr>
          <p:cNvSpPr txBox="1"/>
          <p:nvPr/>
        </p:nvSpPr>
        <p:spPr>
          <a:xfrm>
            <a:off x="2854570" y="326488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71B5954-2F1C-0A43-96F8-7380D14A9773}"/>
              </a:ext>
            </a:extLst>
          </p:cNvPr>
          <p:cNvSpPr txBox="1"/>
          <p:nvPr/>
        </p:nvSpPr>
        <p:spPr>
          <a:xfrm>
            <a:off x="2854570" y="3962408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C6140AC-1611-CA43-90C7-CF9E34E48571}"/>
              </a:ext>
            </a:extLst>
          </p:cNvPr>
          <p:cNvSpPr txBox="1"/>
          <p:nvPr/>
        </p:nvSpPr>
        <p:spPr>
          <a:xfrm>
            <a:off x="2854570" y="4607180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4AED354-C8F6-7042-84A6-935683F6B3F2}"/>
              </a:ext>
            </a:extLst>
          </p:cNvPr>
          <p:cNvSpPr txBox="1"/>
          <p:nvPr/>
        </p:nvSpPr>
        <p:spPr>
          <a:xfrm>
            <a:off x="2391510" y="2965944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Conscientieusheid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73426CA-6756-4344-9FD1-7F5F02D44510}"/>
              </a:ext>
            </a:extLst>
          </p:cNvPr>
          <p:cNvSpPr txBox="1"/>
          <p:nvPr/>
        </p:nvSpPr>
        <p:spPr>
          <a:xfrm>
            <a:off x="2860433" y="3681055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Openheid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D0A037C-3BBB-C642-B725-203C660EB2A1}"/>
              </a:ext>
            </a:extLst>
          </p:cNvPr>
          <p:cNvSpPr txBox="1"/>
          <p:nvPr/>
        </p:nvSpPr>
        <p:spPr>
          <a:xfrm>
            <a:off x="2754921" y="4331691"/>
            <a:ext cx="1354018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Neuroticisme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49F24FA-03C2-3049-98DA-F8D1EC8ED7AD}"/>
              </a:ext>
            </a:extLst>
          </p:cNvPr>
          <p:cNvSpPr txBox="1"/>
          <p:nvPr/>
        </p:nvSpPr>
        <p:spPr>
          <a:xfrm>
            <a:off x="2836980" y="5580189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6E1531E5-3DA2-3644-B32F-699A53745096}"/>
              </a:ext>
            </a:extLst>
          </p:cNvPr>
          <p:cNvSpPr txBox="1"/>
          <p:nvPr/>
        </p:nvSpPr>
        <p:spPr>
          <a:xfrm>
            <a:off x="2836980" y="627771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AD515B38-0585-7447-8571-190275C72501}"/>
              </a:ext>
            </a:extLst>
          </p:cNvPr>
          <p:cNvSpPr txBox="1"/>
          <p:nvPr/>
        </p:nvSpPr>
        <p:spPr>
          <a:xfrm>
            <a:off x="2373920" y="5281252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Zelfeffectiviteit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7DA21382-D227-F04A-AE3F-A702D21BE26A}"/>
              </a:ext>
            </a:extLst>
          </p:cNvPr>
          <p:cNvSpPr txBox="1"/>
          <p:nvPr/>
        </p:nvSpPr>
        <p:spPr>
          <a:xfrm>
            <a:off x="2842843" y="5996363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Demotivatie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438669A-F3A1-0D46-AD90-AAA059AF52FD}"/>
              </a:ext>
            </a:extLst>
          </p:cNvPr>
          <p:cNvSpPr txBox="1"/>
          <p:nvPr/>
        </p:nvSpPr>
        <p:spPr>
          <a:xfrm>
            <a:off x="8534399" y="323557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8D39724E-3EDE-0A4E-8557-EC271AFF2AB4}"/>
              </a:ext>
            </a:extLst>
          </p:cNvPr>
          <p:cNvSpPr txBox="1"/>
          <p:nvPr/>
        </p:nvSpPr>
        <p:spPr>
          <a:xfrm>
            <a:off x="8522681" y="2954218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Aanpassing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31D75005-6664-2746-B092-808BFAC487B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91709" y="439613"/>
            <a:ext cx="4360983" cy="21922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52AB2718-AE75-FD4D-A4C3-55BECAC9FB4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991709" y="1137140"/>
            <a:ext cx="4360983" cy="170572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BFB85B5-9FC0-294D-B143-A647E6D49A2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91709" y="1781912"/>
            <a:ext cx="4360983" cy="126315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DAFDE18-C45C-B74E-AE34-811818DB04A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91709" y="2455989"/>
            <a:ext cx="4360983" cy="75027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2DCAB2AE-6EA7-E645-8146-B259DD1D48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979985" y="3379176"/>
            <a:ext cx="4372707" cy="6155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C7A506E7-976B-064E-9891-963F3AB45CC9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79985" y="3552100"/>
            <a:ext cx="4372707" cy="58615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F22F39F9-6464-DD4E-AEE4-E0EF8C98B67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979985" y="3739668"/>
            <a:ext cx="4372707" cy="104335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04B12821-584D-754B-9576-F8F890DCD91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962395" y="3897926"/>
            <a:ext cx="4390297" cy="18581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met pijl 58">
            <a:extLst>
              <a:ext uri="{FF2B5EF4-FFF2-40B4-BE49-F238E27FC236}">
                <a16:creationId xmlns:a16="http://schemas.microsoft.com/office/drawing/2014/main" id="{AA3C037A-0AE6-A449-8063-2BE720BDE79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2395" y="4067914"/>
            <a:ext cx="4390297" cy="238564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0E49220B-DDC1-9249-BD7E-69FA3876D3AF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866294" y="1137140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B68FB87C-5805-524E-A66E-AB96546AE716}"/>
              </a:ext>
            </a:extLst>
          </p:cNvPr>
          <p:cNvCxnSpPr/>
          <p:nvPr/>
        </p:nvCxnSpPr>
        <p:spPr>
          <a:xfrm>
            <a:off x="2842845" y="239737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70D95C21-F5B0-FA46-B7DF-1DF0C370535D}"/>
              </a:ext>
            </a:extLst>
          </p:cNvPr>
          <p:cNvCxnSpPr/>
          <p:nvPr/>
        </p:nvCxnSpPr>
        <p:spPr>
          <a:xfrm>
            <a:off x="2836982" y="251460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16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586F486-9911-8F46-A5C1-3C2CB1BAC356}"/>
              </a:ext>
            </a:extLst>
          </p:cNvPr>
          <p:cNvSpPr txBox="1"/>
          <p:nvPr/>
        </p:nvSpPr>
        <p:spPr>
          <a:xfrm>
            <a:off x="-49045" y="1917839"/>
            <a:ext cx="305601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dataHO$Onderwijsvorm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/>
                <a:cs typeface="Courier New"/>
              </a:rPr>
              <a:t>[1] "ASO" "BSO" "KSO" "TSO”</a:t>
            </a:r>
            <a:endParaRPr lang="en-GB" sz="120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83074664-063B-BF42-85C3-FFFAB03EB793}"/>
              </a:ext>
            </a:extLst>
          </p:cNvPr>
          <p:cNvSpPr txBox="1"/>
          <p:nvPr/>
        </p:nvSpPr>
        <p:spPr>
          <a:xfrm>
            <a:off x="361987" y="789504"/>
            <a:ext cx="259223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dataHO$Geslacht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GB" sz="1200" dirty="0">
                <a:solidFill>
                  <a:schemeClr val="tx1"/>
                </a:solidFill>
                <a:latin typeface="Courier New"/>
                <a:cs typeface="Courier New"/>
              </a:rPr>
              <a:t>[1] "man"   "vrouw”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AFA7EBE-F23D-F744-985E-58400C3D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25D1BF9-A366-D643-B336-EB1B352B4BA1}"/>
              </a:ext>
            </a:extLst>
          </p:cNvPr>
          <p:cNvSpPr txBox="1"/>
          <p:nvPr/>
        </p:nvSpPr>
        <p:spPr>
          <a:xfrm>
            <a:off x="2866294" y="263767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E9F1A9-3D5C-7646-BEDA-C2696D5728C1}"/>
              </a:ext>
            </a:extLst>
          </p:cNvPr>
          <p:cNvSpPr txBox="1"/>
          <p:nvPr/>
        </p:nvSpPr>
        <p:spPr>
          <a:xfrm>
            <a:off x="2866294" y="961294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0315AF3-53F9-C945-B21D-A78E57114BF1}"/>
              </a:ext>
            </a:extLst>
          </p:cNvPr>
          <p:cNvSpPr txBox="1"/>
          <p:nvPr/>
        </p:nvSpPr>
        <p:spPr>
          <a:xfrm>
            <a:off x="2866294" y="160606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8053D3B-416E-444A-B2F8-8EF59B61A160}"/>
              </a:ext>
            </a:extLst>
          </p:cNvPr>
          <p:cNvSpPr txBox="1"/>
          <p:nvPr/>
        </p:nvSpPr>
        <p:spPr>
          <a:xfrm>
            <a:off x="2866294" y="2280143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7616EDD-6BD2-064E-9A68-D103F3DC3B8D}"/>
              </a:ext>
            </a:extLst>
          </p:cNvPr>
          <p:cNvSpPr txBox="1"/>
          <p:nvPr/>
        </p:nvSpPr>
        <p:spPr>
          <a:xfrm>
            <a:off x="2860434" y="-17584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SES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215C86F-5BE1-3F4A-AC6E-CAAA21D4AAD3}"/>
              </a:ext>
            </a:extLst>
          </p:cNvPr>
          <p:cNvSpPr txBox="1"/>
          <p:nvPr/>
        </p:nvSpPr>
        <p:spPr>
          <a:xfrm>
            <a:off x="2872157" y="679941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Geslacht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7DDB96D-0FA2-1540-9023-F3C26755257C}"/>
              </a:ext>
            </a:extLst>
          </p:cNvPr>
          <p:cNvSpPr txBox="1"/>
          <p:nvPr/>
        </p:nvSpPr>
        <p:spPr>
          <a:xfrm>
            <a:off x="2854570" y="1330577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IQ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6056C04-E085-7148-8DD9-BA2DE41AF100}"/>
              </a:ext>
            </a:extLst>
          </p:cNvPr>
          <p:cNvSpPr txBox="1"/>
          <p:nvPr/>
        </p:nvSpPr>
        <p:spPr>
          <a:xfrm>
            <a:off x="2373920" y="1975347"/>
            <a:ext cx="2057404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96F1745-66B2-AC43-BEE4-2B761819436D}"/>
              </a:ext>
            </a:extLst>
          </p:cNvPr>
          <p:cNvSpPr txBox="1"/>
          <p:nvPr/>
        </p:nvSpPr>
        <p:spPr>
          <a:xfrm>
            <a:off x="2854570" y="326488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71B5954-2F1C-0A43-96F8-7380D14A9773}"/>
              </a:ext>
            </a:extLst>
          </p:cNvPr>
          <p:cNvSpPr txBox="1"/>
          <p:nvPr/>
        </p:nvSpPr>
        <p:spPr>
          <a:xfrm>
            <a:off x="2854570" y="3962408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C6140AC-1611-CA43-90C7-CF9E34E48571}"/>
              </a:ext>
            </a:extLst>
          </p:cNvPr>
          <p:cNvSpPr txBox="1"/>
          <p:nvPr/>
        </p:nvSpPr>
        <p:spPr>
          <a:xfrm>
            <a:off x="2854570" y="4607180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4AED354-C8F6-7042-84A6-935683F6B3F2}"/>
              </a:ext>
            </a:extLst>
          </p:cNvPr>
          <p:cNvSpPr txBox="1"/>
          <p:nvPr/>
        </p:nvSpPr>
        <p:spPr>
          <a:xfrm>
            <a:off x="2391510" y="2965944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Conscientieusheid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73426CA-6756-4344-9FD1-7F5F02D44510}"/>
              </a:ext>
            </a:extLst>
          </p:cNvPr>
          <p:cNvSpPr txBox="1"/>
          <p:nvPr/>
        </p:nvSpPr>
        <p:spPr>
          <a:xfrm>
            <a:off x="2860433" y="3681055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Openheid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D0A037C-3BBB-C642-B725-203C660EB2A1}"/>
              </a:ext>
            </a:extLst>
          </p:cNvPr>
          <p:cNvSpPr txBox="1"/>
          <p:nvPr/>
        </p:nvSpPr>
        <p:spPr>
          <a:xfrm>
            <a:off x="2754921" y="4331691"/>
            <a:ext cx="1354018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Neuroticisme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49F24FA-03C2-3049-98DA-F8D1EC8ED7AD}"/>
              </a:ext>
            </a:extLst>
          </p:cNvPr>
          <p:cNvSpPr txBox="1"/>
          <p:nvPr/>
        </p:nvSpPr>
        <p:spPr>
          <a:xfrm>
            <a:off x="2836980" y="5580189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6E1531E5-3DA2-3644-B32F-699A53745096}"/>
              </a:ext>
            </a:extLst>
          </p:cNvPr>
          <p:cNvSpPr txBox="1"/>
          <p:nvPr/>
        </p:nvSpPr>
        <p:spPr>
          <a:xfrm>
            <a:off x="2836980" y="627771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AD515B38-0585-7447-8571-190275C72501}"/>
              </a:ext>
            </a:extLst>
          </p:cNvPr>
          <p:cNvSpPr txBox="1"/>
          <p:nvPr/>
        </p:nvSpPr>
        <p:spPr>
          <a:xfrm>
            <a:off x="2373920" y="5281252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Zelfeffectiviteit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7DA21382-D227-F04A-AE3F-A702D21BE26A}"/>
              </a:ext>
            </a:extLst>
          </p:cNvPr>
          <p:cNvSpPr txBox="1"/>
          <p:nvPr/>
        </p:nvSpPr>
        <p:spPr>
          <a:xfrm>
            <a:off x="2842843" y="5996363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Demotivatie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438669A-F3A1-0D46-AD90-AAA059AF52FD}"/>
              </a:ext>
            </a:extLst>
          </p:cNvPr>
          <p:cNvSpPr txBox="1"/>
          <p:nvPr/>
        </p:nvSpPr>
        <p:spPr>
          <a:xfrm>
            <a:off x="8534399" y="323557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8D39724E-3EDE-0A4E-8557-EC271AFF2AB4}"/>
              </a:ext>
            </a:extLst>
          </p:cNvPr>
          <p:cNvSpPr txBox="1"/>
          <p:nvPr/>
        </p:nvSpPr>
        <p:spPr>
          <a:xfrm>
            <a:off x="8522681" y="2954218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Aanpassing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31D75005-6664-2746-B092-808BFAC487B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91709" y="439613"/>
            <a:ext cx="4360983" cy="21922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52AB2718-AE75-FD4D-A4C3-55BECAC9FB4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991709" y="1137140"/>
            <a:ext cx="4360983" cy="170572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BFB85B5-9FC0-294D-B143-A647E6D49A2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91709" y="1781912"/>
            <a:ext cx="4360983" cy="126315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DAFDE18-C45C-B74E-AE34-811818DB04A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91709" y="2455989"/>
            <a:ext cx="4360983" cy="75027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2DCAB2AE-6EA7-E645-8146-B259DD1D48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979985" y="3379176"/>
            <a:ext cx="4372707" cy="6155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C7A506E7-976B-064E-9891-963F3AB45CC9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79985" y="3552100"/>
            <a:ext cx="4372707" cy="58615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F22F39F9-6464-DD4E-AEE4-E0EF8C98B67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979985" y="3739668"/>
            <a:ext cx="4372707" cy="104335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04B12821-584D-754B-9576-F8F890DCD91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962395" y="3897926"/>
            <a:ext cx="4390297" cy="18581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met pijl 58">
            <a:extLst>
              <a:ext uri="{FF2B5EF4-FFF2-40B4-BE49-F238E27FC236}">
                <a16:creationId xmlns:a16="http://schemas.microsoft.com/office/drawing/2014/main" id="{AA3C037A-0AE6-A449-8063-2BE720BDE79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2395" y="4067914"/>
            <a:ext cx="4390297" cy="238564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0E49220B-DDC1-9249-BD7E-69FA3876D3AF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866294" y="1137140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B68FB87C-5805-524E-A66E-AB96546AE716}"/>
              </a:ext>
            </a:extLst>
          </p:cNvPr>
          <p:cNvCxnSpPr/>
          <p:nvPr/>
        </p:nvCxnSpPr>
        <p:spPr>
          <a:xfrm>
            <a:off x="2842845" y="239737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70D95C21-F5B0-FA46-B7DF-1DF0C370535D}"/>
              </a:ext>
            </a:extLst>
          </p:cNvPr>
          <p:cNvCxnSpPr/>
          <p:nvPr/>
        </p:nvCxnSpPr>
        <p:spPr>
          <a:xfrm>
            <a:off x="2836982" y="251460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988" name="Picture 4" descr="Gekke Cartoon Gele Vraagteken Karakter Geïsoleerd Royalty-Vrije Foto,  Plaatjes, Beelden En Stock Fotografie. Image 23471579.">
            <a:extLst>
              <a:ext uri="{FF2B5EF4-FFF2-40B4-BE49-F238E27FC236}">
                <a16:creationId xmlns:a16="http://schemas.microsoft.com/office/drawing/2014/main" id="{53B7389B-AF68-614C-84F4-CD0BE8ABB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4" y="4314099"/>
            <a:ext cx="1953351" cy="195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1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schatten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lm(Aanpassing ~ SES + Geslacht + IQ + Onderwijsvorm,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dataHO)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Model2 &lt;- lm(Aanpassing ~ SES + Geslacht + IQ + Onderwijsvorm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Conscientieusheid + Openheid + Neuroticisme,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dataHO)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 &lt;- lm(Aanpassing ~ SES + Geslacht + IQ + Onderwijsvorm +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Conscientieusheid + Openheid + Neuroticisme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Zelfeffectiviteit3 + Demotivatie3,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dataHO)</a:t>
            </a:r>
          </a:p>
        </p:txBody>
      </p:sp>
    </p:spTree>
    <p:extLst>
      <p:ext uri="{BB962C8B-B14F-4D97-AF65-F5344CB8AC3E}">
        <p14:creationId xmlns:p14="http://schemas.microsoft.com/office/powerpoint/2010/main" val="155508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1851991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anova(Model1, Model2, Model3)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 in anova.lmlist(object, ...) :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models were not all fitted to the same size of dataset</a:t>
            </a:r>
          </a:p>
          <a:p>
            <a:pPr marL="0" indent="0"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FF5B904-E9F6-0E4D-A110-FB35F679B57C}"/>
              </a:ext>
            </a:extLst>
          </p:cNvPr>
          <p:cNvSpPr txBox="1">
            <a:spLocks/>
          </p:cNvSpPr>
          <p:nvPr/>
        </p:nvSpPr>
        <p:spPr>
          <a:xfrm>
            <a:off x="623887" y="3197605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3800" b="1" i="0" kern="120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0576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1851991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anova(Model1, Model2, Model3)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 in anova.lmlist(object, ...) :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models were not all fitted to the same size of dataset</a:t>
            </a:r>
          </a:p>
          <a:p>
            <a:pPr marL="0" indent="0"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jdelijke aanduiding voor inhoud 3">
            <a:extLst>
              <a:ext uri="{FF2B5EF4-FFF2-40B4-BE49-F238E27FC236}">
                <a16:creationId xmlns:a16="http://schemas.microsoft.com/office/drawing/2014/main" id="{8C9F0D8B-63DD-784E-BB91-D5996AF663B8}"/>
              </a:ext>
            </a:extLst>
          </p:cNvPr>
          <p:cNvSpPr txBox="1">
            <a:spLocks/>
          </p:cNvSpPr>
          <p:nvPr/>
        </p:nvSpPr>
        <p:spPr>
          <a:xfrm>
            <a:off x="623887" y="3989399"/>
            <a:ext cx="11403990" cy="46602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na.omit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(dataHO[c("Aanpassing",     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"SES",               "Geslacht",          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"IQ",                "Onderwijsvorm",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"Conscientieusheid", "Openheid",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"Neuroticisme",      "Zelfeffectiviteit3",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"Demotivatie3")])</a:t>
            </a:r>
          </a:p>
          <a:p>
            <a:pPr marL="0" indent="0">
              <a:buFont typeface="Wingdings" pitchFamily="2" charset="2"/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FF5B904-E9F6-0E4D-A110-FB35F679B57C}"/>
              </a:ext>
            </a:extLst>
          </p:cNvPr>
          <p:cNvSpPr txBox="1">
            <a:spLocks/>
          </p:cNvSpPr>
          <p:nvPr/>
        </p:nvSpPr>
        <p:spPr>
          <a:xfrm>
            <a:off x="623887" y="3197605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3800" b="1" i="0" kern="120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nl-BE" dirty="0"/>
              <a:t>Dataset met ALLEEN volledige waarnemingen</a:t>
            </a:r>
          </a:p>
        </p:txBody>
      </p:sp>
    </p:spTree>
    <p:extLst>
      <p:ext uri="{BB962C8B-B14F-4D97-AF65-F5344CB8AC3E}">
        <p14:creationId xmlns:p14="http://schemas.microsoft.com/office/powerpoint/2010/main" val="195622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herschatten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Model1b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Model2b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Conscientieusheid + Openheid + Neuroticisme,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 +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Conscientieusheid + Openheid + Neuroticisme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 Zelfeffectiviteit3 + Demotivatie3,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6660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51C6A-2EA4-D848-9C84-25123079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Herschatte 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157FBEA-9887-904C-9A56-632876F75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126F809-7C71-8243-B470-02F766856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Model1b, Model2b, Model3b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Analysis of Variance Table</a:t>
            </a: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1: Aanpassing ~ SES + Geslacht + IQ + Onderwijsvorm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2: Aanpassing ~ SES + Geslacht + IQ + Onderwijsvorm + Conscientieusheid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Openheid + Neuroticisme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3: Aanpassing ~ SES + Geslacht + IQ + Onderwijsvorm + Conscientieusheid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Openheid + Neuroticisme + Zelfeffectiviteit3 + Demotivatie3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Res.Df    RSS Df Sum of Sq      F    Pr(&gt;F)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1    543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359.08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2    540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341.03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18.044 11.267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3.531e-07 ***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3    538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287.22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53.810 50.397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2.2e-16 ***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84682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AF45C-63BD-5E44-AEA1-173293585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Assumpties beste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7CB3ABE-9A84-7747-B0E7-E2306F470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E3015CC-5DB9-8245-8336-B9C3F01F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par(mfrow = c(2,2))			&gt; par(mfrow = c(1,2)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			&gt; residuals_plot(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 message:				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cooks_plot(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plotting observations with leverage 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one:  67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E47FE52-5CDF-B941-9144-5D5F9894E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11"/>
          <a:stretch/>
        </p:blipFill>
        <p:spPr>
          <a:xfrm>
            <a:off x="623887" y="3323490"/>
            <a:ext cx="5472113" cy="315220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954E158-0CBB-3A4B-85DA-7BF1E8AA43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97" r="3445" b="3288"/>
          <a:stretch/>
        </p:blipFill>
        <p:spPr>
          <a:xfrm>
            <a:off x="6538913" y="3350177"/>
            <a:ext cx="5463560" cy="292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40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60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Interpretatie model?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9724" y="985351"/>
            <a:ext cx="300696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r>
              <a:rPr lang="nl-BE" sz="2800" dirty="0">
                <a:ea typeface="ＭＳ Ｐゴシック" charset="0"/>
              </a:rPr>
              <a:t>Goed model?</a:t>
            </a:r>
          </a:p>
          <a:p>
            <a:r>
              <a:rPr lang="nl-BE" sz="2800" dirty="0">
                <a:ea typeface="ＭＳ Ｐゴシック" charset="0"/>
              </a:rPr>
              <a:t>Interpretatie:</a:t>
            </a:r>
          </a:p>
          <a:p>
            <a:pPr lvl="1"/>
            <a:r>
              <a:rPr lang="nl-BE" sz="2800" dirty="0">
                <a:ea typeface="ＭＳ Ｐゴシック" charset="0"/>
              </a:rPr>
              <a:t>intercept?</a:t>
            </a:r>
          </a:p>
          <a:p>
            <a:pPr lvl="1"/>
            <a:r>
              <a:rPr lang="nl-BE" sz="2800" dirty="0">
                <a:ea typeface="ＭＳ Ｐゴシック" charset="0"/>
              </a:rPr>
              <a:t>slopes?</a:t>
            </a:r>
          </a:p>
        </p:txBody>
      </p:sp>
    </p:spTree>
    <p:extLst>
      <p:ext uri="{BB962C8B-B14F-4D97-AF65-F5344CB8AC3E}">
        <p14:creationId xmlns:p14="http://schemas.microsoft.com/office/powerpoint/2010/main" val="257869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3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Voorspellen! (1)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315126E-3467-AF46-AC2A-9036A64C6D87}"/>
              </a:ext>
            </a:extLst>
          </p:cNvPr>
          <p:cNvSpPr/>
          <p:nvPr/>
        </p:nvSpPr>
        <p:spPr bwMode="auto">
          <a:xfrm>
            <a:off x="474785" y="3077308"/>
            <a:ext cx="7367953" cy="3261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431" y="3674961"/>
            <a:ext cx="8766298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pPr marL="0" indent="0">
              <a:buNone/>
            </a:pPr>
            <a:r>
              <a:rPr lang="nl-BE" sz="2800" b="1" dirty="0">
                <a:ea typeface="ＭＳ Ｐゴシック" charset="0"/>
              </a:rPr>
              <a:t>Bereken op basis van de output van Model3:</a:t>
            </a:r>
          </a:p>
          <a:p>
            <a:pPr marL="514350" indent="-457200">
              <a:buFont typeface="+mj-lt"/>
              <a:buAutoNum type="alphaLcParenR"/>
            </a:pPr>
            <a:r>
              <a:rPr lang="nl-BE" sz="2100" dirty="0">
                <a:ea typeface="ＭＳ Ｐゴシック" charset="0"/>
              </a:rPr>
              <a:t>score in de STEEKPROEF en POPULATIE voor een man uit het TSO die 0 scoort op alle andere onafhankelijke variabelen</a:t>
            </a:r>
          </a:p>
          <a:p>
            <a:pPr marL="514350" indent="-457200">
              <a:buFont typeface="+mj-lt"/>
              <a:buAutoNum type="alphaLcParenR"/>
            </a:pPr>
            <a:r>
              <a:rPr lang="nl-BE" sz="2100" dirty="0">
                <a:ea typeface="ＭＳ Ｐゴシック" charset="0"/>
              </a:rPr>
              <a:t>score in de STEEKPROEF en POPULATIE voor een vrouw uit het ASO die 1 punt lager scoort op ‘IQ’ (en 0 op alle andere variabelen)</a:t>
            </a:r>
            <a:endParaRPr lang="nl-BE" sz="31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632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18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862259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39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19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862259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2AF2FF8-6570-FB48-B47C-63CB38369D98}"/>
              </a:ext>
            </a:extLst>
          </p:cNvPr>
          <p:cNvSpPr/>
          <p:nvPr/>
        </p:nvSpPr>
        <p:spPr bwMode="auto">
          <a:xfrm>
            <a:off x="623887" y="1584979"/>
            <a:ext cx="10419251" cy="959545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08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20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>
                    <a:solidFill>
                      <a:schemeClr val="bg2"/>
                    </a:solidFill>
                  </a:rPr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nl-BE" sz="2200" b="0" i="0" dirty="0" smtClean="0">
                        <a:solidFill>
                          <a:schemeClr val="bg2"/>
                        </a:solidFill>
                      </a:rPr>
                      <m:t>  </m:t>
                    </m:r>
                    <m:r>
                      <a:rPr lang="nl-BE" sz="22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a:rPr lang="nl-BE" sz="22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nl-BE" sz="2200" b="0" i="0" dirty="0" smtClean="0">
                        <a:solidFill>
                          <a:schemeClr val="bg2"/>
                        </a:solidFill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chemeClr val="bg2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405058"/>
            <a:ext cx="10603523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099AFB8-53B2-0840-8D58-6CABC0DB93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C103F4F5-0A19-4440-AC39-C9441DE3FBD6}"/>
              </a:ext>
            </a:extLst>
          </p:cNvPr>
          <p:cNvSpPr/>
          <p:nvPr/>
        </p:nvSpPr>
        <p:spPr bwMode="auto">
          <a:xfrm>
            <a:off x="623887" y="1584980"/>
            <a:ext cx="361951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58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21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u="sng" dirty="0">
                    <a:solidFill>
                      <a:srgbClr val="002E65"/>
                    </a:solidFill>
                  </a:rPr>
                  <a:t>3,11</a:t>
                </a:r>
                <a:r>
                  <a:rPr lang="nl-BE" sz="2200" b="0" dirty="0">
                    <a:solidFill>
                      <a:srgbClr val="002E65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(man uit TSO 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667C3E7-C5BA-444A-84A3-62C28B5A7145}"/>
              </a:ext>
            </a:extLst>
          </p:cNvPr>
          <p:cNvSpPr/>
          <p:nvPr/>
        </p:nvSpPr>
        <p:spPr bwMode="auto">
          <a:xfrm>
            <a:off x="439615" y="3405058"/>
            <a:ext cx="10603523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C32552E4-0199-704D-8A9F-FB55E689D02B}"/>
              </a:ext>
            </a:extLst>
          </p:cNvPr>
          <p:cNvSpPr/>
          <p:nvPr/>
        </p:nvSpPr>
        <p:spPr bwMode="auto">
          <a:xfrm>
            <a:off x="623887" y="5251524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A8CE091-D084-4843-9FC8-635F78AF2C2A}"/>
              </a:ext>
            </a:extLst>
          </p:cNvPr>
          <p:cNvSpPr/>
          <p:nvPr/>
        </p:nvSpPr>
        <p:spPr bwMode="auto">
          <a:xfrm>
            <a:off x="623887" y="1584980"/>
            <a:ext cx="10419251" cy="2283634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539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22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dirty="0">
                    <a:solidFill>
                      <a:srgbClr val="002E65"/>
                    </a:solidFill>
                  </a:rPr>
                  <a:t>?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.  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</a:t>
            </a:r>
            <a:r>
              <a:rPr lang="nl-BE" i="1" dirty="0">
                <a:solidFill>
                  <a:srgbClr val="FF0000"/>
                </a:solidFill>
                <a:latin typeface="+mj-lt"/>
                <a:ea typeface="ＭＳ Ｐゴシック" charset="0"/>
              </a:rPr>
              <a:t>man</a:t>
            </a:r>
            <a:r>
              <a:rPr lang="nl-BE" i="1" dirty="0">
                <a:latin typeface="+mj-lt"/>
                <a:ea typeface="ＭＳ Ｐゴシック" charset="0"/>
              </a:rPr>
              <a:t> uit </a:t>
            </a:r>
            <a:r>
              <a:rPr lang="nl-BE" i="1" dirty="0">
                <a:solidFill>
                  <a:srgbClr val="FF0000"/>
                </a:solidFill>
                <a:latin typeface="+mj-lt"/>
                <a:ea typeface="ＭＳ Ｐゴシック" charset="0"/>
              </a:rPr>
              <a:t>TSO </a:t>
            </a:r>
            <a:r>
              <a:rPr lang="nl-BE" i="1" dirty="0">
                <a:latin typeface="+mj-lt"/>
                <a:ea typeface="ＭＳ Ｐゴシック" charset="0"/>
              </a:rPr>
              <a:t>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1812573-021D-BB4A-9F8F-AF779C632EBC}"/>
              </a:ext>
            </a:extLst>
          </p:cNvPr>
          <p:cNvSpPr/>
          <p:nvPr/>
        </p:nvSpPr>
        <p:spPr bwMode="auto">
          <a:xfrm>
            <a:off x="652462" y="1584124"/>
            <a:ext cx="10763251" cy="2863854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5" name="Vrije vorm 4">
            <a:extLst>
              <a:ext uri="{FF2B5EF4-FFF2-40B4-BE49-F238E27FC236}">
                <a16:creationId xmlns:a16="http://schemas.microsoft.com/office/drawing/2014/main" id="{F3C22AAB-2562-C54A-84A5-0DF4E0A37D80}"/>
              </a:ext>
            </a:extLst>
          </p:cNvPr>
          <p:cNvSpPr/>
          <p:nvPr/>
        </p:nvSpPr>
        <p:spPr bwMode="auto">
          <a:xfrm>
            <a:off x="7658100" y="5172075"/>
            <a:ext cx="3349333" cy="523330"/>
          </a:xfrm>
          <a:custGeom>
            <a:avLst/>
            <a:gdLst>
              <a:gd name="connsiteX0" fmla="*/ 0 w 3349333"/>
              <a:gd name="connsiteY0" fmla="*/ 0 h 523330"/>
              <a:gd name="connsiteX1" fmla="*/ 3071813 w 3349333"/>
              <a:gd name="connsiteY1" fmla="*/ 200025 h 523330"/>
              <a:gd name="connsiteX2" fmla="*/ 3228975 w 3349333"/>
              <a:gd name="connsiteY2" fmla="*/ 314325 h 523330"/>
              <a:gd name="connsiteX3" fmla="*/ 3286125 w 3349333"/>
              <a:gd name="connsiteY3" fmla="*/ 500063 h 523330"/>
              <a:gd name="connsiteX4" fmla="*/ 3157538 w 3349333"/>
              <a:gd name="connsiteY4" fmla="*/ 514350 h 5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9333" h="523330">
                <a:moveTo>
                  <a:pt x="0" y="0"/>
                </a:moveTo>
                <a:lnTo>
                  <a:pt x="3071813" y="200025"/>
                </a:lnTo>
                <a:cubicBezTo>
                  <a:pt x="3609975" y="252412"/>
                  <a:pt x="3193256" y="264319"/>
                  <a:pt x="3228975" y="314325"/>
                </a:cubicBezTo>
                <a:cubicBezTo>
                  <a:pt x="3264694" y="364331"/>
                  <a:pt x="3298031" y="466725"/>
                  <a:pt x="3286125" y="500063"/>
                </a:cubicBezTo>
                <a:cubicBezTo>
                  <a:pt x="3274219" y="533401"/>
                  <a:pt x="3215878" y="523875"/>
                  <a:pt x="3157538" y="514350"/>
                </a:cubicBezTo>
              </a:path>
            </a:pathLst>
          </a:cu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Boog 6">
            <a:extLst>
              <a:ext uri="{FF2B5EF4-FFF2-40B4-BE49-F238E27FC236}">
                <a16:creationId xmlns:a16="http://schemas.microsoft.com/office/drawing/2014/main" id="{DBC355AC-478E-DA44-9C33-164559AB3E19}"/>
              </a:ext>
            </a:extLst>
          </p:cNvPr>
          <p:cNvSpPr/>
          <p:nvPr/>
        </p:nvSpPr>
        <p:spPr>
          <a:xfrm>
            <a:off x="4686300" y="5214939"/>
            <a:ext cx="6000752" cy="339019"/>
          </a:xfrm>
          <a:prstGeom prst="arc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F0000"/>
              </a:solidFill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AD12553-F857-3249-A64F-2491F1AA41F7}"/>
              </a:ext>
            </a:extLst>
          </p:cNvPr>
          <p:cNvSpPr/>
          <p:nvPr/>
        </p:nvSpPr>
        <p:spPr bwMode="auto">
          <a:xfrm flipH="1">
            <a:off x="9115424" y="5296189"/>
            <a:ext cx="527857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C3CB05B-9D91-2E48-B6AA-2DA1EC9E65A1}"/>
              </a:ext>
            </a:extLst>
          </p:cNvPr>
          <p:cNvSpPr/>
          <p:nvPr/>
        </p:nvSpPr>
        <p:spPr bwMode="auto">
          <a:xfrm flipH="1">
            <a:off x="7610467" y="5291422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9B13FEE-F6DA-E542-89E2-7C071F39DC58}"/>
              </a:ext>
            </a:extLst>
          </p:cNvPr>
          <p:cNvSpPr/>
          <p:nvPr/>
        </p:nvSpPr>
        <p:spPr bwMode="auto">
          <a:xfrm flipH="1">
            <a:off x="6234095" y="5315234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6FA7B32-C10E-0F47-830C-745F1B99D10D}"/>
              </a:ext>
            </a:extLst>
          </p:cNvPr>
          <p:cNvSpPr/>
          <p:nvPr/>
        </p:nvSpPr>
        <p:spPr bwMode="auto">
          <a:xfrm flipH="1">
            <a:off x="2893192" y="5316581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5" name="Boog 14">
            <a:extLst>
              <a:ext uri="{FF2B5EF4-FFF2-40B4-BE49-F238E27FC236}">
                <a16:creationId xmlns:a16="http://schemas.microsoft.com/office/drawing/2014/main" id="{40732E45-93BA-184E-9377-57209E73EF4D}"/>
              </a:ext>
            </a:extLst>
          </p:cNvPr>
          <p:cNvSpPr/>
          <p:nvPr/>
        </p:nvSpPr>
        <p:spPr>
          <a:xfrm flipH="1">
            <a:off x="4714876" y="5205471"/>
            <a:ext cx="4137319" cy="417601"/>
          </a:xfrm>
          <a:prstGeom prst="arc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F0000"/>
              </a:solidFill>
            </a:endParaRP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70A4412D-45F5-00CF-D89E-3C97540DBA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3853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23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dirty="0">
                    <a:solidFill>
                      <a:srgbClr val="002E65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  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0.18. 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663A2B6-FCE0-0041-AE37-3773E076877E}"/>
              </a:ext>
            </a:extLst>
          </p:cNvPr>
          <p:cNvSpPr txBox="1"/>
          <p:nvPr/>
        </p:nvSpPr>
        <p:spPr>
          <a:xfrm>
            <a:off x="3555008" y="5965065"/>
            <a:ext cx="259223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dataHO$Geslacht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GB" sz="1200" dirty="0">
                <a:solidFill>
                  <a:schemeClr val="tx1"/>
                </a:solidFill>
                <a:latin typeface="Courier New"/>
                <a:cs typeface="Courier New"/>
              </a:rPr>
              <a:t>[1] "man"   "vrouw”</a:t>
            </a: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851A7A5E-2DFF-BE48-9A98-4E6903DFB71C}"/>
              </a:ext>
            </a:extLst>
          </p:cNvPr>
          <p:cNvCxnSpPr>
            <a:cxnSpLocks/>
          </p:cNvCxnSpPr>
          <p:nvPr/>
        </p:nvCxnSpPr>
        <p:spPr>
          <a:xfrm flipH="1" flipV="1">
            <a:off x="4657693" y="5644663"/>
            <a:ext cx="248414" cy="48336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(man uit TSO 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A2C3769-0977-AF46-99C8-738B2FCA6571}"/>
              </a:ext>
            </a:extLst>
          </p:cNvPr>
          <p:cNvSpPr txBox="1"/>
          <p:nvPr/>
        </p:nvSpPr>
        <p:spPr>
          <a:xfrm>
            <a:off x="324949" y="5316927"/>
            <a:ext cx="668215" cy="3045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2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3.11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5DCAF2BC-B80E-BB4B-A9B0-389E9BE3B264}"/>
              </a:ext>
            </a:extLst>
          </p:cNvPr>
          <p:cNvSpPr/>
          <p:nvPr/>
        </p:nvSpPr>
        <p:spPr bwMode="auto">
          <a:xfrm>
            <a:off x="623887" y="1584979"/>
            <a:ext cx="10591801" cy="2863853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C77D6331-F230-5F4D-9278-77E61CB30D7A}"/>
              </a:ext>
            </a:extLst>
          </p:cNvPr>
          <p:cNvSpPr/>
          <p:nvPr/>
        </p:nvSpPr>
        <p:spPr bwMode="auto">
          <a:xfrm flipH="1">
            <a:off x="8429625" y="5296189"/>
            <a:ext cx="1213656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EC18EEE4-40CA-6641-B86F-08E6DCD6C7DD}"/>
              </a:ext>
            </a:extLst>
          </p:cNvPr>
          <p:cNvSpPr/>
          <p:nvPr/>
        </p:nvSpPr>
        <p:spPr bwMode="auto">
          <a:xfrm flipH="1">
            <a:off x="6843700" y="5291422"/>
            <a:ext cx="1097951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E262AB38-505C-EA42-8F3A-43F701817C50}"/>
              </a:ext>
            </a:extLst>
          </p:cNvPr>
          <p:cNvSpPr/>
          <p:nvPr/>
        </p:nvSpPr>
        <p:spPr bwMode="auto">
          <a:xfrm flipH="1">
            <a:off x="5467330" y="5315234"/>
            <a:ext cx="1097950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36FFFA1B-39BE-594F-843A-C87321CE1561}"/>
              </a:ext>
            </a:extLst>
          </p:cNvPr>
          <p:cNvSpPr/>
          <p:nvPr/>
        </p:nvSpPr>
        <p:spPr bwMode="auto">
          <a:xfrm flipH="1">
            <a:off x="2095849" y="5316581"/>
            <a:ext cx="947389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1B37094D-A7F5-4A4A-B1E3-865AAC4F8B6E}"/>
              </a:ext>
            </a:extLst>
          </p:cNvPr>
          <p:cNvSpPr/>
          <p:nvPr/>
        </p:nvSpPr>
        <p:spPr bwMode="auto">
          <a:xfrm flipH="1">
            <a:off x="3683949" y="5319689"/>
            <a:ext cx="695323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4103671A-3B1F-5218-24B4-32EF7B01C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9857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endParaRPr lang="nl-BE" dirty="0"/>
          </a:p>
          <a:p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383342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383342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61192" y="3429000"/>
            <a:ext cx="11638085" cy="281354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230544B-CF26-6E43-A4C7-FB5A533251EE}"/>
              </a:ext>
            </a:extLst>
          </p:cNvPr>
          <p:cNvSpPr/>
          <p:nvPr/>
        </p:nvSpPr>
        <p:spPr bwMode="auto">
          <a:xfrm>
            <a:off x="3200400" y="5543317"/>
            <a:ext cx="1301261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F25AEC65-72A5-D840-872A-D0780CDABDEC}"/>
              </a:ext>
            </a:extLst>
          </p:cNvPr>
          <p:cNvSpPr/>
          <p:nvPr/>
        </p:nvSpPr>
        <p:spPr bwMode="auto">
          <a:xfrm>
            <a:off x="7831013" y="5510615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97677BA-E5F2-304F-A78A-9EF7EE9EA47D}"/>
              </a:ext>
            </a:extLst>
          </p:cNvPr>
          <p:cNvSpPr/>
          <p:nvPr/>
        </p:nvSpPr>
        <p:spPr bwMode="auto">
          <a:xfrm flipV="1">
            <a:off x="3826610" y="3792783"/>
            <a:ext cx="6417528" cy="281355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465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  <a:endParaRPr lang="nl-BE" dirty="0"/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pPr marL="361940" lvl="1" indent="0">
              <a:buNone/>
            </a:pPr>
            <a:r>
              <a:rPr lang="nl-BE" dirty="0"/>
              <a:t>b) Vrouw uit ASO die 1 punt lager scoort op IQ (en 0 op de overige variabelen):</a:t>
            </a:r>
          </a:p>
          <a:p>
            <a:endParaRPr lang="nl-BE" dirty="0"/>
          </a:p>
          <a:p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472636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472636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898071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BE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898071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t="-9677" r="-504516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BE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04039" y="2600325"/>
            <a:ext cx="11972443" cy="1508093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99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  <a:endParaRPr lang="nl-BE" dirty="0"/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pPr marL="361940" lvl="1" indent="0">
              <a:buNone/>
            </a:pPr>
            <a:r>
              <a:rPr lang="nl-BE" dirty="0"/>
              <a:t>b) Vrouw uit ASO die 1 punt lager scoort op IQ (en 0 op de overige variabelen):</a:t>
            </a:r>
          </a:p>
          <a:p>
            <a:endParaRPr lang="nl-BE" dirty="0"/>
          </a:p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921179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2.93=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 0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921179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t="-9677" r="-504516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2.93=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 0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61191" y="2600325"/>
            <a:ext cx="11972443" cy="1508093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230544B-CF26-6E43-A4C7-FB5A533251EE}"/>
              </a:ext>
            </a:extLst>
          </p:cNvPr>
          <p:cNvSpPr/>
          <p:nvPr/>
        </p:nvSpPr>
        <p:spPr bwMode="auto">
          <a:xfrm>
            <a:off x="2443163" y="5496424"/>
            <a:ext cx="5144227" cy="22273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F25AEC65-72A5-D840-872A-D0780CDABDEC}"/>
              </a:ext>
            </a:extLst>
          </p:cNvPr>
          <p:cNvSpPr/>
          <p:nvPr/>
        </p:nvSpPr>
        <p:spPr bwMode="auto">
          <a:xfrm>
            <a:off x="7831012" y="5510615"/>
            <a:ext cx="3956175" cy="22273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93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60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Interpretatie model?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9724" y="985351"/>
            <a:ext cx="300696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r>
              <a:rPr lang="nl-BE" sz="2800" dirty="0">
                <a:ea typeface="ＭＳ Ｐゴシック" charset="0"/>
              </a:rPr>
              <a:t>Betekenis:</a:t>
            </a:r>
          </a:p>
          <a:p>
            <a:pPr lvl="1"/>
            <a:r>
              <a:rPr lang="nl-BE" sz="2800" dirty="0">
                <a:ea typeface="ＭＳ Ｐゴシック" charset="0"/>
              </a:rPr>
              <a:t>intercept?</a:t>
            </a:r>
          </a:p>
          <a:p>
            <a:pPr lvl="1"/>
            <a:r>
              <a:rPr lang="nl-BE" sz="2800" dirty="0">
                <a:ea typeface="ＭＳ Ｐゴシック" charset="0"/>
              </a:rPr>
              <a:t>slopes?</a:t>
            </a:r>
          </a:p>
        </p:txBody>
      </p:sp>
    </p:spTree>
    <p:extLst>
      <p:ext uri="{BB962C8B-B14F-4D97-AF65-F5344CB8AC3E}">
        <p14:creationId xmlns:p14="http://schemas.microsoft.com/office/powerpoint/2010/main" val="2476084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792E4F7-711C-754F-91FC-2913004B1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D0ABC32-EDD8-4742-9214-9F666887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2.93457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0.37364   7.854  2.2e-14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</a:t>
            </a: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-0.96521    0.73633  -1.311 0.190470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0.07354   2.428 0.015520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Wolkvormige toelichting 6">
            <a:extLst>
              <a:ext uri="{FF2B5EF4-FFF2-40B4-BE49-F238E27FC236}">
                <a16:creationId xmlns:a16="http://schemas.microsoft.com/office/drawing/2014/main" id="{F8E93F01-40CC-9746-B694-BCAB903CE028}"/>
              </a:ext>
            </a:extLst>
          </p:cNvPr>
          <p:cNvSpPr/>
          <p:nvPr/>
        </p:nvSpPr>
        <p:spPr bwMode="auto">
          <a:xfrm>
            <a:off x="4366737" y="204217"/>
            <a:ext cx="4742688" cy="1270907"/>
          </a:xfrm>
          <a:prstGeom prst="cloudCallout">
            <a:avLst>
              <a:gd name="adj1" fmla="val -47134"/>
              <a:gd name="adj2" fmla="val 75285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Moet je blij zijn met een score van 2.93 op aanpassing?</a:t>
            </a:r>
            <a:r>
              <a:rPr lang="nl-BE" sz="1600" dirty="0"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2825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792E4F7-711C-754F-91FC-2913004B1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D0ABC32-EDD8-4742-9214-9F666887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2.93457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0.37364   7.854  2.2e-14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</a:t>
            </a:r>
            <a:r>
              <a:rPr lang="nl-BE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-0.96521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0.73633  -1.311 0.190470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</a:t>
            </a:r>
            <a:r>
              <a:rPr lang="nl-BE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0.17855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0.07354   2.428 0.015520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Wolkvormige toelichting 4">
            <a:extLst>
              <a:ext uri="{FF2B5EF4-FFF2-40B4-BE49-F238E27FC236}">
                <a16:creationId xmlns:a16="http://schemas.microsoft.com/office/drawing/2014/main" id="{CE99C285-D9ED-D941-803B-3A12FEBED57D}"/>
              </a:ext>
            </a:extLst>
          </p:cNvPr>
          <p:cNvSpPr/>
          <p:nvPr/>
        </p:nvSpPr>
        <p:spPr bwMode="auto">
          <a:xfrm>
            <a:off x="8475784" y="2597965"/>
            <a:ext cx="3664055" cy="1694689"/>
          </a:xfrm>
          <a:prstGeom prst="cloudCallout">
            <a:avLst>
              <a:gd name="adj1" fmla="val -160535"/>
              <a:gd name="adj2" fmla="val 28244"/>
            </a:avLst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Verschil tussen ex-BSO’ers en ex-TSO’ers?</a:t>
            </a: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6" name="Wolkvormige toelichting 5">
            <a:extLst>
              <a:ext uri="{FF2B5EF4-FFF2-40B4-BE49-F238E27FC236}">
                <a16:creationId xmlns:a16="http://schemas.microsoft.com/office/drawing/2014/main" id="{A2392008-46E0-A152-ECAA-5371F37A3575}"/>
              </a:ext>
            </a:extLst>
          </p:cNvPr>
          <p:cNvSpPr/>
          <p:nvPr/>
        </p:nvSpPr>
        <p:spPr bwMode="auto">
          <a:xfrm>
            <a:off x="4366737" y="204217"/>
            <a:ext cx="4742688" cy="1270907"/>
          </a:xfrm>
          <a:prstGeom prst="cloudCallout">
            <a:avLst>
              <a:gd name="adj1" fmla="val -47134"/>
              <a:gd name="adj2" fmla="val 75285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Moet je blij zijn met een score van 2.93 op aanpassing?</a:t>
            </a:r>
            <a:r>
              <a:rPr lang="nl-BE" sz="1600" dirty="0"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8013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0367E-3B13-1043-8764-E1DEF992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C4A7619-C988-AB43-B519-49184046B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826B6A7-9576-E948-9278-4E5F7E51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6188" cy="4660279"/>
          </a:xfrm>
        </p:spPr>
        <p:txBody>
          <a:bodyPr/>
          <a:lstStyle/>
          <a:p>
            <a:r>
              <a:rPr lang="nl-BE" dirty="0"/>
              <a:t>Centreren rond het gemiddelde … </a:t>
            </a:r>
          </a:p>
          <a:p>
            <a:pPr lvl="1"/>
            <a:r>
              <a:rPr lang="nl-BE" dirty="0"/>
              <a:t>0 = …?</a:t>
            </a:r>
          </a:p>
          <a:p>
            <a:pPr lvl="1"/>
            <a:r>
              <a:rPr lang="nl-BE" dirty="0"/>
              <a:t>In R:   </a:t>
            </a:r>
          </a:p>
          <a:p>
            <a:pPr marL="361940" lvl="1" indent="0">
              <a:buNone/>
            </a:pPr>
            <a:endParaRPr lang="nl-BE" sz="18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40" lvl="1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dataHO$Neuroticisme_gecen &lt;- </a:t>
            </a:r>
            <a:r>
              <a:rPr lang="nl-BE" sz="18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dataHO$Neuroticisme - mean(dataHO$Neuroticisme,</a:t>
            </a:r>
          </a:p>
          <a:p>
            <a:pPr marL="361940" lvl="1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                 </a:t>
            </a:r>
            <a:r>
              <a:rPr lang="nl-BE" sz="18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na.rm = TRUE)</a:t>
            </a:r>
          </a:p>
          <a:p>
            <a:endParaRPr lang="nl-BE" dirty="0"/>
          </a:p>
          <a:p>
            <a:r>
              <a:rPr lang="nl-BE" dirty="0"/>
              <a:t>Impact op intercept en op slope van ‘Neuroticisme’?</a:t>
            </a:r>
          </a:p>
          <a:p>
            <a:pPr marL="361940" lvl="1" indent="0">
              <a:buNone/>
            </a:pP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67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31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921543"/>
              </p:ext>
            </p:extLst>
          </p:nvPr>
        </p:nvGraphicFramePr>
        <p:xfrm>
          <a:off x="175846" y="1337480"/>
          <a:ext cx="11852030" cy="50586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3.23</a:t>
                      </a:r>
                      <a:r>
                        <a:rPr lang="nl-BE" sz="1600" b="1" baseline="30000" dirty="0">
                          <a:solidFill>
                            <a:srgbClr val="FF0000"/>
                          </a:solidFill>
                        </a:rPr>
                        <a:t>***</a:t>
                      </a:r>
                      <a:endParaRPr lang="nl-BE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0.11</a:t>
                      </a:r>
                      <a:r>
                        <a:rPr lang="nl-BE" sz="1600" b="0" baseline="30000" dirty="0"/>
                        <a:t>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823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DC787-BCD0-6441-91CD-FD0DD26C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2D0295-B26E-B44B-9033-8B734F377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A9C5B9-2E51-F64E-8F26-374744976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Ook regressiecoëfficiënten zijn niet altijd makkelijk interpreteerbaar</a:t>
            </a:r>
          </a:p>
          <a:p>
            <a:pPr lvl="1"/>
            <a:r>
              <a:rPr lang="nl-BE" dirty="0"/>
              <a:t>Slope ‘Neuroticisme’ = het effect van één punt hoger scoren voor ‘Neuroticisme’ …</a:t>
            </a:r>
          </a:p>
          <a:p>
            <a:pPr lvl="1"/>
            <a:r>
              <a:rPr lang="nl-BE" dirty="0"/>
              <a:t>Wat betekent dat? </a:t>
            </a:r>
          </a:p>
          <a:p>
            <a:pPr lvl="1"/>
            <a:endParaRPr lang="nl-BE" dirty="0"/>
          </a:p>
          <a:p>
            <a:endParaRPr lang="nl-BE" sz="1100" dirty="0"/>
          </a:p>
          <a:p>
            <a:r>
              <a:rPr lang="nl-BE" dirty="0"/>
              <a:t>Vaak zijn onafhankelijke variabelen uitgedrukt op een schaal die we niet kunnen interpreteren</a:t>
            </a:r>
          </a:p>
          <a:p>
            <a:pPr lvl="1"/>
            <a:r>
              <a:rPr lang="nl-BE" dirty="0"/>
              <a:t>Interessante meeteenheid?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53017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DC787-BCD0-6441-91CD-FD0DD26C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2D0295-B26E-B44B-9033-8B734F377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A9C5B9-2E51-F64E-8F26-374744976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Ook regressiecoëfficiënten zijn niet altijd makkelijk interpreteerbaar</a:t>
            </a:r>
          </a:p>
          <a:p>
            <a:pPr lvl="1"/>
            <a:r>
              <a:rPr lang="nl-BE" dirty="0"/>
              <a:t>Slope ‘Neuroticisme’ = het effect van één punt hoger scoren voor ‘Neuroticisme’ …</a:t>
            </a:r>
          </a:p>
          <a:p>
            <a:pPr lvl="1"/>
            <a:r>
              <a:rPr lang="nl-BE" dirty="0"/>
              <a:t>Wat betekent dat? </a:t>
            </a:r>
          </a:p>
          <a:p>
            <a:pPr lvl="1"/>
            <a:endParaRPr lang="nl-BE" dirty="0"/>
          </a:p>
          <a:p>
            <a:endParaRPr lang="nl-BE" sz="1100" dirty="0"/>
          </a:p>
          <a:p>
            <a:r>
              <a:rPr lang="nl-BE" dirty="0"/>
              <a:t>Vaak zijn onafhankelijke variabelen uitgedrukt op een schaal die we niet kunnen interpreteren</a:t>
            </a:r>
          </a:p>
          <a:p>
            <a:pPr lvl="1"/>
            <a:r>
              <a:rPr lang="nl-BE" dirty="0"/>
              <a:t>Interessante meeteenheid? </a:t>
            </a:r>
            <a:r>
              <a:rPr lang="nl-BE" i="1" dirty="0"/>
              <a:t>Standaardafwijking!</a:t>
            </a:r>
          </a:p>
          <a:p>
            <a:pPr lvl="1"/>
            <a:r>
              <a:rPr lang="nl-BE" dirty="0"/>
              <a:t>Gestandaardiseerde variabele: gemiddelde = 0 en </a:t>
            </a:r>
            <a:r>
              <a:rPr lang="nl-BE" i="1" dirty="0"/>
              <a:t>SD</a:t>
            </a:r>
            <a:r>
              <a:rPr lang="nl-BE" dirty="0"/>
              <a:t> = 1</a:t>
            </a:r>
          </a:p>
          <a:p>
            <a:pPr lvl="1"/>
            <a:r>
              <a:rPr lang="nl-BE" dirty="0"/>
              <a:t>In R:      </a:t>
            </a: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dataHO$NeuroZ &lt;- </a:t>
            </a:r>
            <a:r>
              <a:rPr lang="nl-BE" sz="15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scale(</a:t>
            </a: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dataHO$Neuroticisme)</a:t>
            </a:r>
            <a:b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&gt; mean(dataHO$NeuroZ, na.rm = TRUE)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nl-BE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</a:t>
            </a:r>
            <a:r>
              <a:rPr lang="nl-BE" sz="15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1.787104e-16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&gt; sd(dataHO$NeuroZ, na.rm = TRUE)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[1] </a:t>
            </a:r>
            <a:r>
              <a:rPr lang="nl-BE" sz="15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nl-BE" sz="1500" b="1" dirty="0"/>
          </a:p>
          <a:p>
            <a:pPr lvl="1"/>
            <a:endParaRPr lang="nl-BE" dirty="0"/>
          </a:p>
          <a:p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57752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34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490872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1" dirty="0"/>
                        <a:t>    2.67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0.07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-0.32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 0.11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125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35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944229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0" dirty="0"/>
                        <a:t>    2.67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  0.18</a:t>
                      </a:r>
                      <a:r>
                        <a:rPr lang="nl-BE" sz="1600" b="1" baseline="300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nl-BE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0.07</a:t>
                      </a:r>
                      <a:r>
                        <a:rPr lang="nl-BE" sz="1600" b="0" baseline="30000" dirty="0"/>
                        <a:t>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  -0.32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   0.11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3111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36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786803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Standaardiseren</a:t>
                      </a:r>
                      <a:r>
                        <a:rPr lang="nl-BE" sz="1800" dirty="0"/>
                        <a:t>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1" dirty="0"/>
                        <a:t>    2.67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chemeClr val="tx2"/>
                          </a:solidFill>
                        </a:rPr>
                        <a:t>-0.13</a:t>
                      </a:r>
                      <a:endParaRPr lang="nl-BE" sz="1600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-1.16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0.07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-0.32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 0.11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007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4D22A-7944-3546-B081-1EF9C45E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9BCB285-82CE-F049-BE07-AC4F54B8E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E03184B-7C57-424B-B0D5-63B54C450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Categorische variabele omzetten naar een reeks van dummyvariabelen</a:t>
            </a:r>
          </a:p>
          <a:p>
            <a:pPr lvl="1"/>
            <a:r>
              <a:rPr lang="nl-BE" dirty="0"/>
              <a:t>2 categorieën -&gt; 1 dummyvariabele</a:t>
            </a:r>
          </a:p>
          <a:p>
            <a:pPr lvl="1"/>
            <a:r>
              <a:rPr lang="nl-BE" dirty="0"/>
              <a:t>3 categorieën -&gt;  2 dummyvariabelen</a:t>
            </a:r>
          </a:p>
          <a:p>
            <a:pPr lvl="1"/>
            <a:r>
              <a:rPr lang="nl-BE" dirty="0"/>
              <a:t>4 categorieën  -&gt; 3 dummyvariabelen … </a:t>
            </a:r>
          </a:p>
          <a:p>
            <a:pPr lvl="1"/>
            <a:r>
              <a:rPr lang="nl-BE" dirty="0"/>
              <a:t>…</a:t>
            </a:r>
          </a:p>
          <a:p>
            <a:pPr lvl="1"/>
            <a:endParaRPr lang="nl-BE" dirty="0"/>
          </a:p>
          <a:p>
            <a:r>
              <a:rPr lang="nl-BE" dirty="0"/>
              <a:t>Hoe zou een dummyvariabele ‘GeslachtD’ eruit kunnen zien?</a:t>
            </a:r>
          </a:p>
          <a:p>
            <a:endParaRPr lang="nl-BE" dirty="0"/>
          </a:p>
          <a:p>
            <a:pPr lvl="1"/>
            <a:endParaRPr lang="nl-BE" dirty="0"/>
          </a:p>
        </p:txBody>
      </p:sp>
      <p:graphicFrame>
        <p:nvGraphicFramePr>
          <p:cNvPr id="6" name="Tabel 6">
            <a:extLst>
              <a:ext uri="{FF2B5EF4-FFF2-40B4-BE49-F238E27FC236}">
                <a16:creationId xmlns:a16="http://schemas.microsoft.com/office/drawing/2014/main" id="{9848FE65-5994-8041-81D0-107459F7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36102"/>
              </p:ext>
            </p:extLst>
          </p:nvPr>
        </p:nvGraphicFramePr>
        <p:xfrm>
          <a:off x="2070910" y="4916631"/>
          <a:ext cx="2987472" cy="1371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89413">
                  <a:extLst>
                    <a:ext uri="{9D8B030D-6E8A-4147-A177-3AD203B41FA5}">
                      <a16:colId xmlns:a16="http://schemas.microsoft.com/office/drawing/2014/main" val="2456935640"/>
                    </a:ext>
                  </a:extLst>
                </a:gridCol>
                <a:gridCol w="1498059">
                  <a:extLst>
                    <a:ext uri="{9D8B030D-6E8A-4147-A177-3AD203B41FA5}">
                      <a16:colId xmlns:a16="http://schemas.microsoft.com/office/drawing/2014/main" val="2749654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GeslachtD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1286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4"/>
                          </a:solidFill>
                        </a:rPr>
                        <a:t>man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1808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4"/>
                          </a:solidFill>
                        </a:rPr>
                        <a:t>vrouw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037001"/>
                  </a:ext>
                </a:extLst>
              </a:tr>
            </a:tbl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0E592FC1-39B5-5740-8E32-756AE4BCBFCA}"/>
              </a:ext>
            </a:extLst>
          </p:cNvPr>
          <p:cNvSpPr txBox="1"/>
          <p:nvPr/>
        </p:nvSpPr>
        <p:spPr>
          <a:xfrm>
            <a:off x="5407926" y="5459074"/>
            <a:ext cx="5810642" cy="7587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i="1" dirty="0">
                <a:solidFill>
                  <a:schemeClr val="tx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‘GeslachtD’ staat aan voor “vrouw”</a:t>
            </a:r>
          </a:p>
        </p:txBody>
      </p:sp>
    </p:spTree>
    <p:extLst>
      <p:ext uri="{BB962C8B-B14F-4D97-AF65-F5344CB8AC3E}">
        <p14:creationId xmlns:p14="http://schemas.microsoft.com/office/powerpoint/2010/main" val="3270207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9434A-D8C8-9E44-9086-F6EFC3A1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Dummyvariabelen (meer dan 2 cat.)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19ED099-50CD-2F47-8823-B2D7AF2A6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61AE866-2300-3F45-ACFF-F2A6D51E6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Hoe variabele ‘Onderwijsvorm’ omzetten naar reeks dummyvariabelen?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Welke dummyvariabelen opnemen in je model als …</a:t>
            </a:r>
          </a:p>
          <a:p>
            <a:pPr lvl="1"/>
            <a:r>
              <a:rPr lang="nl-BE" dirty="0"/>
              <a:t>het intercept moet gelden voor ASO-leerlingen?</a:t>
            </a:r>
          </a:p>
          <a:p>
            <a:pPr lvl="1"/>
            <a:r>
              <a:rPr lang="nl-BE" dirty="0"/>
              <a:t>het intercept moet gelden voor KSO-leerlingen?</a:t>
            </a:r>
          </a:p>
          <a:p>
            <a:pPr lvl="1"/>
            <a:r>
              <a:rPr lang="nl-BE" dirty="0"/>
              <a:t>Het intercept moet gelden voor TSO- én BSO-leerlingen?</a:t>
            </a:r>
          </a:p>
          <a:p>
            <a:endParaRPr lang="nl-BE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7A1A972-341D-2747-AA26-705DFC5EB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15756"/>
              </p:ext>
            </p:extLst>
          </p:nvPr>
        </p:nvGraphicFramePr>
        <p:xfrm>
          <a:off x="920885" y="2077483"/>
          <a:ext cx="5309987" cy="18491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42883">
                  <a:extLst>
                    <a:ext uri="{9D8B030D-6E8A-4147-A177-3AD203B41FA5}">
                      <a16:colId xmlns:a16="http://schemas.microsoft.com/office/drawing/2014/main" val="3319155863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2877448205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190132942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992383256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3372286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nl-BE" sz="180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ASO_D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BSO_D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KSO_D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TSO_D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063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ASO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976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BSO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24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KSO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555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TSO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277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0768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maken en controleren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dataHO$ASO_D 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(dataHO$Onderwijsvorm=="ASO")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dataHO$BSO_D &lt;- (dataHO$Onderwijsvorm=="BSO")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dataHO$KSO_D &lt;- (dataHO$Onderwijsvorm=="KSO")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dataHO$TSO_D &lt;- (dataHO$Onderwijsvorm=="TSO") * 1</a:t>
            </a:r>
          </a:p>
          <a:p>
            <a:pPr>
              <a:buFont typeface="Wingdings" pitchFamily="2" charset="2"/>
              <a:buChar char="Ø"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table(dataHO$ASO_D, dataHO$ASO)</a:t>
            </a:r>
            <a:endParaRPr lang="nl-B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0    1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0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1968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1    0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1731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9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opnemen in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Model3_met.dummies &lt;- lm(AanpassingZ ~ SESZ  + Geslacht + IQZ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ASO_D + KSO_D + TSO_D 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ConscZ + OpenheidZ + NeuroZ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ZelfeffZ + DemotZ,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data = dataHO)</a:t>
            </a:r>
          </a:p>
          <a:p>
            <a:pPr marL="0" indent="0">
              <a:buNone/>
            </a:pPr>
            <a:endParaRPr lang="nl-BE" sz="9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917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opnemen in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Model3_met.dummies &lt;- lm(AanpassingZ ~ SESZ  + Geslacht + IQZ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ASO_D + KSO_D + TSO_D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ConscZ + OpenheidZ + NeuroZ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ZelfeffZ + DemotZ,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data = dataHO)</a:t>
            </a:r>
          </a:p>
          <a:p>
            <a:pPr marL="0" indent="0">
              <a:buNone/>
            </a:pPr>
            <a:endParaRPr lang="nl-BE" sz="9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summary(Model3_met.dummies)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(Intercept)   -1.28886    0.88669  -1.454 0.146650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SESZ           0.03979    0.03803   1.046 0.295865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Geslachtvrouw  0.09074    0.08578   1.058 0.290600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IQZ           -0.01677    0.04246  -0.395 0.693048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ASO_D          1.16094    0.88564   1.311 0.190470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KSO_D          1.43067    0.93568   1.529 0.126851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TSO_D          1.37569    0.88775   1.550 0.121816    </a:t>
            </a: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43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42</a:t>
            </a:fld>
            <a:endParaRPr lang="nl-BE" dirty="0"/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139704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43</a:t>
            </a:fld>
            <a:endParaRPr lang="nl-BE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08CD9A82-439C-8542-840B-D8C6F99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Afval$ConditieD &lt;- (Afval$Conditie == "Experimentele conditie")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table(Afval$ConditieD, Afval$Conditie)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Controle conditie Experimentele conditie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0               100                      0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1                 0                    100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Model.t &lt;- lm(Afval.in.kg ~ ConditieD, data = Afval)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summary(Model.t)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10.3213     0.2352  43.886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ConditieD     1.7465     0.3326   5.251 3.89e-07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5328443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44</a:t>
            </a:fld>
            <a:endParaRPr lang="nl-BE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08CD9A82-439C-8542-840B-D8C6F99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t)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10.3213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0.2352  43.886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ConditieD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1.7465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0.3326   5.251 3.89e-07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EC163270-940C-6249-8A9A-F3D103F26599}"/>
              </a:ext>
            </a:extLst>
          </p:cNvPr>
          <p:cNvSpPr/>
          <p:nvPr/>
        </p:nvSpPr>
        <p:spPr bwMode="auto">
          <a:xfrm>
            <a:off x="504886" y="1432260"/>
            <a:ext cx="7381813" cy="265396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FFC259-2B25-164F-8A86-8F248F6DF9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44"/>
          <a:stretch/>
        </p:blipFill>
        <p:spPr>
          <a:xfrm>
            <a:off x="590614" y="1546564"/>
            <a:ext cx="7166035" cy="242521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58219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Interacties (Deel 1)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10674" b="-10674"/>
          <a:stretch/>
        </p:blipFill>
        <p:spPr>
          <a:xfrm>
            <a:off x="623889" y="620713"/>
            <a:ext cx="5145732" cy="5616575"/>
          </a:xfr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93B7F586-AE4A-4249-BF1F-525FDEE8AC07}"/>
              </a:ext>
            </a:extLst>
          </p:cNvPr>
          <p:cNvSpPr txBox="1"/>
          <p:nvPr/>
        </p:nvSpPr>
        <p:spPr>
          <a:xfrm>
            <a:off x="6800850" y="-15859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961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2D943-4AA0-9249-8667-68CE5804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/>
          <a:lstStyle/>
          <a:p>
            <a:r>
              <a:rPr lang="nl-BE" dirty="0"/>
              <a:t>Een voorbeeld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6AD088-E22A-C148-9AAB-FDA76EFB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46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ED8790-2C2D-CE49-9C78-582C0934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0944226" cy="4660279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nl-BE" b="0" dirty="0">
                <a:latin typeface="Calibri"/>
                <a:ea typeface="Verdana"/>
                <a:cs typeface="Calibri"/>
              </a:rPr>
              <a:t>Is het effect van het bekijken van meer of minder voorbeeldrapportages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(variabele ‘Voorbeelden_Z’)</a:t>
            </a:r>
            <a:r>
              <a:rPr lang="nl-BE" b="0" dirty="0">
                <a:latin typeface="Calibri"/>
                <a:ea typeface="Verdana"/>
                <a:cs typeface="Calibri"/>
              </a:rPr>
              <a:t> op schrijfvaardigheid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(variabele ‘Schrijven_Z’)</a:t>
            </a:r>
            <a:r>
              <a:rPr lang="nl-BE" b="0" dirty="0">
                <a:latin typeface="Calibri"/>
                <a:ea typeface="Verdana"/>
                <a:cs typeface="Calibri"/>
              </a:rPr>
              <a:t> afhankelijk van hoe deze voorbeelden bekeken zijn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(2 condities: </a:t>
            </a:r>
            <a:r>
              <a:rPr lang="nl-BE" sz="1800" b="0" dirty="0">
                <a:solidFill>
                  <a:srgbClr val="9ECAE1"/>
                </a:solidFill>
                <a:latin typeface="Calibri"/>
                <a:ea typeface="Verdana"/>
                <a:cs typeface="Calibri"/>
              </a:rPr>
              <a:t>één voor één</a:t>
            </a:r>
            <a:r>
              <a:rPr lang="nl-BE" sz="1800" b="0" dirty="0">
                <a:latin typeface="Calibri"/>
                <a:ea typeface="Verdana"/>
                <a:cs typeface="Calibri"/>
              </a:rPr>
              <a:t> of </a:t>
            </a:r>
            <a:r>
              <a:rPr lang="nl-BE" sz="1800" b="0" dirty="0">
                <a:solidFill>
                  <a:srgbClr val="084594"/>
                </a:solidFill>
                <a:latin typeface="Calibri"/>
                <a:ea typeface="Verdana"/>
                <a:cs typeface="Calibri"/>
              </a:rPr>
              <a:t>vergelijkend</a:t>
            </a:r>
            <a:r>
              <a:rPr lang="nl-BE" sz="1800" b="0" dirty="0">
                <a:latin typeface="Calibri"/>
                <a:ea typeface="Verdana"/>
                <a:cs typeface="Calibri"/>
              </a:rPr>
              <a:t>; variabele ‘Conditie_D’)</a:t>
            </a:r>
            <a:r>
              <a:rPr lang="nl-BE" b="0" dirty="0">
                <a:latin typeface="Calibri"/>
                <a:ea typeface="Verdana"/>
                <a:cs typeface="Calibri"/>
              </a:rPr>
              <a:t>?</a:t>
            </a:r>
          </a:p>
          <a:p>
            <a:pPr marL="0" indent="0" algn="just">
              <a:buNone/>
            </a:pPr>
            <a:endParaRPr lang="nl-BE" b="0" dirty="0"/>
          </a:p>
          <a:p>
            <a:pPr marL="274320" indent="-274320" algn="just"/>
            <a:r>
              <a:rPr lang="nl-BE" b="0" i="1" dirty="0"/>
              <a:t>Teken de onderzoeksvraag</a:t>
            </a:r>
          </a:p>
          <a:p>
            <a:pPr marL="274320" indent="-274320" algn="just"/>
            <a:r>
              <a:rPr lang="nl-BE" b="0" i="1" dirty="0"/>
              <a:t>Kies de geschikte techniek</a:t>
            </a:r>
          </a:p>
          <a:p>
            <a:pPr marL="0" indent="0" algn="just">
              <a:buNone/>
            </a:pPr>
            <a:endParaRPr lang="nl-BE" b="0" dirty="0"/>
          </a:p>
        </p:txBody>
      </p:sp>
    </p:spTree>
    <p:extLst>
      <p:ext uri="{BB962C8B-B14F-4D97-AF65-F5344CB8AC3E}">
        <p14:creationId xmlns:p14="http://schemas.microsoft.com/office/powerpoint/2010/main" val="36695116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2D943-4AA0-9249-8667-68CE5804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/>
          <a:lstStyle/>
          <a:p>
            <a:r>
              <a:rPr lang="nl-BE" dirty="0"/>
              <a:t>Een voorbeeld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6AD088-E22A-C148-9AAB-FDA76EFB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47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ED8790-2C2D-CE49-9C78-582C0934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0944226" cy="4660279"/>
          </a:xfrm>
        </p:spPr>
        <p:txBody>
          <a:bodyPr wrap="square"/>
          <a:lstStyle/>
          <a:p>
            <a:pPr marL="0" indent="0" algn="just">
              <a:buNone/>
            </a:pPr>
            <a:r>
              <a:rPr lang="nl-BE" b="0" dirty="0"/>
              <a:t>Is het effect van het bekijken van meer of minder voorbeeldrapportages </a:t>
            </a:r>
            <a:r>
              <a:rPr lang="nl-BE" sz="1800" b="0" dirty="0"/>
              <a:t>(variabele ‘Voorbeelden_Z’)</a:t>
            </a:r>
            <a:r>
              <a:rPr lang="nl-BE" b="0" dirty="0"/>
              <a:t> op schrijfvaardigheid </a:t>
            </a:r>
            <a:r>
              <a:rPr lang="nl-BE" sz="1800" b="0" dirty="0"/>
              <a:t>(variabele ‘Schrijven_Z’)</a:t>
            </a:r>
            <a:r>
              <a:rPr lang="nl-BE" b="0" dirty="0"/>
              <a:t> afhankelijk van hoe deze voorbeelden bekeken zijn </a:t>
            </a:r>
            <a:r>
              <a:rPr lang="nl-BE" sz="1800" b="0" dirty="0"/>
              <a:t>(2 condities: </a:t>
            </a:r>
            <a:r>
              <a:rPr lang="nl-BE" sz="1800" b="0" dirty="0">
                <a:solidFill>
                  <a:srgbClr val="9ECAE1"/>
                </a:solidFill>
              </a:rPr>
              <a:t>één voor één</a:t>
            </a:r>
            <a:r>
              <a:rPr lang="nl-BE" sz="1800" b="0" dirty="0"/>
              <a:t> of </a:t>
            </a:r>
            <a:r>
              <a:rPr lang="nl-BE" sz="1800" b="0" dirty="0">
                <a:solidFill>
                  <a:srgbClr val="084594"/>
                </a:solidFill>
              </a:rPr>
              <a:t>vergelijkend</a:t>
            </a:r>
            <a:r>
              <a:rPr lang="nl-BE" sz="1800" b="0" dirty="0"/>
              <a:t>; variabele ‘Conditie_D’)</a:t>
            </a:r>
            <a:r>
              <a:rPr lang="nl-BE" b="0" dirty="0"/>
              <a:t>?</a:t>
            </a:r>
          </a:p>
          <a:p>
            <a:pPr marL="0" indent="0" algn="just">
              <a:buNone/>
            </a:pPr>
            <a:endParaRPr lang="nl-BE" b="0" dirty="0"/>
          </a:p>
          <a:p>
            <a:pPr algn="just"/>
            <a:r>
              <a:rPr lang="nl-BE" b="0" i="1" dirty="0"/>
              <a:t>Teken de onderzoeksvraag</a:t>
            </a:r>
          </a:p>
          <a:p>
            <a:pPr algn="just"/>
            <a:r>
              <a:rPr lang="nl-BE" b="0" i="1" dirty="0"/>
              <a:t>Kies de geschikte techniek</a:t>
            </a:r>
          </a:p>
          <a:p>
            <a:pPr marL="0" indent="0" algn="just">
              <a:buNone/>
            </a:pPr>
            <a:endParaRPr lang="nl-BE" b="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08CCDB4-821A-FD41-BE7C-04EE84776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051" y="6248132"/>
            <a:ext cx="3279690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7CEDFEB-D10C-4D48-BB1B-973471547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302" y="5892623"/>
            <a:ext cx="2399291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EFF79341-FAF6-7F49-BF20-687A6350E513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V="1">
            <a:off x="5655741" y="6123456"/>
            <a:ext cx="2087561" cy="355509"/>
          </a:xfrm>
          <a:prstGeom prst="straightConnector1">
            <a:avLst/>
          </a:prstGeom>
          <a:noFill/>
          <a:ln w="38100" algn="ctr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3DA3C919-E821-EE44-B64C-3870242CD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051" y="5188218"/>
            <a:ext cx="3279690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616DD982-04E9-6041-B41C-2B719A98D1F1}"/>
              </a:ext>
            </a:extLst>
          </p:cNvPr>
          <p:cNvCxnSpPr>
            <a:cxnSpLocks noChangeShapeType="1"/>
            <a:stCxn id="9" idx="3"/>
            <a:endCxn id="6" idx="1"/>
          </p:cNvCxnSpPr>
          <p:nvPr/>
        </p:nvCxnSpPr>
        <p:spPr bwMode="auto">
          <a:xfrm>
            <a:off x="5655741" y="5419051"/>
            <a:ext cx="2087561" cy="704405"/>
          </a:xfrm>
          <a:prstGeom prst="straightConnector1">
            <a:avLst/>
          </a:prstGeom>
          <a:noFill/>
          <a:ln w="38100" algn="ctr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4EBBF64C-0C71-F84F-A1AF-0C9E78E76DAC}"/>
              </a:ext>
            </a:extLst>
          </p:cNvPr>
          <p:cNvSpPr txBox="1"/>
          <p:nvPr/>
        </p:nvSpPr>
        <p:spPr>
          <a:xfrm>
            <a:off x="7821016" y="5534466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Schrijven_Z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2A13655-FB3E-C24E-A68C-04F74E05B9A8}"/>
              </a:ext>
            </a:extLst>
          </p:cNvPr>
          <p:cNvSpPr txBox="1"/>
          <p:nvPr/>
        </p:nvSpPr>
        <p:spPr>
          <a:xfrm>
            <a:off x="2376051" y="4790252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Voorbeelden_Z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07727A0-F5B9-A441-A74F-2BF4F9FAB024}"/>
              </a:ext>
            </a:extLst>
          </p:cNvPr>
          <p:cNvSpPr txBox="1"/>
          <p:nvPr/>
        </p:nvSpPr>
        <p:spPr>
          <a:xfrm>
            <a:off x="2372811" y="5837595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Conditie_D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F72ABFF6-139E-2F4F-AB45-D5CA792BA12D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2376051" y="6478965"/>
            <a:ext cx="3279690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BA99CEF4-F7A5-B044-92B8-997A2B95A301}"/>
              </a:ext>
            </a:extLst>
          </p:cNvPr>
          <p:cNvCxnSpPr>
            <a:cxnSpLocks/>
          </p:cNvCxnSpPr>
          <p:nvPr/>
        </p:nvCxnSpPr>
        <p:spPr>
          <a:xfrm>
            <a:off x="5655741" y="5649883"/>
            <a:ext cx="459714" cy="297819"/>
          </a:xfrm>
          <a:prstGeom prst="line">
            <a:avLst/>
          </a:prstGeom>
          <a:ln>
            <a:solidFill>
              <a:schemeClr val="bg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CDE4BF2B-985E-B343-A442-DF2171F8F4BA}"/>
              </a:ext>
            </a:extLst>
          </p:cNvPr>
          <p:cNvCxnSpPr>
            <a:cxnSpLocks/>
          </p:cNvCxnSpPr>
          <p:nvPr/>
        </p:nvCxnSpPr>
        <p:spPr>
          <a:xfrm flipV="1">
            <a:off x="5633046" y="5919012"/>
            <a:ext cx="459714" cy="297819"/>
          </a:xfrm>
          <a:prstGeom prst="line">
            <a:avLst/>
          </a:prstGeom>
          <a:ln>
            <a:solidFill>
              <a:schemeClr val="bg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9D86A52F-7744-8946-A5C9-BA140C13588A}"/>
              </a:ext>
            </a:extLst>
          </p:cNvPr>
          <p:cNvCxnSpPr/>
          <p:nvPr/>
        </p:nvCxnSpPr>
        <p:spPr>
          <a:xfrm>
            <a:off x="6112215" y="5938469"/>
            <a:ext cx="1241895" cy="148909"/>
          </a:xfrm>
          <a:prstGeom prst="straightConnector1">
            <a:avLst/>
          </a:prstGeom>
          <a:ln>
            <a:solidFill>
              <a:schemeClr val="bg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915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67D0B-A7E8-8D49-BCA1-8B90D03E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zonder interactie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3AB24AC-BF00-B648-AEBA-DA194F334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E5DEB23-15FB-AD48-AA37-A5F199D0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363326" cy="4660279"/>
          </a:xfrm>
        </p:spPr>
        <p:txBody>
          <a:bodyPr wrap="square"/>
          <a:lstStyle/>
          <a:p>
            <a:r>
              <a:rPr lang="nl-BE" dirty="0"/>
              <a:t>Hoe ziet dat model eruit?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Model_zonder_interactie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Schrijven_Z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data = Experiment)</a:t>
            </a: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/>
              <a:t>Je krijgt onderstaande resultaten en wilt deze visualiseren in één grafiek…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5A09A07-FE55-A842-AD7C-05777AEAA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16223"/>
              </p:ext>
            </p:extLst>
          </p:nvPr>
        </p:nvGraphicFramePr>
        <p:xfrm>
          <a:off x="1115371" y="4073809"/>
          <a:ext cx="2220042" cy="104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74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49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576" y="107"/>
            <a:ext cx="11144251" cy="6860479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22660"/>
              </p:ext>
            </p:extLst>
          </p:nvPr>
        </p:nvGraphicFramePr>
        <p:xfrm>
          <a:off x="10355430" y="633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3988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50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576" y="107"/>
            <a:ext cx="11144251" cy="6860479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73614"/>
              </p:ext>
            </p:extLst>
          </p:nvPr>
        </p:nvGraphicFramePr>
        <p:xfrm>
          <a:off x="10355430" y="633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Intercept</a:t>
                      </a:r>
                      <a:r>
                        <a:rPr lang="nl-BE" sz="1200" b="1" dirty="0"/>
                        <a:t>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13" name="Ovaal 12">
            <a:extLst>
              <a:ext uri="{FF2B5EF4-FFF2-40B4-BE49-F238E27FC236}">
                <a16:creationId xmlns:a16="http://schemas.microsoft.com/office/drawing/2014/main" id="{D56248D1-86AB-D943-BB91-5B746BCA4F31}"/>
              </a:ext>
            </a:extLst>
          </p:cNvPr>
          <p:cNvSpPr/>
          <p:nvPr/>
        </p:nvSpPr>
        <p:spPr bwMode="auto">
          <a:xfrm>
            <a:off x="5786442" y="3543296"/>
            <a:ext cx="45719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667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CB03CD9E-E51F-3743-8CFA-B8996AD6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547781" cy="6858000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51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997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52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142" y="3493"/>
            <a:ext cx="11134553" cy="6854507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1335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53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93"/>
            <a:ext cx="11134551" cy="6854507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439020"/>
              </p:ext>
            </p:extLst>
          </p:nvPr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0.10</a:t>
                      </a:r>
                      <a:r>
                        <a:rPr lang="nl-BE" sz="1200" b="0" baseline="30000" dirty="0">
                          <a:solidFill>
                            <a:schemeClr val="tx2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8119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54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93"/>
            <a:ext cx="11134551" cy="6854506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0.10</a:t>
                      </a:r>
                      <a:r>
                        <a:rPr lang="nl-BE" sz="1200" b="0" baseline="30000" dirty="0">
                          <a:solidFill>
                            <a:schemeClr val="tx2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7274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67D0B-A7E8-8D49-BCA1-8B90D03E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mét positieve interactie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3AB24AC-BF00-B648-AEBA-DA194F334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E5DEB23-15FB-AD48-AA37-A5F199D0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363326" cy="4660279"/>
          </a:xfrm>
        </p:spPr>
        <p:txBody>
          <a:bodyPr wrap="square"/>
          <a:lstStyle/>
          <a:p>
            <a:r>
              <a:rPr lang="nl-BE" dirty="0"/>
              <a:t>Hoe ziet dat model eruit?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Model_met_interactie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Schrijven_Z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  </a:t>
            </a:r>
            <a:r>
              <a:rPr lang="nl-NL" sz="180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180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data = Experiment)</a:t>
            </a: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/>
              <a:t>Je krijgt onderstaande resultaten, wat verandert er aan de grafiek?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5A09A07-FE55-A842-AD7C-05777AEAA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57548"/>
              </p:ext>
            </p:extLst>
          </p:nvPr>
        </p:nvGraphicFramePr>
        <p:xfrm>
          <a:off x="1115371" y="4088101"/>
          <a:ext cx="2220042" cy="141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b="1" dirty="0"/>
                        <a:t>Interactie: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b="1" baseline="0" dirty="0"/>
                        <a:t>0.15</a:t>
                      </a:r>
                      <a:r>
                        <a:rPr lang="nl-BE" sz="1600" b="1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3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5101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56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-3111"/>
            <a:ext cx="11144251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79375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29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57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-3111"/>
            <a:ext cx="11144251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07115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0209A9BB-3FAF-4442-8F8D-06BEFF58D590}"/>
              </a:ext>
            </a:extLst>
          </p:cNvPr>
          <p:cNvSpPr/>
          <p:nvPr/>
        </p:nvSpPr>
        <p:spPr bwMode="auto">
          <a:xfrm>
            <a:off x="5586413" y="3543292"/>
            <a:ext cx="45719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3576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547781" cy="6858000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58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17704"/>
              </p:ext>
            </p:extLst>
          </p:nvPr>
        </p:nvGraphicFramePr>
        <p:xfrm>
          <a:off x="10158413" y="0"/>
          <a:ext cx="203808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8493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2959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0.15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4805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59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1547779" cy="6858000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158413" y="0"/>
          <a:ext cx="203808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8493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2959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0.15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200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60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1144250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386951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1747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61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-3110"/>
            <a:ext cx="11144250" cy="6860477"/>
          </a:xfrm>
          <a:ln>
            <a:noFill/>
          </a:ln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985404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C000"/>
                          </a:solidFill>
                        </a:rPr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>
                          <a:solidFill>
                            <a:srgbClr val="FFC000"/>
                          </a:solidFill>
                        </a:rPr>
                        <a:t>  0.15</a:t>
                      </a:r>
                      <a:r>
                        <a:rPr lang="nl-BE" sz="1200" b="1" baseline="30000" dirty="0">
                          <a:solidFill>
                            <a:srgbClr val="FFC000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4" name="Tekstvak 3">
            <a:extLst>
              <a:ext uri="{FF2B5EF4-FFF2-40B4-BE49-F238E27FC236}">
                <a16:creationId xmlns:a16="http://schemas.microsoft.com/office/drawing/2014/main" id="{63511737-A8E3-954D-88D9-3F9F4E7DEC87}"/>
              </a:ext>
            </a:extLst>
          </p:cNvPr>
          <p:cNvSpPr txBox="1"/>
          <p:nvPr/>
        </p:nvSpPr>
        <p:spPr>
          <a:xfrm>
            <a:off x="1814513" y="4557713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0.15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-0.20 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28B361C2-63C7-C34A-B9D8-EDAFD0CBE8AE}"/>
              </a:ext>
            </a:extLst>
          </p:cNvPr>
          <p:cNvSpPr txBox="1"/>
          <p:nvPr/>
        </p:nvSpPr>
        <p:spPr>
          <a:xfrm>
            <a:off x="1824036" y="2381237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0.15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0</a:t>
            </a: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D41CED62-A693-C645-82E7-C21A97B01932}"/>
              </a:ext>
            </a:extLst>
          </p:cNvPr>
          <p:cNvCxnSpPr/>
          <p:nvPr/>
        </p:nvCxnSpPr>
        <p:spPr>
          <a:xfrm flipH="1" flipV="1">
            <a:off x="1171575" y="3957638"/>
            <a:ext cx="652461" cy="600075"/>
          </a:xfrm>
          <a:prstGeom prst="straightConnector1">
            <a:avLst/>
          </a:prstGeom>
          <a:ln>
            <a:solidFill>
              <a:srgbClr val="9ECAE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39D95F2-39F2-344C-9F52-3DFD4339B9CB}"/>
              </a:ext>
            </a:extLst>
          </p:cNvPr>
          <p:cNvCxnSpPr>
            <a:cxnSpLocks/>
          </p:cNvCxnSpPr>
          <p:nvPr/>
        </p:nvCxnSpPr>
        <p:spPr>
          <a:xfrm flipH="1">
            <a:off x="1171575" y="2738424"/>
            <a:ext cx="642938" cy="876314"/>
          </a:xfrm>
          <a:prstGeom prst="straightConnector1">
            <a:avLst/>
          </a:prstGeom>
          <a:ln>
            <a:solidFill>
              <a:srgbClr val="084594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7602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63A9F-38E4-0342-A321-FA29B155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als interactie negatief zou zijn?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1DC466B-9804-9340-8F92-83FF26487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AE9D4B2-84E3-BA44-B80C-25F57283A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Je krijgt onderstaande resultaten</a:t>
            </a:r>
          </a:p>
        </p:txBody>
      </p:sp>
      <p:sp>
        <p:nvSpPr>
          <p:cNvPr id="5" name="Tijdelijke aanduiding voor inhoud 3">
            <a:extLst>
              <a:ext uri="{FF2B5EF4-FFF2-40B4-BE49-F238E27FC236}">
                <a16:creationId xmlns:a16="http://schemas.microsoft.com/office/drawing/2014/main" id="{F308B95D-B4AA-5C4E-B090-A01ACBC1BAFD}"/>
              </a:ext>
            </a:extLst>
          </p:cNvPr>
          <p:cNvSpPr txBox="1">
            <a:spLocks/>
          </p:cNvSpPr>
          <p:nvPr/>
        </p:nvSpPr>
        <p:spPr>
          <a:xfrm>
            <a:off x="623887" y="1577009"/>
            <a:ext cx="11363326" cy="46602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/>
              <a:t>Je krijgt onderstaande resultaten, wat verandert er aan de grafiek?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ED94482-2954-AA47-8EF8-9077D6C06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82720"/>
              </p:ext>
            </p:extLst>
          </p:nvPr>
        </p:nvGraphicFramePr>
        <p:xfrm>
          <a:off x="1115371" y="2387881"/>
          <a:ext cx="2220042" cy="141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b="1" dirty="0"/>
                        <a:t>Interactie: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b="1" baseline="0" dirty="0"/>
                        <a:t>-0.15</a:t>
                      </a:r>
                      <a:r>
                        <a:rPr lang="nl-BE" sz="1600" b="1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3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8602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63</a:t>
            </a:fld>
            <a:endParaRPr lang="nl-BE" dirty="0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23" y="0"/>
            <a:ext cx="11144250" cy="6860478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6176"/>
              </p:ext>
            </p:extLst>
          </p:nvPr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-0.15</a:t>
                      </a:r>
                      <a:r>
                        <a:rPr lang="nl-BE" sz="1200" b="1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726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66" y="-3110"/>
            <a:ext cx="11144249" cy="6860477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64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-0.15</a:t>
                      </a:r>
                      <a:r>
                        <a:rPr lang="nl-BE" sz="1200" b="1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B5E7FC-8B3D-C84B-80A7-40F29D0A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075498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66" y="-3110"/>
            <a:ext cx="11144249" cy="6860476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65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258400"/>
              </p:ext>
            </p:extLst>
          </p:nvPr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C000"/>
                          </a:solidFill>
                        </a:rPr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</a:t>
                      </a:r>
                      <a:r>
                        <a:rPr lang="nl-BE" sz="1200" b="1" baseline="0" dirty="0">
                          <a:solidFill>
                            <a:srgbClr val="FFC000"/>
                          </a:solidFill>
                        </a:rPr>
                        <a:t>-0.15</a:t>
                      </a:r>
                      <a:r>
                        <a:rPr lang="nl-BE" sz="1200" b="1" baseline="30000" dirty="0">
                          <a:solidFill>
                            <a:srgbClr val="FFC000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B5E7FC-8B3D-C84B-80A7-40F29D0A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213DF2C-321C-A048-A4D5-594D9D2C9387}"/>
              </a:ext>
            </a:extLst>
          </p:cNvPr>
          <p:cNvSpPr txBox="1"/>
          <p:nvPr/>
        </p:nvSpPr>
        <p:spPr>
          <a:xfrm>
            <a:off x="1814513" y="4557713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fgh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-0.15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-0.20  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3AD64DD-F110-974F-B8D6-4B37597448D3}"/>
              </a:ext>
            </a:extLst>
          </p:cNvPr>
          <p:cNvSpPr txBox="1"/>
          <p:nvPr/>
        </p:nvSpPr>
        <p:spPr>
          <a:xfrm>
            <a:off x="1824036" y="2381237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-0.15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0.60</a:t>
            </a: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AB346937-3208-EC44-9229-79D61D63C4A2}"/>
              </a:ext>
            </a:extLst>
          </p:cNvPr>
          <p:cNvCxnSpPr>
            <a:cxnSpLocks/>
          </p:cNvCxnSpPr>
          <p:nvPr/>
        </p:nvCxnSpPr>
        <p:spPr>
          <a:xfrm flipH="1" flipV="1">
            <a:off x="1034385" y="3957639"/>
            <a:ext cx="789652" cy="600075"/>
          </a:xfrm>
          <a:prstGeom prst="straightConnector1">
            <a:avLst/>
          </a:prstGeom>
          <a:ln>
            <a:solidFill>
              <a:srgbClr val="9ECAE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72450C9A-AAAF-C742-AFBF-E68A4A9996AC}"/>
              </a:ext>
            </a:extLst>
          </p:cNvPr>
          <p:cNvCxnSpPr>
            <a:cxnSpLocks/>
          </p:cNvCxnSpPr>
          <p:nvPr/>
        </p:nvCxnSpPr>
        <p:spPr>
          <a:xfrm flipH="1">
            <a:off x="1034385" y="2559830"/>
            <a:ext cx="780128" cy="340532"/>
          </a:xfrm>
          <a:prstGeom prst="straightConnector1">
            <a:avLst/>
          </a:prstGeom>
          <a:ln>
            <a:solidFill>
              <a:srgbClr val="084594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277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6FC219E-2B52-8B46-BCE5-D6ECF9B24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D75492-2D3D-2347-964F-1B7AC12D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44CAC1-9DC2-6147-B2F3-EFB051D818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dirty="0"/>
              <a:t>Virtuele oefenruimtes</a:t>
            </a:r>
          </a:p>
          <a:p>
            <a:r>
              <a:rPr lang="nl-BE" dirty="0"/>
              <a:t>Individueel oefenen 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47588DA9-5F49-F746-B1D9-BBA874481F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300680" b="-300680"/>
          <a:stretch/>
        </p:blipFill>
        <p:spPr/>
      </p:pic>
    </p:spTree>
    <p:extLst>
      <p:ext uri="{BB962C8B-B14F-4D97-AF65-F5344CB8AC3E}">
        <p14:creationId xmlns:p14="http://schemas.microsoft.com/office/powerpoint/2010/main" val="4236631438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inhoud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anchor="ctr"/>
      <a:lstStyle>
        <a:defPPr marL="179388" indent="-179388">
          <a:spcAft>
            <a:spcPts val="450"/>
          </a:spcAft>
          <a:buFont typeface="Arial" charset="0"/>
          <a:buChar char="•"/>
          <a:defRPr sz="1600" dirty="0">
            <a:latin typeface="Verdana" charset="0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2800" b="1" dirty="0">
            <a:solidFill>
              <a:schemeClr val="bg1"/>
            </a:solidFill>
            <a:latin typeface="Gotham" panose="02000603040000020004" pitchFamily="2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elslide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3E4096B1224744B14B28F94E3FEB1B" ma:contentTypeVersion="8" ma:contentTypeDescription="Een nieuw document maken." ma:contentTypeScope="" ma:versionID="dd69ad4b946f0bf0a6a24c2874057b2a">
  <xsd:schema xmlns:xsd="http://www.w3.org/2001/XMLSchema" xmlns:xs="http://www.w3.org/2001/XMLSchema" xmlns:p="http://schemas.microsoft.com/office/2006/metadata/properties" xmlns:ns2="6b30ab21-c247-4d68-a057-2d2e000e95f9" targetNamespace="http://schemas.microsoft.com/office/2006/metadata/properties" ma:root="true" ma:fieldsID="89681776de429ea430604d1296cc4f75" ns2:_="">
    <xsd:import namespace="6b30ab21-c247-4d68-a057-2d2e000e9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0ab21-c247-4d68-a057-2d2e000e9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93ED3-4630-4FB3-93C9-5190D7A81D75}">
  <ds:schemaRefs>
    <ds:schemaRef ds:uri="http://schemas.microsoft.com/office/2006/metadata/properties"/>
    <ds:schemaRef ds:uri="http://www.w3.org/XML/1998/namespace"/>
    <ds:schemaRef ds:uri="6b30ab21-c247-4d68-a057-2d2e000e95f9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1CF5404-88CD-448A-904B-95263EA2EE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0ab21-c247-4d68-a057-2d2e000e9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C8EC77-FC4C-433A-8C45-00F51CA1C0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17470</TotalTime>
  <Words>4646</Words>
  <Application>Microsoft Macintosh PowerPoint</Application>
  <PresentationFormat>Breedbeeld</PresentationFormat>
  <Paragraphs>1010</Paragraphs>
  <Slides>66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12</vt:i4>
      </vt:variant>
      <vt:variant>
        <vt:lpstr>Thema</vt:lpstr>
      </vt:variant>
      <vt:variant>
        <vt:i4>2</vt:i4>
      </vt:variant>
      <vt:variant>
        <vt:lpstr>Diatitels</vt:lpstr>
      </vt:variant>
      <vt:variant>
        <vt:i4>66</vt:i4>
      </vt:variant>
    </vt:vector>
  </HeadingPairs>
  <TitlesOfParts>
    <vt:vector size="80" baseType="lpstr">
      <vt:lpstr>ＭＳ Ｐゴシック</vt:lpstr>
      <vt:lpstr>Arial</vt:lpstr>
      <vt:lpstr>Calibri</vt:lpstr>
      <vt:lpstr>Calibri Light</vt:lpstr>
      <vt:lpstr>Cambria Math</vt:lpstr>
      <vt:lpstr>Courier New</vt:lpstr>
      <vt:lpstr>Gotham</vt:lpstr>
      <vt:lpstr>ITC Officina Sans Std Book</vt:lpstr>
      <vt:lpstr>Times New Roman</vt:lpstr>
      <vt:lpstr>Trebuchet MS</vt:lpstr>
      <vt:lpstr>Verdana</vt:lpstr>
      <vt:lpstr>Wingdings</vt:lpstr>
      <vt:lpstr>UAntwerpen-inhoud</vt:lpstr>
      <vt:lpstr>UAntwerpen_titelslide</vt:lpstr>
      <vt:lpstr>Statistiek B – contactmoment 5</vt:lpstr>
      <vt:lpstr>PowerPoint-presentatie</vt:lpstr>
      <vt:lpstr>Regressieanalyse als Lingua Franca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Modellen schatten</vt:lpstr>
      <vt:lpstr>Modellen vergelijken</vt:lpstr>
      <vt:lpstr>Modellen vergelijken</vt:lpstr>
      <vt:lpstr>Modellen herschatten</vt:lpstr>
      <vt:lpstr>Herschatte modellen vergelijken</vt:lpstr>
      <vt:lpstr>Assumpties beste model</vt:lpstr>
      <vt:lpstr>Interpretatie model?</vt:lpstr>
      <vt:lpstr>Voorspellen! (1)</vt:lpstr>
      <vt:lpstr>Voorspellen! (2)  </vt:lpstr>
      <vt:lpstr>Voorspellen! (2)  </vt:lpstr>
      <vt:lpstr>Voorspellen! (2)  </vt:lpstr>
      <vt:lpstr>Voorspellen! (3)  </vt:lpstr>
      <vt:lpstr>Voorspellen! (3)  </vt:lpstr>
      <vt:lpstr>Voorspellen! (3)  </vt:lpstr>
      <vt:lpstr>Voorspellen, populatie?</vt:lpstr>
      <vt:lpstr>Voorspellen, populatie?</vt:lpstr>
      <vt:lpstr>Voorspellen, populatie?</vt:lpstr>
      <vt:lpstr>Interpretatie model?</vt:lpstr>
      <vt:lpstr>PowerPoint-presentatie</vt:lpstr>
      <vt:lpstr>PowerPoint-presentatie</vt:lpstr>
      <vt:lpstr>Variabelen centreren</vt:lpstr>
      <vt:lpstr>Variabelen centreren</vt:lpstr>
      <vt:lpstr>Variabelen standaardiseren</vt:lpstr>
      <vt:lpstr>Variabelen standaardiseren</vt:lpstr>
      <vt:lpstr>Variabelen centreren en standaardiseren</vt:lpstr>
      <vt:lpstr>Variabelen centreren en standaardiseren</vt:lpstr>
      <vt:lpstr>Variabelen centreren en standaardiseren</vt:lpstr>
      <vt:lpstr>Dummyvariabelen</vt:lpstr>
      <vt:lpstr>Dummyvariabelen (meer dan 2 cat.)</vt:lpstr>
      <vt:lpstr>Dummyva     iabelen maken en controleren</vt:lpstr>
      <vt:lpstr>Dummyva     iabelen opnemen in model</vt:lpstr>
      <vt:lpstr>Dummyva     iabelen opnemen in model</vt:lpstr>
      <vt:lpstr>Regressieanalyse als Lingua Franca</vt:lpstr>
      <vt:lpstr>Regressieanalyse als Lingua Franca</vt:lpstr>
      <vt:lpstr>Regressieanalyse als Lingua Franca</vt:lpstr>
      <vt:lpstr>Interacties (Deel 1)</vt:lpstr>
      <vt:lpstr>Een voorbeeld</vt:lpstr>
      <vt:lpstr>Een voorbeeld</vt:lpstr>
      <vt:lpstr>Model zonder interactie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Model mét positieve interactie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Wat als interactie negatief zou zijn?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Sven De Maeyer</cp:lastModifiedBy>
  <cp:revision>335</cp:revision>
  <cp:lastPrinted>2021-04-21T13:33:53Z</cp:lastPrinted>
  <dcterms:created xsi:type="dcterms:W3CDTF">2020-12-07T09:05:54Z</dcterms:created>
  <dcterms:modified xsi:type="dcterms:W3CDTF">2026-03-28T11:24:16Z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0x010100D33E4096B1224744B14B28F94E3FEB1B</vt:lpwstr>
  </property>
</Properties>
</file>