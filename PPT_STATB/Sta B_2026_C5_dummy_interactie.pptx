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7" r:id="rId4"/>
    <p:sldMasterId id="2147484114" r:id="rId5"/>
  </p:sldMasterIdLst>
  <p:notesMasterIdLst>
    <p:notesMasterId r:id="rId80"/>
  </p:notesMasterIdLst>
  <p:sldIdLst>
    <p:sldId id="257" r:id="rId6"/>
    <p:sldId id="268" r:id="rId7"/>
    <p:sldId id="273" r:id="rId8"/>
    <p:sldId id="527" r:id="rId9"/>
    <p:sldId id="528" r:id="rId10"/>
    <p:sldId id="529" r:id="rId11"/>
    <p:sldId id="530" r:id="rId12"/>
    <p:sldId id="532" r:id="rId13"/>
    <p:sldId id="533" r:id="rId14"/>
    <p:sldId id="534" r:id="rId15"/>
    <p:sldId id="526" r:id="rId16"/>
    <p:sldId id="451" r:id="rId17"/>
    <p:sldId id="429" r:id="rId18"/>
    <p:sldId id="450" r:id="rId19"/>
    <p:sldId id="470" r:id="rId20"/>
    <p:sldId id="458" r:id="rId21"/>
    <p:sldId id="452" r:id="rId22"/>
    <p:sldId id="386" r:id="rId23"/>
    <p:sldId id="522" r:id="rId24"/>
    <p:sldId id="453" r:id="rId25"/>
    <p:sldId id="454" r:id="rId26"/>
    <p:sldId id="455" r:id="rId27"/>
    <p:sldId id="456" r:id="rId28"/>
    <p:sldId id="457" r:id="rId29"/>
    <p:sldId id="459" r:id="rId30"/>
    <p:sldId id="462" r:id="rId31"/>
    <p:sldId id="463" r:id="rId32"/>
    <p:sldId id="464" r:id="rId33"/>
    <p:sldId id="460" r:id="rId34"/>
    <p:sldId id="465" r:id="rId35"/>
    <p:sldId id="466" r:id="rId36"/>
    <p:sldId id="496" r:id="rId37"/>
    <p:sldId id="461" r:id="rId38"/>
    <p:sldId id="497" r:id="rId39"/>
    <p:sldId id="469" r:id="rId40"/>
    <p:sldId id="468" r:id="rId41"/>
    <p:sldId id="479" r:id="rId42"/>
    <p:sldId id="473" r:id="rId43"/>
    <p:sldId id="472" r:id="rId44"/>
    <p:sldId id="474" r:id="rId45"/>
    <p:sldId id="477" r:id="rId46"/>
    <p:sldId id="471" r:id="rId47"/>
    <p:sldId id="478" r:id="rId48"/>
    <p:sldId id="475" r:id="rId49"/>
    <p:sldId id="480" r:id="rId50"/>
    <p:sldId id="481" r:id="rId51"/>
    <p:sldId id="482" r:id="rId52"/>
    <p:sldId id="483" r:id="rId53"/>
    <p:sldId id="498" r:id="rId54"/>
    <p:sldId id="499" r:id="rId55"/>
    <p:sldId id="485" r:id="rId56"/>
    <p:sldId id="518" r:id="rId57"/>
    <p:sldId id="291" r:id="rId58"/>
    <p:sldId id="486" r:id="rId59"/>
    <p:sldId id="384" r:id="rId60"/>
    <p:sldId id="503" r:id="rId61"/>
    <p:sldId id="519" r:id="rId62"/>
    <p:sldId id="504" r:id="rId63"/>
    <p:sldId id="523" r:id="rId64"/>
    <p:sldId id="506" r:id="rId65"/>
    <p:sldId id="507" r:id="rId66"/>
    <p:sldId id="508" r:id="rId67"/>
    <p:sldId id="509" r:id="rId68"/>
    <p:sldId id="524" r:id="rId69"/>
    <p:sldId id="510" r:id="rId70"/>
    <p:sldId id="520" r:id="rId71"/>
    <p:sldId id="521" r:id="rId72"/>
    <p:sldId id="511" r:id="rId73"/>
    <p:sldId id="512" r:id="rId74"/>
    <p:sldId id="513" r:id="rId75"/>
    <p:sldId id="514" r:id="rId76"/>
    <p:sldId id="516" r:id="rId77"/>
    <p:sldId id="517" r:id="rId78"/>
    <p:sldId id="325" r:id="rId79"/>
  </p:sldIdLst>
  <p:sldSz cx="12192000" cy="6858000"/>
  <p:notesSz cx="6805613" cy="9944100"/>
  <p:defaultTextStyle>
    <a:defPPr>
      <a:defRPr lang="nl-B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60958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12191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82875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2438339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3047924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3657509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4267093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4876678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196">
          <p15:clr>
            <a:srgbClr val="A4A3A4"/>
          </p15:clr>
        </p15:guide>
        <p15:guide id="2" orient="horz" pos="3127">
          <p15:clr>
            <a:srgbClr val="A4A3A4"/>
          </p15:clr>
        </p15:guide>
        <p15:guide id="3" pos="197">
          <p15:clr>
            <a:srgbClr val="A4A3A4"/>
          </p15:clr>
        </p15:guide>
        <p15:guide id="4" pos="2144">
          <p15:clr>
            <a:srgbClr val="A4A3A4"/>
          </p15:clr>
        </p15:guide>
        <p15:guide id="5" pos="409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ine van Daal" initials="TvD" lastIdx="2" clrIdx="0">
    <p:extLst>
      <p:ext uri="{19B8F6BF-5375-455C-9EA6-DF929625EA0E}">
        <p15:presenceInfo xmlns:p15="http://schemas.microsoft.com/office/powerpoint/2012/main" userId="S::tvdaal@ad.ua.ac.be::ecf543c1-d1bd-4274-b68c-558406766bb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4594"/>
    <a:srgbClr val="9ECAE1"/>
    <a:srgbClr val="1C00FF"/>
    <a:srgbClr val="D6D6D6"/>
    <a:srgbClr val="2A77CF"/>
    <a:srgbClr val="983466"/>
    <a:srgbClr val="000000"/>
    <a:srgbClr val="9A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15CE50-4B2A-E147-95EC-4E9F85EF58BE}" v="28" dt="2026-03-28T12:06:49.1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Stijl, thema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8FB837D-C827-4EFA-A057-4D05807E0F7C}" styleName="Stijl, thema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Stijl, thema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8B1032C-EA38-4F05-BA0D-38AFFFC7BED3}" styleName="Stijl, licht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Stijl, licht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Stijl, licht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Stijl, licht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83"/>
    <p:restoredTop sz="95068"/>
  </p:normalViewPr>
  <p:slideViewPr>
    <p:cSldViewPr snapToGrid="0" snapToObjects="1" showGuides="1">
      <p:cViewPr varScale="1">
        <p:scale>
          <a:sx n="88" d="100"/>
          <a:sy n="88" d="100"/>
        </p:scale>
        <p:origin x="20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>
        <p:guide orient="horz" pos="196"/>
        <p:guide orient="horz" pos="3127"/>
        <p:guide pos="197"/>
        <p:guide pos="2144"/>
        <p:guide pos="409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theme" Target="theme/theme1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commentAuthors" Target="commentAuthors.xml"/><Relationship Id="rId86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61" Type="http://schemas.openxmlformats.org/officeDocument/2006/relationships/slide" Target="slides/slide56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024AD-D02E-1148-9813-A0DDE1A9AA61}" type="datetimeFigureOut">
              <a:rPr lang="nl-BE" smtClean="0"/>
              <a:t>28/03/2026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1038" y="4786313"/>
            <a:ext cx="5443537" cy="3914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03808-A6AE-8847-8EC6-9F383425AE8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6959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75774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03808-A6AE-8847-8EC6-9F383425AE8F}" type="slidenum">
              <a:rPr lang="nl-BE" smtClean="0"/>
              <a:t>53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3626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enkel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2A766-FA6C-4E42-BAD1-58E378599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</a:t>
            </a:r>
            <a:r>
              <a:rPr lang="en-GB" dirty="0" err="1"/>
              <a:t>mastertitel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1DCFB5-39F0-E04F-B592-B890194C07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1F0EA669-8677-CD4C-AD8D-C4852AC0E3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3887" y="1577009"/>
            <a:ext cx="10944226" cy="466027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274638" indent="-274638">
              <a:buClr>
                <a:schemeClr val="accent2"/>
              </a:buClr>
              <a:buSzPct val="75000"/>
              <a:buFont typeface="Wingdings" pitchFamily="2" charset="2"/>
              <a:buChar char="§"/>
              <a:tabLst/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SzPct val="75000"/>
              <a:buFont typeface="Wingdings" pitchFamily="2" charset="2"/>
              <a:buChar char="§"/>
              <a:defRPr sz="2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r>
              <a:rPr lang="nl-NL" dirty="0"/>
              <a:t>Eerste niveau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88563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beelden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1B9851-093E-A241-B582-F0998CFFFE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tel 4">
            <a:extLst>
              <a:ext uri="{FF2B5EF4-FFF2-40B4-BE49-F238E27FC236}">
                <a16:creationId xmlns:a16="http://schemas.microsoft.com/office/drawing/2014/main" id="{041CBA9C-BD5E-424C-93BC-60164869E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4313" y="620713"/>
            <a:ext cx="5003800" cy="1385085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8" name="Tijdelijke aanduiding voor inhoud 19">
            <a:extLst>
              <a:ext uri="{FF2B5EF4-FFF2-40B4-BE49-F238E27FC236}">
                <a16:creationId xmlns:a16="http://schemas.microsoft.com/office/drawing/2014/main" id="{BE210D56-4E21-934F-8202-FD47D01F6AA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564313" y="2272145"/>
            <a:ext cx="5003800" cy="3965142"/>
          </a:xfrm>
        </p:spPr>
        <p:txBody>
          <a:bodyPr lIns="0" tIns="0" rIns="0" bIns="0"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9" name="Picture Placeholder 32">
            <a:extLst>
              <a:ext uri="{FF2B5EF4-FFF2-40B4-BE49-F238E27FC236}">
                <a16:creationId xmlns:a16="http://schemas.microsoft.com/office/drawing/2014/main" id="{971C9B50-FEE3-1047-A14B-9C8C2F5D606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9" y="620713"/>
            <a:ext cx="5145732" cy="5616575"/>
          </a:xfrm>
          <a:custGeom>
            <a:avLst/>
            <a:gdLst>
              <a:gd name="connsiteX0" fmla="*/ 0 w 5145732"/>
              <a:gd name="connsiteY0" fmla="*/ 0 h 5616575"/>
              <a:gd name="connsiteX1" fmla="*/ 5145732 w 5145732"/>
              <a:gd name="connsiteY1" fmla="*/ 0 h 5616575"/>
              <a:gd name="connsiteX2" fmla="*/ 5145732 w 5145732"/>
              <a:gd name="connsiteY2" fmla="*/ 5616575 h 5616575"/>
              <a:gd name="connsiteX3" fmla="*/ 253304 w 5145732"/>
              <a:gd name="connsiteY3" fmla="*/ 5616575 h 5616575"/>
              <a:gd name="connsiteX4" fmla="*/ 202263 w 5145732"/>
              <a:gd name="connsiteY4" fmla="*/ 5611430 h 5616575"/>
              <a:gd name="connsiteX5" fmla="*/ 0 w 514573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5732" h="5616575">
                <a:moveTo>
                  <a:pt x="0" y="0"/>
                </a:moveTo>
                <a:lnTo>
                  <a:pt x="5145732" y="0"/>
                </a:lnTo>
                <a:lnTo>
                  <a:pt x="514573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914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beelden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5">
            <a:extLst>
              <a:ext uri="{FF2B5EF4-FFF2-40B4-BE49-F238E27FC236}">
                <a16:creationId xmlns:a16="http://schemas.microsoft.com/office/drawing/2014/main" id="{B12DC5D2-C15B-384E-ACE3-F0E40CA5B4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9850" y="3790950"/>
            <a:ext cx="4679950" cy="728662"/>
          </a:xfrm>
        </p:spPr>
        <p:txBody>
          <a:bodyPr lIns="0" tIns="0" rIns="0" bIns="0">
            <a:noAutofit/>
          </a:bodyPr>
          <a:lstStyle>
            <a:lvl1pPr>
              <a:defRPr sz="2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Voornaam Naam</a:t>
            </a:r>
            <a:endParaRPr lang="nl-BE" dirty="0"/>
          </a:p>
        </p:txBody>
      </p:sp>
      <p:sp>
        <p:nvSpPr>
          <p:cNvPr id="6" name="Tijdelijke aanduiding voor dianummer 3">
            <a:extLst>
              <a:ext uri="{FF2B5EF4-FFF2-40B4-BE49-F238E27FC236}">
                <a16:creationId xmlns:a16="http://schemas.microsoft.com/office/drawing/2014/main" id="{00FD63E4-7A1F-3F45-BEA4-5214676296E8}"/>
              </a:ext>
            </a:extLst>
          </p:cNvPr>
          <p:cNvSpPr txBox="1">
            <a:spLocks/>
          </p:cNvSpPr>
          <p:nvPr userDrawn="1"/>
        </p:nvSpPr>
        <p:spPr>
          <a:xfrm>
            <a:off x="8923493" y="63391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BE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2"/>
                </a:solidFill>
                <a:latin typeface="ITC Officina Sans Std Book" panose="020B0506040203020204" pitchFamily="34" charset="77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9pPr>
          </a:lstStyle>
          <a:p>
            <a:fld id="{E038E271-308C-2E46-A3EC-56326F9084CC}" type="slidenum">
              <a:rPr lang="nl-BE" b="0" i="0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‹nr.›</a:t>
            </a:fld>
            <a:endParaRPr lang="nl-BE" b="0" i="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8C578B-3D4D-A146-A851-282B51A240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550988"/>
            <a:ext cx="5148263" cy="2009775"/>
          </a:xfrm>
        </p:spPr>
        <p:txBody>
          <a:bodyPr/>
          <a:lstStyle>
            <a:lvl1pPr>
              <a:buFontTx/>
              <a:buNone/>
              <a:defRPr sz="40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FontTx/>
              <a:buNone/>
              <a:defRPr b="1" i="0">
                <a:latin typeface="ITC Officina Sans Std Book" panose="020B0506040203020204" pitchFamily="34" charset="77"/>
              </a:defRPr>
            </a:lvl2pPr>
            <a:lvl3pPr>
              <a:buFontTx/>
              <a:buNone/>
              <a:defRPr b="1" i="0">
                <a:latin typeface="ITC Officina Sans Std Book" panose="020B0506040203020204" pitchFamily="34" charset="77"/>
              </a:defRPr>
            </a:lvl3pPr>
            <a:lvl4pPr>
              <a:buFontTx/>
              <a:buNone/>
              <a:defRPr b="1" i="0">
                <a:latin typeface="ITC Officina Sans Std Book" panose="020B0506040203020204" pitchFamily="34" charset="77"/>
              </a:defRPr>
            </a:lvl4pPr>
            <a:lvl5pPr>
              <a:buFontTx/>
              <a:buNone/>
              <a:defRPr b="1" i="0">
                <a:latin typeface="ITC Officina Sans Std Book" panose="020B0506040203020204" pitchFamily="34" charset="77"/>
              </a:defRPr>
            </a:lvl5pPr>
          </a:lstStyle>
          <a:p>
            <a:pPr lvl="0"/>
            <a:r>
              <a:rPr lang="en-GB" dirty="0"/>
              <a:t>Quote</a:t>
            </a:r>
            <a:endParaRPr lang="en-BE" dirty="0"/>
          </a:p>
        </p:txBody>
      </p:sp>
      <p:sp>
        <p:nvSpPr>
          <p:cNvPr id="8" name="Picture Placeholder 32">
            <a:extLst>
              <a:ext uri="{FF2B5EF4-FFF2-40B4-BE49-F238E27FC236}">
                <a16:creationId xmlns:a16="http://schemas.microsoft.com/office/drawing/2014/main" id="{EC1F9A97-4534-9843-B646-D059D7C6C13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9" y="620713"/>
            <a:ext cx="5145732" cy="5616575"/>
          </a:xfrm>
          <a:custGeom>
            <a:avLst/>
            <a:gdLst>
              <a:gd name="connsiteX0" fmla="*/ 0 w 5145732"/>
              <a:gd name="connsiteY0" fmla="*/ 0 h 5616575"/>
              <a:gd name="connsiteX1" fmla="*/ 5145732 w 5145732"/>
              <a:gd name="connsiteY1" fmla="*/ 0 h 5616575"/>
              <a:gd name="connsiteX2" fmla="*/ 5145732 w 5145732"/>
              <a:gd name="connsiteY2" fmla="*/ 5616575 h 5616575"/>
              <a:gd name="connsiteX3" fmla="*/ 253304 w 5145732"/>
              <a:gd name="connsiteY3" fmla="*/ 5616575 h 5616575"/>
              <a:gd name="connsiteX4" fmla="*/ 202263 w 5145732"/>
              <a:gd name="connsiteY4" fmla="*/ 5611430 h 5616575"/>
              <a:gd name="connsiteX5" fmla="*/ 0 w 514573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5732" h="5616575">
                <a:moveTo>
                  <a:pt x="0" y="0"/>
                </a:moveTo>
                <a:lnTo>
                  <a:pt x="5145732" y="0"/>
                </a:lnTo>
                <a:lnTo>
                  <a:pt x="514573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5BB1C7-FC5A-B946-BB68-C1CE13FA7270}"/>
              </a:ext>
            </a:extLst>
          </p:cNvPr>
          <p:cNvSpPr txBox="1"/>
          <p:nvPr userDrawn="1"/>
        </p:nvSpPr>
        <p:spPr>
          <a:xfrm>
            <a:off x="7758545" y="193963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BE" sz="1600" b="0" i="0" dirty="0">
              <a:latin typeface="ITC Officina Sans Std Book" panose="020B0506040203020204" pitchFamily="34" charset="77"/>
            </a:endParaRP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B9ECB3C9-12BB-DD49-AC9C-6DE65FEA7E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19850" y="620713"/>
            <a:ext cx="457550" cy="43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4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smalbeelden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C6F1C0-FB41-374F-96D7-91F7C4144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9356378E-A322-0148-887E-E179D9487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825" y="620713"/>
            <a:ext cx="7380287" cy="1524317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FF5D94AB-D4EB-5448-86E3-3EB6A7057B5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187825" y="2386148"/>
            <a:ext cx="7380287" cy="3851139"/>
          </a:xfrm>
        </p:spPr>
        <p:txBody>
          <a:bodyPr lIns="0" tIns="0" rIns="0" bIns="0"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7" name="Picture Placeholder 24">
            <a:extLst>
              <a:ext uri="{FF2B5EF4-FFF2-40B4-BE49-F238E27FC236}">
                <a16:creationId xmlns:a16="http://schemas.microsoft.com/office/drawing/2014/main" id="{68654313-1537-5142-95BA-4A8661FBC4E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8" y="620713"/>
            <a:ext cx="2596742" cy="5616575"/>
          </a:xfrm>
          <a:custGeom>
            <a:avLst/>
            <a:gdLst>
              <a:gd name="connsiteX0" fmla="*/ 0 w 2596742"/>
              <a:gd name="connsiteY0" fmla="*/ 0 h 5616575"/>
              <a:gd name="connsiteX1" fmla="*/ 2596742 w 2596742"/>
              <a:gd name="connsiteY1" fmla="*/ 0 h 5616575"/>
              <a:gd name="connsiteX2" fmla="*/ 2596742 w 2596742"/>
              <a:gd name="connsiteY2" fmla="*/ 5616575 h 5616575"/>
              <a:gd name="connsiteX3" fmla="*/ 253304 w 2596742"/>
              <a:gd name="connsiteY3" fmla="*/ 5616575 h 5616575"/>
              <a:gd name="connsiteX4" fmla="*/ 202263 w 2596742"/>
              <a:gd name="connsiteY4" fmla="*/ 5611430 h 5616575"/>
              <a:gd name="connsiteX5" fmla="*/ 0 w 259674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6742" h="5616575">
                <a:moveTo>
                  <a:pt x="0" y="0"/>
                </a:moveTo>
                <a:lnTo>
                  <a:pt x="2596742" y="0"/>
                </a:lnTo>
                <a:lnTo>
                  <a:pt x="259674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6733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breedbeelden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888CD-A307-4440-9DD3-B7D11E6E0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83767035-9902-FC49-AC72-35DC514AC3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7" y="3981389"/>
            <a:ext cx="10934529" cy="665480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A4040A68-34E6-9A48-9414-CDB50C7EDBA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3888" y="4857371"/>
            <a:ext cx="10934529" cy="1379915"/>
          </a:xfrm>
        </p:spPr>
        <p:txBody>
          <a:bodyPr lIns="0" tIns="0" rIns="0" bIns="0"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9E92B83-A16B-FC4F-BC12-7624D8F2371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8" y="620713"/>
            <a:ext cx="10934529" cy="3150175"/>
          </a:xfrm>
          <a:custGeom>
            <a:avLst/>
            <a:gdLst>
              <a:gd name="connsiteX0" fmla="*/ 0 w 10934529"/>
              <a:gd name="connsiteY0" fmla="*/ 0 h 3150175"/>
              <a:gd name="connsiteX1" fmla="*/ 10934529 w 10934529"/>
              <a:gd name="connsiteY1" fmla="*/ 0 h 3150175"/>
              <a:gd name="connsiteX2" fmla="*/ 10934529 w 10934529"/>
              <a:gd name="connsiteY2" fmla="*/ 3150175 h 3150175"/>
              <a:gd name="connsiteX3" fmla="*/ 253304 w 10934529"/>
              <a:gd name="connsiteY3" fmla="*/ 3150175 h 3150175"/>
              <a:gd name="connsiteX4" fmla="*/ 202263 w 10934529"/>
              <a:gd name="connsiteY4" fmla="*/ 3145030 h 3150175"/>
              <a:gd name="connsiteX5" fmla="*/ 0 w 10934529"/>
              <a:gd name="connsiteY5" fmla="*/ 2896862 h 315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34529" h="3150175">
                <a:moveTo>
                  <a:pt x="0" y="0"/>
                </a:moveTo>
                <a:lnTo>
                  <a:pt x="10934529" y="0"/>
                </a:lnTo>
                <a:lnTo>
                  <a:pt x="10934529" y="3150175"/>
                </a:lnTo>
                <a:lnTo>
                  <a:pt x="253304" y="3150175"/>
                </a:lnTo>
                <a:lnTo>
                  <a:pt x="202263" y="3145030"/>
                </a:lnTo>
                <a:cubicBezTo>
                  <a:pt x="86832" y="3121409"/>
                  <a:pt x="0" y="3019276"/>
                  <a:pt x="0" y="289686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60649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beeld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3DA42F-3FB6-ED4E-BB67-A10574D20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inhoud 19">
            <a:extLst>
              <a:ext uri="{FF2B5EF4-FFF2-40B4-BE49-F238E27FC236}">
                <a16:creationId xmlns:a16="http://schemas.microsoft.com/office/drawing/2014/main" id="{C001DE70-4479-594D-A26D-6DB2E92A0AF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2724" y="4184248"/>
            <a:ext cx="3434216" cy="2050586"/>
          </a:xfrm>
        </p:spPr>
        <p:txBody>
          <a:bodyPr lIns="0" tIns="0" rIns="0" bIns="0"/>
          <a:lstStyle>
            <a:lvl1pPr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67FEAD4B-4784-944D-8A3A-6F8F05B2424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79572" y="4184248"/>
            <a:ext cx="3444601" cy="2053040"/>
          </a:xfrm>
        </p:spPr>
        <p:txBody>
          <a:bodyPr lIns="0" tIns="0" rIns="0" bIns="0"/>
          <a:lstStyle>
            <a:lvl1pPr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6" name="Tijdelijke aanduiding voor inhoud 19">
            <a:extLst>
              <a:ext uri="{FF2B5EF4-FFF2-40B4-BE49-F238E27FC236}">
                <a16:creationId xmlns:a16="http://schemas.microsoft.com/office/drawing/2014/main" id="{9200DA6C-1B4D-7949-8FFA-3FD5A35A03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25016" y="4184248"/>
            <a:ext cx="3422523" cy="2053040"/>
          </a:xfrm>
        </p:spPr>
        <p:txBody>
          <a:bodyPr lIns="0" tIns="0" rIns="0" bIns="0"/>
          <a:lstStyle>
            <a:lvl1pPr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7" name="Tijdelijke aanduiding voor tekst 3">
            <a:extLst>
              <a:ext uri="{FF2B5EF4-FFF2-40B4-BE49-F238E27FC236}">
                <a16:creationId xmlns:a16="http://schemas.microsoft.com/office/drawing/2014/main" id="{AA798DC2-15C2-744D-A0DA-FBAD9971D43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67770" y="3547641"/>
            <a:ext cx="3457018" cy="522288"/>
          </a:xfrm>
        </p:spPr>
        <p:txBody>
          <a:bodyPr lIns="0" tIns="0" rIns="0" bIns="0">
            <a:normAutofit/>
          </a:bodyPr>
          <a:lstStyle>
            <a:lvl1pPr algn="l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45C6B10F-3A7A-0A4C-A932-1D4E1382BFD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3711" y="3547641"/>
            <a:ext cx="3423828" cy="522288"/>
          </a:xfrm>
        </p:spPr>
        <p:txBody>
          <a:bodyPr lIns="0" tIns="0" rIns="0" bIns="0">
            <a:normAutofit/>
          </a:bodyPr>
          <a:lstStyle>
            <a:lvl1pPr algn="l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9" name="Tijdelijke aanduiding voor tekst 3">
            <a:extLst>
              <a:ext uri="{FF2B5EF4-FFF2-40B4-BE49-F238E27FC236}">
                <a16:creationId xmlns:a16="http://schemas.microsoft.com/office/drawing/2014/main" id="{999ECC60-AB72-8647-A135-FB0CF980826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2724" y="3547641"/>
            <a:ext cx="3435526" cy="522288"/>
          </a:xfrm>
        </p:spPr>
        <p:txBody>
          <a:bodyPr lIns="0" tIns="0" rIns="0" bIns="0">
            <a:normAutofit/>
          </a:bodyPr>
          <a:lstStyle>
            <a:lvl1pPr algn="l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9EEB3BC6-5818-4244-A78C-1A7B9F04BE5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2723" y="643266"/>
            <a:ext cx="3447151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816787A9-2DFD-A54D-B3D1-B9387B7C893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81068" y="643266"/>
            <a:ext cx="3447151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2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B04326B7-E91B-9740-A418-C88B2E74C60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128098" y="643266"/>
            <a:ext cx="3447151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2218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pictogra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96712-8A94-CB4B-8CE6-B7A18FB19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inhoud 19">
            <a:extLst>
              <a:ext uri="{FF2B5EF4-FFF2-40B4-BE49-F238E27FC236}">
                <a16:creationId xmlns:a16="http://schemas.microsoft.com/office/drawing/2014/main" id="{CEE21860-5FC5-0A4C-BF9F-FA989D78CDF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1466" y="4248036"/>
            <a:ext cx="3439464" cy="1989251"/>
          </a:xfrm>
        </p:spPr>
        <p:txBody>
          <a:bodyPr lIns="0" tIns="0" rIns="0" bIns="0"/>
          <a:lstStyle>
            <a:lvl1pPr algn="ctr"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5" name="Tijdelijke aanduiding voor afbeelding 33">
            <a:extLst>
              <a:ext uri="{FF2B5EF4-FFF2-40B4-BE49-F238E27FC236}">
                <a16:creationId xmlns:a16="http://schemas.microsoft.com/office/drawing/2014/main" id="{9BF78AC3-F061-4145-A432-3FB7391D0F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14198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1600" b="1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6" name="Tijdelijke aanduiding voor afbeelding 33">
            <a:extLst>
              <a:ext uri="{FF2B5EF4-FFF2-40B4-BE49-F238E27FC236}">
                <a16:creationId xmlns:a16="http://schemas.microsoft.com/office/drawing/2014/main" id="{AAA97E2B-5188-B740-8501-2BF96B4796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253126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16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7" name="Tijdelijke aanduiding voor afbeelding 33">
            <a:extLst>
              <a:ext uri="{FF2B5EF4-FFF2-40B4-BE49-F238E27FC236}">
                <a16:creationId xmlns:a16="http://schemas.microsoft.com/office/drawing/2014/main" id="{6410F448-44B9-E245-8CA2-3AC4F6FCD9F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005909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16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C9026212-289C-F34A-A4D7-E30D294D41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810" y="3725749"/>
            <a:ext cx="3440776" cy="522288"/>
          </a:xfrm>
        </p:spPr>
        <p:txBody>
          <a:bodyPr lIns="0" tIns="0" rIns="0" bIns="0">
            <a:normAutofit/>
          </a:bodyPr>
          <a:lstStyle>
            <a:lvl1pPr algn="ctr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0" name="Tijdelijke aanduiding voor inhoud 19">
            <a:extLst>
              <a:ext uri="{FF2B5EF4-FFF2-40B4-BE49-F238E27FC236}">
                <a16:creationId xmlns:a16="http://schemas.microsoft.com/office/drawing/2014/main" id="{BAE77478-3281-CE4C-A99F-3E6F4A49E17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23177" y="4248037"/>
            <a:ext cx="3439464" cy="1989251"/>
          </a:xfrm>
        </p:spPr>
        <p:txBody>
          <a:bodyPr lIns="0" tIns="0" rIns="0" bIns="0"/>
          <a:lstStyle>
            <a:lvl1pPr algn="ctr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1" name="Tijdelijke aanduiding voor tekst 3">
            <a:extLst>
              <a:ext uri="{FF2B5EF4-FFF2-40B4-BE49-F238E27FC236}">
                <a16:creationId xmlns:a16="http://schemas.microsoft.com/office/drawing/2014/main" id="{642A680A-1625-824E-8281-465F0A135B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2521" y="3725750"/>
            <a:ext cx="3440776" cy="522288"/>
          </a:xfrm>
        </p:spPr>
        <p:txBody>
          <a:bodyPr lIns="0" tIns="0" rIns="0" bIns="0">
            <a:normAutofit/>
          </a:bodyPr>
          <a:lstStyle>
            <a:lvl1pPr algn="ctr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2" name="Tijdelijke aanduiding voor inhoud 19">
            <a:extLst>
              <a:ext uri="{FF2B5EF4-FFF2-40B4-BE49-F238E27FC236}">
                <a16:creationId xmlns:a16="http://schemas.microsoft.com/office/drawing/2014/main" id="{050AED9D-9374-024A-95E7-51259149F7B6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370394" y="4226560"/>
            <a:ext cx="3439464" cy="1989251"/>
          </a:xfrm>
        </p:spPr>
        <p:txBody>
          <a:bodyPr lIns="0" tIns="0" rIns="0" bIns="0"/>
          <a:lstStyle>
            <a:lvl1pPr algn="ctr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3" name="Tijdelijke aanduiding voor tekst 3">
            <a:extLst>
              <a:ext uri="{FF2B5EF4-FFF2-40B4-BE49-F238E27FC236}">
                <a16:creationId xmlns:a16="http://schemas.microsoft.com/office/drawing/2014/main" id="{466E1215-57EE-734D-95D4-32CDFD6B77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69738" y="3704273"/>
            <a:ext cx="3440776" cy="522288"/>
          </a:xfrm>
        </p:spPr>
        <p:txBody>
          <a:bodyPr lIns="0" tIns="0" rIns="0" bIns="0">
            <a:normAutofit/>
          </a:bodyPr>
          <a:lstStyle>
            <a:lvl1pPr algn="ctr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79231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6pictogra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A64A23-42F4-0341-A372-ED0B454B6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inhoud 19">
            <a:extLst>
              <a:ext uri="{FF2B5EF4-FFF2-40B4-BE49-F238E27FC236}">
                <a16:creationId xmlns:a16="http://schemas.microsoft.com/office/drawing/2014/main" id="{A56CA53A-2F47-F94E-BBC9-739AF3FD799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39266" y="2133247"/>
            <a:ext cx="2406350" cy="1404432"/>
          </a:xfrm>
        </p:spPr>
        <p:txBody>
          <a:bodyPr lIns="0" tIns="0" rIns="0" bIns="0"/>
          <a:lstStyle>
            <a:lvl1pPr algn="l"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5" name="Tijdelijke aanduiding voor afbeelding 33">
            <a:extLst>
              <a:ext uri="{FF2B5EF4-FFF2-40B4-BE49-F238E27FC236}">
                <a16:creationId xmlns:a16="http://schemas.microsoft.com/office/drawing/2014/main" id="{19D3F277-1732-274A-BDAC-F3BB5EB7334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664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sz="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6" name="Tijdelijke aanduiding voor inhoud 19">
            <a:extLst>
              <a:ext uri="{FF2B5EF4-FFF2-40B4-BE49-F238E27FC236}">
                <a16:creationId xmlns:a16="http://schemas.microsoft.com/office/drawing/2014/main" id="{9D9A0FC3-0D38-0441-BB3C-75F8A95AF94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70977" y="2133247"/>
            <a:ext cx="2406350" cy="1404432"/>
          </a:xfrm>
        </p:spPr>
        <p:txBody>
          <a:bodyPr lIns="0" tIns="0" rIns="0" bIns="0"/>
          <a:lstStyle>
            <a:lvl1pPr algn="l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7" name="Tijdelijke aanduiding voor afbeelding 33">
            <a:extLst>
              <a:ext uri="{FF2B5EF4-FFF2-40B4-BE49-F238E27FC236}">
                <a16:creationId xmlns:a16="http://schemas.microsoft.com/office/drawing/2014/main" id="{C73DE83C-1825-BF4A-A473-AF62420F8C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0221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8" name="Tijdelijke aanduiding voor inhoud 19">
            <a:extLst>
              <a:ext uri="{FF2B5EF4-FFF2-40B4-BE49-F238E27FC236}">
                <a16:creationId xmlns:a16="http://schemas.microsoft.com/office/drawing/2014/main" id="{2045FFF3-F25B-614B-A526-AC100D6B9B0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815080" y="2133247"/>
            <a:ext cx="2406350" cy="1404432"/>
          </a:xfrm>
        </p:spPr>
        <p:txBody>
          <a:bodyPr lIns="0" tIns="0" rIns="0" bIns="0"/>
          <a:lstStyle>
            <a:lvl1pPr algn="l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9" name="Tijdelijke aanduiding voor afbeelding 33">
            <a:extLst>
              <a:ext uri="{FF2B5EF4-FFF2-40B4-BE49-F238E27FC236}">
                <a16:creationId xmlns:a16="http://schemas.microsoft.com/office/drawing/2014/main" id="{64A41B62-3349-A641-9E85-33C3E278DD4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41330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88F6B30C-94E8-264F-86F5-31D0E47D724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058585" y="1411391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261850B4-D4F1-234A-9F22-195572228DA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802688" y="1411391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DCDD9BD6-DB58-C84C-BD3C-F9652F4D492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326874" y="1411391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  <p:sp>
        <p:nvSpPr>
          <p:cNvPr id="14" name="Tijdelijke aanduiding voor inhoud 19">
            <a:extLst>
              <a:ext uri="{FF2B5EF4-FFF2-40B4-BE49-F238E27FC236}">
                <a16:creationId xmlns:a16="http://schemas.microsoft.com/office/drawing/2014/main" id="{0385125A-3379-2746-BD83-583F817C5CC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339266" y="4585989"/>
            <a:ext cx="2406350" cy="1404432"/>
          </a:xfrm>
        </p:spPr>
        <p:txBody>
          <a:bodyPr lIns="0" tIns="0" rIns="0" bIns="0"/>
          <a:lstStyle>
            <a:lvl1pPr algn="l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5" name="Tijdelijke aanduiding voor afbeelding 33">
            <a:extLst>
              <a:ext uri="{FF2B5EF4-FFF2-40B4-BE49-F238E27FC236}">
                <a16:creationId xmlns:a16="http://schemas.microsoft.com/office/drawing/2014/main" id="{965879DE-F296-964E-A952-9184C5050EF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30664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16" name="Tijdelijke aanduiding voor inhoud 19">
            <a:extLst>
              <a:ext uri="{FF2B5EF4-FFF2-40B4-BE49-F238E27FC236}">
                <a16:creationId xmlns:a16="http://schemas.microsoft.com/office/drawing/2014/main" id="{2459C232-5B0E-134D-B9C4-9B40E0751E2B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5070977" y="4585989"/>
            <a:ext cx="2406350" cy="1404432"/>
          </a:xfrm>
        </p:spPr>
        <p:txBody>
          <a:bodyPr lIns="0" tIns="0" rIns="0" bIns="0"/>
          <a:lstStyle>
            <a:lvl1pPr algn="l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7" name="Tijdelijke aanduiding voor afbeelding 33">
            <a:extLst>
              <a:ext uri="{FF2B5EF4-FFF2-40B4-BE49-F238E27FC236}">
                <a16:creationId xmlns:a16="http://schemas.microsoft.com/office/drawing/2014/main" id="{D15EA347-33D1-EE4E-9464-3CF0EAE3C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410221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18" name="Tijdelijke aanduiding voor inhoud 19">
            <a:extLst>
              <a:ext uri="{FF2B5EF4-FFF2-40B4-BE49-F238E27FC236}">
                <a16:creationId xmlns:a16="http://schemas.microsoft.com/office/drawing/2014/main" id="{FA64A415-5531-2B4D-907A-7C688388BF90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8815080" y="4585989"/>
            <a:ext cx="2406350" cy="1404432"/>
          </a:xfrm>
        </p:spPr>
        <p:txBody>
          <a:bodyPr lIns="0" tIns="0" rIns="0" bIns="0"/>
          <a:lstStyle>
            <a:lvl1pPr algn="l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9" name="Tijdelijke aanduiding voor afbeelding 33">
            <a:extLst>
              <a:ext uri="{FF2B5EF4-FFF2-40B4-BE49-F238E27FC236}">
                <a16:creationId xmlns:a16="http://schemas.microsoft.com/office/drawing/2014/main" id="{4EC1974C-2EB3-274B-A88C-617CC7414E5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141330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330314A6-BF29-EC42-BF75-622C5286D534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058585" y="3864133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  <p:sp>
        <p:nvSpPr>
          <p:cNvPr id="21" name="Tijdelijke aanduiding voor inhoud 2">
            <a:extLst>
              <a:ext uri="{FF2B5EF4-FFF2-40B4-BE49-F238E27FC236}">
                <a16:creationId xmlns:a16="http://schemas.microsoft.com/office/drawing/2014/main" id="{D6D76FCC-D508-DD4F-BB82-48A5BCC5457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8802688" y="3864133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  <p:sp>
        <p:nvSpPr>
          <p:cNvPr id="22" name="Tijdelijke aanduiding voor inhoud 2">
            <a:extLst>
              <a:ext uri="{FF2B5EF4-FFF2-40B4-BE49-F238E27FC236}">
                <a16:creationId xmlns:a16="http://schemas.microsoft.com/office/drawing/2014/main" id="{125E4E80-E44F-EA4F-8054-6AB42A8470B4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1326874" y="3864133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</p:spTree>
    <p:extLst>
      <p:ext uri="{BB962C8B-B14F-4D97-AF65-F5344CB8AC3E}">
        <p14:creationId xmlns:p14="http://schemas.microsoft.com/office/powerpoint/2010/main" val="414916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-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906A4-C8C0-BA4F-A09B-9014BCE49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</a:t>
            </a:r>
            <a:r>
              <a:rPr lang="en-GB" dirty="0" err="1"/>
              <a:t>mastertitel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6E971-EE47-7745-ACA8-1DEF0415F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grafiek 4">
            <a:extLst>
              <a:ext uri="{FF2B5EF4-FFF2-40B4-BE49-F238E27FC236}">
                <a16:creationId xmlns:a16="http://schemas.microsoft.com/office/drawing/2014/main" id="{967EE9E6-2701-5E4F-A341-5478485FBD8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623889" y="1578459"/>
            <a:ext cx="10944224" cy="4658829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als u een object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82753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grafieken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F6014-7DB0-CF4A-88E9-463AB221A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</a:t>
            </a:r>
            <a:r>
              <a:rPr lang="en-GB" dirty="0" err="1"/>
              <a:t>mastertitel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45457A-9933-1149-9392-ABAF631B7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grafiek 4">
            <a:extLst>
              <a:ext uri="{FF2B5EF4-FFF2-40B4-BE49-F238E27FC236}">
                <a16:creationId xmlns:a16="http://schemas.microsoft.com/office/drawing/2014/main" id="{3AF460E3-37FD-6B4C-86A1-EEC95DD40B34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623889" y="2760663"/>
            <a:ext cx="10944224" cy="347662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als u een object wilt toevoegen</a:t>
            </a:r>
            <a:endParaRPr lang="nl-B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A507705-E8A5-0A44-A7D0-4ECFDD43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888" y="1690688"/>
            <a:ext cx="10936287" cy="885825"/>
          </a:xfrm>
        </p:spPr>
        <p:txBody>
          <a:bodyPr/>
          <a:lstStyle>
            <a:lvl1pPr>
              <a:defRPr b="0" i="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Ondertitel</a:t>
            </a:r>
          </a:p>
        </p:txBody>
      </p:sp>
    </p:spTree>
    <p:extLst>
      <p:ext uri="{BB962C8B-B14F-4D97-AF65-F5344CB8AC3E}">
        <p14:creationId xmlns:p14="http://schemas.microsoft.com/office/powerpoint/2010/main" val="3683614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UAntwerpen_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0802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titelroodvolvl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itel 1">
            <a:extLst>
              <a:ext uri="{FF2B5EF4-FFF2-40B4-BE49-F238E27FC236}">
                <a16:creationId xmlns:a16="http://schemas.microsoft.com/office/drawing/2014/main" id="{7ABBDCB5-5D2A-8947-AEB8-B06A6093E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2737623"/>
            <a:ext cx="10944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</a:t>
            </a:r>
            <a:r>
              <a:rPr lang="en-GB" dirty="0" err="1"/>
              <a:t>mastertitel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835C0A10-7AE5-B54C-981D-2DBA7B6F34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49850" y="1613587"/>
            <a:ext cx="1892300" cy="5334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BF08461-C600-4C47-803A-43BF0EAD9B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4471987"/>
            <a:ext cx="10944225" cy="1062037"/>
          </a:xfrm>
          <a:prstGeom prst="rect">
            <a:avLst/>
          </a:prstGeom>
        </p:spPr>
        <p:txBody>
          <a:bodyPr/>
          <a:lstStyle>
            <a:lvl1pPr algn="ctr"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2pPr>
            <a:lvl3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3pPr>
            <a:lvl4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4pPr>
            <a:lvl5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master </a:t>
            </a:r>
            <a:r>
              <a:rPr lang="en-GB" dirty="0" err="1"/>
              <a:t>ondertitel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238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titelro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AAABACC8-28A2-D34B-8A1E-5CF7BA9005CC}"/>
              </a:ext>
            </a:extLst>
          </p:cNvPr>
          <p:cNvSpPr/>
          <p:nvPr userDrawn="1"/>
        </p:nvSpPr>
        <p:spPr>
          <a:xfrm>
            <a:off x="623888" y="627478"/>
            <a:ext cx="10954551" cy="5618356"/>
          </a:xfrm>
          <a:custGeom>
            <a:avLst/>
            <a:gdLst>
              <a:gd name="connsiteX0" fmla="*/ 0 w 10296525"/>
              <a:gd name="connsiteY0" fmla="*/ 0 h 4968875"/>
              <a:gd name="connsiteX1" fmla="*/ 10296525 w 10296525"/>
              <a:gd name="connsiteY1" fmla="*/ 0 h 4968875"/>
              <a:gd name="connsiteX2" fmla="*/ 10296525 w 10296525"/>
              <a:gd name="connsiteY2" fmla="*/ 4968875 h 4968875"/>
              <a:gd name="connsiteX3" fmla="*/ 253304 w 10296525"/>
              <a:gd name="connsiteY3" fmla="*/ 4968875 h 4968875"/>
              <a:gd name="connsiteX4" fmla="*/ 202263 w 10296525"/>
              <a:gd name="connsiteY4" fmla="*/ 4963730 h 4968875"/>
              <a:gd name="connsiteX5" fmla="*/ 0 w 10296525"/>
              <a:gd name="connsiteY5" fmla="*/ 4715562 h 4968875"/>
              <a:gd name="connsiteX6" fmla="*/ 0 w 10296525"/>
              <a:gd name="connsiteY6" fmla="*/ 0 h 4968875"/>
              <a:gd name="connsiteX0" fmla="*/ 0 w 10629811"/>
              <a:gd name="connsiteY0" fmla="*/ 0 h 4968875"/>
              <a:gd name="connsiteX1" fmla="*/ 10629811 w 10629811"/>
              <a:gd name="connsiteY1" fmla="*/ 8546 h 4968875"/>
              <a:gd name="connsiteX2" fmla="*/ 10296525 w 10629811"/>
              <a:gd name="connsiteY2" fmla="*/ 4968875 h 4968875"/>
              <a:gd name="connsiteX3" fmla="*/ 253304 w 10629811"/>
              <a:gd name="connsiteY3" fmla="*/ 4968875 h 4968875"/>
              <a:gd name="connsiteX4" fmla="*/ 202263 w 10629811"/>
              <a:gd name="connsiteY4" fmla="*/ 4963730 h 4968875"/>
              <a:gd name="connsiteX5" fmla="*/ 0 w 10629811"/>
              <a:gd name="connsiteY5" fmla="*/ 4715562 h 4968875"/>
              <a:gd name="connsiteX6" fmla="*/ 0 w 10629811"/>
              <a:gd name="connsiteY6" fmla="*/ 0 h 4968875"/>
              <a:gd name="connsiteX0" fmla="*/ 0 w 10629811"/>
              <a:gd name="connsiteY0" fmla="*/ 0 h 4977421"/>
              <a:gd name="connsiteX1" fmla="*/ 10629811 w 10629811"/>
              <a:gd name="connsiteY1" fmla="*/ 8546 h 4977421"/>
              <a:gd name="connsiteX2" fmla="*/ 10629811 w 10629811"/>
              <a:gd name="connsiteY2" fmla="*/ 4977421 h 4977421"/>
              <a:gd name="connsiteX3" fmla="*/ 253304 w 10629811"/>
              <a:gd name="connsiteY3" fmla="*/ 4968875 h 4977421"/>
              <a:gd name="connsiteX4" fmla="*/ 202263 w 10629811"/>
              <a:gd name="connsiteY4" fmla="*/ 4963730 h 4977421"/>
              <a:gd name="connsiteX5" fmla="*/ 0 w 10629811"/>
              <a:gd name="connsiteY5" fmla="*/ 4715562 h 4977421"/>
              <a:gd name="connsiteX6" fmla="*/ 0 w 10629811"/>
              <a:gd name="connsiteY6" fmla="*/ 0 h 4977421"/>
              <a:gd name="connsiteX0" fmla="*/ 8545 w 10629811"/>
              <a:gd name="connsiteY0" fmla="*/ 0 h 5618356"/>
              <a:gd name="connsiteX1" fmla="*/ 10629811 w 10629811"/>
              <a:gd name="connsiteY1" fmla="*/ 649481 h 5618356"/>
              <a:gd name="connsiteX2" fmla="*/ 10629811 w 10629811"/>
              <a:gd name="connsiteY2" fmla="*/ 5618356 h 5618356"/>
              <a:gd name="connsiteX3" fmla="*/ 253304 w 10629811"/>
              <a:gd name="connsiteY3" fmla="*/ 5609810 h 5618356"/>
              <a:gd name="connsiteX4" fmla="*/ 202263 w 10629811"/>
              <a:gd name="connsiteY4" fmla="*/ 5604665 h 5618356"/>
              <a:gd name="connsiteX5" fmla="*/ 0 w 10629811"/>
              <a:gd name="connsiteY5" fmla="*/ 5356497 h 5618356"/>
              <a:gd name="connsiteX6" fmla="*/ 8545 w 10629811"/>
              <a:gd name="connsiteY6" fmla="*/ 0 h 5618356"/>
              <a:gd name="connsiteX0" fmla="*/ 8545 w 10946005"/>
              <a:gd name="connsiteY0" fmla="*/ 0 h 5618356"/>
              <a:gd name="connsiteX1" fmla="*/ 10946005 w 10946005"/>
              <a:gd name="connsiteY1" fmla="*/ 8546 h 5618356"/>
              <a:gd name="connsiteX2" fmla="*/ 10629811 w 10946005"/>
              <a:gd name="connsiteY2" fmla="*/ 5618356 h 5618356"/>
              <a:gd name="connsiteX3" fmla="*/ 253304 w 10946005"/>
              <a:gd name="connsiteY3" fmla="*/ 5609810 h 5618356"/>
              <a:gd name="connsiteX4" fmla="*/ 202263 w 10946005"/>
              <a:gd name="connsiteY4" fmla="*/ 5604665 h 5618356"/>
              <a:gd name="connsiteX5" fmla="*/ 0 w 10946005"/>
              <a:gd name="connsiteY5" fmla="*/ 5356497 h 5618356"/>
              <a:gd name="connsiteX6" fmla="*/ 8545 w 10946005"/>
              <a:gd name="connsiteY6" fmla="*/ 0 h 5618356"/>
              <a:gd name="connsiteX0" fmla="*/ 8545 w 10954551"/>
              <a:gd name="connsiteY0" fmla="*/ 0 h 5618356"/>
              <a:gd name="connsiteX1" fmla="*/ 10946005 w 10954551"/>
              <a:gd name="connsiteY1" fmla="*/ 8546 h 5618356"/>
              <a:gd name="connsiteX2" fmla="*/ 10954551 w 10954551"/>
              <a:gd name="connsiteY2" fmla="*/ 5618356 h 5618356"/>
              <a:gd name="connsiteX3" fmla="*/ 253304 w 10954551"/>
              <a:gd name="connsiteY3" fmla="*/ 5609810 h 5618356"/>
              <a:gd name="connsiteX4" fmla="*/ 202263 w 10954551"/>
              <a:gd name="connsiteY4" fmla="*/ 5604665 h 5618356"/>
              <a:gd name="connsiteX5" fmla="*/ 0 w 10954551"/>
              <a:gd name="connsiteY5" fmla="*/ 5356497 h 5618356"/>
              <a:gd name="connsiteX6" fmla="*/ 8545 w 10954551"/>
              <a:gd name="connsiteY6" fmla="*/ 0 h 56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54551" h="5618356">
                <a:moveTo>
                  <a:pt x="8545" y="0"/>
                </a:moveTo>
                <a:lnTo>
                  <a:pt x="10946005" y="8546"/>
                </a:lnTo>
                <a:cubicBezTo>
                  <a:pt x="10948854" y="1878483"/>
                  <a:pt x="10951702" y="3748419"/>
                  <a:pt x="10954551" y="5618356"/>
                </a:cubicBez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E" dirty="0"/>
          </a:p>
        </p:txBody>
      </p:sp>
      <p:pic>
        <p:nvPicPr>
          <p:cNvPr id="4" name="Afbeelding 4">
            <a:extLst>
              <a:ext uri="{FF2B5EF4-FFF2-40B4-BE49-F238E27FC236}">
                <a16:creationId xmlns:a16="http://schemas.microsoft.com/office/drawing/2014/main" id="{3E52E258-A471-1A48-9273-7FE52ACD15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88" y="6429781"/>
            <a:ext cx="794485" cy="223949"/>
          </a:xfrm>
          <a:prstGeom prst="rect">
            <a:avLst/>
          </a:prstGeom>
        </p:spPr>
      </p:pic>
      <p:sp>
        <p:nvSpPr>
          <p:cNvPr id="5" name="Tijdelijke aanduiding voor titel 1">
            <a:extLst>
              <a:ext uri="{FF2B5EF4-FFF2-40B4-BE49-F238E27FC236}">
                <a16:creationId xmlns:a16="http://schemas.microsoft.com/office/drawing/2014/main" id="{31D26ADD-50E0-864E-879F-AED5604BF2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453" y="2318879"/>
            <a:ext cx="109639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</a:t>
            </a:r>
            <a:r>
              <a:rPr lang="en-GB" dirty="0" err="1"/>
              <a:t>mastertitel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nl-B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534ABFA-B94B-7346-9AA3-E2278EC84F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453" y="4071937"/>
            <a:ext cx="10963985" cy="1043343"/>
          </a:xfrm>
          <a:prstGeom prst="rect">
            <a:avLst/>
          </a:prstGeom>
        </p:spPr>
        <p:txBody>
          <a:bodyPr/>
          <a:lstStyle>
            <a:lvl1pPr algn="ctr"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2pPr>
            <a:lvl3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3pPr>
            <a:lvl4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4pPr>
            <a:lvl5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master </a:t>
            </a:r>
            <a:r>
              <a:rPr lang="en-GB" dirty="0" err="1"/>
              <a:t>ondertitel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3788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beeldme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C3132F7D-D063-1C4B-8D0F-49AC33221A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398203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999222-05DA-F24F-99F4-A098BCC40D8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  <p:pic>
        <p:nvPicPr>
          <p:cNvPr id="4" name="Afbeelding 4">
            <a:extLst>
              <a:ext uri="{FF2B5EF4-FFF2-40B4-BE49-F238E27FC236}">
                <a16:creationId xmlns:a16="http://schemas.microsoft.com/office/drawing/2014/main" id="{40E03AEB-DCFF-FA42-98DA-C3ACA4374F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88" y="6429781"/>
            <a:ext cx="794485" cy="22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090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beelden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3">
            <a:extLst>
              <a:ext uri="{FF2B5EF4-FFF2-40B4-BE49-F238E27FC236}">
                <a16:creationId xmlns:a16="http://schemas.microsoft.com/office/drawing/2014/main" id="{BF020726-1AA6-EE4D-9CD8-9B40673609E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  <a:p>
            <a:endParaRPr lang="nl-BE" dirty="0"/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89753A3A-E019-254C-9677-C9C519017A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6518" y="3613790"/>
            <a:ext cx="3761595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Voornaam Naam</a:t>
            </a:r>
            <a:endParaRPr lang="nl-BE" dirty="0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4D01101A-4B64-9146-92CB-AB7133B61F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5738" y="1500371"/>
            <a:ext cx="3762375" cy="194595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Quote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92190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beeldquote e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09DBE046-B8F3-D840-ABA8-37DDBE8E14F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29C33EA9-EAA8-554B-9770-EC4BF96CD4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6519" y="3613790"/>
            <a:ext cx="3415735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Voornaam Naam</a:t>
            </a:r>
            <a:endParaRPr lang="nl-BE" dirty="0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A2A5195-C3FC-3548-A159-FD845F8D8A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5739" y="1500371"/>
            <a:ext cx="3416443" cy="1945955"/>
          </a:xfrm>
          <a:prstGeom prst="rect">
            <a:avLst/>
          </a:prstGeom>
        </p:spPr>
        <p:txBody>
          <a:bodyPr/>
          <a:lstStyle>
            <a:lvl1pPr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Quote</a:t>
            </a:r>
            <a:endParaRPr lang="nl-BE" dirty="0"/>
          </a:p>
        </p:txBody>
      </p:sp>
      <p:pic>
        <p:nvPicPr>
          <p:cNvPr id="6" name="Afbeelding 4">
            <a:extLst>
              <a:ext uri="{FF2B5EF4-FFF2-40B4-BE49-F238E27FC236}">
                <a16:creationId xmlns:a16="http://schemas.microsoft.com/office/drawing/2014/main" id="{A0A6BFC5-0BDC-5046-9C6A-AAF1C2A72D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88" y="6429781"/>
            <a:ext cx="794485" cy="22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7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itel 1">
            <a:extLst>
              <a:ext uri="{FF2B5EF4-FFF2-40B4-BE49-F238E27FC236}">
                <a16:creationId xmlns:a16="http://schemas.microsoft.com/office/drawing/2014/main" id="{1948A336-DFA9-6348-B512-B2BBC75D1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20713"/>
            <a:ext cx="10944226" cy="79179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</a:t>
            </a:r>
            <a:endParaRPr lang="nl-BE" dirty="0"/>
          </a:p>
        </p:txBody>
      </p:sp>
      <p:sp>
        <p:nvSpPr>
          <p:cNvPr id="8" name="Tijdelijke aanduiding voor tekst 13">
            <a:extLst>
              <a:ext uri="{FF2B5EF4-FFF2-40B4-BE49-F238E27FC236}">
                <a16:creationId xmlns:a16="http://schemas.microsoft.com/office/drawing/2014/main" id="{FC89CC1E-5699-C54E-83AE-63F796F39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604479"/>
            <a:ext cx="10944226" cy="62101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r>
              <a:rPr lang="nl-NL" dirty="0"/>
              <a:t>Ondertitel</a:t>
            </a:r>
          </a:p>
        </p:txBody>
      </p:sp>
      <p:sp>
        <p:nvSpPr>
          <p:cNvPr id="9" name="Tijdelijke aanduiding voor dianummer 3">
            <a:extLst>
              <a:ext uri="{FF2B5EF4-FFF2-40B4-BE49-F238E27FC236}">
                <a16:creationId xmlns:a16="http://schemas.microsoft.com/office/drawing/2014/main" id="{ACEE07E0-D229-2548-A4C6-019956C34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3493" y="63391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" name="Afbeelding 4">
            <a:extLst>
              <a:ext uri="{FF2B5EF4-FFF2-40B4-BE49-F238E27FC236}">
                <a16:creationId xmlns:a16="http://schemas.microsoft.com/office/drawing/2014/main" id="{B2CABEA2-6FA0-0245-B24A-C92832AA0D0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23888" y="6429781"/>
            <a:ext cx="794485" cy="22394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5" r:id="rId1"/>
    <p:sldLayoutId id="2147484105" r:id="rId2"/>
    <p:sldLayoutId id="2147484106" r:id="rId3"/>
    <p:sldLayoutId id="2147484107" r:id="rId4"/>
    <p:sldLayoutId id="2147484108" r:id="rId5"/>
    <p:sldLayoutId id="2147484109" r:id="rId6"/>
    <p:sldLayoutId id="2147484110" r:id="rId7"/>
    <p:sldLayoutId id="2147484111" r:id="rId8"/>
    <p:sldLayoutId id="2147484113" r:id="rId9"/>
    <p:sldLayoutId id="2147484112" r:id="rId10"/>
    <p:sldLayoutId id="2147484102" r:id="rId11"/>
  </p:sldLayoutIdLst>
  <p:hf hdr="0"/>
  <p:txStyles>
    <p:titleStyle>
      <a:lvl1pPr algn="l" defTabSz="1217054" rtl="0" eaLnBrk="1" fontAlgn="base" hangingPunct="1">
        <a:spcBef>
          <a:spcPct val="0"/>
        </a:spcBef>
        <a:spcAft>
          <a:spcPct val="0"/>
        </a:spcAft>
        <a:defRPr sz="3800" b="1" i="0" kern="1200">
          <a:solidFill>
            <a:srgbClr val="FF0000"/>
          </a:solidFill>
          <a:latin typeface="Calibri" panose="020F0502020204030204" pitchFamily="34" charset="0"/>
          <a:ea typeface="Verdana" charset="0"/>
          <a:cs typeface="Calibri" panose="020F0502020204030204" pitchFamily="34" charset="0"/>
        </a:defRPr>
      </a:lvl1pPr>
      <a:lvl2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+mn-lt"/>
          <a:ea typeface="Verdana" charset="0"/>
          <a:cs typeface="Calibri Light" panose="020F0302020204030204" pitchFamily="34" charset="0"/>
        </a:defRPr>
      </a:lvl1pPr>
      <a:lvl2pPr marL="740815" indent="-378875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733" kern="1200">
          <a:solidFill>
            <a:schemeClr val="bg1"/>
          </a:solidFill>
          <a:latin typeface="Verdana" charset="0"/>
          <a:ea typeface="Verdana" charset="0"/>
          <a:cs typeface="Verdana" charset="0"/>
        </a:defRPr>
      </a:lvl2pPr>
      <a:lvl3pPr marL="1090057" indent="-378875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733" kern="1200">
          <a:solidFill>
            <a:schemeClr val="bg1"/>
          </a:solidFill>
          <a:latin typeface="Verdana" charset="0"/>
          <a:ea typeface="Verdana" charset="0"/>
          <a:cs typeface="Verdana" charset="0"/>
        </a:defRPr>
      </a:lvl3pPr>
      <a:lvl4pPr marL="1454114" indent="-378875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Verdana" charset="0"/>
          <a:ea typeface="Verdana" charset="0"/>
          <a:cs typeface="Verdana" charset="0"/>
        </a:defRPr>
      </a:lvl4pPr>
      <a:lvl5pPr marL="1663658" indent="-22647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Verdana" charset="0"/>
          <a:ea typeface="Verdana" charset="0"/>
          <a:cs typeface="Verdana" charset="0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287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54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1" userDrawn="1">
          <p15:clr>
            <a:srgbClr val="F26B43"/>
          </p15:clr>
        </p15:guide>
        <p15:guide id="2" pos="393" userDrawn="1">
          <p15:clr>
            <a:srgbClr val="F26B43"/>
          </p15:clr>
        </p15:guide>
        <p15:guide id="3" pos="7287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tif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7654-B1F8-CB41-A11C-78EAAE0B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Statistiek B – contactmoment 5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9F27B-4FA1-1945-B3AE-2234EB3F59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BE" i="1" dirty="0"/>
              <a:t>R-kwadraat</a:t>
            </a:r>
          </a:p>
          <a:p>
            <a:r>
              <a:rPr lang="nl-BE" i="1" dirty="0"/>
              <a:t>Regressieanalyse als lingua franca</a:t>
            </a:r>
          </a:p>
          <a:p>
            <a:r>
              <a:rPr lang="nl-BE" i="1" dirty="0"/>
              <a:t>Interacties (deel 1)</a:t>
            </a:r>
          </a:p>
          <a:p>
            <a:pPr algn="l"/>
            <a:r>
              <a:rPr lang="nl-BE" dirty="0"/>
              <a:t>										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23801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69D7D5-11ED-B94F-B3FF-72321C7F89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943143" y="6264746"/>
            <a:ext cx="2743200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2</a:t>
            </a:fld>
            <a:endParaRPr lang="nl-B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3FF37A-7607-954E-B668-B3051AFFDF6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75612" y="3448512"/>
            <a:ext cx="3440776" cy="522288"/>
          </a:xfrm>
        </p:spPr>
        <p:txBody>
          <a:bodyPr>
            <a:normAutofit fontScale="92500" lnSpcReduction="20000"/>
          </a:bodyPr>
          <a:lstStyle/>
          <a:p>
            <a:r>
              <a:rPr lang="nl-BE" dirty="0"/>
              <a:t>Regressieanalyse als Lingua Franca</a:t>
            </a:r>
            <a:endParaRPr lang="en-B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2DBBB3-1531-CD4F-90B1-1F37ABD2F58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453183" y="3448512"/>
            <a:ext cx="3440776" cy="522288"/>
          </a:xfrm>
        </p:spPr>
        <p:txBody>
          <a:bodyPr>
            <a:normAutofit/>
          </a:bodyPr>
          <a:lstStyle/>
          <a:p>
            <a:r>
              <a:rPr lang="nl-BE" dirty="0"/>
              <a:t>Interacties (deel 1)</a:t>
            </a:r>
            <a:endParaRPr lang="en-BE"/>
          </a:p>
        </p:txBody>
      </p:sp>
      <p:pic>
        <p:nvPicPr>
          <p:cNvPr id="1026" name="Picture 2" descr="Afbeeldingsresultaat voor lineaire regressie">
            <a:extLst>
              <a:ext uri="{FF2B5EF4-FFF2-40B4-BE49-F238E27FC236}">
                <a16:creationId xmlns:a16="http://schemas.microsoft.com/office/drawing/2014/main" id="{4E07EFA0-DD24-404B-8C76-9FDA855BC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03777">
            <a:off x="10269049" y="-623696"/>
            <a:ext cx="260229" cy="130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Tijdelijke aanduiding voor afbeelding 21">
            <a:extLst>
              <a:ext uri="{FF2B5EF4-FFF2-40B4-BE49-F238E27FC236}">
                <a16:creationId xmlns:a16="http://schemas.microsoft.com/office/drawing/2014/main" id="{2394DF99-89BB-5B44-A0D2-F4E4EB0CAED9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3"/>
          <a:srcRect t="-5530" b="-5530"/>
          <a:stretch/>
        </p:blipFill>
        <p:spPr>
          <a:xfrm>
            <a:off x="8272776" y="1238216"/>
            <a:ext cx="1674000" cy="1672263"/>
          </a:xfrm>
        </p:spPr>
      </p:pic>
      <p:pic>
        <p:nvPicPr>
          <p:cNvPr id="6" name="Tijdelijke aanduiding voor afbeelding 5">
            <a:extLst>
              <a:ext uri="{FF2B5EF4-FFF2-40B4-BE49-F238E27FC236}">
                <a16:creationId xmlns:a16="http://schemas.microsoft.com/office/drawing/2014/main" id="{94AEF770-42A0-104E-B98F-17248BB69F8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4"/>
          <a:srcRect t="-29693" b="-29693"/>
          <a:stretch/>
        </p:blipFill>
        <p:spPr>
          <a:xfrm>
            <a:off x="5259001" y="1238216"/>
            <a:ext cx="1674000" cy="1672263"/>
          </a:xfr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521AC1C1-1BC7-8FA6-0B3B-791AB7FB8BA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517" r="7513"/>
          <a:stretch>
            <a:fillRect/>
          </a:stretch>
        </p:blipFill>
        <p:spPr>
          <a:xfrm>
            <a:off x="1698187" y="1238216"/>
            <a:ext cx="2221038" cy="1737959"/>
          </a:xfrm>
          <a:prstGeom prst="round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97845B4-4DD7-7406-DF12-8C490D6CB81F}"/>
              </a:ext>
            </a:extLst>
          </p:cNvPr>
          <p:cNvSpPr txBox="1">
            <a:spLocks/>
          </p:cNvSpPr>
          <p:nvPr/>
        </p:nvSpPr>
        <p:spPr>
          <a:xfrm>
            <a:off x="1088318" y="3448512"/>
            <a:ext cx="3440776" cy="52228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200" b="1" i="0" kern="120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  <a:lvl2pPr marL="740815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733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1090057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733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454114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663658" indent="-226478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dirty="0"/>
              <a:t>R-kwadraat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37111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95E3E2C-A823-1240-87B6-6EAD5DE6A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8E5430D-CD53-7642-86E1-BD495317D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2121" y="620713"/>
            <a:ext cx="5003800" cy="1385085"/>
          </a:xfrm>
        </p:spPr>
        <p:txBody>
          <a:bodyPr/>
          <a:lstStyle/>
          <a:p>
            <a:r>
              <a:rPr lang="nl-BE" dirty="0"/>
              <a:t>R-kwadraat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2E06DD-5EEF-C245-925D-855E9B42201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FF7A17A4-208F-F900-89B1-F06B238A1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6" y="1148317"/>
            <a:ext cx="6176104" cy="445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62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3B056CED-00DA-9208-0321-F65E46526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3 kernconcepten:</a:t>
            </a:r>
          </a:p>
          <a:p>
            <a:pPr lvl="1"/>
            <a:r>
              <a:rPr lang="nl-BE" dirty="0"/>
              <a:t>TSS (</a:t>
            </a:r>
            <a:r>
              <a:rPr lang="nl-BE" b="1" dirty="0">
                <a:solidFill>
                  <a:srgbClr val="FF0000"/>
                </a:solidFill>
              </a:rPr>
              <a:t>T</a:t>
            </a:r>
            <a:r>
              <a:rPr lang="nl-BE" dirty="0"/>
              <a:t>otal </a:t>
            </a:r>
            <a:r>
              <a:rPr lang="nl-BE" b="1" dirty="0">
                <a:solidFill>
                  <a:srgbClr val="FF0000"/>
                </a:solidFill>
              </a:rPr>
              <a:t>S</a:t>
            </a:r>
            <a:r>
              <a:rPr lang="nl-BE" dirty="0"/>
              <a:t>um of </a:t>
            </a:r>
            <a:r>
              <a:rPr lang="nl-BE" b="1" dirty="0">
                <a:solidFill>
                  <a:srgbClr val="FF0000"/>
                </a:solidFill>
              </a:rPr>
              <a:t>S</a:t>
            </a:r>
            <a:r>
              <a:rPr lang="nl-BE" dirty="0"/>
              <a:t>quares)</a:t>
            </a:r>
          </a:p>
          <a:p>
            <a:pPr lvl="1"/>
            <a:r>
              <a:rPr lang="nl-BE" dirty="0"/>
              <a:t>RSS (</a:t>
            </a:r>
            <a:r>
              <a:rPr lang="nl-BE" b="1" dirty="0">
                <a:solidFill>
                  <a:srgbClr val="FF0000"/>
                </a:solidFill>
              </a:rPr>
              <a:t>R</a:t>
            </a:r>
            <a:r>
              <a:rPr lang="nl-BE" dirty="0"/>
              <a:t>egression </a:t>
            </a:r>
            <a:r>
              <a:rPr lang="nl-BE" b="1" dirty="0">
                <a:solidFill>
                  <a:srgbClr val="FF0000"/>
                </a:solidFill>
              </a:rPr>
              <a:t>S</a:t>
            </a:r>
            <a:r>
              <a:rPr lang="nl-BE" dirty="0"/>
              <a:t>um of </a:t>
            </a:r>
            <a:r>
              <a:rPr lang="nl-BE" b="1" dirty="0">
                <a:solidFill>
                  <a:srgbClr val="FF0000"/>
                </a:solidFill>
              </a:rPr>
              <a:t>S</a:t>
            </a:r>
            <a:r>
              <a:rPr lang="nl-BE" dirty="0"/>
              <a:t>quares)</a:t>
            </a:r>
          </a:p>
          <a:p>
            <a:pPr lvl="1"/>
            <a:r>
              <a:rPr lang="nl-BE" dirty="0"/>
              <a:t>SSE (</a:t>
            </a:r>
            <a:r>
              <a:rPr lang="nl-BE" b="1" dirty="0">
                <a:solidFill>
                  <a:srgbClr val="FF0000"/>
                </a:solidFill>
              </a:rPr>
              <a:t>S</a:t>
            </a:r>
            <a:r>
              <a:rPr lang="nl-BE" dirty="0"/>
              <a:t>um of </a:t>
            </a:r>
            <a:r>
              <a:rPr lang="nl-BE" b="1" dirty="0">
                <a:solidFill>
                  <a:srgbClr val="FF0000"/>
                </a:solidFill>
              </a:rPr>
              <a:t>S</a:t>
            </a:r>
            <a:r>
              <a:rPr lang="nl-BE" dirty="0"/>
              <a:t>quares of </a:t>
            </a:r>
            <a:r>
              <a:rPr lang="nl-BE" b="1" dirty="0">
                <a:solidFill>
                  <a:srgbClr val="FF0000"/>
                </a:solidFill>
              </a:rPr>
              <a:t>E</a:t>
            </a:r>
            <a:r>
              <a:rPr lang="nl-BE" dirty="0"/>
              <a:t>rrors) </a:t>
            </a:r>
            <a:r>
              <a:rPr lang="nl-BE" i="1" dirty="0"/>
              <a:t>(helaas noemt R dit RSS (residual sum of squares))</a:t>
            </a:r>
          </a:p>
          <a:p>
            <a:endParaRPr lang="nl-BE" dirty="0"/>
          </a:p>
          <a:p>
            <a:r>
              <a:rPr lang="nl-BE" dirty="0"/>
              <a:t>Voorbeeld:</a:t>
            </a:r>
          </a:p>
          <a:p>
            <a:pPr lvl="1"/>
            <a:r>
              <a:rPr lang="nl-BE" b="1" dirty="0">
                <a:solidFill>
                  <a:srgbClr val="FF0000"/>
                </a:solidFill>
              </a:rPr>
              <a:t>Examenscores</a:t>
            </a:r>
            <a:r>
              <a:rPr lang="nl-BE" dirty="0"/>
              <a:t> (Y) voorspellen door </a:t>
            </a:r>
            <a:r>
              <a:rPr lang="nl-BE" b="1" dirty="0">
                <a:solidFill>
                  <a:srgbClr val="FF0000"/>
                </a:solidFill>
              </a:rPr>
              <a:t>Uren gestudeerd </a:t>
            </a:r>
            <a:r>
              <a:rPr lang="nl-BE" dirty="0"/>
              <a:t>(X)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58636B5-A4DB-7BF9-D193-339FADAD9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R-kwadraat: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415B1085-9084-C85E-63D3-D6774FABB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</a:t>
            </a:fld>
            <a:endParaRPr lang="nl-BE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11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1F6CEAD-EAB5-FCAB-B842-6D61421F8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Total Sum of Squares (TSS)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955AE6C3-FBEB-2AE3-3311-B02CB66042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217EB4F5-AF4F-8DB0-A8BB-55A0BD026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b="0" dirty="0"/>
              <a:t>= </a:t>
            </a:r>
            <a:r>
              <a:rPr lang="nl-BE" dirty="0"/>
              <a:t>variabiliteit</a:t>
            </a:r>
            <a:r>
              <a:rPr lang="nl-BE" b="0" dirty="0"/>
              <a:t> in </a:t>
            </a:r>
            <a:r>
              <a:rPr lang="nl-BE" dirty="0"/>
              <a:t>afhankelijke variabele</a:t>
            </a:r>
            <a:r>
              <a:rPr lang="nl-BE" b="0" dirty="0"/>
              <a:t> zonder kennis van enige voorspeller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91111FFD-6B6E-DB18-7555-CF8A763DD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453" y="2173415"/>
            <a:ext cx="5963093" cy="422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77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D9EB8-8ED6-D3F5-7908-7B08C667A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775308A-33C4-B37F-130E-2C72328D4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Total Sum of Squares (TSS)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ECF7798-6045-07FB-5170-8E465DF92F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3D4907D6-3689-3F12-6BB6-1534F4990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b="0" dirty="0"/>
              <a:t>= </a:t>
            </a:r>
            <a:r>
              <a:rPr lang="nl-BE" dirty="0"/>
              <a:t>variabiliteit</a:t>
            </a:r>
            <a:r>
              <a:rPr lang="nl-BE" b="0" dirty="0"/>
              <a:t> in </a:t>
            </a:r>
            <a:r>
              <a:rPr lang="nl-BE" dirty="0"/>
              <a:t>afhankelijke variabele</a:t>
            </a:r>
            <a:r>
              <a:rPr lang="nl-BE" b="0" dirty="0"/>
              <a:t> zonder kennis van enige voorspeller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F5C84FA5-0E33-34B9-35DE-8B5E6ECDD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846" y="2112773"/>
            <a:ext cx="5960307" cy="422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65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B4234-E70A-827F-D690-06B64641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92DE6D7-4319-5501-B4C2-80AEC26B7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… voorspeller toevoegen nu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60A87A3-99AB-5A37-524A-066133E1BC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7</a:t>
            </a:fld>
            <a:endParaRPr lang="nl-BE" dirty="0">
              <a:latin typeface="Calibri Light" panose="020F0302020204030204" pitchFamily="34" charset="0"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8F3B3EDD-E7D7-69F7-8B69-816F4901B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846" y="2010887"/>
            <a:ext cx="5960308" cy="422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712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DE93C1-4473-C533-4EDD-7DE395A23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Sum of Squares of Errors (SSE)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B40FBC7-EBEB-25DC-8ACF-1475EBB68C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8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F234BF8-12C3-1891-360E-4F118CDA1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1711634D-9F17-C398-A9A5-79A09BAA0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67" y="1577009"/>
            <a:ext cx="11717352" cy="453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85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93D2C-3B59-458F-96A7-F3892C2A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95B27A-2C46-1F5C-034B-994A69B7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Regression Sum of Squares (RSS)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1049AB8-E726-4708-DE46-2F6C116060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9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BF09CF3-8280-D503-591F-11DE7155E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4ABEDCCA-2AC2-6206-3398-D6604BF26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00" y="1577009"/>
            <a:ext cx="11710647" cy="45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86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28DCB57-74AA-1E6C-EA2E-89A299195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R-kwadraat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5A73EEF-88B2-C51E-1025-A09D35A4A8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10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C045D162-887A-4E8B-7F4B-8D621FBD1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77009"/>
            <a:ext cx="5043266" cy="4660279"/>
          </a:xfrm>
        </p:spPr>
        <p:txBody>
          <a:bodyPr/>
          <a:lstStyle/>
          <a:p>
            <a:r>
              <a:rPr lang="nl-BE" dirty="0"/>
              <a:t>Samengebracht:</a:t>
            </a:r>
          </a:p>
          <a:p>
            <a:pPr lvl="1"/>
            <a:r>
              <a:rPr lang="nl-BE" dirty="0"/>
              <a:t>TSS = 215,7</a:t>
            </a:r>
          </a:p>
          <a:p>
            <a:pPr lvl="1"/>
            <a:r>
              <a:rPr lang="nl-BE" dirty="0"/>
              <a:t>RSS = 189,4</a:t>
            </a:r>
          </a:p>
          <a:p>
            <a:pPr lvl="1"/>
            <a:r>
              <a:rPr lang="nl-BE" dirty="0"/>
              <a:t>SSE = 26,4</a:t>
            </a:r>
            <a:endParaRPr lang="nl-BE" i="1" dirty="0"/>
          </a:p>
          <a:p>
            <a:r>
              <a:rPr lang="nl-BE" dirty="0"/>
              <a:t>Of:</a:t>
            </a:r>
          </a:p>
          <a:p>
            <a:pPr lvl="1"/>
            <a:r>
              <a:rPr lang="nl-BE" dirty="0"/>
              <a:t>TSS = 189,4 + 26,4 = 215,7 </a:t>
            </a:r>
            <a:r>
              <a:rPr lang="nl-BE" dirty="0">
                <a:solidFill>
                  <a:srgbClr val="FF0000"/>
                </a:solidFill>
              </a:rPr>
              <a:t>(*)</a:t>
            </a:r>
            <a:endParaRPr lang="nl-BE" dirty="0"/>
          </a:p>
          <a:p>
            <a:r>
              <a:rPr lang="nl-BE" dirty="0"/>
              <a:t>Dus</a:t>
            </a:r>
          </a:p>
          <a:p>
            <a:pPr lvl="1"/>
            <a:r>
              <a:rPr lang="nl-BE" dirty="0"/>
              <a:t>R-kwadraat = 189,4/215,7 = 0,878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EE987D10-817B-EE8F-8573-0EA818CA4EED}"/>
              </a:ext>
            </a:extLst>
          </p:cNvPr>
          <p:cNvSpPr txBox="1"/>
          <p:nvPr/>
        </p:nvSpPr>
        <p:spPr>
          <a:xfrm>
            <a:off x="623887" y="5939582"/>
            <a:ext cx="5188688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dirty="0">
                <a:solidFill>
                  <a:srgbClr val="FF0000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(*)</a:t>
            </a:r>
            <a:r>
              <a:rPr lang="nl-BE" i="1" dirty="0">
                <a:solidFill>
                  <a:srgbClr val="FF0000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kleine afrondingsfoutjes 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B12BEBAC-97DA-51C5-7C61-215A7D488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153" y="1201479"/>
            <a:ext cx="6176104" cy="445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633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508EF-DFCB-79F0-4964-EC0A5C63D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A43F70D1-4947-4A70-6E60-DB0EB01388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11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758A301-7D97-3902-6A66-95F296E0A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2121" y="620713"/>
            <a:ext cx="5003800" cy="1385085"/>
          </a:xfrm>
        </p:spPr>
        <p:txBody>
          <a:bodyPr/>
          <a:lstStyle/>
          <a:p>
            <a:r>
              <a:rPr lang="nl-BE" dirty="0"/>
              <a:t>Regressieanalyse als Lingua Franca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0BA7B4E-C54C-1AD3-30C9-9B3CB9698DA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9" name="Tijdelijke aanduiding voor afbeelding 8">
            <a:extLst>
              <a:ext uri="{FF2B5EF4-FFF2-40B4-BE49-F238E27FC236}">
                <a16:creationId xmlns:a16="http://schemas.microsoft.com/office/drawing/2014/main" id="{DCA5992F-A1FC-B397-59F1-30FB48508E6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1289" r="21289"/>
          <a:stretch/>
        </p:blipFill>
        <p:spPr>
          <a:xfrm>
            <a:off x="623889" y="620713"/>
            <a:ext cx="5145732" cy="5616575"/>
          </a:xfrm>
        </p:spPr>
      </p:pic>
    </p:spTree>
    <p:extLst>
      <p:ext uri="{BB962C8B-B14F-4D97-AF65-F5344CB8AC3E}">
        <p14:creationId xmlns:p14="http://schemas.microsoft.com/office/powerpoint/2010/main" val="2515469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16000"/>
            <a:lum/>
          </a:blip>
          <a:srcRect/>
          <a:stretch>
            <a:fillRect l="-32000" r="-3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0B47242-72CD-5D4E-BFDA-DD3596F880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38E271-308C-2E46-A3EC-56326F9084CC}" type="slidenum">
              <a:rPr kumimoji="0" lang="nl-B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2E65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nl-BE" sz="1000" b="0" i="0" u="none" strike="noStrike" kern="1200" cap="none" spc="0" normalizeH="0" baseline="0" noProof="0" dirty="0">
              <a:ln>
                <a:noFill/>
              </a:ln>
              <a:solidFill>
                <a:srgbClr val="002E65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B6BC146-99F3-8146-B708-09DF0CE85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 algn="ctr">
              <a:buNone/>
              <a:defRPr/>
            </a:pPr>
            <a:r>
              <a:rPr lang="nl-BE" sz="4800" dirty="0">
                <a:ea typeface="ＭＳ Ｐゴシック" charset="0"/>
                <a:cs typeface="ＭＳ Ｐゴシック" charset="0"/>
              </a:rPr>
              <a:t>Welke aspecten spelen een rol in het aanpassingsproces van studenten in het eerste jaar hoger onderwijs?</a:t>
            </a:r>
          </a:p>
          <a:p>
            <a:pPr marL="514350" indent="-514350">
              <a:buFont typeface="+mj-lt"/>
              <a:buAutoNum type="arabicPeriod"/>
              <a:defRPr/>
            </a:pPr>
            <a:endParaRPr lang="nl-BE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065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16000"/>
            <a:lum/>
          </a:blip>
          <a:srcRect/>
          <a:stretch>
            <a:fillRect l="-32000" r="-3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0B47242-72CD-5D4E-BFDA-DD3596F880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13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B6BC146-99F3-8146-B708-09DF0CE85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 algn="ctr">
              <a:buNone/>
              <a:defRPr/>
            </a:pPr>
            <a:r>
              <a:rPr lang="nl-BE" sz="4800" dirty="0">
                <a:ea typeface="ＭＳ Ｐゴシック" charset="0"/>
                <a:cs typeface="ＭＳ Ｐゴシック" charset="0"/>
              </a:rPr>
              <a:t>Welke aspecten spelen een rol in het aanpassingsproces van studenten in het eerste jaar hoger onderwijs?</a:t>
            </a:r>
          </a:p>
          <a:p>
            <a:pPr marL="514350" indent="-514350">
              <a:buFont typeface="+mj-lt"/>
              <a:buAutoNum type="arabicPeriod"/>
              <a:defRPr/>
            </a:pPr>
            <a:endParaRPr lang="nl-BE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874DEEFB-888B-1245-9414-B98AB38EB759}"/>
              </a:ext>
            </a:extLst>
          </p:cNvPr>
          <p:cNvSpPr txBox="1"/>
          <p:nvPr/>
        </p:nvSpPr>
        <p:spPr>
          <a:xfrm rot="202458">
            <a:off x="350954" y="4074996"/>
            <a:ext cx="5726723" cy="7913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4000" b="1" dirty="0">
                <a:solidFill>
                  <a:schemeClr val="accent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Achtergrondkenmerken?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8DBA121B-6D61-AF4C-AEE8-E43AF9F36A4F}"/>
              </a:ext>
            </a:extLst>
          </p:cNvPr>
          <p:cNvSpPr txBox="1"/>
          <p:nvPr/>
        </p:nvSpPr>
        <p:spPr>
          <a:xfrm rot="21118264">
            <a:off x="1681523" y="5402554"/>
            <a:ext cx="5726723" cy="7913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4000" b="1" dirty="0">
                <a:solidFill>
                  <a:schemeClr val="accent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Motivatie?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244BE739-244D-404C-B9ED-01A7A248E821}"/>
              </a:ext>
            </a:extLst>
          </p:cNvPr>
          <p:cNvSpPr txBox="1"/>
          <p:nvPr/>
        </p:nvSpPr>
        <p:spPr>
          <a:xfrm>
            <a:off x="5602521" y="4890947"/>
            <a:ext cx="6256849" cy="7913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4000" b="1" dirty="0">
                <a:solidFill>
                  <a:schemeClr val="accent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Persoonlijkheidskenmerken?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0A0F0435-494B-7144-8C71-34BF768D6506}"/>
              </a:ext>
            </a:extLst>
          </p:cNvPr>
          <p:cNvSpPr txBox="1"/>
          <p:nvPr/>
        </p:nvSpPr>
        <p:spPr>
          <a:xfrm>
            <a:off x="332630" y="115793"/>
            <a:ext cx="6256849" cy="7913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4000" b="1" dirty="0">
                <a:solidFill>
                  <a:schemeClr val="accent2">
                    <a:alpha val="17000"/>
                  </a:schemeClr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Sociale integratie?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8B7E5C8B-1E89-8C4B-BE6E-2F05D909DEB0}"/>
              </a:ext>
            </a:extLst>
          </p:cNvPr>
          <p:cNvSpPr txBox="1"/>
          <p:nvPr/>
        </p:nvSpPr>
        <p:spPr>
          <a:xfrm>
            <a:off x="1654328" y="668918"/>
            <a:ext cx="6256849" cy="7913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4000" b="1" dirty="0">
                <a:solidFill>
                  <a:schemeClr val="accent2">
                    <a:alpha val="17000"/>
                  </a:schemeClr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Academische integratie?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9E91017A-7CE2-5B47-AF9B-F9FE2D522D4A}"/>
              </a:ext>
            </a:extLst>
          </p:cNvPr>
          <p:cNvSpPr txBox="1"/>
          <p:nvPr/>
        </p:nvSpPr>
        <p:spPr>
          <a:xfrm>
            <a:off x="5165389" y="-44451"/>
            <a:ext cx="6256849" cy="7913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4000" b="1" dirty="0">
                <a:solidFill>
                  <a:schemeClr val="accent2">
                    <a:alpha val="17000"/>
                  </a:schemeClr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Fit?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2A402F77-5316-3E4C-BF7D-95A86DB69D2A}"/>
              </a:ext>
            </a:extLst>
          </p:cNvPr>
          <p:cNvSpPr txBox="1"/>
          <p:nvPr/>
        </p:nvSpPr>
        <p:spPr>
          <a:xfrm>
            <a:off x="7166668" y="397585"/>
            <a:ext cx="6256849" cy="7913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4000" b="1" dirty="0">
                <a:solidFill>
                  <a:schemeClr val="accent2">
                    <a:alpha val="17000"/>
                  </a:schemeClr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Kwaliteit keuzeproces?</a:t>
            </a:r>
          </a:p>
        </p:txBody>
      </p:sp>
    </p:spTree>
    <p:extLst>
      <p:ext uri="{BB962C8B-B14F-4D97-AF65-F5344CB8AC3E}">
        <p14:creationId xmlns:p14="http://schemas.microsoft.com/office/powerpoint/2010/main" val="3864030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7B821F2-5FFB-544F-9F19-396B45FFE7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14</a:t>
            </a:fld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324D18C-1A47-474E-A48F-E29A194DD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067053"/>
            <a:ext cx="11042806" cy="4660279"/>
          </a:xfrm>
          <a:ln>
            <a:noFill/>
          </a:ln>
        </p:spPr>
        <p:txBody>
          <a:bodyPr wrap="square"/>
          <a:lstStyle/>
          <a:p>
            <a:pPr marL="0" indent="0" algn="just">
              <a:buNone/>
            </a:pPr>
            <a:r>
              <a:rPr lang="nl-BE" dirty="0"/>
              <a:t>In welke mate wordt de mate waarin studenten ervaren dat ze zich moeten aanpassen aan studeren in het hoger onderwijs (variabele ‘Aanpassing’) verklaard door:</a:t>
            </a:r>
          </a:p>
          <a:p>
            <a:endParaRPr lang="nl-BE" dirty="0"/>
          </a:p>
          <a:p>
            <a:r>
              <a:rPr lang="nl-BE" b="0" dirty="0">
                <a:solidFill>
                  <a:schemeClr val="accent4"/>
                </a:solidFill>
              </a:rPr>
              <a:t>achtergrondkenmerken</a:t>
            </a:r>
            <a:r>
              <a:rPr lang="nl-BE" b="0" dirty="0"/>
              <a:t> </a:t>
            </a:r>
            <a:r>
              <a:rPr lang="nl-BE" sz="2000" b="0" dirty="0"/>
              <a:t>(variabelen ‘SES’, ‘Geslacht’, ‘IQ’, ‘Onderwijsvorm’)</a:t>
            </a:r>
            <a:endParaRPr lang="nl-BE" b="0" dirty="0"/>
          </a:p>
          <a:p>
            <a:r>
              <a:rPr lang="nl-BE" b="0" dirty="0"/>
              <a:t>EN </a:t>
            </a:r>
            <a:r>
              <a:rPr lang="nl-BE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persoonlijkheidskenmerken</a:t>
            </a:r>
            <a:r>
              <a:rPr lang="nl-BE" b="0" dirty="0"/>
              <a:t> </a:t>
            </a:r>
            <a:r>
              <a:rPr lang="nl-BE" sz="2000" b="0" dirty="0"/>
              <a:t>(variabelen ‘Conscientieusheid’, ‘Openheid’, ‘Neuroticisme’)</a:t>
            </a:r>
            <a:endParaRPr lang="nl-BE" b="0" dirty="0"/>
          </a:p>
          <a:p>
            <a:r>
              <a:rPr lang="nl-BE" b="0" dirty="0"/>
              <a:t>EN </a:t>
            </a:r>
            <a:r>
              <a:rPr lang="nl-BE" b="0" dirty="0">
                <a:solidFill>
                  <a:schemeClr val="accent5"/>
                </a:solidFill>
              </a:rPr>
              <a:t>motivatie</a:t>
            </a:r>
            <a:r>
              <a:rPr lang="nl-BE" b="0" dirty="0"/>
              <a:t> </a:t>
            </a:r>
            <a:r>
              <a:rPr lang="nl-BE" sz="2000" b="0" dirty="0"/>
              <a:t>(variabelen ‘Zelfeffectiviteit3’, ‘Demotivatie3’)</a:t>
            </a:r>
            <a:endParaRPr lang="nl-BE" b="0" dirty="0"/>
          </a:p>
        </p:txBody>
      </p:sp>
    </p:spTree>
    <p:extLst>
      <p:ext uri="{BB962C8B-B14F-4D97-AF65-F5344CB8AC3E}">
        <p14:creationId xmlns:p14="http://schemas.microsoft.com/office/powerpoint/2010/main" val="491887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104C274-473F-1C4E-B1FA-4C90E88E84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15</a:t>
            </a:fld>
            <a:endParaRPr lang="nl-BE" dirty="0"/>
          </a:p>
        </p:txBody>
      </p:sp>
      <p:pic>
        <p:nvPicPr>
          <p:cNvPr id="6" name="Afbeelding 5" descr="Afbeelding met tafel&#10;&#10;Automatisch gegenereerde beschrijving">
            <a:extLst>
              <a:ext uri="{FF2B5EF4-FFF2-40B4-BE49-F238E27FC236}">
                <a16:creationId xmlns:a16="http://schemas.microsoft.com/office/drawing/2014/main" id="{1B3C2273-8B67-8F4D-8D98-83DF59536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0" y="2253765"/>
            <a:ext cx="11442700" cy="2667000"/>
          </a:xfrm>
          <a:prstGeom prst="rect">
            <a:avLst/>
          </a:prstGeom>
        </p:spPr>
      </p:pic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284CF402-1544-5846-A433-4786663D6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b="0" i="1" dirty="0"/>
              <a:t>Score ‘Aanpassing’ is resultaat van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74A0B3AF-B89F-6D40-B976-930ABE206552}"/>
              </a:ext>
            </a:extLst>
          </p:cNvPr>
          <p:cNvSpPr txBox="1"/>
          <p:nvPr/>
        </p:nvSpPr>
        <p:spPr>
          <a:xfrm>
            <a:off x="1143000" y="4981149"/>
            <a:ext cx="1239016" cy="10550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4800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…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0487A922-7088-FB4D-808F-7FCA5CEC8D86}"/>
              </a:ext>
            </a:extLst>
          </p:cNvPr>
          <p:cNvSpPr/>
          <p:nvPr/>
        </p:nvSpPr>
        <p:spPr bwMode="auto">
          <a:xfrm>
            <a:off x="374650" y="2253764"/>
            <a:ext cx="11442700" cy="3782461"/>
          </a:xfrm>
          <a:custGeom>
            <a:avLst/>
            <a:gdLst>
              <a:gd name="csX0" fmla="*/ 0 w 11442700"/>
              <a:gd name="csY0" fmla="*/ 0 h 3782461"/>
              <a:gd name="csX1" fmla="*/ 457708 w 11442700"/>
              <a:gd name="csY1" fmla="*/ 0 h 3782461"/>
              <a:gd name="csX2" fmla="*/ 686562 w 11442700"/>
              <a:gd name="csY2" fmla="*/ 0 h 3782461"/>
              <a:gd name="csX3" fmla="*/ 1487551 w 11442700"/>
              <a:gd name="csY3" fmla="*/ 0 h 3782461"/>
              <a:gd name="csX4" fmla="*/ 1945259 w 11442700"/>
              <a:gd name="csY4" fmla="*/ 0 h 3782461"/>
              <a:gd name="csX5" fmla="*/ 2402967 w 11442700"/>
              <a:gd name="csY5" fmla="*/ 0 h 3782461"/>
              <a:gd name="csX6" fmla="*/ 3203956 w 11442700"/>
              <a:gd name="csY6" fmla="*/ 0 h 3782461"/>
              <a:gd name="csX7" fmla="*/ 3547237 w 11442700"/>
              <a:gd name="csY7" fmla="*/ 0 h 3782461"/>
              <a:gd name="csX8" fmla="*/ 4348226 w 11442700"/>
              <a:gd name="csY8" fmla="*/ 0 h 3782461"/>
              <a:gd name="csX9" fmla="*/ 5149215 w 11442700"/>
              <a:gd name="csY9" fmla="*/ 0 h 3782461"/>
              <a:gd name="csX10" fmla="*/ 5721350 w 11442700"/>
              <a:gd name="csY10" fmla="*/ 0 h 3782461"/>
              <a:gd name="csX11" fmla="*/ 6522339 w 11442700"/>
              <a:gd name="csY11" fmla="*/ 0 h 3782461"/>
              <a:gd name="csX12" fmla="*/ 6980047 w 11442700"/>
              <a:gd name="csY12" fmla="*/ 0 h 3782461"/>
              <a:gd name="csX13" fmla="*/ 7437755 w 11442700"/>
              <a:gd name="csY13" fmla="*/ 0 h 3782461"/>
              <a:gd name="csX14" fmla="*/ 8124317 w 11442700"/>
              <a:gd name="csY14" fmla="*/ 0 h 3782461"/>
              <a:gd name="csX15" fmla="*/ 8582025 w 11442700"/>
              <a:gd name="csY15" fmla="*/ 0 h 3782461"/>
              <a:gd name="csX16" fmla="*/ 9383014 w 11442700"/>
              <a:gd name="csY16" fmla="*/ 0 h 3782461"/>
              <a:gd name="csX17" fmla="*/ 10184003 w 11442700"/>
              <a:gd name="csY17" fmla="*/ 0 h 3782461"/>
              <a:gd name="csX18" fmla="*/ 10756138 w 11442700"/>
              <a:gd name="csY18" fmla="*/ 0 h 3782461"/>
              <a:gd name="csX19" fmla="*/ 11442700 w 11442700"/>
              <a:gd name="csY19" fmla="*/ 0 h 3782461"/>
              <a:gd name="csX20" fmla="*/ 11442700 w 11442700"/>
              <a:gd name="csY20" fmla="*/ 426878 h 3782461"/>
              <a:gd name="csX21" fmla="*/ 11442700 w 11442700"/>
              <a:gd name="csY21" fmla="*/ 891580 h 3782461"/>
              <a:gd name="csX22" fmla="*/ 11442700 w 11442700"/>
              <a:gd name="csY22" fmla="*/ 1469756 h 3782461"/>
              <a:gd name="csX23" fmla="*/ 11442700 w 11442700"/>
              <a:gd name="csY23" fmla="*/ 1972283 h 3782461"/>
              <a:gd name="csX24" fmla="*/ 11442700 w 11442700"/>
              <a:gd name="csY24" fmla="*/ 2436986 h 3782461"/>
              <a:gd name="csX25" fmla="*/ 11442700 w 11442700"/>
              <a:gd name="csY25" fmla="*/ 3015162 h 3782461"/>
              <a:gd name="csX26" fmla="*/ 11442700 w 11442700"/>
              <a:gd name="csY26" fmla="*/ 3782461 h 3782461"/>
              <a:gd name="csX27" fmla="*/ 10870565 w 11442700"/>
              <a:gd name="csY27" fmla="*/ 3782461 h 3782461"/>
              <a:gd name="csX28" fmla="*/ 10527284 w 11442700"/>
              <a:gd name="csY28" fmla="*/ 3782461 h 3782461"/>
              <a:gd name="csX29" fmla="*/ 9840722 w 11442700"/>
              <a:gd name="csY29" fmla="*/ 3782461 h 3782461"/>
              <a:gd name="csX30" fmla="*/ 9497441 w 11442700"/>
              <a:gd name="csY30" fmla="*/ 3782461 h 3782461"/>
              <a:gd name="csX31" fmla="*/ 8810879 w 11442700"/>
              <a:gd name="csY31" fmla="*/ 3782461 h 3782461"/>
              <a:gd name="csX32" fmla="*/ 8582025 w 11442700"/>
              <a:gd name="csY32" fmla="*/ 3782461 h 3782461"/>
              <a:gd name="csX33" fmla="*/ 7895463 w 11442700"/>
              <a:gd name="csY33" fmla="*/ 3782461 h 3782461"/>
              <a:gd name="csX34" fmla="*/ 7552182 w 11442700"/>
              <a:gd name="csY34" fmla="*/ 3782461 h 3782461"/>
              <a:gd name="csX35" fmla="*/ 7323328 w 11442700"/>
              <a:gd name="csY35" fmla="*/ 3782461 h 3782461"/>
              <a:gd name="csX36" fmla="*/ 6980047 w 11442700"/>
              <a:gd name="csY36" fmla="*/ 3782461 h 3782461"/>
              <a:gd name="csX37" fmla="*/ 6293485 w 11442700"/>
              <a:gd name="csY37" fmla="*/ 3782461 h 3782461"/>
              <a:gd name="csX38" fmla="*/ 5950204 w 11442700"/>
              <a:gd name="csY38" fmla="*/ 3782461 h 3782461"/>
              <a:gd name="csX39" fmla="*/ 5721350 w 11442700"/>
              <a:gd name="csY39" fmla="*/ 3782461 h 3782461"/>
              <a:gd name="csX40" fmla="*/ 5378069 w 11442700"/>
              <a:gd name="csY40" fmla="*/ 3782461 h 3782461"/>
              <a:gd name="csX41" fmla="*/ 4920361 w 11442700"/>
              <a:gd name="csY41" fmla="*/ 3782461 h 3782461"/>
              <a:gd name="csX42" fmla="*/ 4348226 w 11442700"/>
              <a:gd name="csY42" fmla="*/ 3782461 h 3782461"/>
              <a:gd name="csX43" fmla="*/ 4004945 w 11442700"/>
              <a:gd name="csY43" fmla="*/ 3782461 h 3782461"/>
              <a:gd name="csX44" fmla="*/ 3203956 w 11442700"/>
              <a:gd name="csY44" fmla="*/ 3782461 h 3782461"/>
              <a:gd name="csX45" fmla="*/ 2631821 w 11442700"/>
              <a:gd name="csY45" fmla="*/ 3782461 h 3782461"/>
              <a:gd name="csX46" fmla="*/ 1830832 w 11442700"/>
              <a:gd name="csY46" fmla="*/ 3782461 h 3782461"/>
              <a:gd name="csX47" fmla="*/ 1144270 w 11442700"/>
              <a:gd name="csY47" fmla="*/ 3782461 h 3782461"/>
              <a:gd name="csX48" fmla="*/ 686562 w 11442700"/>
              <a:gd name="csY48" fmla="*/ 3782461 h 3782461"/>
              <a:gd name="csX49" fmla="*/ 0 w 11442700"/>
              <a:gd name="csY49" fmla="*/ 3782461 h 3782461"/>
              <a:gd name="csX50" fmla="*/ 0 w 11442700"/>
              <a:gd name="csY50" fmla="*/ 3317759 h 3782461"/>
              <a:gd name="csX51" fmla="*/ 0 w 11442700"/>
              <a:gd name="csY51" fmla="*/ 2777407 h 3782461"/>
              <a:gd name="csX52" fmla="*/ 0 w 11442700"/>
              <a:gd name="csY52" fmla="*/ 2161406 h 3782461"/>
              <a:gd name="csX53" fmla="*/ 0 w 11442700"/>
              <a:gd name="csY53" fmla="*/ 1545405 h 3782461"/>
              <a:gd name="csX54" fmla="*/ 0 w 11442700"/>
              <a:gd name="csY54" fmla="*/ 967229 h 3782461"/>
              <a:gd name="csX55" fmla="*/ 0 w 11442700"/>
              <a:gd name="csY55" fmla="*/ 0 h 37824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</a:cxnLst>
            <a:rect l="l" t="t" r="r" b="b"/>
            <a:pathLst>
              <a:path w="11442700" h="3782461" extrusionOk="0">
                <a:moveTo>
                  <a:pt x="0" y="0"/>
                </a:moveTo>
                <a:cubicBezTo>
                  <a:pt x="210634" y="-40286"/>
                  <a:pt x="336447" y="46999"/>
                  <a:pt x="457708" y="0"/>
                </a:cubicBezTo>
                <a:cubicBezTo>
                  <a:pt x="578969" y="-46999"/>
                  <a:pt x="637014" y="12878"/>
                  <a:pt x="686562" y="0"/>
                </a:cubicBezTo>
                <a:cubicBezTo>
                  <a:pt x="736110" y="-12878"/>
                  <a:pt x="1106108" y="48643"/>
                  <a:pt x="1487551" y="0"/>
                </a:cubicBezTo>
                <a:cubicBezTo>
                  <a:pt x="1868994" y="-48643"/>
                  <a:pt x="1787809" y="34371"/>
                  <a:pt x="1945259" y="0"/>
                </a:cubicBezTo>
                <a:cubicBezTo>
                  <a:pt x="2102709" y="-34371"/>
                  <a:pt x="2214564" y="32748"/>
                  <a:pt x="2402967" y="0"/>
                </a:cubicBezTo>
                <a:cubicBezTo>
                  <a:pt x="2591370" y="-32748"/>
                  <a:pt x="2821839" y="68554"/>
                  <a:pt x="3203956" y="0"/>
                </a:cubicBezTo>
                <a:cubicBezTo>
                  <a:pt x="3586073" y="-68554"/>
                  <a:pt x="3451793" y="12968"/>
                  <a:pt x="3547237" y="0"/>
                </a:cubicBezTo>
                <a:cubicBezTo>
                  <a:pt x="3642681" y="-12968"/>
                  <a:pt x="4011929" y="80302"/>
                  <a:pt x="4348226" y="0"/>
                </a:cubicBezTo>
                <a:cubicBezTo>
                  <a:pt x="4684523" y="-80302"/>
                  <a:pt x="4904656" y="61719"/>
                  <a:pt x="5149215" y="0"/>
                </a:cubicBezTo>
                <a:cubicBezTo>
                  <a:pt x="5393774" y="-61719"/>
                  <a:pt x="5451117" y="9033"/>
                  <a:pt x="5721350" y="0"/>
                </a:cubicBezTo>
                <a:cubicBezTo>
                  <a:pt x="5991584" y="-9033"/>
                  <a:pt x="6187830" y="49431"/>
                  <a:pt x="6522339" y="0"/>
                </a:cubicBezTo>
                <a:cubicBezTo>
                  <a:pt x="6856848" y="-49431"/>
                  <a:pt x="6878319" y="41014"/>
                  <a:pt x="6980047" y="0"/>
                </a:cubicBezTo>
                <a:cubicBezTo>
                  <a:pt x="7081775" y="-41014"/>
                  <a:pt x="7275781" y="24654"/>
                  <a:pt x="7437755" y="0"/>
                </a:cubicBezTo>
                <a:cubicBezTo>
                  <a:pt x="7599729" y="-24654"/>
                  <a:pt x="7910010" y="50206"/>
                  <a:pt x="8124317" y="0"/>
                </a:cubicBezTo>
                <a:cubicBezTo>
                  <a:pt x="8338624" y="-50206"/>
                  <a:pt x="8387338" y="53817"/>
                  <a:pt x="8582025" y="0"/>
                </a:cubicBezTo>
                <a:cubicBezTo>
                  <a:pt x="8776712" y="-53817"/>
                  <a:pt x="9068099" y="60957"/>
                  <a:pt x="9383014" y="0"/>
                </a:cubicBezTo>
                <a:cubicBezTo>
                  <a:pt x="9697929" y="-60957"/>
                  <a:pt x="9921457" y="9521"/>
                  <a:pt x="10184003" y="0"/>
                </a:cubicBezTo>
                <a:cubicBezTo>
                  <a:pt x="10446549" y="-9521"/>
                  <a:pt x="10484807" y="38525"/>
                  <a:pt x="10756138" y="0"/>
                </a:cubicBezTo>
                <a:cubicBezTo>
                  <a:pt x="11027470" y="-38525"/>
                  <a:pt x="11140672" y="52362"/>
                  <a:pt x="11442700" y="0"/>
                </a:cubicBezTo>
                <a:cubicBezTo>
                  <a:pt x="11459502" y="202308"/>
                  <a:pt x="11426545" y="296442"/>
                  <a:pt x="11442700" y="426878"/>
                </a:cubicBezTo>
                <a:cubicBezTo>
                  <a:pt x="11458855" y="557314"/>
                  <a:pt x="11434680" y="715286"/>
                  <a:pt x="11442700" y="891580"/>
                </a:cubicBezTo>
                <a:cubicBezTo>
                  <a:pt x="11450720" y="1067874"/>
                  <a:pt x="11431136" y="1221890"/>
                  <a:pt x="11442700" y="1469756"/>
                </a:cubicBezTo>
                <a:cubicBezTo>
                  <a:pt x="11454264" y="1717622"/>
                  <a:pt x="11421079" y="1862521"/>
                  <a:pt x="11442700" y="1972283"/>
                </a:cubicBezTo>
                <a:cubicBezTo>
                  <a:pt x="11464321" y="2082045"/>
                  <a:pt x="11395010" y="2300314"/>
                  <a:pt x="11442700" y="2436986"/>
                </a:cubicBezTo>
                <a:cubicBezTo>
                  <a:pt x="11490390" y="2573658"/>
                  <a:pt x="11377431" y="2838533"/>
                  <a:pt x="11442700" y="3015162"/>
                </a:cubicBezTo>
                <a:cubicBezTo>
                  <a:pt x="11507969" y="3191791"/>
                  <a:pt x="11383950" y="3587281"/>
                  <a:pt x="11442700" y="3782461"/>
                </a:cubicBezTo>
                <a:cubicBezTo>
                  <a:pt x="11180996" y="3829908"/>
                  <a:pt x="11068386" y="3737873"/>
                  <a:pt x="10870565" y="3782461"/>
                </a:cubicBezTo>
                <a:cubicBezTo>
                  <a:pt x="10672744" y="3827049"/>
                  <a:pt x="10627126" y="3753268"/>
                  <a:pt x="10527284" y="3782461"/>
                </a:cubicBezTo>
                <a:cubicBezTo>
                  <a:pt x="10427442" y="3811654"/>
                  <a:pt x="10013863" y="3771857"/>
                  <a:pt x="9840722" y="3782461"/>
                </a:cubicBezTo>
                <a:cubicBezTo>
                  <a:pt x="9667581" y="3793065"/>
                  <a:pt x="9648950" y="3750088"/>
                  <a:pt x="9497441" y="3782461"/>
                </a:cubicBezTo>
                <a:cubicBezTo>
                  <a:pt x="9345932" y="3814834"/>
                  <a:pt x="8953929" y="3769852"/>
                  <a:pt x="8810879" y="3782461"/>
                </a:cubicBezTo>
                <a:cubicBezTo>
                  <a:pt x="8667829" y="3795070"/>
                  <a:pt x="8633136" y="3777871"/>
                  <a:pt x="8582025" y="3782461"/>
                </a:cubicBezTo>
                <a:cubicBezTo>
                  <a:pt x="8530914" y="3787051"/>
                  <a:pt x="8091061" y="3758402"/>
                  <a:pt x="7895463" y="3782461"/>
                </a:cubicBezTo>
                <a:cubicBezTo>
                  <a:pt x="7699865" y="3806520"/>
                  <a:pt x="7669240" y="3750412"/>
                  <a:pt x="7552182" y="3782461"/>
                </a:cubicBezTo>
                <a:cubicBezTo>
                  <a:pt x="7435124" y="3814510"/>
                  <a:pt x="7386421" y="3781571"/>
                  <a:pt x="7323328" y="3782461"/>
                </a:cubicBezTo>
                <a:cubicBezTo>
                  <a:pt x="7260235" y="3783351"/>
                  <a:pt x="7124295" y="3777543"/>
                  <a:pt x="6980047" y="3782461"/>
                </a:cubicBezTo>
                <a:cubicBezTo>
                  <a:pt x="6835799" y="3787379"/>
                  <a:pt x="6554249" y="3737159"/>
                  <a:pt x="6293485" y="3782461"/>
                </a:cubicBezTo>
                <a:cubicBezTo>
                  <a:pt x="6032721" y="3827763"/>
                  <a:pt x="6101921" y="3763803"/>
                  <a:pt x="5950204" y="3782461"/>
                </a:cubicBezTo>
                <a:cubicBezTo>
                  <a:pt x="5798487" y="3801119"/>
                  <a:pt x="5822439" y="3760914"/>
                  <a:pt x="5721350" y="3782461"/>
                </a:cubicBezTo>
                <a:cubicBezTo>
                  <a:pt x="5620261" y="3804008"/>
                  <a:pt x="5472803" y="3744941"/>
                  <a:pt x="5378069" y="3782461"/>
                </a:cubicBezTo>
                <a:cubicBezTo>
                  <a:pt x="5283335" y="3819981"/>
                  <a:pt x="5096129" y="3777543"/>
                  <a:pt x="4920361" y="3782461"/>
                </a:cubicBezTo>
                <a:cubicBezTo>
                  <a:pt x="4744593" y="3787379"/>
                  <a:pt x="4514240" y="3731597"/>
                  <a:pt x="4348226" y="3782461"/>
                </a:cubicBezTo>
                <a:cubicBezTo>
                  <a:pt x="4182212" y="3833325"/>
                  <a:pt x="4140423" y="3774219"/>
                  <a:pt x="4004945" y="3782461"/>
                </a:cubicBezTo>
                <a:cubicBezTo>
                  <a:pt x="3869467" y="3790703"/>
                  <a:pt x="3428595" y="3713555"/>
                  <a:pt x="3203956" y="3782461"/>
                </a:cubicBezTo>
                <a:cubicBezTo>
                  <a:pt x="2979317" y="3851367"/>
                  <a:pt x="2788873" y="3766516"/>
                  <a:pt x="2631821" y="3782461"/>
                </a:cubicBezTo>
                <a:cubicBezTo>
                  <a:pt x="2474770" y="3798406"/>
                  <a:pt x="2076129" y="3699661"/>
                  <a:pt x="1830832" y="3782461"/>
                </a:cubicBezTo>
                <a:cubicBezTo>
                  <a:pt x="1585535" y="3865261"/>
                  <a:pt x="1393698" y="3772860"/>
                  <a:pt x="1144270" y="3782461"/>
                </a:cubicBezTo>
                <a:cubicBezTo>
                  <a:pt x="894842" y="3792062"/>
                  <a:pt x="873185" y="3744128"/>
                  <a:pt x="686562" y="3782461"/>
                </a:cubicBezTo>
                <a:cubicBezTo>
                  <a:pt x="499939" y="3820794"/>
                  <a:pt x="206412" y="3718673"/>
                  <a:pt x="0" y="3782461"/>
                </a:cubicBezTo>
                <a:cubicBezTo>
                  <a:pt x="-1439" y="3668190"/>
                  <a:pt x="20162" y="3478327"/>
                  <a:pt x="0" y="3317759"/>
                </a:cubicBezTo>
                <a:cubicBezTo>
                  <a:pt x="-20162" y="3157191"/>
                  <a:pt x="61918" y="2939409"/>
                  <a:pt x="0" y="2777407"/>
                </a:cubicBezTo>
                <a:cubicBezTo>
                  <a:pt x="-61918" y="2615405"/>
                  <a:pt x="64535" y="2459082"/>
                  <a:pt x="0" y="2161406"/>
                </a:cubicBezTo>
                <a:cubicBezTo>
                  <a:pt x="-64535" y="1863730"/>
                  <a:pt x="57738" y="1715013"/>
                  <a:pt x="0" y="1545405"/>
                </a:cubicBezTo>
                <a:cubicBezTo>
                  <a:pt x="-57738" y="1375797"/>
                  <a:pt x="60009" y="1208799"/>
                  <a:pt x="0" y="967229"/>
                </a:cubicBezTo>
                <a:cubicBezTo>
                  <a:pt x="-60009" y="725659"/>
                  <a:pt x="10021" y="312738"/>
                  <a:pt x="0" y="0"/>
                </a:cubicBezTo>
                <a:close/>
              </a:path>
            </a:pathLst>
          </a:custGeom>
          <a:noFill/>
          <a:ln>
            <a:solidFill>
              <a:schemeClr val="tx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865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AFA7EBE-F23D-F744-985E-58400C3DD0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16</a:t>
            </a:fld>
            <a:endParaRPr lang="nl-BE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525D1BF9-A366-D643-B336-EB1B352B4BA1}"/>
              </a:ext>
            </a:extLst>
          </p:cNvPr>
          <p:cNvSpPr txBox="1"/>
          <p:nvPr/>
        </p:nvSpPr>
        <p:spPr>
          <a:xfrm>
            <a:off x="2866294" y="263767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93E9F1A9-3D5C-7646-BEDA-C2696D5728C1}"/>
              </a:ext>
            </a:extLst>
          </p:cNvPr>
          <p:cNvSpPr txBox="1"/>
          <p:nvPr/>
        </p:nvSpPr>
        <p:spPr>
          <a:xfrm>
            <a:off x="2866294" y="961294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70315AF3-53F9-C945-B21D-A78E57114BF1}"/>
              </a:ext>
            </a:extLst>
          </p:cNvPr>
          <p:cNvSpPr txBox="1"/>
          <p:nvPr/>
        </p:nvSpPr>
        <p:spPr>
          <a:xfrm>
            <a:off x="2866294" y="1606066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28053D3B-416E-444A-B2F8-8EF59B61A160}"/>
              </a:ext>
            </a:extLst>
          </p:cNvPr>
          <p:cNvSpPr txBox="1"/>
          <p:nvPr/>
        </p:nvSpPr>
        <p:spPr>
          <a:xfrm>
            <a:off x="2866294" y="2280143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37616EDD-6BD2-064E-9A68-D103F3DC3B8D}"/>
              </a:ext>
            </a:extLst>
          </p:cNvPr>
          <p:cNvSpPr txBox="1"/>
          <p:nvPr/>
        </p:nvSpPr>
        <p:spPr>
          <a:xfrm>
            <a:off x="2860434" y="-17584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SES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0215C86F-5BE1-3F4A-AC6E-CAAA21D4AAD3}"/>
              </a:ext>
            </a:extLst>
          </p:cNvPr>
          <p:cNvSpPr txBox="1"/>
          <p:nvPr/>
        </p:nvSpPr>
        <p:spPr>
          <a:xfrm>
            <a:off x="2872157" y="679941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Geslacht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A7DDB96D-0FA2-1540-9023-F3C26755257C}"/>
              </a:ext>
            </a:extLst>
          </p:cNvPr>
          <p:cNvSpPr txBox="1"/>
          <p:nvPr/>
        </p:nvSpPr>
        <p:spPr>
          <a:xfrm>
            <a:off x="2854570" y="1330577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IQ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6056C04-E085-7148-8DD9-BA2DE41AF100}"/>
              </a:ext>
            </a:extLst>
          </p:cNvPr>
          <p:cNvSpPr txBox="1"/>
          <p:nvPr/>
        </p:nvSpPr>
        <p:spPr>
          <a:xfrm>
            <a:off x="2373920" y="1975347"/>
            <a:ext cx="2057404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Onderwijsvorm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896F1745-66B2-AC43-BEE4-2B761819436D}"/>
              </a:ext>
            </a:extLst>
          </p:cNvPr>
          <p:cNvSpPr txBox="1"/>
          <p:nvPr/>
        </p:nvSpPr>
        <p:spPr>
          <a:xfrm>
            <a:off x="2854570" y="3264881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B71B5954-2F1C-0A43-96F8-7380D14A9773}"/>
              </a:ext>
            </a:extLst>
          </p:cNvPr>
          <p:cNvSpPr txBox="1"/>
          <p:nvPr/>
        </p:nvSpPr>
        <p:spPr>
          <a:xfrm>
            <a:off x="2854570" y="3962408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0C6140AC-1611-CA43-90C7-CF9E34E48571}"/>
              </a:ext>
            </a:extLst>
          </p:cNvPr>
          <p:cNvSpPr txBox="1"/>
          <p:nvPr/>
        </p:nvSpPr>
        <p:spPr>
          <a:xfrm>
            <a:off x="2854570" y="4607180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64AED354-C8F6-7042-84A6-935683F6B3F2}"/>
              </a:ext>
            </a:extLst>
          </p:cNvPr>
          <p:cNvSpPr txBox="1"/>
          <p:nvPr/>
        </p:nvSpPr>
        <p:spPr>
          <a:xfrm>
            <a:off x="2391510" y="2965944"/>
            <a:ext cx="2057404" cy="398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Conscientieusheid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173426CA-6756-4344-9FD1-7F5F02D44510}"/>
              </a:ext>
            </a:extLst>
          </p:cNvPr>
          <p:cNvSpPr txBox="1"/>
          <p:nvPr/>
        </p:nvSpPr>
        <p:spPr>
          <a:xfrm>
            <a:off x="2860433" y="3681055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Openheid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AD0A037C-3BBB-C642-B725-203C660EB2A1}"/>
              </a:ext>
            </a:extLst>
          </p:cNvPr>
          <p:cNvSpPr txBox="1"/>
          <p:nvPr/>
        </p:nvSpPr>
        <p:spPr>
          <a:xfrm>
            <a:off x="2754921" y="4331691"/>
            <a:ext cx="1354018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Neuroticisme</a:t>
            </a: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949F24FA-03C2-3049-98DA-F8D1EC8ED7AD}"/>
              </a:ext>
            </a:extLst>
          </p:cNvPr>
          <p:cNvSpPr txBox="1"/>
          <p:nvPr/>
        </p:nvSpPr>
        <p:spPr>
          <a:xfrm>
            <a:off x="2836980" y="5580189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6E1531E5-3DA2-3644-B32F-699A53745096}"/>
              </a:ext>
            </a:extLst>
          </p:cNvPr>
          <p:cNvSpPr txBox="1"/>
          <p:nvPr/>
        </p:nvSpPr>
        <p:spPr>
          <a:xfrm>
            <a:off x="2836980" y="6277716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AD515B38-0585-7447-8571-190275C72501}"/>
              </a:ext>
            </a:extLst>
          </p:cNvPr>
          <p:cNvSpPr txBox="1"/>
          <p:nvPr/>
        </p:nvSpPr>
        <p:spPr>
          <a:xfrm>
            <a:off x="2373920" y="5281252"/>
            <a:ext cx="2057404" cy="398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5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Zelfeffectiviteit</a:t>
            </a:r>
          </a:p>
        </p:txBody>
      </p:sp>
      <p:sp>
        <p:nvSpPr>
          <p:cNvPr id="22" name="Tekstvak 21">
            <a:extLst>
              <a:ext uri="{FF2B5EF4-FFF2-40B4-BE49-F238E27FC236}">
                <a16:creationId xmlns:a16="http://schemas.microsoft.com/office/drawing/2014/main" id="{7DA21382-D227-F04A-AE3F-A702D21BE26A}"/>
              </a:ext>
            </a:extLst>
          </p:cNvPr>
          <p:cNvSpPr txBox="1"/>
          <p:nvPr/>
        </p:nvSpPr>
        <p:spPr>
          <a:xfrm>
            <a:off x="2842843" y="5996363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5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Demotivatie</a:t>
            </a: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3438669A-F3A1-0D46-AD90-AAA059AF52FD}"/>
              </a:ext>
            </a:extLst>
          </p:cNvPr>
          <p:cNvSpPr txBox="1"/>
          <p:nvPr/>
        </p:nvSpPr>
        <p:spPr>
          <a:xfrm>
            <a:off x="8534399" y="3235571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8D39724E-3EDE-0A4E-8557-EC271AFF2AB4}"/>
              </a:ext>
            </a:extLst>
          </p:cNvPr>
          <p:cNvSpPr txBox="1"/>
          <p:nvPr/>
        </p:nvSpPr>
        <p:spPr>
          <a:xfrm>
            <a:off x="8522681" y="2954218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Aanpassing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31D75005-6664-2746-B092-808BFAC487BD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991709" y="439613"/>
            <a:ext cx="4360983" cy="2192222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52AB2718-AE75-FD4D-A4C3-55BECAC9FB42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991709" y="1137140"/>
            <a:ext cx="4360983" cy="170572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chte verbindingslijn met pijl 29">
            <a:extLst>
              <a:ext uri="{FF2B5EF4-FFF2-40B4-BE49-F238E27FC236}">
                <a16:creationId xmlns:a16="http://schemas.microsoft.com/office/drawing/2014/main" id="{0BFB85B5-9FC0-294D-B143-A647E6D49A20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991709" y="1781912"/>
            <a:ext cx="4360983" cy="1263155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Rechte verbindingslijn met pijl 32">
            <a:extLst>
              <a:ext uri="{FF2B5EF4-FFF2-40B4-BE49-F238E27FC236}">
                <a16:creationId xmlns:a16="http://schemas.microsoft.com/office/drawing/2014/main" id="{0DAFDE18-C45C-B74E-AE34-811818DB04A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991709" y="2455989"/>
            <a:ext cx="4360983" cy="750276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Rechte verbindingslijn met pijl 45">
            <a:extLst>
              <a:ext uri="{FF2B5EF4-FFF2-40B4-BE49-F238E27FC236}">
                <a16:creationId xmlns:a16="http://schemas.microsoft.com/office/drawing/2014/main" id="{2DCAB2AE-6EA7-E645-8146-B259DD1D4832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979985" y="3379176"/>
            <a:ext cx="4372707" cy="61551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Rechte verbindingslijn met pijl 49">
            <a:extLst>
              <a:ext uri="{FF2B5EF4-FFF2-40B4-BE49-F238E27FC236}">
                <a16:creationId xmlns:a16="http://schemas.microsoft.com/office/drawing/2014/main" id="{C7A506E7-976B-064E-9891-963F3AB45CC9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3979985" y="3552100"/>
            <a:ext cx="4372707" cy="586154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Rechte verbindingslijn met pijl 52">
            <a:extLst>
              <a:ext uri="{FF2B5EF4-FFF2-40B4-BE49-F238E27FC236}">
                <a16:creationId xmlns:a16="http://schemas.microsoft.com/office/drawing/2014/main" id="{F22F39F9-6464-DD4E-AEE4-E0EF8C98B673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3979985" y="3739668"/>
            <a:ext cx="4372707" cy="104335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Rechte verbindingslijn met pijl 55">
            <a:extLst>
              <a:ext uri="{FF2B5EF4-FFF2-40B4-BE49-F238E27FC236}">
                <a16:creationId xmlns:a16="http://schemas.microsoft.com/office/drawing/2014/main" id="{04B12821-584D-754B-9576-F8F890DCD91D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3962395" y="3897926"/>
            <a:ext cx="4390297" cy="185810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Rechte verbindingslijn met pijl 58">
            <a:extLst>
              <a:ext uri="{FF2B5EF4-FFF2-40B4-BE49-F238E27FC236}">
                <a16:creationId xmlns:a16="http://schemas.microsoft.com/office/drawing/2014/main" id="{AA3C037A-0AE6-A449-8063-2BE720BDE799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3962395" y="4067914"/>
            <a:ext cx="4390297" cy="238564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Rechte verbindingslijn 62">
            <a:extLst>
              <a:ext uri="{FF2B5EF4-FFF2-40B4-BE49-F238E27FC236}">
                <a16:creationId xmlns:a16="http://schemas.microsoft.com/office/drawing/2014/main" id="{0E49220B-DDC1-9249-BD7E-69FA3876D3AF}"/>
              </a:ext>
            </a:extLst>
          </p:cNvPr>
          <p:cNvCxnSpPr>
            <a:stCxn id="6" idx="1"/>
            <a:endCxn id="6" idx="3"/>
          </p:cNvCxnSpPr>
          <p:nvPr/>
        </p:nvCxnSpPr>
        <p:spPr>
          <a:xfrm>
            <a:off x="2866294" y="1137140"/>
            <a:ext cx="1125415" cy="0"/>
          </a:xfrm>
          <a:prstGeom prst="line">
            <a:avLst/>
          </a:prstGeom>
          <a:ln w="190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Rechte verbindingslijn 64">
            <a:extLst>
              <a:ext uri="{FF2B5EF4-FFF2-40B4-BE49-F238E27FC236}">
                <a16:creationId xmlns:a16="http://schemas.microsoft.com/office/drawing/2014/main" id="{B68FB87C-5805-524E-A66E-AB96546AE716}"/>
              </a:ext>
            </a:extLst>
          </p:cNvPr>
          <p:cNvCxnSpPr/>
          <p:nvPr/>
        </p:nvCxnSpPr>
        <p:spPr>
          <a:xfrm>
            <a:off x="2842845" y="2397375"/>
            <a:ext cx="1125415" cy="0"/>
          </a:xfrm>
          <a:prstGeom prst="line">
            <a:avLst/>
          </a:prstGeom>
          <a:ln w="190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Rechte verbindingslijn 65">
            <a:extLst>
              <a:ext uri="{FF2B5EF4-FFF2-40B4-BE49-F238E27FC236}">
                <a16:creationId xmlns:a16="http://schemas.microsoft.com/office/drawing/2014/main" id="{70D95C21-F5B0-FA46-B7DF-1DF0C370535D}"/>
              </a:ext>
            </a:extLst>
          </p:cNvPr>
          <p:cNvCxnSpPr/>
          <p:nvPr/>
        </p:nvCxnSpPr>
        <p:spPr>
          <a:xfrm>
            <a:off x="2836982" y="2514605"/>
            <a:ext cx="1125415" cy="0"/>
          </a:xfrm>
          <a:prstGeom prst="line">
            <a:avLst/>
          </a:prstGeom>
          <a:ln w="190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160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6586F486-9911-8F46-A5C1-3C2CB1BAC356}"/>
              </a:ext>
            </a:extLst>
          </p:cNvPr>
          <p:cNvSpPr txBox="1"/>
          <p:nvPr/>
        </p:nvSpPr>
        <p:spPr>
          <a:xfrm>
            <a:off x="-49045" y="1917839"/>
            <a:ext cx="3056012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sz="1200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endParaRPr lang="en-GB" sz="1200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r>
              <a:rPr lang="en-GB" sz="1200" b="1" dirty="0">
                <a:solidFill>
                  <a:srgbClr val="0000FF"/>
                </a:solidFill>
                <a:latin typeface="Courier New"/>
                <a:cs typeface="Courier New"/>
              </a:rPr>
              <a:t>&gt; levels(</a:t>
            </a:r>
            <a:r>
              <a:rPr lang="en-GB" sz="1200" b="1" dirty="0" err="1">
                <a:solidFill>
                  <a:srgbClr val="0000FF"/>
                </a:solidFill>
                <a:latin typeface="Courier New"/>
                <a:cs typeface="Courier New"/>
              </a:rPr>
              <a:t>dataHO$Onderwijsvorm</a:t>
            </a:r>
            <a:r>
              <a:rPr lang="en-GB" sz="1200" b="1" dirty="0">
                <a:solidFill>
                  <a:srgbClr val="0000FF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/>
                <a:cs typeface="Courier New"/>
              </a:rPr>
              <a:t>[1] "ASO" "BSO" "KSO" "TSO”</a:t>
            </a:r>
            <a:endParaRPr lang="en-GB" sz="1200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67" name="TextBox 1">
            <a:extLst>
              <a:ext uri="{FF2B5EF4-FFF2-40B4-BE49-F238E27FC236}">
                <a16:creationId xmlns:a16="http://schemas.microsoft.com/office/drawing/2014/main" id="{83074664-063B-BF42-85C3-FFFAB03EB793}"/>
              </a:ext>
            </a:extLst>
          </p:cNvPr>
          <p:cNvSpPr txBox="1"/>
          <p:nvPr/>
        </p:nvSpPr>
        <p:spPr>
          <a:xfrm>
            <a:off x="361987" y="789504"/>
            <a:ext cx="259223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sz="1200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r>
              <a:rPr lang="en-GB" sz="1200" b="1" dirty="0">
                <a:solidFill>
                  <a:srgbClr val="0000FF"/>
                </a:solidFill>
                <a:latin typeface="Courier New"/>
                <a:cs typeface="Courier New"/>
              </a:rPr>
              <a:t>&gt; levels(</a:t>
            </a:r>
            <a:r>
              <a:rPr lang="en-GB" sz="1200" b="1" dirty="0" err="1">
                <a:solidFill>
                  <a:srgbClr val="0000FF"/>
                </a:solidFill>
                <a:latin typeface="Courier New"/>
                <a:cs typeface="Courier New"/>
              </a:rPr>
              <a:t>dataHO$Geslacht</a:t>
            </a:r>
            <a:r>
              <a:rPr lang="en-GB" sz="1200" b="1" dirty="0">
                <a:solidFill>
                  <a:srgbClr val="0000FF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GB" sz="1200" dirty="0">
                <a:solidFill>
                  <a:schemeClr val="tx1"/>
                </a:solidFill>
                <a:latin typeface="Courier New"/>
                <a:cs typeface="Courier New"/>
              </a:rPr>
              <a:t>[1] "man"   "vrouw”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AFA7EBE-F23D-F744-985E-58400C3DD0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17</a:t>
            </a:fld>
            <a:endParaRPr lang="nl-BE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525D1BF9-A366-D643-B336-EB1B352B4BA1}"/>
              </a:ext>
            </a:extLst>
          </p:cNvPr>
          <p:cNvSpPr txBox="1"/>
          <p:nvPr/>
        </p:nvSpPr>
        <p:spPr>
          <a:xfrm>
            <a:off x="2866294" y="263767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93E9F1A9-3D5C-7646-BEDA-C2696D5728C1}"/>
              </a:ext>
            </a:extLst>
          </p:cNvPr>
          <p:cNvSpPr txBox="1"/>
          <p:nvPr/>
        </p:nvSpPr>
        <p:spPr>
          <a:xfrm>
            <a:off x="2866294" y="961294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70315AF3-53F9-C945-B21D-A78E57114BF1}"/>
              </a:ext>
            </a:extLst>
          </p:cNvPr>
          <p:cNvSpPr txBox="1"/>
          <p:nvPr/>
        </p:nvSpPr>
        <p:spPr>
          <a:xfrm>
            <a:off x="2866294" y="1606066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28053D3B-416E-444A-B2F8-8EF59B61A160}"/>
              </a:ext>
            </a:extLst>
          </p:cNvPr>
          <p:cNvSpPr txBox="1"/>
          <p:nvPr/>
        </p:nvSpPr>
        <p:spPr>
          <a:xfrm>
            <a:off x="2866294" y="2280143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solidFill>
                <a:schemeClr val="accent6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37616EDD-6BD2-064E-9A68-D103F3DC3B8D}"/>
              </a:ext>
            </a:extLst>
          </p:cNvPr>
          <p:cNvSpPr txBox="1"/>
          <p:nvPr/>
        </p:nvSpPr>
        <p:spPr>
          <a:xfrm>
            <a:off x="2860434" y="-17584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SES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0215C86F-5BE1-3F4A-AC6E-CAAA21D4AAD3}"/>
              </a:ext>
            </a:extLst>
          </p:cNvPr>
          <p:cNvSpPr txBox="1"/>
          <p:nvPr/>
        </p:nvSpPr>
        <p:spPr>
          <a:xfrm>
            <a:off x="2872157" y="679941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Geslacht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A7DDB96D-0FA2-1540-9023-F3C26755257C}"/>
              </a:ext>
            </a:extLst>
          </p:cNvPr>
          <p:cNvSpPr txBox="1"/>
          <p:nvPr/>
        </p:nvSpPr>
        <p:spPr>
          <a:xfrm>
            <a:off x="2854570" y="1330577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IQ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6056C04-E085-7148-8DD9-BA2DE41AF100}"/>
              </a:ext>
            </a:extLst>
          </p:cNvPr>
          <p:cNvSpPr txBox="1"/>
          <p:nvPr/>
        </p:nvSpPr>
        <p:spPr>
          <a:xfrm>
            <a:off x="2373920" y="1975347"/>
            <a:ext cx="2057404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Onderwijsvorm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896F1745-66B2-AC43-BEE4-2B761819436D}"/>
              </a:ext>
            </a:extLst>
          </p:cNvPr>
          <p:cNvSpPr txBox="1"/>
          <p:nvPr/>
        </p:nvSpPr>
        <p:spPr>
          <a:xfrm>
            <a:off x="2854570" y="3264881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B71B5954-2F1C-0A43-96F8-7380D14A9773}"/>
              </a:ext>
            </a:extLst>
          </p:cNvPr>
          <p:cNvSpPr txBox="1"/>
          <p:nvPr/>
        </p:nvSpPr>
        <p:spPr>
          <a:xfrm>
            <a:off x="2854570" y="3962408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0C6140AC-1611-CA43-90C7-CF9E34E48571}"/>
              </a:ext>
            </a:extLst>
          </p:cNvPr>
          <p:cNvSpPr txBox="1"/>
          <p:nvPr/>
        </p:nvSpPr>
        <p:spPr>
          <a:xfrm>
            <a:off x="2854570" y="4607180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64AED354-C8F6-7042-84A6-935683F6B3F2}"/>
              </a:ext>
            </a:extLst>
          </p:cNvPr>
          <p:cNvSpPr txBox="1"/>
          <p:nvPr/>
        </p:nvSpPr>
        <p:spPr>
          <a:xfrm>
            <a:off x="2391510" y="2965944"/>
            <a:ext cx="2057404" cy="398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Conscientieusheid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173426CA-6756-4344-9FD1-7F5F02D44510}"/>
              </a:ext>
            </a:extLst>
          </p:cNvPr>
          <p:cNvSpPr txBox="1"/>
          <p:nvPr/>
        </p:nvSpPr>
        <p:spPr>
          <a:xfrm>
            <a:off x="2860433" y="3681055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Openheid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AD0A037C-3BBB-C642-B725-203C660EB2A1}"/>
              </a:ext>
            </a:extLst>
          </p:cNvPr>
          <p:cNvSpPr txBox="1"/>
          <p:nvPr/>
        </p:nvSpPr>
        <p:spPr>
          <a:xfrm>
            <a:off x="2754921" y="4331691"/>
            <a:ext cx="1354018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Neuroticisme</a:t>
            </a: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949F24FA-03C2-3049-98DA-F8D1EC8ED7AD}"/>
              </a:ext>
            </a:extLst>
          </p:cNvPr>
          <p:cNvSpPr txBox="1"/>
          <p:nvPr/>
        </p:nvSpPr>
        <p:spPr>
          <a:xfrm>
            <a:off x="2836980" y="5580189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6E1531E5-3DA2-3644-B32F-699A53745096}"/>
              </a:ext>
            </a:extLst>
          </p:cNvPr>
          <p:cNvSpPr txBox="1"/>
          <p:nvPr/>
        </p:nvSpPr>
        <p:spPr>
          <a:xfrm>
            <a:off x="2836980" y="6277716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AD515B38-0585-7447-8571-190275C72501}"/>
              </a:ext>
            </a:extLst>
          </p:cNvPr>
          <p:cNvSpPr txBox="1"/>
          <p:nvPr/>
        </p:nvSpPr>
        <p:spPr>
          <a:xfrm>
            <a:off x="2373920" y="5281252"/>
            <a:ext cx="2057404" cy="398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5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Zelfeffectiviteit</a:t>
            </a:r>
          </a:p>
        </p:txBody>
      </p:sp>
      <p:sp>
        <p:nvSpPr>
          <p:cNvPr id="22" name="Tekstvak 21">
            <a:extLst>
              <a:ext uri="{FF2B5EF4-FFF2-40B4-BE49-F238E27FC236}">
                <a16:creationId xmlns:a16="http://schemas.microsoft.com/office/drawing/2014/main" id="{7DA21382-D227-F04A-AE3F-A702D21BE26A}"/>
              </a:ext>
            </a:extLst>
          </p:cNvPr>
          <p:cNvSpPr txBox="1"/>
          <p:nvPr/>
        </p:nvSpPr>
        <p:spPr>
          <a:xfrm>
            <a:off x="2842843" y="5996363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solidFill>
                  <a:schemeClr val="accent5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Demotivatie</a:t>
            </a: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3438669A-F3A1-0D46-AD90-AAA059AF52FD}"/>
              </a:ext>
            </a:extLst>
          </p:cNvPr>
          <p:cNvSpPr txBox="1"/>
          <p:nvPr/>
        </p:nvSpPr>
        <p:spPr>
          <a:xfrm>
            <a:off x="8534399" y="3235571"/>
            <a:ext cx="1125415" cy="351692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nl-BE" sz="2800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8D39724E-3EDE-0A4E-8557-EC271AFF2AB4}"/>
              </a:ext>
            </a:extLst>
          </p:cNvPr>
          <p:cNvSpPr txBox="1"/>
          <p:nvPr/>
        </p:nvSpPr>
        <p:spPr>
          <a:xfrm>
            <a:off x="8522681" y="2954218"/>
            <a:ext cx="1125415" cy="351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nl-BE" sz="1600" b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Aanpassing</a:t>
            </a:r>
          </a:p>
        </p:txBody>
      </p: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31D75005-6664-2746-B092-808BFAC487BD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991709" y="439613"/>
            <a:ext cx="4360983" cy="2192222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52AB2718-AE75-FD4D-A4C3-55BECAC9FB42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991709" y="1137140"/>
            <a:ext cx="4360983" cy="170572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chte verbindingslijn met pijl 29">
            <a:extLst>
              <a:ext uri="{FF2B5EF4-FFF2-40B4-BE49-F238E27FC236}">
                <a16:creationId xmlns:a16="http://schemas.microsoft.com/office/drawing/2014/main" id="{0BFB85B5-9FC0-294D-B143-A647E6D49A20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991709" y="1781912"/>
            <a:ext cx="4360983" cy="1263155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Rechte verbindingslijn met pijl 32">
            <a:extLst>
              <a:ext uri="{FF2B5EF4-FFF2-40B4-BE49-F238E27FC236}">
                <a16:creationId xmlns:a16="http://schemas.microsoft.com/office/drawing/2014/main" id="{0DAFDE18-C45C-B74E-AE34-811818DB04A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991709" y="2455989"/>
            <a:ext cx="4360983" cy="750276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Rechte verbindingslijn met pijl 45">
            <a:extLst>
              <a:ext uri="{FF2B5EF4-FFF2-40B4-BE49-F238E27FC236}">
                <a16:creationId xmlns:a16="http://schemas.microsoft.com/office/drawing/2014/main" id="{2DCAB2AE-6EA7-E645-8146-B259DD1D4832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979985" y="3379176"/>
            <a:ext cx="4372707" cy="61551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Rechte verbindingslijn met pijl 49">
            <a:extLst>
              <a:ext uri="{FF2B5EF4-FFF2-40B4-BE49-F238E27FC236}">
                <a16:creationId xmlns:a16="http://schemas.microsoft.com/office/drawing/2014/main" id="{C7A506E7-976B-064E-9891-963F3AB45CC9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3979985" y="3552100"/>
            <a:ext cx="4372707" cy="586154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Rechte verbindingslijn met pijl 52">
            <a:extLst>
              <a:ext uri="{FF2B5EF4-FFF2-40B4-BE49-F238E27FC236}">
                <a16:creationId xmlns:a16="http://schemas.microsoft.com/office/drawing/2014/main" id="{F22F39F9-6464-DD4E-AEE4-E0EF8C98B673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3979985" y="3739668"/>
            <a:ext cx="4372707" cy="104335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Rechte verbindingslijn met pijl 55">
            <a:extLst>
              <a:ext uri="{FF2B5EF4-FFF2-40B4-BE49-F238E27FC236}">
                <a16:creationId xmlns:a16="http://schemas.microsoft.com/office/drawing/2014/main" id="{04B12821-584D-754B-9576-F8F890DCD91D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3962395" y="3897926"/>
            <a:ext cx="4390297" cy="185810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Rechte verbindingslijn met pijl 58">
            <a:extLst>
              <a:ext uri="{FF2B5EF4-FFF2-40B4-BE49-F238E27FC236}">
                <a16:creationId xmlns:a16="http://schemas.microsoft.com/office/drawing/2014/main" id="{AA3C037A-0AE6-A449-8063-2BE720BDE799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3962395" y="4067914"/>
            <a:ext cx="4390297" cy="238564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Rechte verbindingslijn 62">
            <a:extLst>
              <a:ext uri="{FF2B5EF4-FFF2-40B4-BE49-F238E27FC236}">
                <a16:creationId xmlns:a16="http://schemas.microsoft.com/office/drawing/2014/main" id="{0E49220B-DDC1-9249-BD7E-69FA3876D3AF}"/>
              </a:ext>
            </a:extLst>
          </p:cNvPr>
          <p:cNvCxnSpPr>
            <a:stCxn id="6" idx="1"/>
            <a:endCxn id="6" idx="3"/>
          </p:cNvCxnSpPr>
          <p:nvPr/>
        </p:nvCxnSpPr>
        <p:spPr>
          <a:xfrm>
            <a:off x="2866294" y="1137140"/>
            <a:ext cx="1125415" cy="0"/>
          </a:xfrm>
          <a:prstGeom prst="line">
            <a:avLst/>
          </a:prstGeom>
          <a:ln w="190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Rechte verbindingslijn 64">
            <a:extLst>
              <a:ext uri="{FF2B5EF4-FFF2-40B4-BE49-F238E27FC236}">
                <a16:creationId xmlns:a16="http://schemas.microsoft.com/office/drawing/2014/main" id="{B68FB87C-5805-524E-A66E-AB96546AE716}"/>
              </a:ext>
            </a:extLst>
          </p:cNvPr>
          <p:cNvCxnSpPr/>
          <p:nvPr/>
        </p:nvCxnSpPr>
        <p:spPr>
          <a:xfrm>
            <a:off x="2842845" y="2397375"/>
            <a:ext cx="1125415" cy="0"/>
          </a:xfrm>
          <a:prstGeom prst="line">
            <a:avLst/>
          </a:prstGeom>
          <a:ln w="190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Rechte verbindingslijn 65">
            <a:extLst>
              <a:ext uri="{FF2B5EF4-FFF2-40B4-BE49-F238E27FC236}">
                <a16:creationId xmlns:a16="http://schemas.microsoft.com/office/drawing/2014/main" id="{70D95C21-F5B0-FA46-B7DF-1DF0C370535D}"/>
              </a:ext>
            </a:extLst>
          </p:cNvPr>
          <p:cNvCxnSpPr/>
          <p:nvPr/>
        </p:nvCxnSpPr>
        <p:spPr>
          <a:xfrm>
            <a:off x="2836982" y="2514605"/>
            <a:ext cx="1125415" cy="0"/>
          </a:xfrm>
          <a:prstGeom prst="line">
            <a:avLst/>
          </a:prstGeom>
          <a:ln w="190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988" name="Picture 4" descr="Gekke Cartoon Gele Vraagteken Karakter Geïsoleerd Royalty-Vrije Foto,  Plaatjes, Beelden En Stock Fotografie. Image 23471579.">
            <a:extLst>
              <a:ext uri="{FF2B5EF4-FFF2-40B4-BE49-F238E27FC236}">
                <a16:creationId xmlns:a16="http://schemas.microsoft.com/office/drawing/2014/main" id="{53B7389B-AF68-614C-84F4-CD0BE8ABB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4" y="4314099"/>
            <a:ext cx="1953351" cy="195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19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02075D-01DB-5641-A1B9-A88661F2F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Modellen schatten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D09AFEE-7ACD-CF48-B371-C7350AC15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18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B207432-7744-084A-90BA-C425098D9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77009"/>
            <a:ext cx="11403990" cy="4660279"/>
          </a:xfrm>
        </p:spPr>
        <p:txBody>
          <a:bodyPr wrap="square"/>
          <a:lstStyle/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Model1 &lt;- </a:t>
            </a: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lm(Aanpassing ~ SES + Geslacht + IQ + Onderwijsvorm,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</a:t>
            </a: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= dataHO) 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Model2 &lt;- lm(Aanpassing ~ SES + Geslacht + IQ + Onderwijsvorm +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Conscientieusheid + Openheid + Neuroticisme,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data = dataHO)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Model3 &lt;- lm(Aanpassing ~ SES + Geslacht + IQ + Onderwijsvorm + 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	    Conscientieusheid + Openheid + Neuroticisme +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	    Zelfeffectiviteit3 + Demotivatie3,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data = dataHO)</a:t>
            </a:r>
          </a:p>
        </p:txBody>
      </p:sp>
    </p:spTree>
    <p:extLst>
      <p:ext uri="{BB962C8B-B14F-4D97-AF65-F5344CB8AC3E}">
        <p14:creationId xmlns:p14="http://schemas.microsoft.com/office/powerpoint/2010/main" val="1555088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02075D-01DB-5641-A1B9-A88661F2F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Modellen vergelijken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D09AFEE-7ACD-CF48-B371-C7350AC15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19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B207432-7744-084A-90BA-C425098D9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77009"/>
            <a:ext cx="11403990" cy="1851991"/>
          </a:xfrm>
        </p:spPr>
        <p:txBody>
          <a:bodyPr wrap="square"/>
          <a:lstStyle/>
          <a:p>
            <a:pPr marL="0" indent="0">
              <a:buNone/>
            </a:pP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anova(Model1, Model2, Model3)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 in anova.lmlist(object, ...) : 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models were not all fitted to the same size of dataset</a:t>
            </a:r>
          </a:p>
          <a:p>
            <a:pPr marL="0" indent="0">
              <a:buNone/>
            </a:pPr>
            <a:endParaRPr lang="nl-BE" sz="2000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FF5B904-E9F6-0E4D-A110-FB35F679B57C}"/>
              </a:ext>
            </a:extLst>
          </p:cNvPr>
          <p:cNvSpPr txBox="1">
            <a:spLocks/>
          </p:cNvSpPr>
          <p:nvPr/>
        </p:nvSpPr>
        <p:spPr>
          <a:xfrm>
            <a:off x="623887" y="3197605"/>
            <a:ext cx="10944226" cy="79179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1217054" rtl="0" eaLnBrk="1" fontAlgn="base" hangingPunct="1">
              <a:spcBef>
                <a:spcPct val="0"/>
              </a:spcBef>
              <a:spcAft>
                <a:spcPct val="0"/>
              </a:spcAft>
              <a:defRPr sz="3800" b="1" i="0" kern="1200">
                <a:solidFill>
                  <a:srgbClr val="FF0000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  <a:lvl2pPr algn="l" defTabSz="1217054" rtl="0" eaLnBrk="1" fontAlgn="base" hangingPunct="1">
              <a:spcBef>
                <a:spcPct val="0"/>
              </a:spcBef>
              <a:spcAft>
                <a:spcPct val="0"/>
              </a:spcAft>
              <a:defRPr sz="2667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l" defTabSz="1217054" rtl="0" eaLnBrk="1" fontAlgn="base" hangingPunct="1">
              <a:spcBef>
                <a:spcPct val="0"/>
              </a:spcBef>
              <a:spcAft>
                <a:spcPct val="0"/>
              </a:spcAft>
              <a:defRPr sz="2667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algn="l" defTabSz="1217054" rtl="0" eaLnBrk="1" fontAlgn="base" hangingPunct="1">
              <a:spcBef>
                <a:spcPct val="0"/>
              </a:spcBef>
              <a:spcAft>
                <a:spcPct val="0"/>
              </a:spcAft>
              <a:defRPr sz="2667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algn="l" defTabSz="1217054" rtl="0" eaLnBrk="1" fontAlgn="base" hangingPunct="1">
              <a:spcBef>
                <a:spcPct val="0"/>
              </a:spcBef>
              <a:spcAft>
                <a:spcPct val="0"/>
              </a:spcAft>
              <a:defRPr sz="2667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05769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02075D-01DB-5641-A1B9-A88661F2F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Modellen vergelijken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D09AFEE-7ACD-CF48-B371-C7350AC15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20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B207432-7744-084A-90BA-C425098D9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77009"/>
            <a:ext cx="11403990" cy="1851991"/>
          </a:xfrm>
        </p:spPr>
        <p:txBody>
          <a:bodyPr wrap="square"/>
          <a:lstStyle/>
          <a:p>
            <a:pPr marL="0" indent="0">
              <a:buNone/>
            </a:pP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anova(Model1, Model2, Model3)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 in anova.lmlist(object, ...) : 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models were not all fitted to the same size of dataset</a:t>
            </a:r>
          </a:p>
          <a:p>
            <a:pPr marL="0" indent="0">
              <a:buNone/>
            </a:pPr>
            <a:endParaRPr lang="nl-BE" sz="2000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ijdelijke aanduiding voor inhoud 3">
            <a:extLst>
              <a:ext uri="{FF2B5EF4-FFF2-40B4-BE49-F238E27FC236}">
                <a16:creationId xmlns:a16="http://schemas.microsoft.com/office/drawing/2014/main" id="{8C9F0D8B-63DD-784E-BB91-D5996AF663B8}"/>
              </a:ext>
            </a:extLst>
          </p:cNvPr>
          <p:cNvSpPr txBox="1">
            <a:spLocks/>
          </p:cNvSpPr>
          <p:nvPr/>
        </p:nvSpPr>
        <p:spPr>
          <a:xfrm>
            <a:off x="623887" y="3989399"/>
            <a:ext cx="11403990" cy="466027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74638" indent="-274638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tabLst/>
              <a:defRPr sz="2800" b="1" i="0" kern="1200">
                <a:solidFill>
                  <a:schemeClr val="tx1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  <a:lvl2pPr marL="740815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2pPr>
            <a:lvl3pPr marL="1090057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733" kern="12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454114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663658" indent="-226478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Data1</a:t>
            </a: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na.omit</a:t>
            </a: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(dataHO[c("Aanpassing",      </a:t>
            </a:r>
          </a:p>
          <a:p>
            <a:pPr marL="0" indent="0">
              <a:buFont typeface="Wingdings" pitchFamily="2" charset="2"/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"SES",               "Geslacht",           </a:t>
            </a:r>
          </a:p>
          <a:p>
            <a:pPr marL="0" indent="0">
              <a:buFont typeface="Wingdings" pitchFamily="2" charset="2"/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"IQ",                "Onderwijsvorm", </a:t>
            </a:r>
          </a:p>
          <a:p>
            <a:pPr marL="0" indent="0">
              <a:buFont typeface="Wingdings" pitchFamily="2" charset="2"/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"Conscientieusheid", "Openheid",</a:t>
            </a:r>
          </a:p>
          <a:p>
            <a:pPr marL="0" indent="0">
              <a:buFont typeface="Wingdings" pitchFamily="2" charset="2"/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"Neuroticisme",      "Zelfeffectiviteit3",</a:t>
            </a:r>
          </a:p>
          <a:p>
            <a:pPr marL="0" indent="0">
              <a:buFont typeface="Wingdings" pitchFamily="2" charset="2"/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"Demotivatie3")])</a:t>
            </a:r>
          </a:p>
          <a:p>
            <a:pPr marL="0" indent="0">
              <a:buFont typeface="Wingdings" pitchFamily="2" charset="2"/>
              <a:buNone/>
            </a:pPr>
            <a:endParaRPr lang="nl-BE" sz="2000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FF5B904-E9F6-0E4D-A110-FB35F679B57C}"/>
              </a:ext>
            </a:extLst>
          </p:cNvPr>
          <p:cNvSpPr txBox="1">
            <a:spLocks/>
          </p:cNvSpPr>
          <p:nvPr/>
        </p:nvSpPr>
        <p:spPr>
          <a:xfrm>
            <a:off x="623887" y="3197605"/>
            <a:ext cx="10944226" cy="79179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1217054" rtl="0" eaLnBrk="1" fontAlgn="base" hangingPunct="1">
              <a:spcBef>
                <a:spcPct val="0"/>
              </a:spcBef>
              <a:spcAft>
                <a:spcPct val="0"/>
              </a:spcAft>
              <a:defRPr sz="3800" b="1" i="0" kern="1200">
                <a:solidFill>
                  <a:srgbClr val="FF0000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  <a:lvl2pPr algn="l" defTabSz="1217054" rtl="0" eaLnBrk="1" fontAlgn="base" hangingPunct="1">
              <a:spcBef>
                <a:spcPct val="0"/>
              </a:spcBef>
              <a:spcAft>
                <a:spcPct val="0"/>
              </a:spcAft>
              <a:defRPr sz="2667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l" defTabSz="1217054" rtl="0" eaLnBrk="1" fontAlgn="base" hangingPunct="1">
              <a:spcBef>
                <a:spcPct val="0"/>
              </a:spcBef>
              <a:spcAft>
                <a:spcPct val="0"/>
              </a:spcAft>
              <a:defRPr sz="2667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algn="l" defTabSz="1217054" rtl="0" eaLnBrk="1" fontAlgn="base" hangingPunct="1">
              <a:spcBef>
                <a:spcPct val="0"/>
              </a:spcBef>
              <a:spcAft>
                <a:spcPct val="0"/>
              </a:spcAft>
              <a:defRPr sz="2667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algn="l" defTabSz="1217054" rtl="0" eaLnBrk="1" fontAlgn="base" hangingPunct="1">
              <a:spcBef>
                <a:spcPct val="0"/>
              </a:spcBef>
              <a:spcAft>
                <a:spcPct val="0"/>
              </a:spcAft>
              <a:defRPr sz="2667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nl-BE" dirty="0"/>
              <a:t>Dataset met ALLEEN volledige waarnemingen</a:t>
            </a:r>
          </a:p>
        </p:txBody>
      </p:sp>
    </p:spTree>
    <p:extLst>
      <p:ext uri="{BB962C8B-B14F-4D97-AF65-F5344CB8AC3E}">
        <p14:creationId xmlns:p14="http://schemas.microsoft.com/office/powerpoint/2010/main" val="1956221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02075D-01DB-5641-A1B9-A88661F2F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Modellen herschatten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D09AFEE-7ACD-CF48-B371-C7350AC15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21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B207432-7744-084A-90BA-C425098D9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77009"/>
            <a:ext cx="11403990" cy="4660279"/>
          </a:xfrm>
        </p:spPr>
        <p:txBody>
          <a:bodyPr wrap="square"/>
          <a:lstStyle/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Model1b</a:t>
            </a: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lm(Aanpassing ~ SES + Geslacht + IQ + Onderwijsvorm,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data = </a:t>
            </a: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Data1</a:t>
            </a: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Model2b</a:t>
            </a: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lm(Aanpassing ~ SES + Geslacht + IQ + Onderwijsvorm +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Conscientieusheid + Openheid + Neuroticisme,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data = </a:t>
            </a: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Data1</a:t>
            </a: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Model3b</a:t>
            </a: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lm(Aanpassing ~ SES + Geslacht + IQ + Onderwijsvorm + 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Conscientieusheid + Openheid + Neuroticisme +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	     Zelfeffectiviteit3 + Demotivatie3,</a:t>
            </a:r>
          </a:p>
          <a:p>
            <a:pPr marL="0" indent="0">
              <a:buNone/>
            </a:pP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data = </a:t>
            </a:r>
            <a:r>
              <a:rPr lang="nl-BE" sz="20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Data1</a:t>
            </a:r>
            <a:r>
              <a:rPr lang="nl-BE" sz="20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26660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51C6A-2EA4-D848-9C84-25123079C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Herschatte modellen vergelijken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157FBEA-9887-904C-9A56-632876F750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22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126F809-7C71-8243-B470-02F766856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anova(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Model1b, Model2b, Model3b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Analysis of Variance Table</a:t>
            </a:r>
          </a:p>
          <a:p>
            <a:pPr marL="0" indent="0">
              <a:buNone/>
            </a:pP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 1: Aanpassing ~ SES + Geslacht + IQ + Onderwijsvorm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 2: Aanpassing ~ SES + Geslacht + IQ + Onderwijsvorm + Conscientieusheid + 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Openheid + Neuroticisme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 3: Aanpassing ~ SES + Geslacht + IQ + Onderwijsvorm + Conscientieusheid + 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Openheid + Neuroticisme + Zelfeffectiviteit3 + Demotivatie3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Res.Df    RSS Df Sum of Sq      F    Pr(&gt;F)    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1    543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359.08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2    540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341.03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18.044 11.267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3.531e-07 ***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3    538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287.22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53.810 50.397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 2.2e-16 ***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Signif. codes:  0 ‘***’ 0.001 ‘**’ 0.01 ‘*’ 0.05 ‘.’ 0.1 ‘ ’ 1</a:t>
            </a:r>
          </a:p>
        </p:txBody>
      </p:sp>
    </p:spTree>
    <p:extLst>
      <p:ext uri="{BB962C8B-B14F-4D97-AF65-F5344CB8AC3E}">
        <p14:creationId xmlns:p14="http://schemas.microsoft.com/office/powerpoint/2010/main" val="846820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2AF45C-63BD-5E44-AEA1-173293585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Assumpties beste model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7CB3ABE-9A84-7747-B0E7-E2306F4704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23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E3015CC-5DB9-8245-8336-B9C3F01FC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par(mfrow = c(2,2))			&gt; par(mfrow = c(1,2)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plot(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Model3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				&gt; residuals_plot(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Model3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BE" sz="1600" b="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Warning message:				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cooks_plot(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Model3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BE" sz="1600" b="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plotting observations with leverage </a:t>
            </a:r>
          </a:p>
          <a:p>
            <a:pPr marL="0" indent="0">
              <a:buNone/>
            </a:pPr>
            <a:r>
              <a:rPr lang="nl-BE" sz="1600" b="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one:  67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E47FE52-5CDF-B941-9144-5D5F9894E8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511"/>
          <a:stretch/>
        </p:blipFill>
        <p:spPr>
          <a:xfrm>
            <a:off x="623887" y="3323490"/>
            <a:ext cx="5472113" cy="3152202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6954E158-0CBB-3A4B-85DA-7BF1E8AA43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897" r="3445" b="3288"/>
          <a:stretch/>
        </p:blipFill>
        <p:spPr>
          <a:xfrm>
            <a:off x="6538913" y="3350177"/>
            <a:ext cx="5463560" cy="292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40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41B7F9C-774A-B441-98D3-27EF55A4B3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24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3230AA7-6BD2-A442-9010-EBC0794AF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7820"/>
            <a:ext cx="10944226" cy="4660279"/>
          </a:xfrm>
        </p:spPr>
        <p:txBody>
          <a:bodyPr wrap="square"/>
          <a:lstStyle/>
          <a:p>
            <a:pPr marL="0" indent="0">
              <a:buNone/>
            </a:pPr>
            <a:r>
              <a:rPr lang="nl-BE" sz="16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summary(Model3)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Estimate Std. Error t value Pr(&gt;|t|)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   2.93457    0.37364   7.854  2.2e-14 ***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SES                 0.12072    0.11537   1.046 0.295865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Geslachtvrouw       0.07544    0.07132   1.058 0.290600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IQ                 -0.01563    0.03958  -0.395 0.693048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OnderwijsvormBSO   -0.96521    0.73633  -1.311 0.190470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OnderwijsvormKSO    0.22425    0.26211   0.856 0.392612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OnderwijsvormTSO    0.17855    0.07354   2.428 0.015520 *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Conscientieusheid   0.10894    0.06872   1.585 0.113492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Openheid           -0.02689    0.05942  -0.453 0.651018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Neuroticisme        0.10735    0.05312   2.021 0.043798 *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Zelfeffectiviteit3 -0.25286    0.02814  -8.986  &lt; 2e-16 ***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Demotivatie3        0.17684    0.05020   3.522 0.000464 ***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Signif. codes:  0 ‘***’ 0.001 ‘**’ 0.01 ‘*’ 0.05 ‘.’ 0.1 ‘ ’ 1</a:t>
            </a:r>
          </a:p>
          <a:p>
            <a:pPr marL="0" indent="0">
              <a:buNone/>
            </a:pPr>
            <a:endParaRPr lang="nl-BE" sz="7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error: 0.7307 on 538 degrees of freedom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(3233 observations deleted due to missingness)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R-squared:  0.2195,	Adjusted R-squared:  0.2035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F-statistic: 13.75 on 11 and 538 DF,  p-value: &lt; 2.2e-16</a:t>
            </a:r>
          </a:p>
          <a:p>
            <a:pPr marL="0" indent="0">
              <a:buNone/>
            </a:pPr>
            <a:endParaRPr lang="nl-BE" sz="16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18D25BEA-736D-A74B-93CF-88A5A0FF4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601" y="75591"/>
            <a:ext cx="10944226" cy="791794"/>
          </a:xfrm>
        </p:spPr>
        <p:txBody>
          <a:bodyPr/>
          <a:lstStyle/>
          <a:p>
            <a:pPr algn="r"/>
            <a:r>
              <a:rPr lang="nl-BE" dirty="0"/>
              <a:t>Interpretatie model?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93631AF-3792-4945-9499-74DFD3053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9724" y="985351"/>
            <a:ext cx="3006969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500">
                <a:solidFill>
                  <a:srgbClr val="003D62"/>
                </a:solidFill>
                <a:latin typeface="+mn-lt"/>
                <a:ea typeface="ＭＳ Ｐゴシック" pitchFamily="-107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2200"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1600"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9pPr>
          </a:lstStyle>
          <a:p>
            <a:r>
              <a:rPr lang="nl-BE" sz="2800" dirty="0">
                <a:ea typeface="ＭＳ Ｐゴシック" charset="0"/>
              </a:rPr>
              <a:t>Goed model?</a:t>
            </a:r>
          </a:p>
          <a:p>
            <a:r>
              <a:rPr lang="nl-BE" sz="2800" dirty="0">
                <a:ea typeface="ＭＳ Ｐゴシック" charset="0"/>
              </a:rPr>
              <a:t>Interpretatie:</a:t>
            </a:r>
          </a:p>
          <a:p>
            <a:pPr lvl="1"/>
            <a:r>
              <a:rPr lang="nl-BE" sz="2800" dirty="0">
                <a:ea typeface="ＭＳ Ｐゴシック" charset="0"/>
              </a:rPr>
              <a:t>intercept?</a:t>
            </a:r>
          </a:p>
          <a:p>
            <a:pPr lvl="1"/>
            <a:r>
              <a:rPr lang="nl-BE" sz="2800" dirty="0">
                <a:ea typeface="ＭＳ Ｐゴシック" charset="0"/>
              </a:rPr>
              <a:t>slopes?</a:t>
            </a:r>
          </a:p>
        </p:txBody>
      </p:sp>
    </p:spTree>
    <p:extLst>
      <p:ext uri="{BB962C8B-B14F-4D97-AF65-F5344CB8AC3E}">
        <p14:creationId xmlns:p14="http://schemas.microsoft.com/office/powerpoint/2010/main" val="25786914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41B7F9C-774A-B441-98D3-27EF55A4B3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25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3230AA7-6BD2-A442-9010-EBC0794AF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7820"/>
            <a:ext cx="10944226" cy="4660279"/>
          </a:xfrm>
        </p:spPr>
        <p:txBody>
          <a:bodyPr wrap="square"/>
          <a:lstStyle/>
          <a:p>
            <a:pPr marL="0" indent="0">
              <a:buNone/>
            </a:pPr>
            <a:r>
              <a:rPr lang="nl-BE" sz="16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summary(Model3)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Estimate Std. Error t value Pr(&gt;|t|)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   2.93457    0.37364   7.854  2.2e-14 ***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SES                 0.12072    0.11537   1.046 0.295865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Geslachtvrouw       0.07544    0.07132   1.058 0.290600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IQ                 -0.01563    0.03958  -0.395 0.693048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OnderwijsvormBSO   -0.96521    0.73633  -1.311 0.190470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OnderwijsvormKSO    0.22425    0.26211   0.856 0.392612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OnderwijsvormTSO    0.17855    0.07354   2.428 0.015520 *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Conscientieusheid   0.10894    0.06872   1.585 0.113492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Openheid           -0.02689    0.05942  -0.453 0.651018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Neuroticisme        0.10735    0.05312   2.021 0.043798 *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Zelfeffectiviteit3 -0.25286    0.02814  -8.986  &lt; 2e-16 ***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Demotivatie3        0.17684    0.05020   3.522 0.000464 ***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Signif. codes:  0 ‘***’ 0.001 ‘**’ 0.01 ‘*’ 0.05 ‘.’ 0.1 ‘ </a:t>
            </a:r>
          </a:p>
          <a:p>
            <a:pPr marL="0" indent="0">
              <a:buNone/>
            </a:pPr>
            <a:endParaRPr lang="nl-BE" sz="7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error: 0.7307 on 538 degrees of freedom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(3233 observations deleted due to missingness)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R-squared:  0.2195,	Adjusted R-squared:  0.2035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F-statistic: 13.75 on 11 and 538 DF,  p-value: &lt; 2.2e-16</a:t>
            </a:r>
          </a:p>
          <a:p>
            <a:pPr marL="0" indent="0">
              <a:buNone/>
            </a:pPr>
            <a:endParaRPr lang="nl-BE" sz="16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18D25BEA-736D-A74B-93CF-88A5A0FF4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431" y="75591"/>
            <a:ext cx="10944226" cy="791794"/>
          </a:xfrm>
        </p:spPr>
        <p:txBody>
          <a:bodyPr/>
          <a:lstStyle/>
          <a:p>
            <a:pPr algn="r"/>
            <a:r>
              <a:rPr lang="nl-BE" dirty="0"/>
              <a:t>Voorspellen! (1)</a:t>
            </a:r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B315126E-3467-AF46-AC2A-9036A64C6D87}"/>
              </a:ext>
            </a:extLst>
          </p:cNvPr>
          <p:cNvSpPr/>
          <p:nvPr/>
        </p:nvSpPr>
        <p:spPr bwMode="auto">
          <a:xfrm>
            <a:off x="474785" y="3077308"/>
            <a:ext cx="7367953" cy="3261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93631AF-3792-4945-9499-74DFD3053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1431" y="3674961"/>
            <a:ext cx="8766298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500">
                <a:solidFill>
                  <a:srgbClr val="003D62"/>
                </a:solidFill>
                <a:latin typeface="+mn-lt"/>
                <a:ea typeface="ＭＳ Ｐゴシック" pitchFamily="-107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2200"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1600"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9pPr>
          </a:lstStyle>
          <a:p>
            <a:pPr marL="0" indent="0">
              <a:buNone/>
            </a:pPr>
            <a:r>
              <a:rPr lang="nl-BE" sz="2800" b="1" dirty="0">
                <a:ea typeface="ＭＳ Ｐゴシック" charset="0"/>
              </a:rPr>
              <a:t>Bereken op basis van de output van Model3:</a:t>
            </a:r>
          </a:p>
          <a:p>
            <a:pPr marL="514350" indent="-457200">
              <a:buFont typeface="+mj-lt"/>
              <a:buAutoNum type="alphaLcParenR"/>
            </a:pPr>
            <a:r>
              <a:rPr lang="nl-BE" sz="2100" dirty="0">
                <a:ea typeface="ＭＳ Ｐゴシック" charset="0"/>
              </a:rPr>
              <a:t>score in de STEEKPROEF en POPULATIE voor een man uit het TSO die 0 scoort op alle andere onafhankelijke variabelen</a:t>
            </a:r>
          </a:p>
          <a:p>
            <a:pPr marL="514350" indent="-457200">
              <a:buFont typeface="+mj-lt"/>
              <a:buAutoNum type="alphaLcParenR"/>
            </a:pPr>
            <a:r>
              <a:rPr lang="nl-BE" sz="2100" dirty="0">
                <a:ea typeface="ＭＳ Ｐゴシック" charset="0"/>
              </a:rPr>
              <a:t>score in de STEEKPROEF en POPULATIE voor een vrouw uit het ASO die 1 punt lager scoort op ‘IQ’ (en 0 op alle andere variabelen)</a:t>
            </a:r>
            <a:endParaRPr lang="nl-BE" sz="3100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6327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BB6397-5B86-B44C-813B-39B1B7E3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304183"/>
            <a:ext cx="10944226" cy="791794"/>
          </a:xfrm>
        </p:spPr>
        <p:txBody>
          <a:bodyPr>
            <a:normAutofit fontScale="90000"/>
          </a:bodyPr>
          <a:lstStyle/>
          <a:p>
            <a:r>
              <a:rPr lang="nl-BE" dirty="0"/>
              <a:t>Voorspellen! (2) </a:t>
            </a:r>
            <a:br>
              <a:rPr lang="nl-BE" dirty="0"/>
            </a:br>
            <a:endParaRPr lang="nl-BE" b="0" i="1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EFB50CB-8E81-8948-8E8B-34CC89038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26</a:t>
            </a:fld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nl-BE" dirty="0"/>
                  <a:t>Schrijf de regressievergelijking op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BE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m:rPr>
                        <m:nor/>
                      </m:rPr>
                      <a:rPr lang="nl-BE" sz="2200" b="0" i="0" dirty="0" smtClean="0"/>
                      <m:t>  </m:t>
                    </m:r>
                    <m:r>
                      <a:rPr lang="nl-BE" sz="2200" b="0" i="1" dirty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i="0" spc="-300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a:rPr lang="nl-BE" sz="2200" b="0" i="1" dirty="0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/>
                  <a:t>   +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m:rPr>
                        <m:nor/>
                      </m:rPr>
                      <a:rPr lang="nl-BE" sz="2200" b="0" i="0" dirty="0" smtClean="0"/>
                      <m:t>    </m:t>
                    </m:r>
                    <m:r>
                      <m:rPr>
                        <m:nor/>
                      </m:rPr>
                      <a:rPr lang="nl-BE" sz="2200" b="0" dirty="0"/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/>
                  <a:t>   +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/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/>
              </a:p>
              <a:p>
                <a:pPr marL="514350" indent="-514350">
                  <a:buFont typeface="+mj-lt"/>
                  <a:buAutoNum type="arabicPeriod"/>
                </a:pPr>
                <a:endParaRPr lang="nl-BE" dirty="0"/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244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kstvak 5">
            <a:extLst>
              <a:ext uri="{FF2B5EF4-FFF2-40B4-BE49-F238E27FC236}">
                <a16:creationId xmlns:a16="http://schemas.microsoft.com/office/drawing/2014/main" id="{36631E4C-67BE-9043-9727-53F2A1ED85F2}"/>
              </a:ext>
            </a:extLst>
          </p:cNvPr>
          <p:cNvSpPr txBox="1"/>
          <p:nvPr/>
        </p:nvSpPr>
        <p:spPr>
          <a:xfrm>
            <a:off x="6998677" y="967154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nl-BE" sz="2800" b="1" dirty="0">
              <a:solidFill>
                <a:schemeClr val="bg1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9E6182DE-9E1A-4E4A-AFDC-40E9A7735B66}"/>
              </a:ext>
            </a:extLst>
          </p:cNvPr>
          <p:cNvSpPr/>
          <p:nvPr/>
        </p:nvSpPr>
        <p:spPr bwMode="auto">
          <a:xfrm>
            <a:off x="439615" y="3862259"/>
            <a:ext cx="10603523" cy="4635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2390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BB6397-5B86-B44C-813B-39B1B7E3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304183"/>
            <a:ext cx="10944226" cy="791794"/>
          </a:xfrm>
        </p:spPr>
        <p:txBody>
          <a:bodyPr>
            <a:normAutofit fontScale="90000"/>
          </a:bodyPr>
          <a:lstStyle/>
          <a:p>
            <a:r>
              <a:rPr lang="nl-BE" dirty="0"/>
              <a:t>Voorspellen! (2) </a:t>
            </a:r>
            <a:br>
              <a:rPr lang="nl-BE" dirty="0"/>
            </a:br>
            <a:endParaRPr lang="nl-BE" b="0" i="1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EFB50CB-8E81-8948-8E8B-34CC89038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27</a:t>
            </a:fld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nl-BE" dirty="0"/>
                  <a:t>Schrijf de regressievergelijking op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BE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m:rPr>
                        <m:nor/>
                      </m:rPr>
                      <a:rPr lang="nl-BE" sz="2200" b="0" i="0" dirty="0" smtClean="0"/>
                      <m:t>  </m:t>
                    </m:r>
                    <m:r>
                      <a:rPr lang="nl-BE" sz="2200" b="0" i="1" dirty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i="0" spc="-300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a:rPr lang="nl-BE" sz="2200" b="0" i="1" dirty="0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/>
                  <a:t>   +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m:rPr>
                        <m:nor/>
                      </m:rPr>
                      <a:rPr lang="nl-BE" sz="2200" b="0" i="0" dirty="0" smtClean="0"/>
                      <m:t>    </m:t>
                    </m:r>
                    <m:r>
                      <m:rPr>
                        <m:nor/>
                      </m:rPr>
                      <a:rPr lang="nl-BE" sz="2200" b="0" dirty="0"/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/>
                  <a:t>   +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/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/>
              </a:p>
              <a:p>
                <a:pPr marL="514350" indent="-514350">
                  <a:buFont typeface="+mj-lt"/>
                  <a:buAutoNum type="arabicPeriod"/>
                </a:pPr>
                <a:endParaRPr lang="nl-BE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nl-BE" dirty="0"/>
                  <a:t>Vul het intercept en de slopes uit de output in.</a:t>
                </a:r>
              </a:p>
              <a:p>
                <a:pPr marL="0" lvl="0" indent="0">
                  <a:buClr>
                    <a:srgbClr val="EA2C38"/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BE" sz="2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r>
                      <a:rPr lang="nl-BE" sz="2200" b="0" i="0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i="1" dirty="0">
                  <a:solidFill>
                    <a:srgbClr val="002E65"/>
                  </a:solidFill>
                  <a:latin typeface="Cambria Math" panose="02040503050406030204" pitchFamily="18" charset="0"/>
                </a:endParaRPr>
              </a:p>
              <a:p>
                <a:pPr marL="0" lvl="0" indent="0">
                  <a:buClr>
                    <a:srgbClr val="EA2C38"/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2.93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0.08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:r>
                  <a:rPr lang="nl-BE" sz="2200" b="0" dirty="0">
                    <a:solidFill>
                      <a:schemeClr val="accent6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 </m:t>
                    </m:r>
                  </m:oMath>
                </a14:m>
                <a:r>
                  <a:rPr lang="nl-BE" sz="2200" b="0" dirty="0">
                    <a:solidFill>
                      <a:schemeClr val="accent6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0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95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0.22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+   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0.18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>
                  <a:solidFill>
                    <a:srgbClr val="002E65"/>
                  </a:solidFill>
                </a:endParaRPr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244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kstvak 5">
            <a:extLst>
              <a:ext uri="{FF2B5EF4-FFF2-40B4-BE49-F238E27FC236}">
                <a16:creationId xmlns:a16="http://schemas.microsoft.com/office/drawing/2014/main" id="{36631E4C-67BE-9043-9727-53F2A1ED85F2}"/>
              </a:ext>
            </a:extLst>
          </p:cNvPr>
          <p:cNvSpPr txBox="1"/>
          <p:nvPr/>
        </p:nvSpPr>
        <p:spPr>
          <a:xfrm>
            <a:off x="6998677" y="967154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nl-BE" sz="2800" b="1" dirty="0">
              <a:solidFill>
                <a:schemeClr val="bg1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9E6182DE-9E1A-4E4A-AFDC-40E9A7735B66}"/>
              </a:ext>
            </a:extLst>
          </p:cNvPr>
          <p:cNvSpPr/>
          <p:nvPr/>
        </p:nvSpPr>
        <p:spPr bwMode="auto">
          <a:xfrm>
            <a:off x="439615" y="3862259"/>
            <a:ext cx="10603523" cy="4635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52AF2FF8-6570-FB48-B47C-63CB38369D98}"/>
              </a:ext>
            </a:extLst>
          </p:cNvPr>
          <p:cNvSpPr/>
          <p:nvPr/>
        </p:nvSpPr>
        <p:spPr bwMode="auto">
          <a:xfrm>
            <a:off x="623887" y="1584979"/>
            <a:ext cx="10419251" cy="959545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3087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BB6397-5B86-B44C-813B-39B1B7E3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304183"/>
            <a:ext cx="10944226" cy="791794"/>
          </a:xfrm>
        </p:spPr>
        <p:txBody>
          <a:bodyPr>
            <a:normAutofit fontScale="90000"/>
          </a:bodyPr>
          <a:lstStyle/>
          <a:p>
            <a:r>
              <a:rPr lang="nl-BE" dirty="0"/>
              <a:t>Voorspellen! (2) </a:t>
            </a:r>
            <a:br>
              <a:rPr lang="nl-BE" dirty="0"/>
            </a:br>
            <a:endParaRPr lang="nl-BE" b="0" i="1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EFB50CB-8E81-8948-8E8B-34CC89038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28</a:t>
            </a:fld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nl-BE" dirty="0">
                    <a:solidFill>
                      <a:schemeClr val="bg2"/>
                    </a:solidFill>
                  </a:rPr>
                  <a:t>Schrijf de regressievergelijking op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BE" sz="22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chemeClr val="bg2"/>
                        </a:solidFill>
                      </a:rPr>
                      <m:t>+</m:t>
                    </m:r>
                    <m:r>
                      <m:rPr>
                        <m:nor/>
                      </m:rPr>
                      <a:rPr lang="nl-BE" sz="2200" b="0" i="0" dirty="0" smtClean="0">
                        <a:solidFill>
                          <a:schemeClr val="bg2"/>
                        </a:solidFill>
                      </a:rPr>
                      <m:t>  </m:t>
                    </m:r>
                    <m:r>
                      <a:rPr lang="nl-BE" sz="2200" b="0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i="0" spc="-30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chemeClr val="bg2"/>
                        </a:solidFill>
                      </a:rPr>
                      <m:t>+</m:t>
                    </m:r>
                    <m:r>
                      <a:rPr lang="nl-BE" sz="2200" b="0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nl-BE" sz="2200" b="0" i="1" spc="-3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chemeClr val="bg2"/>
                    </a:solidFill>
                  </a:rPr>
                  <a:t>   +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chemeClr val="bg2"/>
                        </a:solidFill>
                      </a:rPr>
                      <m:t>+</m:t>
                    </m:r>
                    <m:r>
                      <m:rPr>
                        <m:nor/>
                      </m:rPr>
                      <a:rPr lang="nl-BE" sz="2200" b="0" i="0" dirty="0" smtClean="0">
                        <a:solidFill>
                          <a:schemeClr val="bg2"/>
                        </a:solidFill>
                      </a:rPr>
                      <m:t>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chemeClr val="bg2"/>
                        </a:solidFill>
                      </a:rPr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chemeClr val="bg2"/>
                    </a:solidFill>
                  </a:rPr>
                  <a:t>   +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chemeClr val="bg2"/>
                    </a:solidFill>
                  </a:rPr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>
                  <a:solidFill>
                    <a:schemeClr val="bg2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nl-BE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nl-BE" dirty="0"/>
                  <a:t>Vul het intercept en de slopes uit de output in.</a:t>
                </a:r>
              </a:p>
              <a:p>
                <a:pPr marL="0" lvl="0" indent="0">
                  <a:buClr>
                    <a:srgbClr val="EA2C38"/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BE" sz="2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r>
                      <a:rPr lang="nl-BE" sz="2200" b="0" i="0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i="1" dirty="0">
                  <a:solidFill>
                    <a:srgbClr val="002E65"/>
                  </a:solidFill>
                  <a:latin typeface="Cambria Math" panose="02040503050406030204" pitchFamily="18" charset="0"/>
                </a:endParaRPr>
              </a:p>
              <a:p>
                <a:pPr marL="0" lvl="0" indent="0">
                  <a:buClr>
                    <a:srgbClr val="EA2C38"/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2.93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0.08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:r>
                  <a:rPr lang="nl-BE" sz="2200" b="0" dirty="0">
                    <a:solidFill>
                      <a:schemeClr val="accent6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 </m:t>
                    </m:r>
                  </m:oMath>
                </a14:m>
                <a:r>
                  <a:rPr lang="nl-BE" sz="2200" b="0" dirty="0">
                    <a:solidFill>
                      <a:schemeClr val="accent6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0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0.22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+   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0.18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>
                  <a:solidFill>
                    <a:srgbClr val="002E65"/>
                  </a:solidFill>
                </a:endParaRPr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244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kstvak 5">
            <a:extLst>
              <a:ext uri="{FF2B5EF4-FFF2-40B4-BE49-F238E27FC236}">
                <a16:creationId xmlns:a16="http://schemas.microsoft.com/office/drawing/2014/main" id="{36631E4C-67BE-9043-9727-53F2A1ED85F2}"/>
              </a:ext>
            </a:extLst>
          </p:cNvPr>
          <p:cNvSpPr txBox="1"/>
          <p:nvPr/>
        </p:nvSpPr>
        <p:spPr>
          <a:xfrm>
            <a:off x="6998677" y="967154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nl-BE" sz="2800" b="1" dirty="0">
              <a:solidFill>
                <a:schemeClr val="bg1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9E6182DE-9E1A-4E4A-AFDC-40E9A7735B66}"/>
              </a:ext>
            </a:extLst>
          </p:cNvPr>
          <p:cNvSpPr/>
          <p:nvPr/>
        </p:nvSpPr>
        <p:spPr bwMode="auto">
          <a:xfrm>
            <a:off x="439615" y="3405058"/>
            <a:ext cx="10603523" cy="463556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4099AFB8-53B2-0840-8D58-6CABC0DB93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918"/>
          <a:stretch/>
        </p:blipFill>
        <p:spPr>
          <a:xfrm>
            <a:off x="7244862" y="0"/>
            <a:ext cx="4947138" cy="16895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hthoek 9">
            <a:extLst>
              <a:ext uri="{FF2B5EF4-FFF2-40B4-BE49-F238E27FC236}">
                <a16:creationId xmlns:a16="http://schemas.microsoft.com/office/drawing/2014/main" id="{C103F4F5-0A19-4440-AC39-C9441DE3FBD6}"/>
              </a:ext>
            </a:extLst>
          </p:cNvPr>
          <p:cNvSpPr/>
          <p:nvPr/>
        </p:nvSpPr>
        <p:spPr bwMode="auto">
          <a:xfrm>
            <a:off x="623887" y="1584980"/>
            <a:ext cx="361951" cy="463556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0581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BB6397-5B86-B44C-813B-39B1B7E3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304183"/>
            <a:ext cx="10944226" cy="791794"/>
          </a:xfrm>
        </p:spPr>
        <p:txBody>
          <a:bodyPr>
            <a:normAutofit fontScale="90000"/>
          </a:bodyPr>
          <a:lstStyle/>
          <a:p>
            <a:r>
              <a:rPr lang="nl-BE" dirty="0"/>
              <a:t>Voorspellen! (3) </a:t>
            </a:r>
            <a:br>
              <a:rPr lang="nl-BE" dirty="0"/>
            </a:br>
            <a:endParaRPr lang="nl-BE" b="0" i="1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EFB50CB-8E81-8948-8E8B-34CC89038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29</a:t>
            </a:fld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nl-BE" dirty="0"/>
                  <a:t>Schrijf de regressievergelijking op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BE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m:rPr>
                        <m:nor/>
                      </m:rPr>
                      <a:rPr lang="nl-BE" sz="2200" b="0" i="0" dirty="0" smtClean="0"/>
                      <m:t>  </m:t>
                    </m:r>
                    <m:r>
                      <a:rPr lang="nl-BE" sz="2200" b="0" i="1" dirty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i="0" spc="-300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a:rPr lang="nl-BE" sz="2200" b="0" i="1" dirty="0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/>
                  <a:t>   +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m:rPr>
                        <m:nor/>
                      </m:rPr>
                      <a:rPr lang="nl-BE" sz="2200" b="0" i="0" dirty="0" smtClean="0"/>
                      <m:t>    </m:t>
                    </m:r>
                    <m:r>
                      <m:rPr>
                        <m:nor/>
                      </m:rPr>
                      <a:rPr lang="nl-BE" sz="2200" b="0" dirty="0"/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/>
                  <a:t>   +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/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/>
              </a:p>
              <a:p>
                <a:pPr marL="514350" indent="-514350">
                  <a:buFont typeface="+mj-lt"/>
                  <a:buAutoNum type="arabicPeriod"/>
                </a:pPr>
                <a:endParaRPr lang="nl-BE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nl-BE" dirty="0"/>
                  <a:t>Vul het intercept en de slopes uit de output in.</a:t>
                </a:r>
              </a:p>
              <a:p>
                <a:pPr marL="0" lvl="0" indent="0">
                  <a:buClr>
                    <a:srgbClr val="EA2C38"/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BE" sz="2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r>
                      <a:rPr lang="nl-BE" sz="2200" b="0" i="0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i="1" dirty="0">
                  <a:solidFill>
                    <a:srgbClr val="002E65"/>
                  </a:solidFill>
                  <a:latin typeface="Cambria Math" panose="02040503050406030204" pitchFamily="18" charset="0"/>
                </a:endParaRPr>
              </a:p>
              <a:p>
                <a:pPr marL="0" lvl="0" indent="0">
                  <a:buClr>
                    <a:srgbClr val="EA2C38"/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2.93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0.08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:r>
                  <a:rPr lang="nl-BE" sz="2200" b="0" dirty="0">
                    <a:solidFill>
                      <a:schemeClr val="accent6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 </m:t>
                    </m:r>
                  </m:oMath>
                </a14:m>
                <a:r>
                  <a:rPr lang="nl-BE" sz="2200" b="0" dirty="0">
                    <a:solidFill>
                      <a:schemeClr val="accent6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0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0.22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+   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0.18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>
                  <a:solidFill>
                    <a:srgbClr val="002E65"/>
                  </a:solidFill>
                </a:endParaRPr>
              </a:p>
              <a:p>
                <a:pPr marL="0" indent="0">
                  <a:buNone/>
                </a:pPr>
                <a:endParaRPr lang="nl-BE" dirty="0"/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nl-BE" dirty="0"/>
                  <a:t>Vul de gegevens uit de opdracht aan.</a:t>
                </a:r>
              </a:p>
              <a:p>
                <a:pPr marL="0" lvl="0" indent="0">
                  <a:buClr>
                    <a:srgbClr val="EA2C38"/>
                  </a:buClr>
                  <a:buNone/>
                </a:pPr>
                <a:r>
                  <a:rPr lang="nl-BE" sz="2200" b="0" u="sng" dirty="0">
                    <a:solidFill>
                      <a:srgbClr val="002E65"/>
                    </a:solidFill>
                  </a:rPr>
                  <a:t>3,11</a:t>
                </a:r>
                <a:r>
                  <a:rPr lang="nl-BE" sz="2200" b="0" dirty="0">
                    <a:solidFill>
                      <a:srgbClr val="002E65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nl-BE" sz="2200" b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2.93</m:t>
                    </m:r>
                    <m:r>
                      <m:rPr>
                        <m:nor/>
                      </m:rPr>
                      <a:rPr lang="nl-BE" sz="2200" b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m:rPr>
                        <m:nor/>
                      </m:rPr>
                      <a:rPr lang="nl-BE" sz="2200" b="0" i="0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0.08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?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      +   </a:t>
                </a:r>
                <a:r>
                  <a:rPr lang="nl-BE" sz="2200" b="0" dirty="0">
                    <a:solidFill>
                      <a:srgbClr val="65A812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65A812"/>
                        </a:solidFill>
                      </a:rPr>
                      <m:t>−</m:t>
                    </m:r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95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   +  </a:t>
                </a:r>
                <a14:m>
                  <m:oMath xmlns:m="http://schemas.openxmlformats.org/officeDocument/2006/math"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0.22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+   </a:t>
                </a:r>
                <a14:m>
                  <m:oMath xmlns:m="http://schemas.openxmlformats.org/officeDocument/2006/math"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0.18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.       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nl-BE" sz="2200" b="0" spc="-300" dirty="0">
                  <a:solidFill>
                    <a:srgbClr val="002E65"/>
                  </a:solidFill>
                </a:endParaRPr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244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kstvak 5">
            <a:extLst>
              <a:ext uri="{FF2B5EF4-FFF2-40B4-BE49-F238E27FC236}">
                <a16:creationId xmlns:a16="http://schemas.microsoft.com/office/drawing/2014/main" id="{36631E4C-67BE-9043-9727-53F2A1ED85F2}"/>
              </a:ext>
            </a:extLst>
          </p:cNvPr>
          <p:cNvSpPr txBox="1"/>
          <p:nvPr/>
        </p:nvSpPr>
        <p:spPr>
          <a:xfrm>
            <a:off x="6998677" y="967154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nl-BE" sz="2800" b="1" dirty="0">
              <a:solidFill>
                <a:schemeClr val="bg1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FF9F0518-7E8B-A647-AB68-45E2C55E39E6}"/>
              </a:ext>
            </a:extLst>
          </p:cNvPr>
          <p:cNvSpPr txBox="1"/>
          <p:nvPr/>
        </p:nvSpPr>
        <p:spPr>
          <a:xfrm>
            <a:off x="6646984" y="4929865"/>
            <a:ext cx="6356139" cy="3041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i="1" dirty="0">
                <a:latin typeface="+mj-lt"/>
                <a:ea typeface="ＭＳ Ｐゴシック" charset="0"/>
              </a:rPr>
              <a:t>(man uit TSO die 0 scoort op alle andere onafh. variabelen)</a:t>
            </a:r>
            <a:endParaRPr lang="nl-BE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2667C3E7-C5BA-444A-84A3-62C28B5A7145}"/>
              </a:ext>
            </a:extLst>
          </p:cNvPr>
          <p:cNvSpPr/>
          <p:nvPr/>
        </p:nvSpPr>
        <p:spPr bwMode="auto">
          <a:xfrm>
            <a:off x="439615" y="3405058"/>
            <a:ext cx="10603523" cy="463556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C32552E4-0199-704D-8A9F-FB55E689D02B}"/>
              </a:ext>
            </a:extLst>
          </p:cNvPr>
          <p:cNvSpPr/>
          <p:nvPr/>
        </p:nvSpPr>
        <p:spPr bwMode="auto">
          <a:xfrm>
            <a:off x="623887" y="5251524"/>
            <a:ext cx="10603523" cy="4635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CA8CE091-D084-4843-9FC8-635F78AF2C2A}"/>
              </a:ext>
            </a:extLst>
          </p:cNvPr>
          <p:cNvSpPr/>
          <p:nvPr/>
        </p:nvSpPr>
        <p:spPr bwMode="auto">
          <a:xfrm>
            <a:off x="623887" y="1584980"/>
            <a:ext cx="10419251" cy="2283634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539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BB6397-5B86-B44C-813B-39B1B7E3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304183"/>
            <a:ext cx="10944226" cy="791794"/>
          </a:xfrm>
        </p:spPr>
        <p:txBody>
          <a:bodyPr>
            <a:normAutofit fontScale="90000"/>
          </a:bodyPr>
          <a:lstStyle/>
          <a:p>
            <a:r>
              <a:rPr lang="nl-BE" dirty="0"/>
              <a:t>Voorspellen! (3) </a:t>
            </a:r>
            <a:br>
              <a:rPr lang="nl-BE" dirty="0"/>
            </a:br>
            <a:endParaRPr lang="nl-BE" b="0" i="1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EFB50CB-8E81-8948-8E8B-34CC89038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30</a:t>
            </a:fld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nl-BE" dirty="0"/>
                  <a:t>Schrijf de regressievergelijking op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BE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m:rPr>
                        <m:nor/>
                      </m:rPr>
                      <a:rPr lang="nl-BE" sz="2200" b="0" i="0" dirty="0" smtClean="0"/>
                      <m:t>  </m:t>
                    </m:r>
                    <m:r>
                      <a:rPr lang="nl-BE" sz="2200" b="0" i="1" dirty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i="0" spc="-300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a:rPr lang="nl-BE" sz="2200" b="0" i="1" dirty="0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/>
                  <a:t>   +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m:rPr>
                        <m:nor/>
                      </m:rPr>
                      <a:rPr lang="nl-BE" sz="2200" b="0" i="0" dirty="0" smtClean="0"/>
                      <m:t>    </m:t>
                    </m:r>
                    <m:r>
                      <m:rPr>
                        <m:nor/>
                      </m:rPr>
                      <a:rPr lang="nl-BE" sz="2200" b="0" dirty="0"/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/>
                  <a:t>   +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/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/>
              </a:p>
              <a:p>
                <a:pPr marL="514350" indent="-514350">
                  <a:buFont typeface="+mj-lt"/>
                  <a:buAutoNum type="arabicPeriod"/>
                </a:pPr>
                <a:endParaRPr lang="nl-BE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nl-BE" dirty="0"/>
                  <a:t>Vul het intercept en de slopes uit de output in.</a:t>
                </a:r>
              </a:p>
              <a:p>
                <a:pPr marL="0" lvl="0" indent="0">
                  <a:buClr>
                    <a:srgbClr val="EA2C38"/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BE" sz="2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r>
                      <a:rPr lang="nl-BE" sz="2200" b="0" i="0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i="1" dirty="0">
                  <a:solidFill>
                    <a:srgbClr val="002E65"/>
                  </a:solidFill>
                  <a:latin typeface="Cambria Math" panose="02040503050406030204" pitchFamily="18" charset="0"/>
                </a:endParaRPr>
              </a:p>
              <a:p>
                <a:pPr marL="0" lvl="0" indent="0">
                  <a:buClr>
                    <a:srgbClr val="EA2C38"/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2.93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0.08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:r>
                  <a:rPr lang="nl-BE" sz="2200" b="0" dirty="0">
                    <a:solidFill>
                      <a:schemeClr val="accent6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 </m:t>
                    </m:r>
                  </m:oMath>
                </a14:m>
                <a:r>
                  <a:rPr lang="nl-BE" sz="2200" b="0" dirty="0">
                    <a:solidFill>
                      <a:schemeClr val="accent6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0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0.22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+   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0.18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>
                  <a:solidFill>
                    <a:srgbClr val="002E65"/>
                  </a:solidFill>
                </a:endParaRPr>
              </a:p>
              <a:p>
                <a:pPr marL="0" indent="0">
                  <a:buNone/>
                </a:pPr>
                <a:endParaRPr lang="nl-BE" dirty="0"/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nl-BE" dirty="0"/>
                  <a:t>Vul de gegevens uit de opdracht aan.</a:t>
                </a:r>
              </a:p>
              <a:p>
                <a:pPr marL="0" lvl="0" indent="0">
                  <a:buClr>
                    <a:srgbClr val="EA2C38"/>
                  </a:buClr>
                  <a:buNone/>
                </a:pPr>
                <a:r>
                  <a:rPr lang="nl-BE" sz="2200" b="0" dirty="0">
                    <a:solidFill>
                      <a:srgbClr val="002E65"/>
                    </a:solidFill>
                  </a:rPr>
                  <a:t>?   </a:t>
                </a:r>
                <a14:m>
                  <m:oMath xmlns:m="http://schemas.openxmlformats.org/officeDocument/2006/math"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nl-BE" sz="2200" b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2.93</m:t>
                    </m:r>
                    <m:r>
                      <m:rPr>
                        <m:nor/>
                      </m:rPr>
                      <a:rPr lang="nl-BE" sz="2200" b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m:rPr>
                        <m:nor/>
                      </m:rPr>
                      <a:rPr lang="nl-BE" sz="2200" b="0" i="0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0.08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?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      +   </a:t>
                </a:r>
                <a:r>
                  <a:rPr lang="nl-BE" sz="2200" b="0" dirty="0">
                    <a:solidFill>
                      <a:srgbClr val="65A812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65A812"/>
                        </a:solidFill>
                      </a:rPr>
                      <m:t>−</m:t>
                    </m:r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   +   </a:t>
                </a:r>
                <a14:m>
                  <m:oMath xmlns:m="http://schemas.openxmlformats.org/officeDocument/2006/math"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0.22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 +   </a:t>
                </a:r>
                <a14:m>
                  <m:oMath xmlns:m="http://schemas.openxmlformats.org/officeDocument/2006/math"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0.18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.      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nl-BE" sz="2200" b="0" spc="-300" dirty="0">
                  <a:solidFill>
                    <a:srgbClr val="002E65"/>
                  </a:solidFill>
                </a:endParaRPr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244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kstvak 5">
            <a:extLst>
              <a:ext uri="{FF2B5EF4-FFF2-40B4-BE49-F238E27FC236}">
                <a16:creationId xmlns:a16="http://schemas.microsoft.com/office/drawing/2014/main" id="{36631E4C-67BE-9043-9727-53F2A1ED85F2}"/>
              </a:ext>
            </a:extLst>
          </p:cNvPr>
          <p:cNvSpPr txBox="1"/>
          <p:nvPr/>
        </p:nvSpPr>
        <p:spPr>
          <a:xfrm>
            <a:off x="6998677" y="967154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nl-BE" sz="2800" b="1" dirty="0">
              <a:solidFill>
                <a:schemeClr val="bg1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FF9F0518-7E8B-A647-AB68-45E2C55E39E6}"/>
              </a:ext>
            </a:extLst>
          </p:cNvPr>
          <p:cNvSpPr txBox="1"/>
          <p:nvPr/>
        </p:nvSpPr>
        <p:spPr>
          <a:xfrm>
            <a:off x="6646984" y="4929865"/>
            <a:ext cx="6356139" cy="3041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i="1" dirty="0">
                <a:latin typeface="+mj-lt"/>
                <a:ea typeface="ＭＳ Ｐゴシック" charset="0"/>
              </a:rPr>
              <a:t>(</a:t>
            </a:r>
            <a:r>
              <a:rPr lang="nl-BE" i="1" dirty="0">
                <a:solidFill>
                  <a:srgbClr val="FF0000"/>
                </a:solidFill>
                <a:latin typeface="+mj-lt"/>
                <a:ea typeface="ＭＳ Ｐゴシック" charset="0"/>
              </a:rPr>
              <a:t>man</a:t>
            </a:r>
            <a:r>
              <a:rPr lang="nl-BE" i="1" dirty="0">
                <a:latin typeface="+mj-lt"/>
                <a:ea typeface="ＭＳ Ｐゴシック" charset="0"/>
              </a:rPr>
              <a:t> uit </a:t>
            </a:r>
            <a:r>
              <a:rPr lang="nl-BE" i="1" dirty="0">
                <a:solidFill>
                  <a:srgbClr val="FF0000"/>
                </a:solidFill>
                <a:latin typeface="+mj-lt"/>
                <a:ea typeface="ＭＳ Ｐゴシック" charset="0"/>
              </a:rPr>
              <a:t>TSO </a:t>
            </a:r>
            <a:r>
              <a:rPr lang="nl-BE" i="1" dirty="0">
                <a:latin typeface="+mj-lt"/>
                <a:ea typeface="ＭＳ Ｐゴシック" charset="0"/>
              </a:rPr>
              <a:t>die 0 scoort op alle andere onafh. variabelen)</a:t>
            </a:r>
            <a:endParaRPr lang="nl-BE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E1812573-021D-BB4A-9F8F-AF779C632EBC}"/>
              </a:ext>
            </a:extLst>
          </p:cNvPr>
          <p:cNvSpPr/>
          <p:nvPr/>
        </p:nvSpPr>
        <p:spPr bwMode="auto">
          <a:xfrm>
            <a:off x="652462" y="1584124"/>
            <a:ext cx="10763251" cy="2863854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5" name="Vrije vorm 4">
            <a:extLst>
              <a:ext uri="{FF2B5EF4-FFF2-40B4-BE49-F238E27FC236}">
                <a16:creationId xmlns:a16="http://schemas.microsoft.com/office/drawing/2014/main" id="{F3C22AAB-2562-C54A-84A5-0DF4E0A37D80}"/>
              </a:ext>
            </a:extLst>
          </p:cNvPr>
          <p:cNvSpPr/>
          <p:nvPr/>
        </p:nvSpPr>
        <p:spPr bwMode="auto">
          <a:xfrm>
            <a:off x="7658100" y="5172075"/>
            <a:ext cx="3349333" cy="523330"/>
          </a:xfrm>
          <a:custGeom>
            <a:avLst/>
            <a:gdLst>
              <a:gd name="connsiteX0" fmla="*/ 0 w 3349333"/>
              <a:gd name="connsiteY0" fmla="*/ 0 h 523330"/>
              <a:gd name="connsiteX1" fmla="*/ 3071813 w 3349333"/>
              <a:gd name="connsiteY1" fmla="*/ 200025 h 523330"/>
              <a:gd name="connsiteX2" fmla="*/ 3228975 w 3349333"/>
              <a:gd name="connsiteY2" fmla="*/ 314325 h 523330"/>
              <a:gd name="connsiteX3" fmla="*/ 3286125 w 3349333"/>
              <a:gd name="connsiteY3" fmla="*/ 500063 h 523330"/>
              <a:gd name="connsiteX4" fmla="*/ 3157538 w 3349333"/>
              <a:gd name="connsiteY4" fmla="*/ 514350 h 523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9333" h="523330">
                <a:moveTo>
                  <a:pt x="0" y="0"/>
                </a:moveTo>
                <a:lnTo>
                  <a:pt x="3071813" y="200025"/>
                </a:lnTo>
                <a:cubicBezTo>
                  <a:pt x="3609975" y="252412"/>
                  <a:pt x="3193256" y="264319"/>
                  <a:pt x="3228975" y="314325"/>
                </a:cubicBezTo>
                <a:cubicBezTo>
                  <a:pt x="3264694" y="364331"/>
                  <a:pt x="3298031" y="466725"/>
                  <a:pt x="3286125" y="500063"/>
                </a:cubicBezTo>
                <a:cubicBezTo>
                  <a:pt x="3274219" y="533401"/>
                  <a:pt x="3215878" y="523875"/>
                  <a:pt x="3157538" y="514350"/>
                </a:cubicBezTo>
              </a:path>
            </a:pathLst>
          </a:custGeom>
          <a:noFill/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Boog 6">
            <a:extLst>
              <a:ext uri="{FF2B5EF4-FFF2-40B4-BE49-F238E27FC236}">
                <a16:creationId xmlns:a16="http://schemas.microsoft.com/office/drawing/2014/main" id="{DBC355AC-478E-DA44-9C33-164559AB3E19}"/>
              </a:ext>
            </a:extLst>
          </p:cNvPr>
          <p:cNvSpPr/>
          <p:nvPr/>
        </p:nvSpPr>
        <p:spPr>
          <a:xfrm>
            <a:off x="4686300" y="5214939"/>
            <a:ext cx="6000752" cy="339019"/>
          </a:xfrm>
          <a:prstGeom prst="arc">
            <a:avLst/>
          </a:prstGeom>
          <a:ln w="1905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FF0000"/>
              </a:solidFill>
            </a:endParaRP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5AD12553-F857-3249-A64F-2491F1AA41F7}"/>
              </a:ext>
            </a:extLst>
          </p:cNvPr>
          <p:cNvSpPr/>
          <p:nvPr/>
        </p:nvSpPr>
        <p:spPr bwMode="auto">
          <a:xfrm flipH="1">
            <a:off x="9115424" y="5296189"/>
            <a:ext cx="527857" cy="417601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9C3CB05B-9D91-2E48-B6AA-2DA1EC9E65A1}"/>
              </a:ext>
            </a:extLst>
          </p:cNvPr>
          <p:cNvSpPr/>
          <p:nvPr/>
        </p:nvSpPr>
        <p:spPr bwMode="auto">
          <a:xfrm flipH="1">
            <a:off x="7610467" y="5291422"/>
            <a:ext cx="331185" cy="417601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29B13FEE-F6DA-E542-89E2-7C071F39DC58}"/>
              </a:ext>
            </a:extLst>
          </p:cNvPr>
          <p:cNvSpPr/>
          <p:nvPr/>
        </p:nvSpPr>
        <p:spPr bwMode="auto">
          <a:xfrm flipH="1">
            <a:off x="6234095" y="5315234"/>
            <a:ext cx="331185" cy="417601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66FA7B32-C10E-0F47-830C-745F1B99D10D}"/>
              </a:ext>
            </a:extLst>
          </p:cNvPr>
          <p:cNvSpPr/>
          <p:nvPr/>
        </p:nvSpPr>
        <p:spPr bwMode="auto">
          <a:xfrm flipH="1">
            <a:off x="2893192" y="5316581"/>
            <a:ext cx="331185" cy="417601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5" name="Boog 14">
            <a:extLst>
              <a:ext uri="{FF2B5EF4-FFF2-40B4-BE49-F238E27FC236}">
                <a16:creationId xmlns:a16="http://schemas.microsoft.com/office/drawing/2014/main" id="{40732E45-93BA-184E-9377-57209E73EF4D}"/>
              </a:ext>
            </a:extLst>
          </p:cNvPr>
          <p:cNvSpPr/>
          <p:nvPr/>
        </p:nvSpPr>
        <p:spPr>
          <a:xfrm flipH="1">
            <a:off x="4714876" y="5205471"/>
            <a:ext cx="4137319" cy="417601"/>
          </a:xfrm>
          <a:prstGeom prst="arc">
            <a:avLst/>
          </a:prstGeom>
          <a:ln w="1905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>
              <a:solidFill>
                <a:srgbClr val="FF0000"/>
              </a:solidFill>
            </a:endParaRPr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70A4412D-45F5-00CF-D89E-3C97540DBA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918"/>
          <a:stretch/>
        </p:blipFill>
        <p:spPr>
          <a:xfrm>
            <a:off x="7244862" y="0"/>
            <a:ext cx="4947138" cy="16895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238535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BB6397-5B86-B44C-813B-39B1B7E3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304183"/>
            <a:ext cx="10944226" cy="791794"/>
          </a:xfrm>
        </p:spPr>
        <p:txBody>
          <a:bodyPr>
            <a:normAutofit fontScale="90000"/>
          </a:bodyPr>
          <a:lstStyle/>
          <a:p>
            <a:r>
              <a:rPr lang="nl-BE" dirty="0"/>
              <a:t>Voorspellen! (3) </a:t>
            </a:r>
            <a:br>
              <a:rPr lang="nl-BE" dirty="0"/>
            </a:br>
            <a:endParaRPr lang="nl-BE" b="0" i="1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EFB50CB-8E81-8948-8E8B-34CC89038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31</a:t>
            </a:fld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nl-BE" dirty="0"/>
                  <a:t>Schrijf de regressievergelijking op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BE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m:rPr>
                        <m:nor/>
                      </m:rPr>
                      <a:rPr lang="nl-BE" sz="2200" b="0" i="0" dirty="0" smtClean="0"/>
                      <m:t>  </m:t>
                    </m:r>
                    <m:r>
                      <a:rPr lang="nl-BE" sz="2200" b="0" i="1" dirty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i="0" spc="-300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a:rPr lang="nl-BE" sz="2200" b="0" i="1" dirty="0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/>
                  <a:t>   +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nl-BE" sz="2200" b="0" dirty="0"/>
                      <m:t>+</m:t>
                    </m:r>
                    <m:r>
                      <m:rPr>
                        <m:nor/>
                      </m:rPr>
                      <a:rPr lang="nl-BE" sz="2200" b="0" i="0" dirty="0" smtClean="0"/>
                      <m:t>    </m:t>
                    </m:r>
                    <m:r>
                      <m:rPr>
                        <m:nor/>
                      </m:rPr>
                      <a:rPr lang="nl-BE" sz="2200" b="0" dirty="0"/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/>
                  <a:t>   +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/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 smtClean="0"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/>
              </a:p>
              <a:p>
                <a:pPr marL="514350" indent="-514350">
                  <a:buFont typeface="+mj-lt"/>
                  <a:buAutoNum type="arabicPeriod"/>
                </a:pPr>
                <a:endParaRPr lang="nl-BE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nl-BE" dirty="0"/>
                  <a:t>Vul het intercept en de slopes uit de output in.</a:t>
                </a:r>
              </a:p>
              <a:p>
                <a:pPr marL="0" lvl="0" indent="0">
                  <a:buClr>
                    <a:srgbClr val="EA2C38"/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BE" sz="2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nl-BE" sz="2200" b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</m:t>
                    </m:r>
                    <m:r>
                      <a:rPr lang="nl-BE" sz="2200" b="0" i="1" dirty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r>
                      <a:rPr lang="nl-BE" sz="2200" b="0" i="0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sz="2200" b="0" i="1" spc="-3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BE" sz="2200" b="0" i="1" spc="-30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nl-BE" sz="2200" b="0" i="1" spc="-3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i="1" dirty="0">
                  <a:solidFill>
                    <a:srgbClr val="002E65"/>
                  </a:solidFill>
                  <a:latin typeface="Cambria Math" panose="02040503050406030204" pitchFamily="18" charset="0"/>
                </a:endParaRPr>
              </a:p>
              <a:p>
                <a:pPr marL="0" lvl="0" indent="0">
                  <a:buClr>
                    <a:srgbClr val="EA2C38"/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2200" b="0" i="1">
                            <a:solidFill>
                              <a:srgbClr val="002E6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2.93</m:t>
                    </m:r>
                    <m:r>
                      <m:rPr>
                        <m:nor/>
                      </m:rPr>
                      <a:rPr lang="nl-BE" sz="2200" b="0" i="0" smtClean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𝑆𝐸𝑆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0.08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𝐺𝑒𝑠𝑙𝑎𝑐h𝑡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:r>
                  <a:rPr lang="nl-BE" sz="2200" b="0" dirty="0">
                    <a:solidFill>
                      <a:schemeClr val="accent6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 </m:t>
                    </m:r>
                  </m:oMath>
                </a14:m>
                <a:r>
                  <a:rPr lang="nl-BE" sz="2200" b="0" dirty="0">
                    <a:solidFill>
                      <a:schemeClr val="accent6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0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𝐵𝑆𝑂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+   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0.22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𝐾𝑆𝑂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+   </a:t>
                </a:r>
                <a14:m>
                  <m:oMath xmlns:m="http://schemas.openxmlformats.org/officeDocument/2006/math"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0.18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𝑇𝑆𝑂</m:t>
                    </m:r>
                  </m:oMath>
                </a14:m>
                <a:endParaRPr lang="nl-BE" sz="2200" b="0" spc="-300" dirty="0">
                  <a:solidFill>
                    <a:srgbClr val="002E65"/>
                  </a:solidFill>
                </a:endParaRPr>
              </a:p>
              <a:p>
                <a:pPr marL="0" indent="0">
                  <a:buNone/>
                </a:pPr>
                <a:endParaRPr lang="nl-BE" dirty="0"/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nl-BE" dirty="0"/>
                  <a:t>Vul de gegevens uit de opdracht aan.</a:t>
                </a:r>
              </a:p>
              <a:p>
                <a:pPr marL="0" lvl="0" indent="0">
                  <a:buClr>
                    <a:srgbClr val="EA2C38"/>
                  </a:buClr>
                  <a:buNone/>
                </a:pPr>
                <a:r>
                  <a:rPr lang="nl-BE" sz="2200" b="0" dirty="0">
                    <a:solidFill>
                      <a:srgbClr val="002E65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nl-BE" sz="2200" b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2.93</m:t>
                    </m:r>
                    <m:r>
                      <m:rPr>
                        <m:nor/>
                      </m:rPr>
                      <a:rPr lang="nl-BE" sz="2200" b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  </m:t>
                    </m:r>
                    <m:r>
                      <a:rPr lang="nl-BE" sz="2200" b="0" i="1" spc="-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nl-BE" sz="2200" b="0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</m:t>
                    </m:r>
                    <m:r>
                      <a:rPr lang="nl-BE" sz="2200" b="0" i="1" dirty="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0.08 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        </m:t>
                    </m:r>
                    <m:r>
                      <a:rPr lang="nl-BE" sz="2200" b="0" i="1" spc="-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      +   </a:t>
                </a:r>
                <a:r>
                  <a:rPr lang="nl-BE" sz="2200" b="0" dirty="0">
                    <a:solidFill>
                      <a:srgbClr val="65A812"/>
                    </a:solidFill>
                  </a:rPr>
                  <a:t>-</a:t>
                </a:r>
                <a14:m>
                  <m:oMath xmlns:m="http://schemas.openxmlformats.org/officeDocument/2006/math"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0.02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  </m:t>
                    </m:r>
                    <m:r>
                      <a:rPr lang="nl-BE" sz="2200" b="0" i="1" spc="-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nl-BE" sz="2200" b="0" i="1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002E65"/>
                        </a:solidFill>
                      </a:rPr>
                      <m:t>+  </m:t>
                    </m:r>
                    <m:r>
                      <m:rPr>
                        <m:nor/>
                      </m:rPr>
                      <a:rPr lang="nl-BE" sz="2200" b="0" dirty="0">
                        <a:solidFill>
                          <a:srgbClr val="65A812"/>
                        </a:solidFill>
                      </a:rPr>
                      <m:t>−</m:t>
                    </m:r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0.95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nl-BE" sz="2200" b="0" i="1" spc="-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   +   </a:t>
                </a:r>
                <a14:m>
                  <m:oMath xmlns:m="http://schemas.openxmlformats.org/officeDocument/2006/math"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0.22  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      </m:t>
                    </m:r>
                    <m:r>
                      <a:rPr lang="nl-BE" sz="2200" b="0" i="1" spc="-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nl-BE" sz="2200" b="0" dirty="0">
                    <a:solidFill>
                      <a:srgbClr val="002E65"/>
                    </a:solidFill>
                  </a:rPr>
                  <a:t>    +   </a:t>
                </a:r>
                <a14:m>
                  <m:oMath xmlns:m="http://schemas.openxmlformats.org/officeDocument/2006/math"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0.18. </m:t>
                    </m:r>
                    <m:r>
                      <a:rPr lang="nl-BE" sz="2200" b="0" i="1" spc="-300" smtClean="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BE" sz="2200" b="0" i="1" spc="-300">
                        <a:solidFill>
                          <a:srgbClr val="65A812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nl-BE" sz="2200" b="0" i="1" spc="-300">
                        <a:solidFill>
                          <a:srgbClr val="002E65"/>
                        </a:solidFill>
                        <a:latin typeface="Cambria Math" panose="02040503050406030204" pitchFamily="18" charset="0"/>
                      </a:rPr>
                      <m:t>∗ </m:t>
                    </m:r>
                    <m:r>
                      <a:rPr lang="nl-BE" sz="2200" b="0" i="1" spc="-3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nl-BE" dirty="0"/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C0DF4861-D1EA-DC47-8557-73D3783FF0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244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kstvak 5">
            <a:extLst>
              <a:ext uri="{FF2B5EF4-FFF2-40B4-BE49-F238E27FC236}">
                <a16:creationId xmlns:a16="http://schemas.microsoft.com/office/drawing/2014/main" id="{36631E4C-67BE-9043-9727-53F2A1ED85F2}"/>
              </a:ext>
            </a:extLst>
          </p:cNvPr>
          <p:cNvSpPr txBox="1"/>
          <p:nvPr/>
        </p:nvSpPr>
        <p:spPr>
          <a:xfrm>
            <a:off x="6998677" y="967154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nl-BE" sz="2800" b="1" dirty="0">
              <a:solidFill>
                <a:schemeClr val="bg1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7663A2B6-FCE0-0041-AE37-3773E076877E}"/>
              </a:ext>
            </a:extLst>
          </p:cNvPr>
          <p:cNvSpPr txBox="1"/>
          <p:nvPr/>
        </p:nvSpPr>
        <p:spPr>
          <a:xfrm>
            <a:off x="3555008" y="5965065"/>
            <a:ext cx="259223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sz="1200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r>
              <a:rPr lang="en-GB" sz="1200" b="1" dirty="0">
                <a:solidFill>
                  <a:srgbClr val="0000FF"/>
                </a:solidFill>
                <a:latin typeface="Courier New"/>
                <a:cs typeface="Courier New"/>
              </a:rPr>
              <a:t>&gt; levels(</a:t>
            </a:r>
            <a:r>
              <a:rPr lang="en-GB" sz="1200" b="1" dirty="0" err="1">
                <a:solidFill>
                  <a:srgbClr val="0000FF"/>
                </a:solidFill>
                <a:latin typeface="Courier New"/>
                <a:cs typeface="Courier New"/>
              </a:rPr>
              <a:t>dataHO$Geslacht</a:t>
            </a:r>
            <a:r>
              <a:rPr lang="en-GB" sz="1200" b="1" dirty="0">
                <a:solidFill>
                  <a:srgbClr val="0000FF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GB" sz="1200" dirty="0">
                <a:solidFill>
                  <a:schemeClr val="tx1"/>
                </a:solidFill>
                <a:latin typeface="Courier New"/>
                <a:cs typeface="Courier New"/>
              </a:rPr>
              <a:t>[1] "man"   "vrouw”</a:t>
            </a:r>
          </a:p>
        </p:txBody>
      </p: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851A7A5E-2DFF-BE48-9A98-4E6903DFB71C}"/>
              </a:ext>
            </a:extLst>
          </p:cNvPr>
          <p:cNvCxnSpPr>
            <a:cxnSpLocks/>
          </p:cNvCxnSpPr>
          <p:nvPr/>
        </p:nvCxnSpPr>
        <p:spPr>
          <a:xfrm flipH="1" flipV="1">
            <a:off x="4657693" y="5644663"/>
            <a:ext cx="248414" cy="483366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kstvak 10">
            <a:extLst>
              <a:ext uri="{FF2B5EF4-FFF2-40B4-BE49-F238E27FC236}">
                <a16:creationId xmlns:a16="http://schemas.microsoft.com/office/drawing/2014/main" id="{FF9F0518-7E8B-A647-AB68-45E2C55E39E6}"/>
              </a:ext>
            </a:extLst>
          </p:cNvPr>
          <p:cNvSpPr txBox="1"/>
          <p:nvPr/>
        </p:nvSpPr>
        <p:spPr>
          <a:xfrm>
            <a:off x="6646984" y="4929865"/>
            <a:ext cx="6356139" cy="30418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i="1" dirty="0">
                <a:latin typeface="+mj-lt"/>
                <a:ea typeface="ＭＳ Ｐゴシック" charset="0"/>
              </a:rPr>
              <a:t>(man uit TSO die 0 scoort op alle andere onafh. variabelen)</a:t>
            </a:r>
            <a:endParaRPr lang="nl-BE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BA2C3769-0977-AF46-99C8-738B2FCA6571}"/>
              </a:ext>
            </a:extLst>
          </p:cNvPr>
          <p:cNvSpPr txBox="1"/>
          <p:nvPr/>
        </p:nvSpPr>
        <p:spPr>
          <a:xfrm>
            <a:off x="324949" y="5316927"/>
            <a:ext cx="668215" cy="3045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200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3.11</a:t>
            </a: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5DCAF2BC-B80E-BB4B-A9B0-389E9BE3B264}"/>
              </a:ext>
            </a:extLst>
          </p:cNvPr>
          <p:cNvSpPr/>
          <p:nvPr/>
        </p:nvSpPr>
        <p:spPr bwMode="auto">
          <a:xfrm>
            <a:off x="623887" y="1584979"/>
            <a:ext cx="10591801" cy="2863853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C77D6331-F230-5F4D-9278-77E61CB30D7A}"/>
              </a:ext>
            </a:extLst>
          </p:cNvPr>
          <p:cNvSpPr/>
          <p:nvPr/>
        </p:nvSpPr>
        <p:spPr bwMode="auto">
          <a:xfrm flipH="1">
            <a:off x="8429625" y="5296189"/>
            <a:ext cx="1213656" cy="417601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EC18EEE4-40CA-6641-B86F-08E6DCD6C7DD}"/>
              </a:ext>
            </a:extLst>
          </p:cNvPr>
          <p:cNvSpPr/>
          <p:nvPr/>
        </p:nvSpPr>
        <p:spPr bwMode="auto">
          <a:xfrm flipH="1">
            <a:off x="6843700" y="5291422"/>
            <a:ext cx="1097951" cy="417601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E262AB38-505C-EA42-8F3A-43F701817C50}"/>
              </a:ext>
            </a:extLst>
          </p:cNvPr>
          <p:cNvSpPr/>
          <p:nvPr/>
        </p:nvSpPr>
        <p:spPr bwMode="auto">
          <a:xfrm flipH="1">
            <a:off x="5467330" y="5315234"/>
            <a:ext cx="1097950" cy="417601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36FFFA1B-39BE-594F-843A-C87321CE1561}"/>
              </a:ext>
            </a:extLst>
          </p:cNvPr>
          <p:cNvSpPr/>
          <p:nvPr/>
        </p:nvSpPr>
        <p:spPr bwMode="auto">
          <a:xfrm flipH="1">
            <a:off x="2095849" y="5316581"/>
            <a:ext cx="947389" cy="417601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1B37094D-A7F5-4A4A-B1E3-865AAC4F8B6E}"/>
              </a:ext>
            </a:extLst>
          </p:cNvPr>
          <p:cNvSpPr/>
          <p:nvPr/>
        </p:nvSpPr>
        <p:spPr bwMode="auto">
          <a:xfrm flipH="1">
            <a:off x="3683949" y="5319689"/>
            <a:ext cx="695323" cy="417601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4103671A-3B1F-5218-24B4-32EF7B01C6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918"/>
          <a:stretch/>
        </p:blipFill>
        <p:spPr>
          <a:xfrm>
            <a:off x="7244862" y="0"/>
            <a:ext cx="4947138" cy="16895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298574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868FC8-65E2-CF42-ABA3-BF048FD41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Voorspellen, populatie?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7662C30-E631-A34E-A21A-13464AC157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32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7F6A252-3D08-5B41-9E90-FB19BEDBF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endParaRPr lang="nl-BE" sz="100" dirty="0"/>
          </a:p>
          <a:p>
            <a:pPr marL="0" indent="0">
              <a:buNone/>
            </a:pPr>
            <a:r>
              <a:rPr lang="nl-BE" b="0" dirty="0"/>
              <a:t>Bereken de verwachtte score op ‘Aanpassing’ in zowel de steekproef als de </a:t>
            </a:r>
            <a:r>
              <a:rPr lang="nl-BE" dirty="0"/>
              <a:t>populatie</a:t>
            </a:r>
            <a:r>
              <a:rPr lang="nl-BE" b="0" dirty="0"/>
              <a:t> voor:</a:t>
            </a:r>
          </a:p>
          <a:p>
            <a:pPr marL="361940" lvl="1" indent="0">
              <a:buNone/>
            </a:pPr>
            <a:r>
              <a:rPr lang="nl-BE" dirty="0"/>
              <a:t>a) Man uit TSO die 0 scoort op de overige variabelen:</a:t>
            </a:r>
          </a:p>
          <a:p>
            <a:endParaRPr lang="nl-BE" dirty="0"/>
          </a:p>
          <a:p>
            <a:endParaRPr lang="nl-BE" dirty="0"/>
          </a:p>
          <a:p>
            <a:endParaRPr lang="nl-BE" sz="3200" dirty="0"/>
          </a:p>
          <a:p>
            <a:endParaRPr lang="nl-BE" dirty="0"/>
          </a:p>
          <a:p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 5">
                <a:extLst>
                  <a:ext uri="{FF2B5EF4-FFF2-40B4-BE49-F238E27FC236}">
                    <a16:creationId xmlns:a16="http://schemas.microsoft.com/office/drawing/2014/main" id="{AC125D3C-3380-E341-B0FD-45CB15D5E6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5383342"/>
                  </p:ext>
                </p:extLst>
              </p:nvPr>
            </p:nvGraphicFramePr>
            <p:xfrm>
              <a:off x="161192" y="2970498"/>
              <a:ext cx="11869616" cy="113792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969477">
                      <a:extLst>
                        <a:ext uri="{9D8B030D-6E8A-4147-A177-3AD203B41FA5}">
                          <a16:colId xmlns:a16="http://schemas.microsoft.com/office/drawing/2014/main" val="2188050303"/>
                        </a:ext>
                      </a:extLst>
                    </a:gridCol>
                    <a:gridCol w="1351085">
                      <a:extLst>
                        <a:ext uri="{9D8B030D-6E8A-4147-A177-3AD203B41FA5}">
                          <a16:colId xmlns:a16="http://schemas.microsoft.com/office/drawing/2014/main" val="3013332108"/>
                        </a:ext>
                      </a:extLst>
                    </a:gridCol>
                    <a:gridCol w="1130544">
                      <a:extLst>
                        <a:ext uri="{9D8B030D-6E8A-4147-A177-3AD203B41FA5}">
                          <a16:colId xmlns:a16="http://schemas.microsoft.com/office/drawing/2014/main" val="3700431353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38131659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315443143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498942169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729393535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42852231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nl-BE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l-BE" sz="20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nl-BE" sz="2000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nl-BE" sz="2000" dirty="0"/>
                            <a:t>Aanpassing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Geslacht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BSO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KSO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TSO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9553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Steekproef:   3.11=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0.08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-0.02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-0.97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0.22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874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Populatie:      3.11=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7957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 5">
                <a:extLst>
                  <a:ext uri="{FF2B5EF4-FFF2-40B4-BE49-F238E27FC236}">
                    <a16:creationId xmlns:a16="http://schemas.microsoft.com/office/drawing/2014/main" id="{AC125D3C-3380-E341-B0FD-45CB15D5E6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5383342"/>
                  </p:ext>
                </p:extLst>
              </p:nvPr>
            </p:nvGraphicFramePr>
            <p:xfrm>
              <a:off x="161192" y="2970498"/>
              <a:ext cx="11869616" cy="113792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969477">
                      <a:extLst>
                        <a:ext uri="{9D8B030D-6E8A-4147-A177-3AD203B41FA5}">
                          <a16:colId xmlns:a16="http://schemas.microsoft.com/office/drawing/2014/main" val="2188050303"/>
                        </a:ext>
                      </a:extLst>
                    </a:gridCol>
                    <a:gridCol w="1351085">
                      <a:extLst>
                        <a:ext uri="{9D8B030D-6E8A-4147-A177-3AD203B41FA5}">
                          <a16:colId xmlns:a16="http://schemas.microsoft.com/office/drawing/2014/main" val="3013332108"/>
                        </a:ext>
                      </a:extLst>
                    </a:gridCol>
                    <a:gridCol w="1130544">
                      <a:extLst>
                        <a:ext uri="{9D8B030D-6E8A-4147-A177-3AD203B41FA5}">
                          <a16:colId xmlns:a16="http://schemas.microsoft.com/office/drawing/2014/main" val="3700431353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38131659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315443143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498942169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729393535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42852231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>
                        <a:blipFill>
                          <a:blip r:embed="rId2"/>
                          <a:stretch>
                            <a:fillRect t="-6250" r="-504516" b="-20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Geslacht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BSO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KSO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TSO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9553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Steekproef:   3.11=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0.08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-0.02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-0.97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0.22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874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Populatie:      3.11=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79579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Afbeelding 6">
            <a:extLst>
              <a:ext uri="{FF2B5EF4-FFF2-40B4-BE49-F238E27FC236}">
                <a16:creationId xmlns:a16="http://schemas.microsoft.com/office/drawing/2014/main" id="{2C24E140-81EC-7F47-9A3B-4426DC0163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909"/>
          <a:stretch/>
        </p:blipFill>
        <p:spPr>
          <a:xfrm>
            <a:off x="7831013" y="58365"/>
            <a:ext cx="4302622" cy="1436214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9" name="Rechthoek 8">
            <a:extLst>
              <a:ext uri="{FF2B5EF4-FFF2-40B4-BE49-F238E27FC236}">
                <a16:creationId xmlns:a16="http://schemas.microsoft.com/office/drawing/2014/main" id="{EECD4C48-76B7-4643-B278-28BBBB209F4D}"/>
              </a:ext>
            </a:extLst>
          </p:cNvPr>
          <p:cNvSpPr/>
          <p:nvPr/>
        </p:nvSpPr>
        <p:spPr bwMode="auto">
          <a:xfrm>
            <a:off x="161192" y="3429000"/>
            <a:ext cx="11638085" cy="281354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E230544B-CF26-6E43-A4C7-FB5A533251EE}"/>
              </a:ext>
            </a:extLst>
          </p:cNvPr>
          <p:cNvSpPr/>
          <p:nvPr/>
        </p:nvSpPr>
        <p:spPr bwMode="auto">
          <a:xfrm>
            <a:off x="3200400" y="5543317"/>
            <a:ext cx="1301261" cy="175847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2E09EA-EC0F-6646-9A6D-BF3F15D6C072}"/>
              </a:ext>
            </a:extLst>
          </p:cNvPr>
          <p:cNvSpPr/>
          <p:nvPr/>
        </p:nvSpPr>
        <p:spPr bwMode="auto">
          <a:xfrm>
            <a:off x="3200400" y="5889151"/>
            <a:ext cx="1312983" cy="175847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F25AEC65-72A5-D840-872A-D0780CDABDEC}"/>
              </a:ext>
            </a:extLst>
          </p:cNvPr>
          <p:cNvSpPr/>
          <p:nvPr/>
        </p:nvSpPr>
        <p:spPr bwMode="auto">
          <a:xfrm>
            <a:off x="7831013" y="5510615"/>
            <a:ext cx="3800510" cy="208549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7E0CBB0D-D300-C041-9BE5-A499AE25E711}"/>
              </a:ext>
            </a:extLst>
          </p:cNvPr>
          <p:cNvSpPr/>
          <p:nvPr/>
        </p:nvSpPr>
        <p:spPr bwMode="auto">
          <a:xfrm>
            <a:off x="7877905" y="5891618"/>
            <a:ext cx="3800510" cy="208549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797677BA-E5F2-304F-A78A-9EF7EE9EA47D}"/>
              </a:ext>
            </a:extLst>
          </p:cNvPr>
          <p:cNvSpPr/>
          <p:nvPr/>
        </p:nvSpPr>
        <p:spPr bwMode="auto">
          <a:xfrm flipV="1">
            <a:off x="3826610" y="3792783"/>
            <a:ext cx="6417528" cy="281355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4659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868FC8-65E2-CF42-ABA3-BF048FD41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Voorspellen, populatie?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7662C30-E631-A34E-A21A-13464AC157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33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7F6A252-3D08-5B41-9E90-FB19BEDBF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endParaRPr lang="nl-BE" sz="100" dirty="0"/>
          </a:p>
          <a:p>
            <a:pPr marL="0" indent="0">
              <a:buNone/>
            </a:pPr>
            <a:r>
              <a:rPr lang="nl-BE" b="0" dirty="0"/>
              <a:t>Bereken de verwachtte score op ‘Aanpassing’ in zowel de steekproef als de </a:t>
            </a:r>
            <a:r>
              <a:rPr lang="nl-BE" dirty="0"/>
              <a:t>populatie</a:t>
            </a:r>
            <a:r>
              <a:rPr lang="nl-BE" b="0" dirty="0"/>
              <a:t> voor:</a:t>
            </a:r>
            <a:endParaRPr lang="nl-BE" dirty="0"/>
          </a:p>
          <a:p>
            <a:pPr marL="361940" lvl="1" indent="0">
              <a:buNone/>
            </a:pPr>
            <a:r>
              <a:rPr lang="nl-BE" dirty="0"/>
              <a:t>a) Man uit TSO die 0 scoort op de overige variabelen:</a:t>
            </a:r>
          </a:p>
          <a:p>
            <a:endParaRPr lang="nl-BE" dirty="0"/>
          </a:p>
          <a:p>
            <a:endParaRPr lang="nl-BE" dirty="0"/>
          </a:p>
          <a:p>
            <a:endParaRPr lang="nl-BE" sz="3200" dirty="0"/>
          </a:p>
          <a:p>
            <a:pPr marL="361940" lvl="1" indent="0">
              <a:buNone/>
            </a:pPr>
            <a:r>
              <a:rPr lang="nl-BE" dirty="0"/>
              <a:t>b) Vrouw uit ASO die 1 punt lager scoort op IQ (en 0 op de overige variabelen):</a:t>
            </a:r>
          </a:p>
          <a:p>
            <a:endParaRPr lang="nl-BE" dirty="0"/>
          </a:p>
          <a:p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 5">
                <a:extLst>
                  <a:ext uri="{FF2B5EF4-FFF2-40B4-BE49-F238E27FC236}">
                    <a16:creationId xmlns:a16="http://schemas.microsoft.com/office/drawing/2014/main" id="{AC125D3C-3380-E341-B0FD-45CB15D5E6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0472636"/>
                  </p:ext>
                </p:extLst>
              </p:nvPr>
            </p:nvGraphicFramePr>
            <p:xfrm>
              <a:off x="161192" y="2970498"/>
              <a:ext cx="11869616" cy="113792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969477">
                      <a:extLst>
                        <a:ext uri="{9D8B030D-6E8A-4147-A177-3AD203B41FA5}">
                          <a16:colId xmlns:a16="http://schemas.microsoft.com/office/drawing/2014/main" val="2188050303"/>
                        </a:ext>
                      </a:extLst>
                    </a:gridCol>
                    <a:gridCol w="1351085">
                      <a:extLst>
                        <a:ext uri="{9D8B030D-6E8A-4147-A177-3AD203B41FA5}">
                          <a16:colId xmlns:a16="http://schemas.microsoft.com/office/drawing/2014/main" val="3013332108"/>
                        </a:ext>
                      </a:extLst>
                    </a:gridCol>
                    <a:gridCol w="1130544">
                      <a:extLst>
                        <a:ext uri="{9D8B030D-6E8A-4147-A177-3AD203B41FA5}">
                          <a16:colId xmlns:a16="http://schemas.microsoft.com/office/drawing/2014/main" val="3700431353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38131659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315443143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498942169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729393535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42852231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nl-BE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l-BE" sz="20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nl-BE" sz="2000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nl-BE" sz="2000" dirty="0"/>
                            <a:t>Aanpassing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Geslacht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BSO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KSO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TSO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9553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Steekproef:   3.11=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0.08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-0.02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-0.97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0.22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874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Populatie:      3.11=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7957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 5">
                <a:extLst>
                  <a:ext uri="{FF2B5EF4-FFF2-40B4-BE49-F238E27FC236}">
                    <a16:creationId xmlns:a16="http://schemas.microsoft.com/office/drawing/2014/main" id="{AC125D3C-3380-E341-B0FD-45CB15D5E6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0472636"/>
                  </p:ext>
                </p:extLst>
              </p:nvPr>
            </p:nvGraphicFramePr>
            <p:xfrm>
              <a:off x="161192" y="2970498"/>
              <a:ext cx="11869616" cy="113792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969477">
                      <a:extLst>
                        <a:ext uri="{9D8B030D-6E8A-4147-A177-3AD203B41FA5}">
                          <a16:colId xmlns:a16="http://schemas.microsoft.com/office/drawing/2014/main" val="2188050303"/>
                        </a:ext>
                      </a:extLst>
                    </a:gridCol>
                    <a:gridCol w="1351085">
                      <a:extLst>
                        <a:ext uri="{9D8B030D-6E8A-4147-A177-3AD203B41FA5}">
                          <a16:colId xmlns:a16="http://schemas.microsoft.com/office/drawing/2014/main" val="3013332108"/>
                        </a:ext>
                      </a:extLst>
                    </a:gridCol>
                    <a:gridCol w="1130544">
                      <a:extLst>
                        <a:ext uri="{9D8B030D-6E8A-4147-A177-3AD203B41FA5}">
                          <a16:colId xmlns:a16="http://schemas.microsoft.com/office/drawing/2014/main" val="3700431353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38131659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315443143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498942169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729393535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42852231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>
                        <a:blipFill>
                          <a:blip r:embed="rId2"/>
                          <a:stretch>
                            <a:fillRect t="-6250" r="-504516" b="-20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Geslacht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BSO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KSO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TSO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9553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Steekproef:   3.11=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0.08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-0.02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-0.97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0.22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874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Populatie:      3.11=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79579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Afbeelding 6">
            <a:extLst>
              <a:ext uri="{FF2B5EF4-FFF2-40B4-BE49-F238E27FC236}">
                <a16:creationId xmlns:a16="http://schemas.microsoft.com/office/drawing/2014/main" id="{2C24E140-81EC-7F47-9A3B-4426DC0163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909"/>
          <a:stretch/>
        </p:blipFill>
        <p:spPr>
          <a:xfrm>
            <a:off x="7831013" y="58365"/>
            <a:ext cx="4302622" cy="1436214"/>
          </a:xfrm>
          <a:prstGeom prst="rect">
            <a:avLst/>
          </a:prstGeom>
          <a:ln>
            <a:solidFill>
              <a:schemeClr val="bg2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 5">
                <a:extLst>
                  <a:ext uri="{FF2B5EF4-FFF2-40B4-BE49-F238E27FC236}">
                    <a16:creationId xmlns:a16="http://schemas.microsoft.com/office/drawing/2014/main" id="{D6408C74-BDDE-D24D-8925-94F4A62622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4898071"/>
                  </p:ext>
                </p:extLst>
              </p:nvPr>
            </p:nvGraphicFramePr>
            <p:xfrm>
              <a:off x="161192" y="5042988"/>
              <a:ext cx="11869616" cy="113792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969477">
                      <a:extLst>
                        <a:ext uri="{9D8B030D-6E8A-4147-A177-3AD203B41FA5}">
                          <a16:colId xmlns:a16="http://schemas.microsoft.com/office/drawing/2014/main" val="2188050303"/>
                        </a:ext>
                      </a:extLst>
                    </a:gridCol>
                    <a:gridCol w="1351085">
                      <a:extLst>
                        <a:ext uri="{9D8B030D-6E8A-4147-A177-3AD203B41FA5}">
                          <a16:colId xmlns:a16="http://schemas.microsoft.com/office/drawing/2014/main" val="3013332108"/>
                        </a:ext>
                      </a:extLst>
                    </a:gridCol>
                    <a:gridCol w="1130544">
                      <a:extLst>
                        <a:ext uri="{9D8B030D-6E8A-4147-A177-3AD203B41FA5}">
                          <a16:colId xmlns:a16="http://schemas.microsoft.com/office/drawing/2014/main" val="3700431353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38131659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315443143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498942169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729393535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428522311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nl-BE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l-BE" sz="20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nl-BE" sz="2000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nl-BE" sz="2000" dirty="0"/>
                            <a:t>Aanpassing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Geslacht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BSO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KSO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TSO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9553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Steekproef:   3.03=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0.08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-0.02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-0.97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0.22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874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BE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7957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 5">
                <a:extLst>
                  <a:ext uri="{FF2B5EF4-FFF2-40B4-BE49-F238E27FC236}">
                    <a16:creationId xmlns:a16="http://schemas.microsoft.com/office/drawing/2014/main" id="{D6408C74-BDDE-D24D-8925-94F4A62622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4898071"/>
                  </p:ext>
                </p:extLst>
              </p:nvPr>
            </p:nvGraphicFramePr>
            <p:xfrm>
              <a:off x="161192" y="5042988"/>
              <a:ext cx="11869616" cy="113792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969477">
                      <a:extLst>
                        <a:ext uri="{9D8B030D-6E8A-4147-A177-3AD203B41FA5}">
                          <a16:colId xmlns:a16="http://schemas.microsoft.com/office/drawing/2014/main" val="2188050303"/>
                        </a:ext>
                      </a:extLst>
                    </a:gridCol>
                    <a:gridCol w="1351085">
                      <a:extLst>
                        <a:ext uri="{9D8B030D-6E8A-4147-A177-3AD203B41FA5}">
                          <a16:colId xmlns:a16="http://schemas.microsoft.com/office/drawing/2014/main" val="3013332108"/>
                        </a:ext>
                      </a:extLst>
                    </a:gridCol>
                    <a:gridCol w="1130544">
                      <a:extLst>
                        <a:ext uri="{9D8B030D-6E8A-4147-A177-3AD203B41FA5}">
                          <a16:colId xmlns:a16="http://schemas.microsoft.com/office/drawing/2014/main" val="3700431353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38131659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315443143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498942169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729393535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42852231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>
                        <a:blipFill>
                          <a:blip r:embed="rId4"/>
                          <a:stretch>
                            <a:fillRect t="-9677" r="-504516" b="-193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Geslacht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BSO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KSO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TSO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9553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Steekproef:   3.03=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0.08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-0.02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-0.97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0.22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874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BE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BE" sz="1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7957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echthoek 8">
            <a:extLst>
              <a:ext uri="{FF2B5EF4-FFF2-40B4-BE49-F238E27FC236}">
                <a16:creationId xmlns:a16="http://schemas.microsoft.com/office/drawing/2014/main" id="{EECD4C48-76B7-4643-B278-28BBBB209F4D}"/>
              </a:ext>
            </a:extLst>
          </p:cNvPr>
          <p:cNvSpPr/>
          <p:nvPr/>
        </p:nvSpPr>
        <p:spPr bwMode="auto">
          <a:xfrm>
            <a:off x="104039" y="2600325"/>
            <a:ext cx="11972443" cy="1508093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2E09EA-EC0F-6646-9A6D-BF3F15D6C072}"/>
              </a:ext>
            </a:extLst>
          </p:cNvPr>
          <p:cNvSpPr/>
          <p:nvPr/>
        </p:nvSpPr>
        <p:spPr bwMode="auto">
          <a:xfrm>
            <a:off x="3200400" y="5889151"/>
            <a:ext cx="1312983" cy="175847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7E0CBB0D-D300-C041-9BE5-A499AE25E711}"/>
              </a:ext>
            </a:extLst>
          </p:cNvPr>
          <p:cNvSpPr/>
          <p:nvPr/>
        </p:nvSpPr>
        <p:spPr bwMode="auto">
          <a:xfrm>
            <a:off x="7877905" y="5891618"/>
            <a:ext cx="3800510" cy="208549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399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868FC8-65E2-CF42-ABA3-BF048FD41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Voorspellen, populatie?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 5">
                <a:extLst>
                  <a:ext uri="{FF2B5EF4-FFF2-40B4-BE49-F238E27FC236}">
                    <a16:creationId xmlns:a16="http://schemas.microsoft.com/office/drawing/2014/main" id="{AC125D3C-3380-E341-B0FD-45CB15D5E66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192" y="2970498"/>
              <a:ext cx="11869616" cy="113792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969477">
                      <a:extLst>
                        <a:ext uri="{9D8B030D-6E8A-4147-A177-3AD203B41FA5}">
                          <a16:colId xmlns:a16="http://schemas.microsoft.com/office/drawing/2014/main" val="2188050303"/>
                        </a:ext>
                      </a:extLst>
                    </a:gridCol>
                    <a:gridCol w="1351085">
                      <a:extLst>
                        <a:ext uri="{9D8B030D-6E8A-4147-A177-3AD203B41FA5}">
                          <a16:colId xmlns:a16="http://schemas.microsoft.com/office/drawing/2014/main" val="3013332108"/>
                        </a:ext>
                      </a:extLst>
                    </a:gridCol>
                    <a:gridCol w="1130544">
                      <a:extLst>
                        <a:ext uri="{9D8B030D-6E8A-4147-A177-3AD203B41FA5}">
                          <a16:colId xmlns:a16="http://schemas.microsoft.com/office/drawing/2014/main" val="3700431353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38131659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315443143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498942169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729393535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42852231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nl-BE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l-BE" sz="20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nl-BE" sz="2000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nl-BE" sz="2000" dirty="0"/>
                            <a:t>Aanpassing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Geslacht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BSO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KSO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TSO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9553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Steekproef:     3.11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0.08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-0.02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-0.97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0.22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874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Populatie:        3.11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7957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 5">
                <a:extLst>
                  <a:ext uri="{FF2B5EF4-FFF2-40B4-BE49-F238E27FC236}">
                    <a16:creationId xmlns:a16="http://schemas.microsoft.com/office/drawing/2014/main" id="{AC125D3C-3380-E341-B0FD-45CB15D5E66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192" y="2970498"/>
              <a:ext cx="11869616" cy="113792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969477">
                      <a:extLst>
                        <a:ext uri="{9D8B030D-6E8A-4147-A177-3AD203B41FA5}">
                          <a16:colId xmlns:a16="http://schemas.microsoft.com/office/drawing/2014/main" val="2188050303"/>
                        </a:ext>
                      </a:extLst>
                    </a:gridCol>
                    <a:gridCol w="1351085">
                      <a:extLst>
                        <a:ext uri="{9D8B030D-6E8A-4147-A177-3AD203B41FA5}">
                          <a16:colId xmlns:a16="http://schemas.microsoft.com/office/drawing/2014/main" val="3013332108"/>
                        </a:ext>
                      </a:extLst>
                    </a:gridCol>
                    <a:gridCol w="1130544">
                      <a:extLst>
                        <a:ext uri="{9D8B030D-6E8A-4147-A177-3AD203B41FA5}">
                          <a16:colId xmlns:a16="http://schemas.microsoft.com/office/drawing/2014/main" val="3700431353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38131659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315443143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498942169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729393535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42852231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>
                        <a:blipFill>
                          <a:blip r:embed="rId2"/>
                          <a:stretch>
                            <a:fillRect t="-6250" r="-504516" b="-20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Geslacht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BSO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KSO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TSO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9553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Steekproef:     3.11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0.08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-0.02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-0.97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0.22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874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Populatie:        3.11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b="1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7957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7662C30-E631-A34E-A21A-13464AC157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34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7F6A252-3D08-5B41-9E90-FB19BEDBF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buNone/>
            </a:pPr>
            <a:endParaRPr lang="nl-BE" sz="100" dirty="0"/>
          </a:p>
          <a:p>
            <a:pPr marL="0" indent="0">
              <a:buNone/>
            </a:pPr>
            <a:r>
              <a:rPr lang="nl-BE" b="0" dirty="0"/>
              <a:t>Bereken de verwachtte score op ‘Aanpassing’ in zowel de steekproef als de </a:t>
            </a:r>
            <a:r>
              <a:rPr lang="nl-BE" dirty="0"/>
              <a:t>populatie</a:t>
            </a:r>
            <a:r>
              <a:rPr lang="nl-BE" b="0" dirty="0"/>
              <a:t> voor:</a:t>
            </a:r>
            <a:endParaRPr lang="nl-BE" dirty="0"/>
          </a:p>
          <a:p>
            <a:pPr marL="361940" lvl="1" indent="0">
              <a:buNone/>
            </a:pPr>
            <a:r>
              <a:rPr lang="nl-BE" dirty="0"/>
              <a:t>a) Man uit TSO die 0 scoort op de overige variabelen:</a:t>
            </a:r>
          </a:p>
          <a:p>
            <a:endParaRPr lang="nl-BE" dirty="0"/>
          </a:p>
          <a:p>
            <a:endParaRPr lang="nl-BE" dirty="0"/>
          </a:p>
          <a:p>
            <a:endParaRPr lang="nl-BE" sz="3200" dirty="0"/>
          </a:p>
          <a:p>
            <a:pPr marL="361940" lvl="1" indent="0">
              <a:buNone/>
            </a:pPr>
            <a:r>
              <a:rPr lang="nl-BE" dirty="0"/>
              <a:t>b) Vrouw uit ASO die 1 punt lager scoort op IQ (en 0 op de overige variabelen):</a:t>
            </a:r>
          </a:p>
          <a:p>
            <a:endParaRPr lang="nl-BE" dirty="0"/>
          </a:p>
          <a:p>
            <a:endParaRPr lang="nl-BE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2C24E140-81EC-7F47-9A3B-4426DC0163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909"/>
          <a:stretch/>
        </p:blipFill>
        <p:spPr>
          <a:xfrm>
            <a:off x="7831013" y="58365"/>
            <a:ext cx="4302622" cy="1436214"/>
          </a:xfrm>
          <a:prstGeom prst="rect">
            <a:avLst/>
          </a:prstGeom>
          <a:ln>
            <a:solidFill>
              <a:schemeClr val="bg2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 5">
                <a:extLst>
                  <a:ext uri="{FF2B5EF4-FFF2-40B4-BE49-F238E27FC236}">
                    <a16:creationId xmlns:a16="http://schemas.microsoft.com/office/drawing/2014/main" id="{D6408C74-BDDE-D24D-8925-94F4A62622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9921179"/>
                  </p:ext>
                </p:extLst>
              </p:nvPr>
            </p:nvGraphicFramePr>
            <p:xfrm>
              <a:off x="161192" y="5042988"/>
              <a:ext cx="11869616" cy="113792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969477">
                      <a:extLst>
                        <a:ext uri="{9D8B030D-6E8A-4147-A177-3AD203B41FA5}">
                          <a16:colId xmlns:a16="http://schemas.microsoft.com/office/drawing/2014/main" val="2188050303"/>
                        </a:ext>
                      </a:extLst>
                    </a:gridCol>
                    <a:gridCol w="1351085">
                      <a:extLst>
                        <a:ext uri="{9D8B030D-6E8A-4147-A177-3AD203B41FA5}">
                          <a16:colId xmlns:a16="http://schemas.microsoft.com/office/drawing/2014/main" val="3013332108"/>
                        </a:ext>
                      </a:extLst>
                    </a:gridCol>
                    <a:gridCol w="1130544">
                      <a:extLst>
                        <a:ext uri="{9D8B030D-6E8A-4147-A177-3AD203B41FA5}">
                          <a16:colId xmlns:a16="http://schemas.microsoft.com/office/drawing/2014/main" val="3700431353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38131659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315443143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498942169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729393535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428522311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nl-BE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l-BE" sz="20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nl-BE" sz="2000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nl-BE" sz="2000" dirty="0"/>
                            <a:t>Aanpassing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Geslacht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BSO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KSO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TSO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9553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Steekproef:   3.03=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0.08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-0.02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-0.97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0.22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874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Populatie:      2.93=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 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      0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  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7957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 5">
                <a:extLst>
                  <a:ext uri="{FF2B5EF4-FFF2-40B4-BE49-F238E27FC236}">
                    <a16:creationId xmlns:a16="http://schemas.microsoft.com/office/drawing/2014/main" id="{D6408C74-BDDE-D24D-8925-94F4A62622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9921179"/>
                  </p:ext>
                </p:extLst>
              </p:nvPr>
            </p:nvGraphicFramePr>
            <p:xfrm>
              <a:off x="161192" y="5042988"/>
              <a:ext cx="11869616" cy="113792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1969477">
                      <a:extLst>
                        <a:ext uri="{9D8B030D-6E8A-4147-A177-3AD203B41FA5}">
                          <a16:colId xmlns:a16="http://schemas.microsoft.com/office/drawing/2014/main" val="2188050303"/>
                        </a:ext>
                      </a:extLst>
                    </a:gridCol>
                    <a:gridCol w="1351085">
                      <a:extLst>
                        <a:ext uri="{9D8B030D-6E8A-4147-A177-3AD203B41FA5}">
                          <a16:colId xmlns:a16="http://schemas.microsoft.com/office/drawing/2014/main" val="3013332108"/>
                        </a:ext>
                      </a:extLst>
                    </a:gridCol>
                    <a:gridCol w="1130544">
                      <a:extLst>
                        <a:ext uri="{9D8B030D-6E8A-4147-A177-3AD203B41FA5}">
                          <a16:colId xmlns:a16="http://schemas.microsoft.com/office/drawing/2014/main" val="3700431353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38131659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3154431432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498942169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2729393535"/>
                        </a:ext>
                      </a:extLst>
                    </a:gridCol>
                    <a:gridCol w="1483702">
                      <a:extLst>
                        <a:ext uri="{9D8B030D-6E8A-4147-A177-3AD203B41FA5}">
                          <a16:colId xmlns:a16="http://schemas.microsoft.com/office/drawing/2014/main" val="428522311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>
                        <a:blipFill>
                          <a:blip r:embed="rId4"/>
                          <a:stretch>
                            <a:fillRect t="-9677" r="-504516" b="-2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Intercept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SES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Geslacht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IQ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BSO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KSO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000" dirty="0"/>
                            <a:t>TSO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09553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Steekproef:   3.03=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0.08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-0.02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-0.97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0.22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874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BE" sz="1800" dirty="0"/>
                            <a:t>Populatie:      2.93=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2.93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     0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 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b="1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  <a:r>
                            <a:rPr lang="nl-BE" sz="1800" dirty="0"/>
                            <a:t> 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      0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     0  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r>
                            <a:rPr lang="nl-BE" sz="1800" dirty="0"/>
                            <a:t> +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1800" dirty="0">
                              <a:solidFill>
                                <a:schemeClr val="accent6"/>
                              </a:solidFill>
                            </a:rPr>
                            <a:t>0.18</a:t>
                          </a:r>
                          <a:r>
                            <a:rPr lang="nl-BE" sz="1800" dirty="0"/>
                            <a:t> * </a:t>
                          </a:r>
                          <a:r>
                            <a:rPr lang="nl-BE" sz="18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7957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echthoek 8">
            <a:extLst>
              <a:ext uri="{FF2B5EF4-FFF2-40B4-BE49-F238E27FC236}">
                <a16:creationId xmlns:a16="http://schemas.microsoft.com/office/drawing/2014/main" id="{EECD4C48-76B7-4643-B278-28BBBB209F4D}"/>
              </a:ext>
            </a:extLst>
          </p:cNvPr>
          <p:cNvSpPr/>
          <p:nvPr/>
        </p:nvSpPr>
        <p:spPr bwMode="auto">
          <a:xfrm>
            <a:off x="161191" y="2600325"/>
            <a:ext cx="11972443" cy="1508093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E230544B-CF26-6E43-A4C7-FB5A533251EE}"/>
              </a:ext>
            </a:extLst>
          </p:cNvPr>
          <p:cNvSpPr/>
          <p:nvPr/>
        </p:nvSpPr>
        <p:spPr bwMode="auto">
          <a:xfrm>
            <a:off x="2443163" y="5496424"/>
            <a:ext cx="5144227" cy="222738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2E09EA-EC0F-6646-9A6D-BF3F15D6C072}"/>
              </a:ext>
            </a:extLst>
          </p:cNvPr>
          <p:cNvSpPr/>
          <p:nvPr/>
        </p:nvSpPr>
        <p:spPr bwMode="auto">
          <a:xfrm>
            <a:off x="3200400" y="5889151"/>
            <a:ext cx="1312983" cy="175847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F25AEC65-72A5-D840-872A-D0780CDABDEC}"/>
              </a:ext>
            </a:extLst>
          </p:cNvPr>
          <p:cNvSpPr/>
          <p:nvPr/>
        </p:nvSpPr>
        <p:spPr bwMode="auto">
          <a:xfrm>
            <a:off x="7831012" y="5510615"/>
            <a:ext cx="3956175" cy="222738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7E0CBB0D-D300-C041-9BE5-A499AE25E711}"/>
              </a:ext>
            </a:extLst>
          </p:cNvPr>
          <p:cNvSpPr/>
          <p:nvPr/>
        </p:nvSpPr>
        <p:spPr bwMode="auto">
          <a:xfrm>
            <a:off x="7877905" y="5891618"/>
            <a:ext cx="3800510" cy="208549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2932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41B7F9C-774A-B441-98D3-27EF55A4B3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35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3230AA7-6BD2-A442-9010-EBC0794AF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7820"/>
            <a:ext cx="10944226" cy="4660279"/>
          </a:xfrm>
        </p:spPr>
        <p:txBody>
          <a:bodyPr wrap="square"/>
          <a:lstStyle/>
          <a:p>
            <a:pPr marL="0" indent="0">
              <a:buNone/>
            </a:pPr>
            <a:r>
              <a:rPr lang="nl-BE" sz="16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summary(Model3)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Estimate Std. Error t value Pr(&gt;|t|)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   2.93457    0.37364   7.854  2.2e-14 ***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SES                 0.12072    0.11537   1.046 0.295865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Geslachtvrouw       0.07544    0.07132   1.058 0.290600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IQ                 -0.01563    0.03958  -0.395 0.693048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OnderwijsvormBSO   -0.96521    0.73633  -1.311 0.190470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OnderwijsvormKSO    0.22425    0.26211   0.856 0.392612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OnderwijsvormTSO    0.17855    0.07354   2.428 0.015520 *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Conscientieusheid   0.10894    0.06872   1.585 0.113492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Openheid           -0.02689    0.05942  -0.453 0.651018  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Neuroticisme        0.10735    0.05312   2.021 0.043798 * 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Zelfeffectiviteit3 -0.25286    0.02814  -8.986  &lt; 2e-16 ***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Demotivatie3        0.17684    0.05020   3.522 0.000464 ***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Signif. codes:  0 ‘***’ 0.001 ‘**’ 0.01 ‘*’ 0.05 ‘.’ 0.1 ‘ ’ 1</a:t>
            </a:r>
          </a:p>
          <a:p>
            <a:pPr marL="0" indent="0">
              <a:buNone/>
            </a:pPr>
            <a:endParaRPr lang="nl-BE" sz="7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error: 0.7307 on 538 degrees of freedom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(3233 observations deleted due to missingness)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R-squared:  0.2195,	Adjusted R-squared:  0.2035 </a:t>
            </a:r>
          </a:p>
          <a:p>
            <a:pPr marL="0" indent="0">
              <a:buNone/>
            </a:pPr>
            <a:r>
              <a:rPr lang="nl-BE" sz="1600" b="0" dirty="0">
                <a:latin typeface="Courier New" panose="02070309020205020404" pitchFamily="49" charset="0"/>
                <a:cs typeface="Courier New" panose="02070309020205020404" pitchFamily="49" charset="0"/>
              </a:rPr>
              <a:t>F-statistic: 13.75 on 11 and 538 DF,  p-value: &lt; 2.2e-16</a:t>
            </a:r>
          </a:p>
          <a:p>
            <a:pPr marL="0" indent="0">
              <a:buNone/>
            </a:pPr>
            <a:endParaRPr lang="nl-BE" sz="16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18D25BEA-736D-A74B-93CF-88A5A0FF4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601" y="75591"/>
            <a:ext cx="10944226" cy="791794"/>
          </a:xfrm>
        </p:spPr>
        <p:txBody>
          <a:bodyPr/>
          <a:lstStyle/>
          <a:p>
            <a:pPr algn="r"/>
            <a:r>
              <a:rPr lang="nl-BE" dirty="0"/>
              <a:t>Interpretatie model?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93631AF-3792-4945-9499-74DFD3053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9724" y="985351"/>
            <a:ext cx="3006969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500">
                <a:solidFill>
                  <a:srgbClr val="003D62"/>
                </a:solidFill>
                <a:latin typeface="+mn-lt"/>
                <a:ea typeface="ＭＳ Ｐゴシック" pitchFamily="-107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2200"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-"/>
              <a:defRPr sz="1600"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7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+mn-lt"/>
                <a:ea typeface="ＭＳ Ｐゴシック" pitchFamily="-109" charset="-128"/>
              </a:defRPr>
            </a:lvl9pPr>
          </a:lstStyle>
          <a:p>
            <a:r>
              <a:rPr lang="nl-BE" sz="2800" dirty="0">
                <a:ea typeface="ＭＳ Ｐゴシック" charset="0"/>
              </a:rPr>
              <a:t>Betekenis:</a:t>
            </a:r>
          </a:p>
          <a:p>
            <a:pPr lvl="1"/>
            <a:r>
              <a:rPr lang="nl-BE" sz="2800" dirty="0">
                <a:ea typeface="ＭＳ Ｐゴシック" charset="0"/>
              </a:rPr>
              <a:t>intercept?</a:t>
            </a:r>
          </a:p>
          <a:p>
            <a:pPr lvl="1"/>
            <a:r>
              <a:rPr lang="nl-BE" sz="2800" dirty="0">
                <a:ea typeface="ＭＳ Ｐゴシック" charset="0"/>
              </a:rPr>
              <a:t>slopes?</a:t>
            </a:r>
          </a:p>
        </p:txBody>
      </p:sp>
    </p:spTree>
    <p:extLst>
      <p:ext uri="{BB962C8B-B14F-4D97-AF65-F5344CB8AC3E}">
        <p14:creationId xmlns:p14="http://schemas.microsoft.com/office/powerpoint/2010/main" val="24760843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792E4F7-711C-754F-91FC-2913004B1F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36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D0ABC32-EDD8-4742-9214-9F666887D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Estimate Std. Error t value Pr(&gt;|t|)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   </a:t>
            </a:r>
            <a:r>
              <a:rPr 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2.93457 </a:t>
            </a: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0.37364   7.854  2.2e-14 ***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SES                 0.12072    0.11537   1.046 0.295865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Geslachtvrouw       0.07544    0.07132   1.058 0.290600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IQ                 -0.01563    0.03958  -0.395 0.693048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OnderwijsvormBSO   </a:t>
            </a:r>
            <a:r>
              <a:rPr lang="nl-BE" sz="1800" b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-0.96521    0.73633  -1.311 0.190470    </a:t>
            </a:r>
          </a:p>
          <a:p>
            <a:pPr marL="0" indent="0">
              <a:buNone/>
            </a:pPr>
            <a:r>
              <a:rPr lang="nl-BE" sz="1800" b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OnderwijsvormKSO    0.22425    0.26211   0.856 0.392612    </a:t>
            </a:r>
          </a:p>
          <a:p>
            <a:pPr marL="0" indent="0">
              <a:buNone/>
            </a:pPr>
            <a:r>
              <a:rPr lang="nl-BE" sz="1800" b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OnderwijsvormTSO    0.17855    </a:t>
            </a: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0.07354   2.428 0.015520 *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Conscientieusheid   0.10894    0.06872   1.585 0.113492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Openheid           -0.02689    0.05942  -0.453 0.651018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Neuroticisme        0.10735    0.05312   2.021 0.043798 *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Zelfeffectiviteit3 -0.25286    0.02814  -8.986  &lt; 2e-16 ***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Demotivatie3        0.17684    0.05020   3.522 0.000464 ***</a:t>
            </a:r>
          </a:p>
          <a:p>
            <a:pPr marL="0" indent="0">
              <a:buNone/>
            </a:pPr>
            <a:endParaRPr lang="nl-BE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Wolkvormige toelichting 6">
            <a:extLst>
              <a:ext uri="{FF2B5EF4-FFF2-40B4-BE49-F238E27FC236}">
                <a16:creationId xmlns:a16="http://schemas.microsoft.com/office/drawing/2014/main" id="{F8E93F01-40CC-9746-B694-BCAB903CE028}"/>
              </a:ext>
            </a:extLst>
          </p:cNvPr>
          <p:cNvSpPr/>
          <p:nvPr/>
        </p:nvSpPr>
        <p:spPr bwMode="auto">
          <a:xfrm>
            <a:off x="4366737" y="204217"/>
            <a:ext cx="4742688" cy="1270907"/>
          </a:xfrm>
          <a:prstGeom prst="cloudCallout">
            <a:avLst>
              <a:gd name="adj1" fmla="val -47134"/>
              <a:gd name="adj2" fmla="val 75285"/>
            </a:avLst>
          </a:prstGeom>
          <a:solidFill>
            <a:srgbClr val="2A77CF"/>
          </a:solidFill>
          <a:ln>
            <a:solidFill>
              <a:srgbClr val="2A77CF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r>
              <a:rPr lang="nl-BE" dirty="0">
                <a:solidFill>
                  <a:schemeClr val="bg2"/>
                </a:solidFill>
                <a:latin typeface="Verdana" charset="0"/>
                <a:ea typeface="Verdana Regular" charset="0"/>
                <a:cs typeface="Verdana Regular" charset="0"/>
                <a:sym typeface="Securitas Sans Light" charset="0"/>
              </a:rPr>
              <a:t>Moet je blij zijn met een score van 2.93 op aanpassing?</a:t>
            </a:r>
            <a:r>
              <a:rPr lang="nl-BE" sz="1600" dirty="0">
                <a:latin typeface="Verdana" charset="0"/>
                <a:ea typeface="Verdana Regular" charset="0"/>
                <a:cs typeface="Verdana Regular" charset="0"/>
                <a:sym typeface="Securitas Sans Light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628256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792E4F7-711C-754F-91FC-2913004B1F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37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D0ABC32-EDD8-4742-9214-9F666887D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Estimate Std. Error t value Pr(&gt;|t|)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   </a:t>
            </a:r>
            <a:r>
              <a:rPr 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2.93457 </a:t>
            </a: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0.37364   7.854  2.2e-14 ***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SES                 0.12072    0.11537   1.046 0.295865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Geslachtvrouw       0.07544    0.07132   1.058 0.290600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IQ                 -0.01563    0.03958  -0.395 0.693048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OnderwijsvormBSO   </a:t>
            </a:r>
            <a:r>
              <a:rPr lang="nl-BE" sz="18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-0.96521</a:t>
            </a: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0.73633  -1.311 0.190470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OnderwijsvormKSO    0.22425    0.26211   0.856 0.392612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OnderwijsvormTSO    </a:t>
            </a:r>
            <a:r>
              <a:rPr lang="nl-BE" sz="18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0.17855</a:t>
            </a: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0.07354   2.428 0.015520 *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Conscientieusheid   0.10894    0.06872   1.585 0.113492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Openheid           -0.02689    0.05942  -0.453 0.651018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Neuroticisme        0.10735    0.05312   2.021 0.043798 *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Zelfeffectiviteit3 -0.25286    0.02814  -8.986  &lt; 2e-16 ***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Demotivatie3        0.17684    0.05020   3.522 0.000464 ***</a:t>
            </a:r>
          </a:p>
          <a:p>
            <a:pPr marL="0" indent="0">
              <a:buNone/>
            </a:pPr>
            <a:endParaRPr lang="nl-BE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Wolkvormige toelichting 4">
            <a:extLst>
              <a:ext uri="{FF2B5EF4-FFF2-40B4-BE49-F238E27FC236}">
                <a16:creationId xmlns:a16="http://schemas.microsoft.com/office/drawing/2014/main" id="{CE99C285-D9ED-D941-803B-3A12FEBED57D}"/>
              </a:ext>
            </a:extLst>
          </p:cNvPr>
          <p:cNvSpPr/>
          <p:nvPr/>
        </p:nvSpPr>
        <p:spPr bwMode="auto">
          <a:xfrm>
            <a:off x="8475784" y="2597965"/>
            <a:ext cx="3664055" cy="1694689"/>
          </a:xfrm>
          <a:prstGeom prst="cloudCallout">
            <a:avLst>
              <a:gd name="adj1" fmla="val -160535"/>
              <a:gd name="adj2" fmla="val 28244"/>
            </a:avLst>
          </a:pr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r>
              <a:rPr lang="nl-BE" dirty="0">
                <a:solidFill>
                  <a:schemeClr val="bg2"/>
                </a:solidFill>
                <a:latin typeface="Verdana" charset="0"/>
                <a:ea typeface="Verdana Regular" charset="0"/>
                <a:cs typeface="Verdana Regular" charset="0"/>
                <a:sym typeface="Securitas Sans Light" charset="0"/>
              </a:rPr>
              <a:t>Verschil tussen ex-BSO’ers en ex-TSO’ers?</a:t>
            </a: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6" name="Wolkvormige toelichting 5">
            <a:extLst>
              <a:ext uri="{FF2B5EF4-FFF2-40B4-BE49-F238E27FC236}">
                <a16:creationId xmlns:a16="http://schemas.microsoft.com/office/drawing/2014/main" id="{A2392008-46E0-A152-ECAA-5371F37A3575}"/>
              </a:ext>
            </a:extLst>
          </p:cNvPr>
          <p:cNvSpPr/>
          <p:nvPr/>
        </p:nvSpPr>
        <p:spPr bwMode="auto">
          <a:xfrm>
            <a:off x="4366737" y="204217"/>
            <a:ext cx="4742688" cy="1270907"/>
          </a:xfrm>
          <a:prstGeom prst="cloudCallout">
            <a:avLst>
              <a:gd name="adj1" fmla="val -47134"/>
              <a:gd name="adj2" fmla="val 75285"/>
            </a:avLst>
          </a:prstGeom>
          <a:solidFill>
            <a:srgbClr val="2A77CF"/>
          </a:solidFill>
          <a:ln>
            <a:solidFill>
              <a:srgbClr val="2A77CF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r>
              <a:rPr lang="nl-BE" dirty="0">
                <a:solidFill>
                  <a:schemeClr val="bg2"/>
                </a:solidFill>
                <a:latin typeface="Verdana" charset="0"/>
                <a:ea typeface="Verdana Regular" charset="0"/>
                <a:cs typeface="Verdana Regular" charset="0"/>
                <a:sym typeface="Securitas Sans Light" charset="0"/>
              </a:rPr>
              <a:t>Moet je blij zijn met een score van 2.93 op aanpassing?</a:t>
            </a:r>
            <a:r>
              <a:rPr lang="nl-BE" sz="1600" dirty="0">
                <a:latin typeface="Verdana" charset="0"/>
                <a:ea typeface="Verdana Regular" charset="0"/>
                <a:cs typeface="Verdana Regular" charset="0"/>
                <a:sym typeface="Securitas Sans Light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80135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C0367E-3B13-1043-8764-E1DEF992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Variabelen centreren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C4A7619-C988-AB43-B519-49184046B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38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826B6A7-9576-E948-9278-4E5F7E51A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77009"/>
            <a:ext cx="11406188" cy="4660279"/>
          </a:xfrm>
        </p:spPr>
        <p:txBody>
          <a:bodyPr/>
          <a:lstStyle/>
          <a:p>
            <a:r>
              <a:rPr lang="nl-BE" dirty="0"/>
              <a:t>Centreren rond het gemiddelde … </a:t>
            </a:r>
          </a:p>
          <a:p>
            <a:pPr lvl="1"/>
            <a:r>
              <a:rPr lang="nl-BE" dirty="0"/>
              <a:t>0 = …?</a:t>
            </a:r>
          </a:p>
          <a:p>
            <a:pPr lvl="1"/>
            <a:r>
              <a:rPr lang="nl-BE" dirty="0"/>
              <a:t>In R:   </a:t>
            </a:r>
          </a:p>
          <a:p>
            <a:pPr marL="361940" lvl="1" indent="0">
              <a:buNone/>
            </a:pPr>
            <a:endParaRPr lang="nl-BE" sz="180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1940" lvl="1" indent="0">
              <a:buNone/>
            </a:pP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dataHO$Neuroticisme_gecen &lt;- </a:t>
            </a:r>
            <a:r>
              <a:rPr lang="nl-BE" sz="1800" b="1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dataHO$Neuroticisme - mean(dataHO$Neuroticisme,</a:t>
            </a:r>
          </a:p>
          <a:p>
            <a:pPr marL="361940" lvl="1" indent="0">
              <a:buNone/>
            </a:pP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                             </a:t>
            </a:r>
            <a:r>
              <a:rPr lang="nl-BE" sz="1800" b="1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na.rm = TRUE)</a:t>
            </a:r>
          </a:p>
          <a:p>
            <a:endParaRPr lang="nl-BE" dirty="0"/>
          </a:p>
          <a:p>
            <a:r>
              <a:rPr lang="nl-BE" dirty="0"/>
              <a:t>Impact op intercept en op slope van ‘Neuroticisme’?</a:t>
            </a:r>
          </a:p>
          <a:p>
            <a:pPr marL="361940" lvl="1" indent="0">
              <a:buNone/>
            </a:pPr>
            <a:endParaRPr lang="nl-BE" sz="160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2672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37291B-9A76-9F4A-8D55-FFB3F6BC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Variabelen centreren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DF846FC-05F4-024F-BCD3-AA7CFF4E31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39</a:t>
            </a:fld>
            <a:endParaRPr lang="nl-BE" dirty="0"/>
          </a:p>
        </p:txBody>
      </p:sp>
      <p:graphicFrame>
        <p:nvGraphicFramePr>
          <p:cNvPr id="5" name="Tabel 5">
            <a:extLst>
              <a:ext uri="{FF2B5EF4-FFF2-40B4-BE49-F238E27FC236}">
                <a16:creationId xmlns:a16="http://schemas.microsoft.com/office/drawing/2014/main" id="{26BCBBBA-1FAE-4745-B4BF-B9744BA3C2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2921543"/>
              </p:ext>
            </p:extLst>
          </p:nvPr>
        </p:nvGraphicFramePr>
        <p:xfrm>
          <a:off x="175846" y="1337480"/>
          <a:ext cx="11852030" cy="505868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52954">
                  <a:extLst>
                    <a:ext uri="{9D8B030D-6E8A-4147-A177-3AD203B41FA5}">
                      <a16:colId xmlns:a16="http://schemas.microsoft.com/office/drawing/2014/main" val="1157601737"/>
                    </a:ext>
                  </a:extLst>
                </a:gridCol>
                <a:gridCol w="1617785">
                  <a:extLst>
                    <a:ext uri="{9D8B030D-6E8A-4147-A177-3AD203B41FA5}">
                      <a16:colId xmlns:a16="http://schemas.microsoft.com/office/drawing/2014/main" val="3483963351"/>
                    </a:ext>
                  </a:extLst>
                </a:gridCol>
                <a:gridCol w="2497015">
                  <a:extLst>
                    <a:ext uri="{9D8B030D-6E8A-4147-A177-3AD203B41FA5}">
                      <a16:colId xmlns:a16="http://schemas.microsoft.com/office/drawing/2014/main" val="131487909"/>
                    </a:ext>
                  </a:extLst>
                </a:gridCol>
                <a:gridCol w="3476741">
                  <a:extLst>
                    <a:ext uri="{9D8B030D-6E8A-4147-A177-3AD203B41FA5}">
                      <a16:colId xmlns:a16="http://schemas.microsoft.com/office/drawing/2014/main" val="1166979952"/>
                    </a:ext>
                  </a:extLst>
                </a:gridCol>
                <a:gridCol w="2607535">
                  <a:extLst>
                    <a:ext uri="{9D8B030D-6E8A-4147-A177-3AD203B41FA5}">
                      <a16:colId xmlns:a16="http://schemas.microsoft.com/office/drawing/2014/main" val="1924256689"/>
                    </a:ext>
                  </a:extLst>
                </a:gridCol>
              </a:tblGrid>
              <a:tr h="948520">
                <a:tc>
                  <a:txBody>
                    <a:bodyPr/>
                    <a:lstStyle/>
                    <a:p>
                      <a:pPr algn="ctr"/>
                      <a:endParaRPr lang="nl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Origineel</a:t>
                      </a:r>
                    </a:p>
                    <a:p>
                      <a:pPr algn="ctr"/>
                      <a:r>
                        <a:rPr lang="nl-BE" sz="1800" dirty="0">
                          <a:solidFill>
                            <a:schemeClr val="tx1"/>
                          </a:solidFill>
                        </a:rPr>
                        <a:t>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Centreren </a:t>
                      </a:r>
                    </a:p>
                    <a:p>
                      <a:pPr algn="ctr"/>
                      <a:r>
                        <a:rPr lang="nl-BE" sz="1800" dirty="0">
                          <a:solidFill>
                            <a:schemeClr val="bg2"/>
                          </a:solidFill>
                        </a:rPr>
                        <a:t>(Alleen ‘Neuroticisme’)</a:t>
                      </a:r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811257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  2.93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/>
                        <a:t>    </a:t>
                      </a:r>
                      <a:r>
                        <a:rPr lang="nl-BE" sz="1600" b="1" dirty="0">
                          <a:solidFill>
                            <a:srgbClr val="FF0000"/>
                          </a:solidFill>
                        </a:rPr>
                        <a:t>3.23</a:t>
                      </a:r>
                      <a:r>
                        <a:rPr lang="nl-BE" sz="1600" b="1" baseline="30000" dirty="0">
                          <a:solidFill>
                            <a:srgbClr val="FF0000"/>
                          </a:solidFill>
                        </a:rPr>
                        <a:t>***</a:t>
                      </a:r>
                      <a:endParaRPr lang="nl-BE" sz="16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997987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82753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Vrouw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65618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0045968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BSO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39648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KSO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455923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TSO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7830934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Conscientieusheid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1538174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Openheid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915635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Neuroticisme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/>
                        <a:t>  0.11</a:t>
                      </a:r>
                      <a:r>
                        <a:rPr lang="nl-BE" sz="1600" b="0" baseline="30000" dirty="0"/>
                        <a:t>*</a:t>
                      </a:r>
                      <a:endParaRPr lang="nl-BE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266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Zelfeffectiviteit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-0.25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-0.25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191665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Demotivatie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615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18238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EDC787-BCD0-6441-91CD-FD0DD26C0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Variabelen standaardiseren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72D0295-B26E-B44B-9033-8B734F3772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40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1A9C5B9-2E51-F64E-8F26-374744976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Ook regressiecoëfficiënten zijn niet altijd makkelijk interpreteerbaar</a:t>
            </a:r>
          </a:p>
          <a:p>
            <a:pPr lvl="1"/>
            <a:r>
              <a:rPr lang="nl-BE" dirty="0"/>
              <a:t>Slope ‘Neuroticisme’ = het effect van één punt hoger scoren voor ‘Neuroticisme’ …</a:t>
            </a:r>
          </a:p>
          <a:p>
            <a:pPr lvl="1"/>
            <a:r>
              <a:rPr lang="nl-BE" dirty="0"/>
              <a:t>Wat betekent dat? </a:t>
            </a:r>
          </a:p>
          <a:p>
            <a:pPr lvl="1"/>
            <a:endParaRPr lang="nl-BE" dirty="0"/>
          </a:p>
          <a:p>
            <a:endParaRPr lang="nl-BE" sz="1100" dirty="0"/>
          </a:p>
          <a:p>
            <a:r>
              <a:rPr lang="nl-BE" dirty="0"/>
              <a:t>Vaak zijn onafhankelijke variabelen uitgedrukt op een schaal die we niet kunnen interpreteren</a:t>
            </a:r>
          </a:p>
          <a:p>
            <a:pPr lvl="1"/>
            <a:r>
              <a:rPr lang="nl-BE" dirty="0"/>
              <a:t>Interessante meeteenheid? 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530170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EDC787-BCD0-6441-91CD-FD0DD26C0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Variabelen standaardiseren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72D0295-B26E-B44B-9033-8B734F3772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41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1A9C5B9-2E51-F64E-8F26-374744976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Ook regressiecoëfficiënten zijn niet altijd makkelijk interpreteerbaar</a:t>
            </a:r>
          </a:p>
          <a:p>
            <a:pPr lvl="1"/>
            <a:r>
              <a:rPr lang="nl-BE" dirty="0"/>
              <a:t>Slope ‘Neuroticisme’ = het effect van één punt hoger scoren voor ‘Neuroticisme’ …</a:t>
            </a:r>
          </a:p>
          <a:p>
            <a:pPr lvl="1"/>
            <a:r>
              <a:rPr lang="nl-BE" dirty="0"/>
              <a:t>Wat betekent dat? </a:t>
            </a:r>
          </a:p>
          <a:p>
            <a:pPr lvl="1"/>
            <a:endParaRPr lang="nl-BE" dirty="0"/>
          </a:p>
          <a:p>
            <a:endParaRPr lang="nl-BE" sz="1100" dirty="0"/>
          </a:p>
          <a:p>
            <a:r>
              <a:rPr lang="nl-BE" dirty="0"/>
              <a:t>Vaak zijn onafhankelijke variabelen uitgedrukt op een schaal die we niet kunnen interpreteren</a:t>
            </a:r>
          </a:p>
          <a:p>
            <a:pPr lvl="1"/>
            <a:r>
              <a:rPr lang="nl-BE" dirty="0"/>
              <a:t>Interessante meeteenheid? </a:t>
            </a:r>
            <a:r>
              <a:rPr lang="nl-BE" i="1" dirty="0"/>
              <a:t>Standaardafwijking!</a:t>
            </a:r>
          </a:p>
          <a:p>
            <a:pPr lvl="1"/>
            <a:r>
              <a:rPr lang="nl-BE" dirty="0"/>
              <a:t>Gestandaardiseerde variabele: gemiddelde = 0 en </a:t>
            </a:r>
            <a:r>
              <a:rPr lang="nl-BE" i="1" dirty="0"/>
              <a:t>SD</a:t>
            </a:r>
            <a:r>
              <a:rPr lang="nl-BE" dirty="0"/>
              <a:t> = 1</a:t>
            </a:r>
          </a:p>
          <a:p>
            <a:pPr lvl="1"/>
            <a:r>
              <a:rPr lang="nl-BE" dirty="0"/>
              <a:t>In R:      </a:t>
            </a:r>
            <a:r>
              <a:rPr lang="nl-BE" sz="15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dataHO$NeuroZ &lt;- </a:t>
            </a:r>
            <a:r>
              <a:rPr lang="nl-BE" sz="1500" b="1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scale(</a:t>
            </a:r>
            <a:r>
              <a:rPr lang="nl-BE" sz="15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dataHO$Neuroticisme)</a:t>
            </a:r>
            <a:br>
              <a:rPr lang="nl-BE" sz="15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sz="15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&gt; mean(dataHO$NeuroZ, na.rm = TRUE)</a:t>
            </a:r>
          </a:p>
          <a:p>
            <a:pPr marL="361940" lvl="1" indent="0">
              <a:buNone/>
            </a:pPr>
            <a:r>
              <a:rPr lang="nl-BE" sz="15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nl-BE" sz="15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</a:t>
            </a:r>
            <a:r>
              <a:rPr lang="nl-BE" sz="15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1.787104e-16</a:t>
            </a:r>
          </a:p>
          <a:p>
            <a:pPr marL="361940" lvl="1" indent="0">
              <a:buNone/>
            </a:pPr>
            <a:r>
              <a:rPr lang="nl-BE" sz="15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&gt; sd(dataHO$NeuroZ, na.rm = TRUE)</a:t>
            </a:r>
          </a:p>
          <a:p>
            <a:pPr marL="361940" lvl="1" indent="0">
              <a:buNone/>
            </a:pPr>
            <a:r>
              <a:rPr lang="nl-BE" sz="15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[1] </a:t>
            </a:r>
            <a:r>
              <a:rPr lang="nl-BE" sz="15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nl-BE" sz="1500" b="1" dirty="0"/>
          </a:p>
          <a:p>
            <a:pPr lvl="1"/>
            <a:endParaRPr lang="nl-BE" dirty="0"/>
          </a:p>
          <a:p>
            <a:endParaRPr lang="nl-BE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3577520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37291B-9A76-9F4A-8D55-FFB3F6BC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Variabelen centreren en standaardiseren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DF846FC-05F4-024F-BCD3-AA7CFF4E31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42</a:t>
            </a:fld>
            <a:endParaRPr lang="nl-BE" dirty="0"/>
          </a:p>
        </p:txBody>
      </p:sp>
      <p:graphicFrame>
        <p:nvGraphicFramePr>
          <p:cNvPr id="5" name="Tabel 5">
            <a:extLst>
              <a:ext uri="{FF2B5EF4-FFF2-40B4-BE49-F238E27FC236}">
                <a16:creationId xmlns:a16="http://schemas.microsoft.com/office/drawing/2014/main" id="{26BCBBBA-1FAE-4745-B4BF-B9744BA3C2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5490872"/>
              </p:ext>
            </p:extLst>
          </p:nvPr>
        </p:nvGraphicFramePr>
        <p:xfrm>
          <a:off x="175846" y="1337480"/>
          <a:ext cx="11852030" cy="511600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52954">
                  <a:extLst>
                    <a:ext uri="{9D8B030D-6E8A-4147-A177-3AD203B41FA5}">
                      <a16:colId xmlns:a16="http://schemas.microsoft.com/office/drawing/2014/main" val="1157601737"/>
                    </a:ext>
                  </a:extLst>
                </a:gridCol>
                <a:gridCol w="1617785">
                  <a:extLst>
                    <a:ext uri="{9D8B030D-6E8A-4147-A177-3AD203B41FA5}">
                      <a16:colId xmlns:a16="http://schemas.microsoft.com/office/drawing/2014/main" val="3483963351"/>
                    </a:ext>
                  </a:extLst>
                </a:gridCol>
                <a:gridCol w="2497015">
                  <a:extLst>
                    <a:ext uri="{9D8B030D-6E8A-4147-A177-3AD203B41FA5}">
                      <a16:colId xmlns:a16="http://schemas.microsoft.com/office/drawing/2014/main" val="131487909"/>
                    </a:ext>
                  </a:extLst>
                </a:gridCol>
                <a:gridCol w="3476741">
                  <a:extLst>
                    <a:ext uri="{9D8B030D-6E8A-4147-A177-3AD203B41FA5}">
                      <a16:colId xmlns:a16="http://schemas.microsoft.com/office/drawing/2014/main" val="1166979952"/>
                    </a:ext>
                  </a:extLst>
                </a:gridCol>
                <a:gridCol w="2607535">
                  <a:extLst>
                    <a:ext uri="{9D8B030D-6E8A-4147-A177-3AD203B41FA5}">
                      <a16:colId xmlns:a16="http://schemas.microsoft.com/office/drawing/2014/main" val="1924256689"/>
                    </a:ext>
                  </a:extLst>
                </a:gridCol>
              </a:tblGrid>
              <a:tr h="948520">
                <a:tc>
                  <a:txBody>
                    <a:bodyPr/>
                    <a:lstStyle/>
                    <a:p>
                      <a:pPr algn="ctr"/>
                      <a:endParaRPr lang="nl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Origineel</a:t>
                      </a:r>
                    </a:p>
                    <a:p>
                      <a:pPr algn="ctr"/>
                      <a:r>
                        <a:rPr lang="nl-BE" sz="1800" dirty="0">
                          <a:solidFill>
                            <a:schemeClr val="tx1"/>
                          </a:solidFill>
                        </a:rPr>
                        <a:t>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Centreren </a:t>
                      </a:r>
                    </a:p>
                    <a:p>
                      <a:pPr algn="ctr"/>
                      <a:r>
                        <a:rPr lang="nl-BE" sz="1800" dirty="0">
                          <a:solidFill>
                            <a:schemeClr val="bg2"/>
                          </a:solidFill>
                        </a:rPr>
                        <a:t>(Alleen ‘Neuroticisme’)</a:t>
                      </a:r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Standaardiseren </a:t>
                      </a:r>
                      <a:endParaRPr lang="nl-BE" sz="1800" dirty="0"/>
                    </a:p>
                    <a:p>
                      <a:pPr algn="ctr"/>
                      <a:r>
                        <a:rPr lang="nl-BE" sz="1800" dirty="0">
                          <a:solidFill>
                            <a:schemeClr val="bg2"/>
                          </a:solidFill>
                        </a:rPr>
                        <a:t>Alle KWAN onfhankelijke variabelen</a:t>
                      </a:r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811257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  2.93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/>
                        <a:t>    </a:t>
                      </a:r>
                      <a:r>
                        <a:rPr lang="nl-BE" sz="1600" b="1" dirty="0"/>
                        <a:t>3.23</a:t>
                      </a:r>
                      <a:r>
                        <a:rPr lang="nl-BE" sz="1600" b="1" baseline="30000" dirty="0"/>
                        <a:t>***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600" b="1" dirty="0"/>
                        <a:t>    2.67</a:t>
                      </a:r>
                      <a:r>
                        <a:rPr lang="nl-BE" sz="1600" b="1" baseline="30000" dirty="0"/>
                        <a:t>***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997987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82753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Vrouw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65618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-0.01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0045968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BSO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39648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KSO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455923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TSO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7830934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Conscientieusheid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1538174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Openheid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-0.01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915635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Neuroticisme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 0.11</a:t>
                      </a:r>
                      <a:r>
                        <a:rPr lang="nl-BE" sz="1600" b="1" baseline="30000" dirty="0"/>
                        <a:t>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 0.07</a:t>
                      </a:r>
                      <a:r>
                        <a:rPr lang="nl-BE" sz="1600" b="1" baseline="30000" dirty="0"/>
                        <a:t>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266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Zelfeffectiviteit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-0.25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-0.25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   -0.32</a:t>
                      </a:r>
                      <a:r>
                        <a:rPr lang="nl-BE" sz="1600" b="1" baseline="30000" dirty="0"/>
                        <a:t>***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191665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Demotivatie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    0.11</a:t>
                      </a:r>
                      <a:r>
                        <a:rPr lang="nl-BE" sz="1600" b="1" baseline="30000" dirty="0"/>
                        <a:t>***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615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1256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37291B-9A76-9F4A-8D55-FFB3F6BC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Variabelen centreren en standaardiseren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DF846FC-05F4-024F-BCD3-AA7CFF4E31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43</a:t>
            </a:fld>
            <a:endParaRPr lang="nl-BE" dirty="0"/>
          </a:p>
        </p:txBody>
      </p:sp>
      <p:graphicFrame>
        <p:nvGraphicFramePr>
          <p:cNvPr id="5" name="Tabel 5">
            <a:extLst>
              <a:ext uri="{FF2B5EF4-FFF2-40B4-BE49-F238E27FC236}">
                <a16:creationId xmlns:a16="http://schemas.microsoft.com/office/drawing/2014/main" id="{26BCBBBA-1FAE-4745-B4BF-B9744BA3C2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3944229"/>
              </p:ext>
            </p:extLst>
          </p:nvPr>
        </p:nvGraphicFramePr>
        <p:xfrm>
          <a:off x="175846" y="1337480"/>
          <a:ext cx="11852030" cy="511600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52954">
                  <a:extLst>
                    <a:ext uri="{9D8B030D-6E8A-4147-A177-3AD203B41FA5}">
                      <a16:colId xmlns:a16="http://schemas.microsoft.com/office/drawing/2014/main" val="1157601737"/>
                    </a:ext>
                  </a:extLst>
                </a:gridCol>
                <a:gridCol w="1617785">
                  <a:extLst>
                    <a:ext uri="{9D8B030D-6E8A-4147-A177-3AD203B41FA5}">
                      <a16:colId xmlns:a16="http://schemas.microsoft.com/office/drawing/2014/main" val="3483963351"/>
                    </a:ext>
                  </a:extLst>
                </a:gridCol>
                <a:gridCol w="2497015">
                  <a:extLst>
                    <a:ext uri="{9D8B030D-6E8A-4147-A177-3AD203B41FA5}">
                      <a16:colId xmlns:a16="http://schemas.microsoft.com/office/drawing/2014/main" val="131487909"/>
                    </a:ext>
                  </a:extLst>
                </a:gridCol>
                <a:gridCol w="3476741">
                  <a:extLst>
                    <a:ext uri="{9D8B030D-6E8A-4147-A177-3AD203B41FA5}">
                      <a16:colId xmlns:a16="http://schemas.microsoft.com/office/drawing/2014/main" val="1166979952"/>
                    </a:ext>
                  </a:extLst>
                </a:gridCol>
                <a:gridCol w="2607535">
                  <a:extLst>
                    <a:ext uri="{9D8B030D-6E8A-4147-A177-3AD203B41FA5}">
                      <a16:colId xmlns:a16="http://schemas.microsoft.com/office/drawing/2014/main" val="1924256689"/>
                    </a:ext>
                  </a:extLst>
                </a:gridCol>
              </a:tblGrid>
              <a:tr h="948520">
                <a:tc>
                  <a:txBody>
                    <a:bodyPr/>
                    <a:lstStyle/>
                    <a:p>
                      <a:pPr algn="ctr"/>
                      <a:endParaRPr lang="nl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Origineel</a:t>
                      </a:r>
                    </a:p>
                    <a:p>
                      <a:pPr algn="ctr"/>
                      <a:r>
                        <a:rPr lang="nl-BE" sz="1800" dirty="0">
                          <a:solidFill>
                            <a:schemeClr val="tx1"/>
                          </a:solidFill>
                        </a:rPr>
                        <a:t>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Centreren </a:t>
                      </a:r>
                    </a:p>
                    <a:p>
                      <a:pPr algn="ctr"/>
                      <a:r>
                        <a:rPr lang="nl-BE" sz="1800" dirty="0">
                          <a:solidFill>
                            <a:schemeClr val="bg2"/>
                          </a:solidFill>
                        </a:rPr>
                        <a:t>(Alleen ‘Neuroticisme’)</a:t>
                      </a:r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Standaardiseren </a:t>
                      </a:r>
                      <a:endParaRPr lang="nl-BE" sz="1800" dirty="0"/>
                    </a:p>
                    <a:p>
                      <a:pPr algn="ctr"/>
                      <a:r>
                        <a:rPr lang="nl-BE" sz="1800" dirty="0">
                          <a:solidFill>
                            <a:schemeClr val="bg2"/>
                          </a:solidFill>
                        </a:rPr>
                        <a:t>Alle KWAN onfhankelijke variabelen</a:t>
                      </a:r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811257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  2.93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/>
                        <a:t>    </a:t>
                      </a:r>
                      <a:r>
                        <a:rPr lang="nl-BE" sz="1600" b="1" dirty="0"/>
                        <a:t>3.23</a:t>
                      </a:r>
                      <a:r>
                        <a:rPr lang="nl-BE" sz="1600" b="1" baseline="30000" dirty="0"/>
                        <a:t>***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600" b="0" dirty="0"/>
                        <a:t>    2.67</a:t>
                      </a:r>
                      <a:r>
                        <a:rPr lang="nl-BE" sz="1600" b="0" baseline="30000" dirty="0"/>
                        <a:t>***</a:t>
                      </a:r>
                      <a:endParaRPr lang="nl-BE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997987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/>
                        <a:t>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82753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Vrouw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>
                          <a:solidFill>
                            <a:srgbClr val="FF0000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65618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/>
                        <a:t>-0.01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0045968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BSO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>
                          <a:solidFill>
                            <a:srgbClr val="FF0000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39648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KSO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>
                          <a:solidFill>
                            <a:srgbClr val="FF0000"/>
                          </a:solidFill>
                        </a:rPr>
                        <a:t> 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455923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TSO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>
                          <a:solidFill>
                            <a:srgbClr val="FF0000"/>
                          </a:solidFill>
                        </a:rPr>
                        <a:t>  0.18</a:t>
                      </a:r>
                      <a:r>
                        <a:rPr lang="nl-BE" sz="1600" b="1" baseline="300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nl-BE" sz="16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7830934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Conscientieusheid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/>
                        <a:t> 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1538174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Openheid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/>
                        <a:t>-0.01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915635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Neuroticisme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 0.11</a:t>
                      </a:r>
                      <a:r>
                        <a:rPr lang="nl-BE" sz="1600" b="1" baseline="30000" dirty="0"/>
                        <a:t>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/>
                        <a:t>  0.07</a:t>
                      </a:r>
                      <a:r>
                        <a:rPr lang="nl-BE" sz="1600" b="0" baseline="30000" dirty="0"/>
                        <a:t>*</a:t>
                      </a:r>
                      <a:endParaRPr lang="nl-BE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266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Zelfeffectiviteit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-0.25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-0.25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/>
                        <a:t>    -0.32</a:t>
                      </a:r>
                      <a:r>
                        <a:rPr lang="nl-BE" sz="1600" b="0" baseline="30000" dirty="0"/>
                        <a:t>***</a:t>
                      </a:r>
                      <a:endParaRPr lang="nl-BE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191665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Demotivatie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/>
                        <a:t>     0.11</a:t>
                      </a:r>
                      <a:r>
                        <a:rPr lang="nl-BE" sz="1600" b="0" baseline="30000" dirty="0"/>
                        <a:t>***</a:t>
                      </a:r>
                      <a:endParaRPr lang="nl-BE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nl-BE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615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3111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37291B-9A76-9F4A-8D55-FFB3F6BC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Variabelen centreren en standaardiseren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DF846FC-05F4-024F-BCD3-AA7CFF4E31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44</a:t>
            </a:fld>
            <a:endParaRPr lang="nl-BE" dirty="0"/>
          </a:p>
        </p:txBody>
      </p:sp>
      <p:graphicFrame>
        <p:nvGraphicFramePr>
          <p:cNvPr id="5" name="Tabel 5">
            <a:extLst>
              <a:ext uri="{FF2B5EF4-FFF2-40B4-BE49-F238E27FC236}">
                <a16:creationId xmlns:a16="http://schemas.microsoft.com/office/drawing/2014/main" id="{26BCBBBA-1FAE-4745-B4BF-B9744BA3C2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9786803"/>
              </p:ext>
            </p:extLst>
          </p:nvPr>
        </p:nvGraphicFramePr>
        <p:xfrm>
          <a:off x="175846" y="1337480"/>
          <a:ext cx="11852030" cy="511600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52954">
                  <a:extLst>
                    <a:ext uri="{9D8B030D-6E8A-4147-A177-3AD203B41FA5}">
                      <a16:colId xmlns:a16="http://schemas.microsoft.com/office/drawing/2014/main" val="1157601737"/>
                    </a:ext>
                  </a:extLst>
                </a:gridCol>
                <a:gridCol w="1617785">
                  <a:extLst>
                    <a:ext uri="{9D8B030D-6E8A-4147-A177-3AD203B41FA5}">
                      <a16:colId xmlns:a16="http://schemas.microsoft.com/office/drawing/2014/main" val="3483963351"/>
                    </a:ext>
                  </a:extLst>
                </a:gridCol>
                <a:gridCol w="2497015">
                  <a:extLst>
                    <a:ext uri="{9D8B030D-6E8A-4147-A177-3AD203B41FA5}">
                      <a16:colId xmlns:a16="http://schemas.microsoft.com/office/drawing/2014/main" val="131487909"/>
                    </a:ext>
                  </a:extLst>
                </a:gridCol>
                <a:gridCol w="3476741">
                  <a:extLst>
                    <a:ext uri="{9D8B030D-6E8A-4147-A177-3AD203B41FA5}">
                      <a16:colId xmlns:a16="http://schemas.microsoft.com/office/drawing/2014/main" val="1166979952"/>
                    </a:ext>
                  </a:extLst>
                </a:gridCol>
                <a:gridCol w="2607535">
                  <a:extLst>
                    <a:ext uri="{9D8B030D-6E8A-4147-A177-3AD203B41FA5}">
                      <a16:colId xmlns:a16="http://schemas.microsoft.com/office/drawing/2014/main" val="1924256689"/>
                    </a:ext>
                  </a:extLst>
                </a:gridCol>
              </a:tblGrid>
              <a:tr h="948520">
                <a:tc>
                  <a:txBody>
                    <a:bodyPr/>
                    <a:lstStyle/>
                    <a:p>
                      <a:pPr algn="ctr"/>
                      <a:endParaRPr lang="nl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Origineel</a:t>
                      </a:r>
                    </a:p>
                    <a:p>
                      <a:pPr algn="ctr"/>
                      <a:r>
                        <a:rPr lang="nl-BE" sz="1800" dirty="0">
                          <a:solidFill>
                            <a:schemeClr val="tx1"/>
                          </a:solidFill>
                        </a:rPr>
                        <a:t>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Centreren </a:t>
                      </a:r>
                    </a:p>
                    <a:p>
                      <a:pPr algn="ctr"/>
                      <a:r>
                        <a:rPr lang="nl-BE" sz="1800" dirty="0">
                          <a:solidFill>
                            <a:schemeClr val="bg2"/>
                          </a:solidFill>
                        </a:rPr>
                        <a:t>(Alleen ‘Neuroticisme’)</a:t>
                      </a:r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Standaardiseren </a:t>
                      </a:r>
                      <a:endParaRPr lang="nl-BE" sz="1800" dirty="0"/>
                    </a:p>
                    <a:p>
                      <a:pPr algn="ctr"/>
                      <a:r>
                        <a:rPr lang="nl-BE" sz="1800" dirty="0">
                          <a:solidFill>
                            <a:schemeClr val="bg2"/>
                          </a:solidFill>
                        </a:rPr>
                        <a:t>Alle KWAN onfhankelijke variabelen</a:t>
                      </a:r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dirty="0"/>
                        <a:t>Standaardiseren</a:t>
                      </a:r>
                      <a:r>
                        <a:rPr lang="nl-BE" sz="1800" dirty="0"/>
                        <a:t> </a:t>
                      </a:r>
                    </a:p>
                    <a:p>
                      <a:pPr algn="ctr"/>
                      <a:r>
                        <a:rPr lang="nl-BE" sz="1800" dirty="0">
                          <a:solidFill>
                            <a:schemeClr val="bg2"/>
                          </a:solidFill>
                        </a:rPr>
                        <a:t>Alle KWAN variabelen</a:t>
                      </a:r>
                      <a:endParaRPr lang="nl-BE" sz="1800" i="1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811257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  2.93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/>
                        <a:t>    </a:t>
                      </a:r>
                      <a:r>
                        <a:rPr lang="nl-BE" sz="1600" b="1" dirty="0"/>
                        <a:t>3.23</a:t>
                      </a:r>
                      <a:r>
                        <a:rPr lang="nl-BE" sz="1600" b="1" baseline="30000" dirty="0"/>
                        <a:t>***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600" b="1" dirty="0"/>
                        <a:t>    2.67</a:t>
                      </a:r>
                      <a:r>
                        <a:rPr lang="nl-BE" sz="1600" b="1" baseline="30000" dirty="0"/>
                        <a:t>***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>
                          <a:solidFill>
                            <a:schemeClr val="tx2"/>
                          </a:solidFill>
                        </a:rPr>
                        <a:t>-0.13</a:t>
                      </a:r>
                      <a:endParaRPr lang="nl-BE" sz="1600" b="1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997987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>
                          <a:solidFill>
                            <a:schemeClr val="bg2"/>
                          </a:solidFill>
                        </a:rPr>
                        <a:t>0.04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82753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Vrouw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0.09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65618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-0.01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>
                          <a:solidFill>
                            <a:schemeClr val="bg2"/>
                          </a:solidFill>
                        </a:rPr>
                        <a:t>-0.02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0045968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BSO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-1.16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39648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KSO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0.27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455923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TSO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0.21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7830934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Conscientieusheid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>
                          <a:solidFill>
                            <a:schemeClr val="bg2"/>
                          </a:solidFill>
                        </a:rPr>
                        <a:t> 0.07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1538174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Openheid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-0.03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-0.01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>
                          <a:solidFill>
                            <a:schemeClr val="bg2"/>
                          </a:solidFill>
                        </a:rPr>
                        <a:t>-0.02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915635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Neuroticisme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0.11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 0.11</a:t>
                      </a:r>
                      <a:r>
                        <a:rPr lang="nl-BE" sz="1600" b="1" baseline="30000" dirty="0"/>
                        <a:t>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 0.07</a:t>
                      </a:r>
                      <a:r>
                        <a:rPr lang="nl-BE" sz="1600" b="1" baseline="30000" dirty="0"/>
                        <a:t>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>
                          <a:solidFill>
                            <a:schemeClr val="bg2"/>
                          </a:solidFill>
                        </a:rPr>
                        <a:t> 0.09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2660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Zelfeffectiviteit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-0.25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-0.25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   -0.32</a:t>
                      </a:r>
                      <a:r>
                        <a:rPr lang="nl-BE" sz="1600" b="1" baseline="30000" dirty="0"/>
                        <a:t>***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>
                          <a:solidFill>
                            <a:schemeClr val="bg2"/>
                          </a:solidFill>
                        </a:rPr>
                        <a:t>-0.38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191665"/>
                  </a:ext>
                </a:extLst>
              </a:tr>
              <a:tr h="342514">
                <a:tc>
                  <a:txBody>
                    <a:bodyPr/>
                    <a:lstStyle/>
                    <a:p>
                      <a:r>
                        <a:rPr lang="nl-BE" sz="1400" dirty="0"/>
                        <a:t>Demotivatie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dirty="0">
                          <a:solidFill>
                            <a:schemeClr val="bg2"/>
                          </a:solidFill>
                        </a:rPr>
                        <a:t>    0.18</a:t>
                      </a:r>
                      <a:r>
                        <a:rPr lang="nl-BE" sz="1600" baseline="30000" dirty="0">
                          <a:solidFill>
                            <a:schemeClr val="bg2"/>
                          </a:solidFill>
                        </a:rPr>
                        <a:t>***</a:t>
                      </a:r>
                      <a:endParaRPr lang="nl-BE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1" dirty="0"/>
                        <a:t>     0.11</a:t>
                      </a:r>
                      <a:r>
                        <a:rPr lang="nl-BE" sz="1600" b="1" baseline="30000" dirty="0"/>
                        <a:t>***</a:t>
                      </a:r>
                      <a:endParaRPr lang="nl-BE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600" b="0" dirty="0">
                          <a:solidFill>
                            <a:schemeClr val="bg2"/>
                          </a:solidFill>
                        </a:rPr>
                        <a:t> 0.14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615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40073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54D22A-7944-3546-B081-1EF9C45ED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Dummyvariabelen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9BCB285-82CE-F049-BE07-AC4F54B8EA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45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E03184B-7C57-424B-B0D5-63B54C450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Categorische variabele omzetten naar een reeks van dummyvariabelen</a:t>
            </a:r>
          </a:p>
          <a:p>
            <a:pPr lvl="1"/>
            <a:r>
              <a:rPr lang="nl-BE" dirty="0"/>
              <a:t>2 categorieën -&gt; 1 dummyvariabele</a:t>
            </a:r>
          </a:p>
          <a:p>
            <a:pPr lvl="1"/>
            <a:r>
              <a:rPr lang="nl-BE" dirty="0"/>
              <a:t>3 categorieën -&gt;  2 dummyvariabelen</a:t>
            </a:r>
          </a:p>
          <a:p>
            <a:pPr lvl="1"/>
            <a:r>
              <a:rPr lang="nl-BE" dirty="0"/>
              <a:t>4 categorieën  -&gt; 3 dummyvariabelen … </a:t>
            </a:r>
          </a:p>
          <a:p>
            <a:pPr lvl="1"/>
            <a:r>
              <a:rPr lang="nl-BE" dirty="0"/>
              <a:t>…</a:t>
            </a:r>
          </a:p>
          <a:p>
            <a:pPr lvl="1"/>
            <a:endParaRPr lang="nl-BE" dirty="0"/>
          </a:p>
          <a:p>
            <a:r>
              <a:rPr lang="nl-BE" dirty="0"/>
              <a:t>Hoe zou een dummyvariabele ‘GeslachtD’ eruit kunnen zien?</a:t>
            </a:r>
          </a:p>
          <a:p>
            <a:endParaRPr lang="nl-BE" dirty="0"/>
          </a:p>
          <a:p>
            <a:pPr lvl="1"/>
            <a:endParaRPr lang="nl-BE" dirty="0"/>
          </a:p>
        </p:txBody>
      </p:sp>
      <p:graphicFrame>
        <p:nvGraphicFramePr>
          <p:cNvPr id="6" name="Tabel 6">
            <a:extLst>
              <a:ext uri="{FF2B5EF4-FFF2-40B4-BE49-F238E27FC236}">
                <a16:creationId xmlns:a16="http://schemas.microsoft.com/office/drawing/2014/main" id="{9848FE65-5994-8041-81D0-107459F79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236102"/>
              </p:ext>
            </p:extLst>
          </p:nvPr>
        </p:nvGraphicFramePr>
        <p:xfrm>
          <a:off x="2070910" y="4916631"/>
          <a:ext cx="2987472" cy="13716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489413">
                  <a:extLst>
                    <a:ext uri="{9D8B030D-6E8A-4147-A177-3AD203B41FA5}">
                      <a16:colId xmlns:a16="http://schemas.microsoft.com/office/drawing/2014/main" val="2456935640"/>
                    </a:ext>
                  </a:extLst>
                </a:gridCol>
                <a:gridCol w="1498059">
                  <a:extLst>
                    <a:ext uri="{9D8B030D-6E8A-4147-A177-3AD203B41FA5}">
                      <a16:colId xmlns:a16="http://schemas.microsoft.com/office/drawing/2014/main" val="2749654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nl-BE" dirty="0">
                        <a:solidFill>
                          <a:schemeClr val="accent4"/>
                        </a:solidFill>
                      </a:endParaRPr>
                    </a:p>
                  </a:txBody>
                  <a:tcPr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GeslachtD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12869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>
                          <a:solidFill>
                            <a:schemeClr val="accent4"/>
                          </a:solidFill>
                        </a:rPr>
                        <a:t>man</a:t>
                      </a:r>
                    </a:p>
                  </a:txBody>
                  <a:tcPr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01808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>
                          <a:solidFill>
                            <a:schemeClr val="accent4"/>
                          </a:solidFill>
                        </a:rPr>
                        <a:t>vrouw</a:t>
                      </a:r>
                    </a:p>
                  </a:txBody>
                  <a:tcPr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3037001"/>
                  </a:ext>
                </a:extLst>
              </a:tr>
            </a:tbl>
          </a:graphicData>
        </a:graphic>
      </p:graphicFrame>
      <p:sp>
        <p:nvSpPr>
          <p:cNvPr id="9" name="Tekstvak 8">
            <a:extLst>
              <a:ext uri="{FF2B5EF4-FFF2-40B4-BE49-F238E27FC236}">
                <a16:creationId xmlns:a16="http://schemas.microsoft.com/office/drawing/2014/main" id="{0E592FC1-39B5-5740-8E32-756AE4BCBFCA}"/>
              </a:ext>
            </a:extLst>
          </p:cNvPr>
          <p:cNvSpPr txBox="1"/>
          <p:nvPr/>
        </p:nvSpPr>
        <p:spPr>
          <a:xfrm>
            <a:off x="5407926" y="5459074"/>
            <a:ext cx="5810642" cy="7587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800" i="1" dirty="0">
                <a:solidFill>
                  <a:schemeClr val="tx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‘GeslachtD’ staat aan voor “vrouw”</a:t>
            </a:r>
          </a:p>
        </p:txBody>
      </p:sp>
    </p:spTree>
    <p:extLst>
      <p:ext uri="{BB962C8B-B14F-4D97-AF65-F5344CB8AC3E}">
        <p14:creationId xmlns:p14="http://schemas.microsoft.com/office/powerpoint/2010/main" val="32702072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99434A-D8C8-9E44-9086-F6EFC3A1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Dummyvariabelen (meer dan 2 cat.)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19ED099-50CD-2F47-8823-B2D7AF2A6C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46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61AE866-2300-3F45-ACFF-F2A6D51E6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Hoe variabele ‘Onderwijsvorm’ omzetten naar reeks dummyvariabelen?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dirty="0"/>
              <a:t>Welke dummyvariabelen opnemen in je model als …</a:t>
            </a:r>
          </a:p>
          <a:p>
            <a:pPr lvl="1"/>
            <a:r>
              <a:rPr lang="nl-BE" dirty="0"/>
              <a:t>het intercept moet gelden voor ASO-leerlingen?</a:t>
            </a:r>
          </a:p>
          <a:p>
            <a:pPr lvl="1"/>
            <a:r>
              <a:rPr lang="nl-BE" dirty="0"/>
              <a:t>het intercept moet gelden voor KSO-leerlingen?</a:t>
            </a:r>
          </a:p>
          <a:p>
            <a:pPr lvl="1"/>
            <a:r>
              <a:rPr lang="nl-BE" dirty="0"/>
              <a:t>Het intercept moet gelden voor TSO- én BSO-leerlingen?</a:t>
            </a:r>
          </a:p>
          <a:p>
            <a:endParaRPr lang="nl-BE" dirty="0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17A1A972-341D-2747-AA26-705DFC5EB2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815756"/>
              </p:ext>
            </p:extLst>
          </p:nvPr>
        </p:nvGraphicFramePr>
        <p:xfrm>
          <a:off x="920885" y="2077483"/>
          <a:ext cx="5309987" cy="184912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842883">
                  <a:extLst>
                    <a:ext uri="{9D8B030D-6E8A-4147-A177-3AD203B41FA5}">
                      <a16:colId xmlns:a16="http://schemas.microsoft.com/office/drawing/2014/main" val="3319155863"/>
                    </a:ext>
                  </a:extLst>
                </a:gridCol>
                <a:gridCol w="1116776">
                  <a:extLst>
                    <a:ext uri="{9D8B030D-6E8A-4147-A177-3AD203B41FA5}">
                      <a16:colId xmlns:a16="http://schemas.microsoft.com/office/drawing/2014/main" val="2877448205"/>
                    </a:ext>
                  </a:extLst>
                </a:gridCol>
                <a:gridCol w="1116776">
                  <a:extLst>
                    <a:ext uri="{9D8B030D-6E8A-4147-A177-3AD203B41FA5}">
                      <a16:colId xmlns:a16="http://schemas.microsoft.com/office/drawing/2014/main" val="190132942"/>
                    </a:ext>
                  </a:extLst>
                </a:gridCol>
                <a:gridCol w="1116776">
                  <a:extLst>
                    <a:ext uri="{9D8B030D-6E8A-4147-A177-3AD203B41FA5}">
                      <a16:colId xmlns:a16="http://schemas.microsoft.com/office/drawing/2014/main" val="992383256"/>
                    </a:ext>
                  </a:extLst>
                </a:gridCol>
                <a:gridCol w="1116776">
                  <a:extLst>
                    <a:ext uri="{9D8B030D-6E8A-4147-A177-3AD203B41FA5}">
                      <a16:colId xmlns:a16="http://schemas.microsoft.com/office/drawing/2014/main" val="33722860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nl-BE" sz="1800" dirty="0">
                        <a:solidFill>
                          <a:schemeClr val="accent4"/>
                        </a:solidFill>
                      </a:endParaRPr>
                    </a:p>
                  </a:txBody>
                  <a:tcPr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ASO_D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BSO_D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KSO_D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TSO_D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2063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800" dirty="0">
                          <a:solidFill>
                            <a:schemeClr val="accent4"/>
                          </a:solidFill>
                        </a:rPr>
                        <a:t>ASO</a:t>
                      </a:r>
                    </a:p>
                  </a:txBody>
                  <a:tcPr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19768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800" dirty="0">
                          <a:solidFill>
                            <a:schemeClr val="accent4"/>
                          </a:solidFill>
                        </a:rPr>
                        <a:t>BSO</a:t>
                      </a:r>
                    </a:p>
                  </a:txBody>
                  <a:tcPr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4244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800" dirty="0">
                          <a:solidFill>
                            <a:schemeClr val="accent4"/>
                          </a:solidFill>
                        </a:rPr>
                        <a:t>KSO</a:t>
                      </a:r>
                    </a:p>
                  </a:txBody>
                  <a:tcPr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65553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800" dirty="0">
                          <a:solidFill>
                            <a:schemeClr val="accent4"/>
                          </a:solidFill>
                        </a:rPr>
                        <a:t>TSO</a:t>
                      </a:r>
                    </a:p>
                  </a:txBody>
                  <a:tcPr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800" dirty="0"/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77277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0768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33B014-2BD3-C049-AD8D-08C4F399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Dummyva     iabelen maken en controleren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FF3B029-146A-9744-B504-4E096064AD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47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472E78A-2CEF-DE46-BECC-A89BF2177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dataHO$ASO_D 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&lt;-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(dataHO$Onderwijsvorm=="ASO") * 1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dataHO$BSO_D &lt;- (dataHO$Onderwijsvorm=="BSO") * 1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dataHO$KSO_D &lt;- (dataHO$Onderwijsvorm=="KSO") * 1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dataHO$TSO_D &lt;- (dataHO$Onderwijsvorm=="TSO") * 1</a:t>
            </a:r>
          </a:p>
          <a:p>
            <a:pPr>
              <a:buFont typeface="Wingdings" pitchFamily="2" charset="2"/>
              <a:buChar char="Ø"/>
            </a:pP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table(dataHO$ASO_D, dataHO$ASO)</a:t>
            </a:r>
            <a:endParaRPr lang="nl-B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0    1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0 </a:t>
            </a:r>
            <a:r>
              <a:rPr 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1968 </a:t>
            </a: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0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1    0 </a:t>
            </a:r>
            <a:r>
              <a:rPr 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1731</a:t>
            </a:r>
          </a:p>
        </p:txBody>
      </p:sp>
      <p:pic>
        <p:nvPicPr>
          <p:cNvPr id="5" name="Picture 2" descr="Afbeeldingsresultaat voor R">
            <a:extLst>
              <a:ext uri="{FF2B5EF4-FFF2-40B4-BE49-F238E27FC236}">
                <a16:creationId xmlns:a16="http://schemas.microsoft.com/office/drawing/2014/main" id="{18A574CB-DBD8-0C40-8D40-2BE9F4D95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4000" r="94667">
                        <a14:foregroundMark x1="15556" y1="24889" x2="4000" y2="64000"/>
                        <a14:foregroundMark x1="4000" y1="64000" x2="4000" y2="65778"/>
                        <a14:foregroundMark x1="19556" y1="12000" x2="55111" y2="7556"/>
                        <a14:foregroundMark x1="55111" y1="7556" x2="61333" y2="7556"/>
                        <a14:foregroundMark x1="20000" y1="51556" x2="35111" y2="84000"/>
                        <a14:foregroundMark x1="35111" y1="84000" x2="57333" y2="84000"/>
                        <a14:foregroundMark x1="57333" y1="84000" x2="76444" y2="71556"/>
                        <a14:foregroundMark x1="76444" y1="71556" x2="80000" y2="51556"/>
                        <a14:foregroundMark x1="80000" y1="51556" x2="76000" y2="44444"/>
                        <a14:foregroundMark x1="47111" y1="58222" x2="55556" y2="67111"/>
                        <a14:foregroundMark x1="39556" y1="53333" x2="39556" y2="26222"/>
                        <a14:foregroundMark x1="47111" y1="35111" x2="55556" y2="38222"/>
                        <a14:foregroundMark x1="48889" y1="28000" x2="65778" y2="30222"/>
                        <a14:foregroundMark x1="65778" y1="30222" x2="56000" y2="44444"/>
                        <a14:foregroundMark x1="56000" y1="44444" x2="65333" y2="68000"/>
                        <a14:foregroundMark x1="31556" y1="67111" x2="45333" y2="67111"/>
                        <a14:foregroundMark x1="81333" y1="35556" x2="89778" y2="64000"/>
                        <a14:foregroundMark x1="62667" y1="90222" x2="82667" y2="83556"/>
                        <a14:foregroundMark x1="82667" y1="83556" x2="91111" y2="64444"/>
                        <a14:foregroundMark x1="91111" y1="64444" x2="88000" y2="24000"/>
                        <a14:foregroundMark x1="88000" y1="24000" x2="78667" y2="16444"/>
                        <a14:foregroundMark x1="39556" y1="92889" x2="39556" y2="92889"/>
                        <a14:foregroundMark x1="43111" y1="98667" x2="51556" y2="99111"/>
                        <a14:foregroundMark x1="39556" y1="67111" x2="39556" y2="56444"/>
                        <a14:foregroundMark x1="24444" y1="8444" x2="31111" y2="5778"/>
                        <a14:foregroundMark x1="48444" y1="48889" x2="54222" y2="52889"/>
                        <a14:foregroundMark x1="93333" y1="44000" x2="94667" y2="50667"/>
                        <a14:foregroundMark x1="33778" y1="4889" x2="50667" y2="2667"/>
                        <a14:foregroundMark x1="50667" y1="2667" x2="51556" y2="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407" y="662915"/>
            <a:ext cx="504703" cy="50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94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33B014-2BD3-C049-AD8D-08C4F399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Dummyva     iabelen opnemen in model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FF3B029-146A-9744-B504-4E096064AD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48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472E78A-2CEF-DE46-BECC-A89BF2177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Model3_met.dummies &lt;- lm(AanpassingZ ~ SESZ  + Geslacht + IQZ + 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           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ASO_D + KSO_D + TSO_D </a:t>
            </a: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            ConscZ + OpenheidZ + NeuroZ +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            ZelfeffZ + DemotZ,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data = dataHO)</a:t>
            </a:r>
          </a:p>
          <a:p>
            <a:pPr marL="0" indent="0">
              <a:buNone/>
            </a:pPr>
            <a:endParaRPr lang="nl-BE" sz="9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2" descr="Afbeeldingsresultaat voor R">
            <a:extLst>
              <a:ext uri="{FF2B5EF4-FFF2-40B4-BE49-F238E27FC236}">
                <a16:creationId xmlns:a16="http://schemas.microsoft.com/office/drawing/2014/main" id="{18A574CB-DBD8-0C40-8D40-2BE9F4D95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4000" r="94667">
                        <a14:foregroundMark x1="15556" y1="24889" x2="4000" y2="64000"/>
                        <a14:foregroundMark x1="4000" y1="64000" x2="4000" y2="65778"/>
                        <a14:foregroundMark x1="19556" y1="12000" x2="55111" y2="7556"/>
                        <a14:foregroundMark x1="55111" y1="7556" x2="61333" y2="7556"/>
                        <a14:foregroundMark x1="20000" y1="51556" x2="35111" y2="84000"/>
                        <a14:foregroundMark x1="35111" y1="84000" x2="57333" y2="84000"/>
                        <a14:foregroundMark x1="57333" y1="84000" x2="76444" y2="71556"/>
                        <a14:foregroundMark x1="76444" y1="71556" x2="80000" y2="51556"/>
                        <a14:foregroundMark x1="80000" y1="51556" x2="76000" y2="44444"/>
                        <a14:foregroundMark x1="47111" y1="58222" x2="55556" y2="67111"/>
                        <a14:foregroundMark x1="39556" y1="53333" x2="39556" y2="26222"/>
                        <a14:foregroundMark x1="47111" y1="35111" x2="55556" y2="38222"/>
                        <a14:foregroundMark x1="48889" y1="28000" x2="65778" y2="30222"/>
                        <a14:foregroundMark x1="65778" y1="30222" x2="56000" y2="44444"/>
                        <a14:foregroundMark x1="56000" y1="44444" x2="65333" y2="68000"/>
                        <a14:foregroundMark x1="31556" y1="67111" x2="45333" y2="67111"/>
                        <a14:foregroundMark x1="81333" y1="35556" x2="89778" y2="64000"/>
                        <a14:foregroundMark x1="62667" y1="90222" x2="82667" y2="83556"/>
                        <a14:foregroundMark x1="82667" y1="83556" x2="91111" y2="64444"/>
                        <a14:foregroundMark x1="91111" y1="64444" x2="88000" y2="24000"/>
                        <a14:foregroundMark x1="88000" y1="24000" x2="78667" y2="16444"/>
                        <a14:foregroundMark x1="39556" y1="92889" x2="39556" y2="92889"/>
                        <a14:foregroundMark x1="43111" y1="98667" x2="51556" y2="99111"/>
                        <a14:foregroundMark x1="39556" y1="67111" x2="39556" y2="56444"/>
                        <a14:foregroundMark x1="24444" y1="8444" x2="31111" y2="5778"/>
                        <a14:foregroundMark x1="48444" y1="48889" x2="54222" y2="52889"/>
                        <a14:foregroundMark x1="93333" y1="44000" x2="94667" y2="50667"/>
                        <a14:foregroundMark x1="33778" y1="4889" x2="50667" y2="2667"/>
                        <a14:foregroundMark x1="50667" y1="2667" x2="51556" y2="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407" y="662915"/>
            <a:ext cx="504703" cy="50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9172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33B014-2BD3-C049-AD8D-08C4F399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Dummyva     iabelen opnemen in model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FF3B029-146A-9744-B504-4E096064AD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49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472E78A-2CEF-DE46-BECC-A89BF2177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Model3_met.dummies &lt;- lm(AanpassingZ ~ SESZ  + Geslacht + IQZ + 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            ASO_D + KSO_D + TSO_D +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            ConscZ + OpenheidZ + NeuroZ +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            ZelfeffZ + DemotZ,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data = dataHO)</a:t>
            </a:r>
          </a:p>
          <a:p>
            <a:pPr marL="0" indent="0">
              <a:buNone/>
            </a:pPr>
            <a:endParaRPr lang="nl-BE" sz="9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summary(Model3_met.dummies)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Estimate Std. Error t value Pr(&gt;|t|)    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(Intercept)   -1.28886    0.88669  -1.454 0.146650    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SESZ           0.03979    0.03803   1.046 0.295865    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Geslachtvrouw  0.09074    0.08578   1.058 0.290600    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IQZ           -0.01677    0.04246  -0.395 0.693048    </a:t>
            </a:r>
          </a:p>
          <a:p>
            <a:pPr marL="0" indent="0">
              <a:buNone/>
            </a:pP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ASO_D          1.16094    0.88564   1.311 0.190470    </a:t>
            </a:r>
          </a:p>
          <a:p>
            <a:pPr marL="0" indent="0">
              <a:buNone/>
            </a:pP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KSO_D          1.43067    0.93568   1.529 0.126851    </a:t>
            </a:r>
          </a:p>
          <a:p>
            <a:pPr marL="0" indent="0">
              <a:buNone/>
            </a:pPr>
            <a:r>
              <a:rPr lang="nl-BE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TSO_D          1.37569    0.88775   1.550 0.121816    </a:t>
            </a:r>
          </a:p>
          <a:p>
            <a:pPr marL="0" indent="0">
              <a:buNone/>
            </a:pP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2" descr="Afbeeldingsresultaat voor R">
            <a:extLst>
              <a:ext uri="{FF2B5EF4-FFF2-40B4-BE49-F238E27FC236}">
                <a16:creationId xmlns:a16="http://schemas.microsoft.com/office/drawing/2014/main" id="{18A574CB-DBD8-0C40-8D40-2BE9F4D95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67" b="98667" l="4000" r="94667">
                        <a14:foregroundMark x1="15556" y1="24889" x2="4000" y2="64000"/>
                        <a14:foregroundMark x1="4000" y1="64000" x2="4000" y2="65778"/>
                        <a14:foregroundMark x1="19556" y1="12000" x2="55111" y2="7556"/>
                        <a14:foregroundMark x1="55111" y1="7556" x2="61333" y2="7556"/>
                        <a14:foregroundMark x1="20000" y1="51556" x2="35111" y2="84000"/>
                        <a14:foregroundMark x1="35111" y1="84000" x2="57333" y2="84000"/>
                        <a14:foregroundMark x1="57333" y1="84000" x2="76444" y2="71556"/>
                        <a14:foregroundMark x1="76444" y1="71556" x2="80000" y2="51556"/>
                        <a14:foregroundMark x1="80000" y1="51556" x2="76000" y2="44444"/>
                        <a14:foregroundMark x1="47111" y1="58222" x2="55556" y2="67111"/>
                        <a14:foregroundMark x1="39556" y1="53333" x2="39556" y2="26222"/>
                        <a14:foregroundMark x1="47111" y1="35111" x2="55556" y2="38222"/>
                        <a14:foregroundMark x1="48889" y1="28000" x2="65778" y2="30222"/>
                        <a14:foregroundMark x1="65778" y1="30222" x2="56000" y2="44444"/>
                        <a14:foregroundMark x1="56000" y1="44444" x2="65333" y2="68000"/>
                        <a14:foregroundMark x1="31556" y1="67111" x2="45333" y2="67111"/>
                        <a14:foregroundMark x1="81333" y1="35556" x2="89778" y2="64000"/>
                        <a14:foregroundMark x1="62667" y1="90222" x2="82667" y2="83556"/>
                        <a14:foregroundMark x1="82667" y1="83556" x2="91111" y2="64444"/>
                        <a14:foregroundMark x1="91111" y1="64444" x2="88000" y2="24000"/>
                        <a14:foregroundMark x1="88000" y1="24000" x2="78667" y2="16444"/>
                        <a14:foregroundMark x1="39556" y1="92889" x2="39556" y2="92889"/>
                        <a14:foregroundMark x1="43111" y1="98667" x2="51556" y2="99111"/>
                        <a14:foregroundMark x1="39556" y1="67111" x2="39556" y2="56444"/>
                        <a14:foregroundMark x1="24444" y1="8444" x2="31111" y2="5778"/>
                        <a14:foregroundMark x1="48444" y1="48889" x2="54222" y2="52889"/>
                        <a14:foregroundMark x1="93333" y1="44000" x2="94667" y2="50667"/>
                        <a14:foregroundMark x1="33778" y1="4889" x2="50667" y2="2667"/>
                        <a14:foregroundMark x1="50667" y1="2667" x2="51556" y2="2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407" y="662915"/>
            <a:ext cx="504703" cy="50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4431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A460F1-CD5E-0143-B99D-31D2A8D2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Regressieanalyse als Lingua Franca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9A252BA-5D37-164B-89BA-7B544572EB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50</a:t>
            </a:fld>
            <a:endParaRPr lang="nl-BE" dirty="0"/>
          </a:p>
        </p:txBody>
      </p:sp>
      <p:sp>
        <p:nvSpPr>
          <p:cNvPr id="8" name="Wolkvormige toelichting 7">
            <a:extLst>
              <a:ext uri="{FF2B5EF4-FFF2-40B4-BE49-F238E27FC236}">
                <a16:creationId xmlns:a16="http://schemas.microsoft.com/office/drawing/2014/main" id="{4EF869F0-5878-9A47-B59A-2A4FBFBDD983}"/>
              </a:ext>
            </a:extLst>
          </p:cNvPr>
          <p:cNvSpPr/>
          <p:nvPr/>
        </p:nvSpPr>
        <p:spPr bwMode="auto">
          <a:xfrm>
            <a:off x="8166050" y="2971983"/>
            <a:ext cx="3792470" cy="2367373"/>
          </a:xfrm>
          <a:prstGeom prst="cloudCallout">
            <a:avLst>
              <a:gd name="adj1" fmla="val -61763"/>
              <a:gd name="adj2" fmla="val -127472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pic>
        <p:nvPicPr>
          <p:cNvPr id="5" name="Afbeelding 4" descr="Afbeelding met tafel&#10;&#10;Automatisch gegenereerde beschrijving">
            <a:extLst>
              <a:ext uri="{FF2B5EF4-FFF2-40B4-BE49-F238E27FC236}">
                <a16:creationId xmlns:a16="http://schemas.microsoft.com/office/drawing/2014/main" id="{46DAABAF-0109-2749-8AEE-2CB9F35EBE7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8667814" y="3821352"/>
            <a:ext cx="1946270" cy="1006128"/>
          </a:xfrm>
          <a:prstGeom prst="rect">
            <a:avLst/>
          </a:prstGeom>
        </p:spPr>
      </p:pic>
      <p:pic>
        <p:nvPicPr>
          <p:cNvPr id="7" name="Afbeelding 6" descr="Afbeelding met tekst, whiteboard&#10;&#10;Automatisch gegenereerde beschrijving">
            <a:extLst>
              <a:ext uri="{FF2B5EF4-FFF2-40B4-BE49-F238E27FC236}">
                <a16:creationId xmlns:a16="http://schemas.microsoft.com/office/drawing/2014/main" id="{23769797-1B2A-7745-9C2F-57CB21B40F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734232" y="3408323"/>
            <a:ext cx="466254" cy="100612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AF21E1EA-4C68-3742-B3EF-29B7E669E470}"/>
              </a:ext>
            </a:extLst>
          </p:cNvPr>
          <p:cNvSpPr txBox="1"/>
          <p:nvPr/>
        </p:nvSpPr>
        <p:spPr>
          <a:xfrm>
            <a:off x="9558717" y="3243105"/>
            <a:ext cx="1297900" cy="12246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800" b="1" dirty="0">
                <a:solidFill>
                  <a:schemeClr val="bg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t-test</a:t>
            </a:r>
          </a:p>
        </p:txBody>
      </p:sp>
    </p:spTree>
    <p:extLst>
      <p:ext uri="{BB962C8B-B14F-4D97-AF65-F5344CB8AC3E}">
        <p14:creationId xmlns:p14="http://schemas.microsoft.com/office/powerpoint/2010/main" val="1397048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A460F1-CD5E-0143-B99D-31D2A8D2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Regressieanalyse als Lingua Franca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9A252BA-5D37-164B-89BA-7B544572EB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51</a:t>
            </a:fld>
            <a:endParaRPr lang="nl-BE" dirty="0"/>
          </a:p>
        </p:txBody>
      </p:sp>
      <p:sp>
        <p:nvSpPr>
          <p:cNvPr id="10" name="Tijdelijke aanduiding voor inhoud 9">
            <a:extLst>
              <a:ext uri="{FF2B5EF4-FFF2-40B4-BE49-F238E27FC236}">
                <a16:creationId xmlns:a16="http://schemas.microsoft.com/office/drawing/2014/main" id="{08CD9A82-439C-8542-840B-D8C6F998E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Afval$ConditieD &lt;- (Afval$Conditie == "Experimentele conditie") * 1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table(Afval$ConditieD, Afval$Conditie)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Controle conditie Experimentele conditie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0               100                      0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1                 0                    100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Model.t &lt;- lm(Afval.in.kg ~ ConditieD, data = Afval)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summary(Model.t)</a:t>
            </a:r>
          </a:p>
          <a:p>
            <a:pPr marL="0" indent="0">
              <a:buNone/>
            </a:pPr>
            <a:endParaRPr lang="nl-BE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Estimate Std. Error t value Pr(&gt;|t|)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10.3213     0.2352  43.886  &lt; 2e-16 ***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ConditieD     1.7465     0.3326   5.251 3.89e-07 ***</a:t>
            </a:r>
          </a:p>
          <a:p>
            <a:pPr marL="0" indent="0">
              <a:buNone/>
            </a:pPr>
            <a:endParaRPr lang="nl-BE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Wolkvormige toelichting 7">
            <a:extLst>
              <a:ext uri="{FF2B5EF4-FFF2-40B4-BE49-F238E27FC236}">
                <a16:creationId xmlns:a16="http://schemas.microsoft.com/office/drawing/2014/main" id="{4EF869F0-5878-9A47-B59A-2A4FBFBDD983}"/>
              </a:ext>
            </a:extLst>
          </p:cNvPr>
          <p:cNvSpPr/>
          <p:nvPr/>
        </p:nvSpPr>
        <p:spPr bwMode="auto">
          <a:xfrm>
            <a:off x="8166050" y="2971983"/>
            <a:ext cx="3792470" cy="2367373"/>
          </a:xfrm>
          <a:prstGeom prst="cloudCallout">
            <a:avLst>
              <a:gd name="adj1" fmla="val -61763"/>
              <a:gd name="adj2" fmla="val -127472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pic>
        <p:nvPicPr>
          <p:cNvPr id="5" name="Afbeelding 4" descr="Afbeelding met tafel&#10;&#10;Automatisch gegenereerde beschrijving">
            <a:extLst>
              <a:ext uri="{FF2B5EF4-FFF2-40B4-BE49-F238E27FC236}">
                <a16:creationId xmlns:a16="http://schemas.microsoft.com/office/drawing/2014/main" id="{46DAABAF-0109-2749-8AEE-2CB9F35EBE7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8667814" y="3821352"/>
            <a:ext cx="1946270" cy="1006128"/>
          </a:xfrm>
          <a:prstGeom prst="rect">
            <a:avLst/>
          </a:prstGeom>
        </p:spPr>
      </p:pic>
      <p:pic>
        <p:nvPicPr>
          <p:cNvPr id="7" name="Afbeelding 6" descr="Afbeelding met tekst, whiteboard&#10;&#10;Automatisch gegenereerde beschrijving">
            <a:extLst>
              <a:ext uri="{FF2B5EF4-FFF2-40B4-BE49-F238E27FC236}">
                <a16:creationId xmlns:a16="http://schemas.microsoft.com/office/drawing/2014/main" id="{23769797-1B2A-7745-9C2F-57CB21B40F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734232" y="3408323"/>
            <a:ext cx="466254" cy="100612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AF21E1EA-4C68-3742-B3EF-29B7E669E470}"/>
              </a:ext>
            </a:extLst>
          </p:cNvPr>
          <p:cNvSpPr txBox="1"/>
          <p:nvPr/>
        </p:nvSpPr>
        <p:spPr>
          <a:xfrm>
            <a:off x="9558717" y="3243105"/>
            <a:ext cx="1297900" cy="12246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800" b="1" dirty="0">
                <a:solidFill>
                  <a:schemeClr val="bg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t-test</a:t>
            </a:r>
          </a:p>
        </p:txBody>
      </p:sp>
    </p:spTree>
    <p:extLst>
      <p:ext uri="{BB962C8B-B14F-4D97-AF65-F5344CB8AC3E}">
        <p14:creationId xmlns:p14="http://schemas.microsoft.com/office/powerpoint/2010/main" val="5328443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A460F1-CD5E-0143-B99D-31D2A8D2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Regressieanalyse als Lingua Franca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9A252BA-5D37-164B-89BA-7B544572EB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52</a:t>
            </a:fld>
            <a:endParaRPr lang="nl-BE" dirty="0"/>
          </a:p>
        </p:txBody>
      </p:sp>
      <p:sp>
        <p:nvSpPr>
          <p:cNvPr id="10" name="Tijdelijke aanduiding voor inhoud 9">
            <a:extLst>
              <a:ext uri="{FF2B5EF4-FFF2-40B4-BE49-F238E27FC236}">
                <a16:creationId xmlns:a16="http://schemas.microsoft.com/office/drawing/2014/main" id="{08CD9A82-439C-8542-840B-D8C6F998E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t)</a:t>
            </a:r>
          </a:p>
          <a:p>
            <a:pPr marL="0" indent="0">
              <a:buNone/>
            </a:pPr>
            <a:endParaRPr lang="nl-BE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BE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Estimate Std. Error t value Pr(&gt;|t|)    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</a:t>
            </a:r>
            <a:r>
              <a:rPr 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10.3213</a:t>
            </a: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0.2352  43.886  &lt; 2e-16 ***</a:t>
            </a:r>
          </a:p>
          <a:p>
            <a:pPr marL="0" indent="0">
              <a:buNone/>
            </a:pP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ConditieD     </a:t>
            </a:r>
            <a:r>
              <a:rPr lang="nl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1.7465</a:t>
            </a:r>
            <a:r>
              <a:rPr lang="nl-BE" sz="1800" b="0" dirty="0">
                <a:latin typeface="Courier New" panose="02070309020205020404" pitchFamily="49" charset="0"/>
                <a:cs typeface="Courier New" panose="02070309020205020404" pitchFamily="49" charset="0"/>
              </a:rPr>
              <a:t>     0.3326   5.251 3.89e-07 ***</a:t>
            </a:r>
          </a:p>
          <a:p>
            <a:pPr marL="0" indent="0">
              <a:buNone/>
            </a:pPr>
            <a:endParaRPr lang="nl-BE" sz="18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Wolkvormige toelichting 7">
            <a:extLst>
              <a:ext uri="{FF2B5EF4-FFF2-40B4-BE49-F238E27FC236}">
                <a16:creationId xmlns:a16="http://schemas.microsoft.com/office/drawing/2014/main" id="{4EF869F0-5878-9A47-B59A-2A4FBFBDD983}"/>
              </a:ext>
            </a:extLst>
          </p:cNvPr>
          <p:cNvSpPr/>
          <p:nvPr/>
        </p:nvSpPr>
        <p:spPr bwMode="auto">
          <a:xfrm>
            <a:off x="8166050" y="2971983"/>
            <a:ext cx="3792470" cy="2367373"/>
          </a:xfrm>
          <a:prstGeom prst="cloudCallout">
            <a:avLst>
              <a:gd name="adj1" fmla="val -61763"/>
              <a:gd name="adj2" fmla="val -127472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pic>
        <p:nvPicPr>
          <p:cNvPr id="5" name="Afbeelding 4" descr="Afbeelding met tafel&#10;&#10;Automatisch gegenereerde beschrijving">
            <a:extLst>
              <a:ext uri="{FF2B5EF4-FFF2-40B4-BE49-F238E27FC236}">
                <a16:creationId xmlns:a16="http://schemas.microsoft.com/office/drawing/2014/main" id="{46DAABAF-0109-2749-8AEE-2CB9F35EBE7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8667814" y="3821352"/>
            <a:ext cx="1946270" cy="1006128"/>
          </a:xfrm>
          <a:prstGeom prst="rect">
            <a:avLst/>
          </a:prstGeom>
        </p:spPr>
      </p:pic>
      <p:pic>
        <p:nvPicPr>
          <p:cNvPr id="7" name="Afbeelding 6" descr="Afbeelding met tekst, whiteboard&#10;&#10;Automatisch gegenereerde beschrijving">
            <a:extLst>
              <a:ext uri="{FF2B5EF4-FFF2-40B4-BE49-F238E27FC236}">
                <a16:creationId xmlns:a16="http://schemas.microsoft.com/office/drawing/2014/main" id="{23769797-1B2A-7745-9C2F-57CB21B40F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734232" y="3408323"/>
            <a:ext cx="466254" cy="100612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AF21E1EA-4C68-3742-B3EF-29B7E669E470}"/>
              </a:ext>
            </a:extLst>
          </p:cNvPr>
          <p:cNvSpPr txBox="1"/>
          <p:nvPr/>
        </p:nvSpPr>
        <p:spPr>
          <a:xfrm>
            <a:off x="9558717" y="3243105"/>
            <a:ext cx="1297900" cy="12246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800" b="1" dirty="0">
                <a:solidFill>
                  <a:schemeClr val="bg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t-test</a:t>
            </a: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EC163270-940C-6249-8A9A-F3D103F26599}"/>
              </a:ext>
            </a:extLst>
          </p:cNvPr>
          <p:cNvSpPr/>
          <p:nvPr/>
        </p:nvSpPr>
        <p:spPr bwMode="auto">
          <a:xfrm>
            <a:off x="504886" y="1432260"/>
            <a:ext cx="7381813" cy="265396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C1FFC259-2B25-164F-8A86-8F248F6DF9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744"/>
          <a:stretch/>
        </p:blipFill>
        <p:spPr>
          <a:xfrm>
            <a:off x="590614" y="1546564"/>
            <a:ext cx="7166035" cy="2425212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3582191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95E3E2C-A823-1240-87B6-6EAD5DE6A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53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8E5430D-CD53-7642-86E1-BD495317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Interacties (Deel 1)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2E06DD-5EEF-C245-925D-855E9B42201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02CB0FD9-9CCA-654F-A7ED-877FDBB83BC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/>
          <a:srcRect t="-10674" b="-10674"/>
          <a:stretch/>
        </p:blipFill>
        <p:spPr>
          <a:xfrm>
            <a:off x="623889" y="620713"/>
            <a:ext cx="5145732" cy="5616575"/>
          </a:xfr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93B7F586-AE4A-4249-BF1F-525FDEE8AC07}"/>
              </a:ext>
            </a:extLst>
          </p:cNvPr>
          <p:cNvSpPr txBox="1"/>
          <p:nvPr/>
        </p:nvSpPr>
        <p:spPr>
          <a:xfrm>
            <a:off x="6800850" y="-158591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nl-BE" sz="2800" b="1" dirty="0">
              <a:solidFill>
                <a:schemeClr val="bg1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2961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E2D943-4AA0-9249-8667-68CE58048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20713"/>
            <a:ext cx="10944226" cy="791794"/>
          </a:xfrm>
        </p:spPr>
        <p:txBody>
          <a:bodyPr/>
          <a:lstStyle/>
          <a:p>
            <a:r>
              <a:rPr lang="nl-BE" dirty="0"/>
              <a:t>Een voorbeeld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36AD088-E22A-C148-9AAB-FDA76EFB47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743200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54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AED8790-2C2D-CE49-9C78-582C09341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77009"/>
            <a:ext cx="10944226" cy="4660279"/>
          </a:xfrm>
        </p:spPr>
        <p:txBody>
          <a:bodyPr vert="horz" wrap="square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nl-BE" b="0" dirty="0">
                <a:latin typeface="Calibri"/>
                <a:ea typeface="Verdana"/>
                <a:cs typeface="Calibri"/>
              </a:rPr>
              <a:t>Is het effect van het bekijken van meer of minder voorbeeldrapportages </a:t>
            </a:r>
            <a:r>
              <a:rPr lang="nl-BE" sz="1800" b="0" dirty="0">
                <a:latin typeface="Calibri"/>
                <a:ea typeface="Verdana"/>
                <a:cs typeface="Calibri"/>
              </a:rPr>
              <a:t>(variabele ‘Voorbeelden_Z’)</a:t>
            </a:r>
            <a:r>
              <a:rPr lang="nl-BE" b="0" dirty="0">
                <a:latin typeface="Calibri"/>
                <a:ea typeface="Verdana"/>
                <a:cs typeface="Calibri"/>
              </a:rPr>
              <a:t> op schrijfvaardigheid </a:t>
            </a:r>
            <a:r>
              <a:rPr lang="nl-BE" sz="1800" b="0" dirty="0">
                <a:latin typeface="Calibri"/>
                <a:ea typeface="Verdana"/>
                <a:cs typeface="Calibri"/>
              </a:rPr>
              <a:t>(variabele ‘Schrijven_Z’)</a:t>
            </a:r>
            <a:r>
              <a:rPr lang="nl-BE" b="0" dirty="0">
                <a:latin typeface="Calibri"/>
                <a:ea typeface="Verdana"/>
                <a:cs typeface="Calibri"/>
              </a:rPr>
              <a:t> afhankelijk van hoe deze voorbeelden bekeken zijn </a:t>
            </a:r>
            <a:r>
              <a:rPr lang="nl-BE" sz="1800" b="0" dirty="0">
                <a:latin typeface="Calibri"/>
                <a:ea typeface="Verdana"/>
                <a:cs typeface="Calibri"/>
              </a:rPr>
              <a:t>(2 condities: </a:t>
            </a:r>
            <a:r>
              <a:rPr lang="nl-BE" sz="1800" b="0" dirty="0">
                <a:solidFill>
                  <a:srgbClr val="9ECAE1"/>
                </a:solidFill>
                <a:latin typeface="Calibri"/>
                <a:ea typeface="Verdana"/>
                <a:cs typeface="Calibri"/>
              </a:rPr>
              <a:t>één voor één</a:t>
            </a:r>
            <a:r>
              <a:rPr lang="nl-BE" sz="1800" b="0" dirty="0">
                <a:latin typeface="Calibri"/>
                <a:ea typeface="Verdana"/>
                <a:cs typeface="Calibri"/>
              </a:rPr>
              <a:t> of </a:t>
            </a:r>
            <a:r>
              <a:rPr lang="nl-BE" sz="1800" b="0" dirty="0">
                <a:solidFill>
                  <a:srgbClr val="084594"/>
                </a:solidFill>
                <a:latin typeface="Calibri"/>
                <a:ea typeface="Verdana"/>
                <a:cs typeface="Calibri"/>
              </a:rPr>
              <a:t>vergelijkend</a:t>
            </a:r>
            <a:r>
              <a:rPr lang="nl-BE" sz="1800" b="0" dirty="0">
                <a:latin typeface="Calibri"/>
                <a:ea typeface="Verdana"/>
                <a:cs typeface="Calibri"/>
              </a:rPr>
              <a:t>; variabele ‘Conditie_D’)</a:t>
            </a:r>
            <a:r>
              <a:rPr lang="nl-BE" b="0" dirty="0">
                <a:latin typeface="Calibri"/>
                <a:ea typeface="Verdana"/>
                <a:cs typeface="Calibri"/>
              </a:rPr>
              <a:t>?</a:t>
            </a:r>
          </a:p>
          <a:p>
            <a:pPr marL="0" indent="0" algn="just">
              <a:buNone/>
            </a:pPr>
            <a:endParaRPr lang="nl-BE" b="0" dirty="0"/>
          </a:p>
          <a:p>
            <a:pPr marL="274320" indent="-274320" algn="just"/>
            <a:r>
              <a:rPr lang="nl-BE" b="0" i="1" dirty="0"/>
              <a:t>Teken de onderzoeksvraag</a:t>
            </a:r>
          </a:p>
          <a:p>
            <a:pPr marL="274320" indent="-274320" algn="just"/>
            <a:r>
              <a:rPr lang="nl-BE" b="0" i="1" dirty="0"/>
              <a:t>Kies de geschikte techniek</a:t>
            </a:r>
          </a:p>
          <a:p>
            <a:pPr marL="0" indent="0" algn="just">
              <a:buNone/>
            </a:pPr>
            <a:endParaRPr lang="nl-BE" b="0" dirty="0"/>
          </a:p>
        </p:txBody>
      </p:sp>
    </p:spTree>
    <p:extLst>
      <p:ext uri="{BB962C8B-B14F-4D97-AF65-F5344CB8AC3E}">
        <p14:creationId xmlns:p14="http://schemas.microsoft.com/office/powerpoint/2010/main" val="36695116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E2D943-4AA0-9249-8667-68CE58048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20713"/>
            <a:ext cx="10944226" cy="791794"/>
          </a:xfrm>
        </p:spPr>
        <p:txBody>
          <a:bodyPr/>
          <a:lstStyle/>
          <a:p>
            <a:r>
              <a:rPr lang="nl-BE" dirty="0"/>
              <a:t>Een voorbeeld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36AD088-E22A-C148-9AAB-FDA76EFB47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743200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55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AED8790-2C2D-CE49-9C78-582C09341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77009"/>
            <a:ext cx="10944226" cy="4660279"/>
          </a:xfrm>
        </p:spPr>
        <p:txBody>
          <a:bodyPr wrap="square"/>
          <a:lstStyle/>
          <a:p>
            <a:pPr marL="0" indent="0" algn="just">
              <a:buNone/>
            </a:pPr>
            <a:r>
              <a:rPr lang="nl-BE" b="0" dirty="0"/>
              <a:t>Is het effect van het bekijken van meer of minder voorbeeldrapportages </a:t>
            </a:r>
            <a:r>
              <a:rPr lang="nl-BE" sz="1800" b="0" dirty="0"/>
              <a:t>(variabele ‘Voorbeelden_Z’)</a:t>
            </a:r>
            <a:r>
              <a:rPr lang="nl-BE" b="0" dirty="0"/>
              <a:t> op schrijfvaardigheid </a:t>
            </a:r>
            <a:r>
              <a:rPr lang="nl-BE" sz="1800" b="0" dirty="0"/>
              <a:t>(variabele ‘Schrijven_Z’)</a:t>
            </a:r>
            <a:r>
              <a:rPr lang="nl-BE" b="0" dirty="0"/>
              <a:t> afhankelijk van hoe deze voorbeelden bekeken zijn </a:t>
            </a:r>
            <a:r>
              <a:rPr lang="nl-BE" sz="1800" b="0" dirty="0"/>
              <a:t>(2 condities: </a:t>
            </a:r>
            <a:r>
              <a:rPr lang="nl-BE" sz="1800" b="0" dirty="0">
                <a:solidFill>
                  <a:srgbClr val="9ECAE1"/>
                </a:solidFill>
              </a:rPr>
              <a:t>één voor één</a:t>
            </a:r>
            <a:r>
              <a:rPr lang="nl-BE" sz="1800" b="0" dirty="0"/>
              <a:t> of </a:t>
            </a:r>
            <a:r>
              <a:rPr lang="nl-BE" sz="1800" b="0" dirty="0">
                <a:solidFill>
                  <a:srgbClr val="084594"/>
                </a:solidFill>
              </a:rPr>
              <a:t>vergelijkend</a:t>
            </a:r>
            <a:r>
              <a:rPr lang="nl-BE" sz="1800" b="0" dirty="0"/>
              <a:t>; variabele ‘Conditie_D’)</a:t>
            </a:r>
            <a:r>
              <a:rPr lang="nl-BE" b="0" dirty="0"/>
              <a:t>?</a:t>
            </a:r>
          </a:p>
          <a:p>
            <a:pPr marL="0" indent="0" algn="just">
              <a:buNone/>
            </a:pPr>
            <a:endParaRPr lang="nl-BE" b="0" dirty="0"/>
          </a:p>
          <a:p>
            <a:pPr algn="just"/>
            <a:r>
              <a:rPr lang="nl-BE" b="0" i="1" dirty="0"/>
              <a:t>Teken de onderzoeksvraag</a:t>
            </a:r>
          </a:p>
          <a:p>
            <a:pPr algn="just"/>
            <a:r>
              <a:rPr lang="nl-BE" b="0" i="1" dirty="0"/>
              <a:t>Kies de geschikte techniek</a:t>
            </a:r>
          </a:p>
          <a:p>
            <a:pPr marL="0" indent="0" algn="just">
              <a:buNone/>
            </a:pPr>
            <a:endParaRPr lang="nl-BE" b="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708CCDB4-821A-FD41-BE7C-04EE84776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6051" y="6248132"/>
            <a:ext cx="3279690" cy="461665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nl-BE" altLang="nl-BE" sz="2400" baseline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E7CEDFEB-D10C-4D48-BB1B-973471547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3302" y="5892623"/>
            <a:ext cx="2399291" cy="461665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nl-BE" altLang="nl-BE" sz="2400" baseline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EFF79341-FAF6-7F49-BF20-687A6350E513}"/>
              </a:ext>
            </a:extLst>
          </p:cNvPr>
          <p:cNvCxnSpPr>
            <a:cxnSpLocks noChangeShapeType="1"/>
            <a:stCxn id="5" idx="3"/>
            <a:endCxn id="6" idx="1"/>
          </p:cNvCxnSpPr>
          <p:nvPr/>
        </p:nvCxnSpPr>
        <p:spPr bwMode="auto">
          <a:xfrm flipV="1">
            <a:off x="5655741" y="6123456"/>
            <a:ext cx="2087561" cy="355509"/>
          </a:xfrm>
          <a:prstGeom prst="straightConnector1">
            <a:avLst/>
          </a:prstGeom>
          <a:noFill/>
          <a:ln w="38100" algn="ctr">
            <a:solidFill>
              <a:schemeClr val="bg2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kstvak 8">
            <a:extLst>
              <a:ext uri="{FF2B5EF4-FFF2-40B4-BE49-F238E27FC236}">
                <a16:creationId xmlns:a16="http://schemas.microsoft.com/office/drawing/2014/main" id="{3DA3C919-E821-EE44-B64C-3870242CD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6051" y="5188218"/>
            <a:ext cx="3279690" cy="461665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nl-BE" altLang="nl-BE" sz="2400" baseline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0" name="Rechte verbindingslijn met pijl 9">
            <a:extLst>
              <a:ext uri="{FF2B5EF4-FFF2-40B4-BE49-F238E27FC236}">
                <a16:creationId xmlns:a16="http://schemas.microsoft.com/office/drawing/2014/main" id="{616DD982-04E9-6041-B41C-2B719A98D1F1}"/>
              </a:ext>
            </a:extLst>
          </p:cNvPr>
          <p:cNvCxnSpPr>
            <a:cxnSpLocks noChangeShapeType="1"/>
            <a:stCxn id="9" idx="3"/>
            <a:endCxn id="6" idx="1"/>
          </p:cNvCxnSpPr>
          <p:nvPr/>
        </p:nvCxnSpPr>
        <p:spPr bwMode="auto">
          <a:xfrm>
            <a:off x="5655741" y="5419051"/>
            <a:ext cx="2087561" cy="704405"/>
          </a:xfrm>
          <a:prstGeom prst="straightConnector1">
            <a:avLst/>
          </a:prstGeom>
          <a:noFill/>
          <a:ln w="38100" algn="ctr">
            <a:solidFill>
              <a:schemeClr val="bg2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kstvak 7">
            <a:extLst>
              <a:ext uri="{FF2B5EF4-FFF2-40B4-BE49-F238E27FC236}">
                <a16:creationId xmlns:a16="http://schemas.microsoft.com/office/drawing/2014/main" id="{4EBBF64C-0C71-F84F-A1AF-0C9E78E76DAC}"/>
              </a:ext>
            </a:extLst>
          </p:cNvPr>
          <p:cNvSpPr txBox="1"/>
          <p:nvPr/>
        </p:nvSpPr>
        <p:spPr>
          <a:xfrm>
            <a:off x="7821016" y="5534466"/>
            <a:ext cx="2282771" cy="4669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400" b="1" dirty="0">
                <a:solidFill>
                  <a:schemeClr val="bg2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Schrijven_Z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32A13655-FB3E-C24E-A68C-04F74E05B9A8}"/>
              </a:ext>
            </a:extLst>
          </p:cNvPr>
          <p:cNvSpPr txBox="1"/>
          <p:nvPr/>
        </p:nvSpPr>
        <p:spPr>
          <a:xfrm>
            <a:off x="2376051" y="4790252"/>
            <a:ext cx="2282771" cy="4669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400" b="1" dirty="0">
                <a:solidFill>
                  <a:schemeClr val="bg2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Voorbeelden_Z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607727A0-F5B9-A441-A74F-2BF4F9FAB024}"/>
              </a:ext>
            </a:extLst>
          </p:cNvPr>
          <p:cNvSpPr txBox="1"/>
          <p:nvPr/>
        </p:nvSpPr>
        <p:spPr>
          <a:xfrm>
            <a:off x="2372811" y="5837595"/>
            <a:ext cx="2282771" cy="4669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400" b="1" dirty="0">
                <a:solidFill>
                  <a:schemeClr val="bg2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Conditie_D</a:t>
            </a:r>
          </a:p>
        </p:txBody>
      </p:sp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F72ABFF6-139E-2F4F-AB45-D5CA792BA12D}"/>
              </a:ext>
            </a:extLst>
          </p:cNvPr>
          <p:cNvCxnSpPr>
            <a:cxnSpLocks/>
            <a:stCxn id="5" idx="1"/>
            <a:endCxn id="5" idx="3"/>
          </p:cNvCxnSpPr>
          <p:nvPr/>
        </p:nvCxnSpPr>
        <p:spPr>
          <a:xfrm>
            <a:off x="2376051" y="6478965"/>
            <a:ext cx="3279690" cy="0"/>
          </a:xfrm>
          <a:prstGeom prst="line">
            <a:avLst/>
          </a:prstGeom>
          <a:ln>
            <a:solidFill>
              <a:schemeClr val="bg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BA99CEF4-F7A5-B044-92B8-997A2B95A301}"/>
              </a:ext>
            </a:extLst>
          </p:cNvPr>
          <p:cNvCxnSpPr>
            <a:cxnSpLocks/>
          </p:cNvCxnSpPr>
          <p:nvPr/>
        </p:nvCxnSpPr>
        <p:spPr>
          <a:xfrm>
            <a:off x="5655741" y="5649883"/>
            <a:ext cx="459714" cy="297819"/>
          </a:xfrm>
          <a:prstGeom prst="line">
            <a:avLst/>
          </a:prstGeom>
          <a:ln>
            <a:solidFill>
              <a:schemeClr val="bg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echte verbindingslijn 22">
            <a:extLst>
              <a:ext uri="{FF2B5EF4-FFF2-40B4-BE49-F238E27FC236}">
                <a16:creationId xmlns:a16="http://schemas.microsoft.com/office/drawing/2014/main" id="{CDE4BF2B-985E-B343-A442-DF2171F8F4BA}"/>
              </a:ext>
            </a:extLst>
          </p:cNvPr>
          <p:cNvCxnSpPr>
            <a:cxnSpLocks/>
          </p:cNvCxnSpPr>
          <p:nvPr/>
        </p:nvCxnSpPr>
        <p:spPr>
          <a:xfrm flipV="1">
            <a:off x="5633046" y="5919012"/>
            <a:ext cx="459714" cy="297819"/>
          </a:xfrm>
          <a:prstGeom prst="line">
            <a:avLst/>
          </a:prstGeom>
          <a:ln>
            <a:solidFill>
              <a:schemeClr val="bg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echte verbindingslijn met pijl 24">
            <a:extLst>
              <a:ext uri="{FF2B5EF4-FFF2-40B4-BE49-F238E27FC236}">
                <a16:creationId xmlns:a16="http://schemas.microsoft.com/office/drawing/2014/main" id="{9D86A52F-7744-8946-A5C9-BA140C13588A}"/>
              </a:ext>
            </a:extLst>
          </p:cNvPr>
          <p:cNvCxnSpPr/>
          <p:nvPr/>
        </p:nvCxnSpPr>
        <p:spPr>
          <a:xfrm>
            <a:off x="6112215" y="5938469"/>
            <a:ext cx="1241895" cy="148909"/>
          </a:xfrm>
          <a:prstGeom prst="straightConnector1">
            <a:avLst/>
          </a:prstGeom>
          <a:ln>
            <a:solidFill>
              <a:schemeClr val="bg2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9156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667D0B-A7E8-8D49-BCA1-8B90D03EE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 zonder interactie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3AB24AC-BF00-B648-AEBA-DA194F334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56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E5DEB23-15FB-AD48-AA37-A5F199D04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77009"/>
            <a:ext cx="11363326" cy="4660279"/>
          </a:xfrm>
        </p:spPr>
        <p:txBody>
          <a:bodyPr wrap="square"/>
          <a:lstStyle/>
          <a:p>
            <a:r>
              <a:rPr lang="nl-BE" dirty="0"/>
              <a:t>Hoe ziet dat model eruit?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nl-NL" sz="1800" b="0" dirty="0" err="1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Model_zonder_interactie</a:t>
            </a: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lm(</a:t>
            </a:r>
            <a:r>
              <a:rPr lang="nl-NL" sz="1800" b="0" dirty="0" err="1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Schrijven_Z</a:t>
            </a: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nl-NL" sz="1800" b="0" dirty="0" err="1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Voorbeelden_Z</a:t>
            </a: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nl-NL" sz="1800" b="0" dirty="0" err="1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Conditie_D</a:t>
            </a: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   data = Experiment)</a:t>
            </a: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BE" dirty="0"/>
              <a:t>Je krijgt onderstaande resultaten en wilt deze visualiseren in één grafiek…</a:t>
            </a:r>
          </a:p>
          <a:p>
            <a:endParaRPr lang="nl-BE" dirty="0"/>
          </a:p>
          <a:p>
            <a:endParaRPr lang="nl-BE" dirty="0"/>
          </a:p>
        </p:txBody>
      </p:sp>
      <p:graphicFrame>
        <p:nvGraphicFramePr>
          <p:cNvPr id="6" name="Tabel 8">
            <a:extLst>
              <a:ext uri="{FF2B5EF4-FFF2-40B4-BE49-F238E27FC236}">
                <a16:creationId xmlns:a16="http://schemas.microsoft.com/office/drawing/2014/main" id="{25A09A07-FE55-A842-AD7C-05777AEAA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316223"/>
              </p:ext>
            </p:extLst>
          </p:nvPr>
        </p:nvGraphicFramePr>
        <p:xfrm>
          <a:off x="1115371" y="4073809"/>
          <a:ext cx="2220042" cy="1041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4242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234017">
                <a:tc>
                  <a:txBody>
                    <a:bodyPr/>
                    <a:lstStyle/>
                    <a:p>
                      <a:pPr marL="0" algn="r"/>
                      <a:r>
                        <a:rPr lang="nl-BE" sz="1600" dirty="0"/>
                        <a:t>Intercept: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dirty="0"/>
                        <a:t> 0.00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marL="0" algn="r"/>
                      <a:r>
                        <a:rPr lang="nl-BE" sz="1600" dirty="0"/>
                        <a:t>Voorbeelden_Z: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dirty="0"/>
                        <a:t>0.10</a:t>
                      </a:r>
                      <a:r>
                        <a:rPr lang="nl-BE" sz="1600" baseline="30000" dirty="0"/>
                        <a:t>*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/>
                      <a:r>
                        <a:rPr lang="nl-BE" sz="1600" dirty="0"/>
                        <a:t>Conditie_D: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dirty="0"/>
                        <a:t>0.50</a:t>
                      </a:r>
                      <a:r>
                        <a:rPr lang="nl-BE" sz="1600" baseline="30000" dirty="0"/>
                        <a:t>*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7746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B752E-05F6-AC42-970A-3FD7D92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57</a:t>
            </a:fld>
            <a:endParaRPr lang="nl-BE" dirty="0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35218C8D-1F11-E849-9100-656A98661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8576" y="107"/>
            <a:ext cx="11144251" cy="6860479"/>
          </a:xfrm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322660"/>
              </p:ext>
            </p:extLst>
          </p:nvPr>
        </p:nvGraphicFramePr>
        <p:xfrm>
          <a:off x="10355430" y="633"/>
          <a:ext cx="184425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4538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569713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0.10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aseline="0" dirty="0"/>
                        <a:t>  nvt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3988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B752E-05F6-AC42-970A-3FD7D92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58</a:t>
            </a:fld>
            <a:endParaRPr lang="nl-BE" dirty="0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35218C8D-1F11-E849-9100-656A98661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8576" y="107"/>
            <a:ext cx="11144251" cy="6860479"/>
          </a:xfrm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973614"/>
              </p:ext>
            </p:extLst>
          </p:nvPr>
        </p:nvGraphicFramePr>
        <p:xfrm>
          <a:off x="10355430" y="633"/>
          <a:ext cx="184425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4538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569713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rgbClr val="FF0000"/>
                          </a:solidFill>
                        </a:rPr>
                        <a:t>Intercept</a:t>
                      </a:r>
                      <a:r>
                        <a:rPr lang="nl-BE" sz="1200" b="1" dirty="0"/>
                        <a:t>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dirty="0">
                          <a:solidFill>
                            <a:srgbClr val="FF0000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0.10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aseline="0" dirty="0"/>
                        <a:t>  nvt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  <p:sp>
        <p:nvSpPr>
          <p:cNvPr id="13" name="Ovaal 12">
            <a:extLst>
              <a:ext uri="{FF2B5EF4-FFF2-40B4-BE49-F238E27FC236}">
                <a16:creationId xmlns:a16="http://schemas.microsoft.com/office/drawing/2014/main" id="{D56248D1-86AB-D943-BB91-5B746BCA4F31}"/>
              </a:ext>
            </a:extLst>
          </p:cNvPr>
          <p:cNvSpPr/>
          <p:nvPr/>
        </p:nvSpPr>
        <p:spPr bwMode="auto">
          <a:xfrm>
            <a:off x="5786442" y="3543296"/>
            <a:ext cx="45719" cy="1143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6678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CB03CD9E-E51F-3743-8CFA-B8996AD684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1547781" cy="6858000"/>
          </a:xfrm>
          <a:prstGeom prst="rect">
            <a:avLst/>
          </a:prstGeom>
        </p:spPr>
      </p:pic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59</a:t>
            </a:fld>
            <a:endParaRPr lang="nl-BE" dirty="0"/>
          </a:p>
        </p:txBody>
      </p:sp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/>
        </p:nvGraphicFramePr>
        <p:xfrm>
          <a:off x="10352245" y="0"/>
          <a:ext cx="184425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4538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569713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chemeClr val="accent6"/>
                          </a:solidFill>
                        </a:rPr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dirty="0">
                          <a:solidFill>
                            <a:schemeClr val="accent6"/>
                          </a:solidFill>
                        </a:rPr>
                        <a:t> 0.10</a:t>
                      </a:r>
                      <a:r>
                        <a:rPr lang="nl-BE" sz="1200" b="1" baseline="30000" dirty="0">
                          <a:solidFill>
                            <a:schemeClr val="accent6"/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aseline="0" dirty="0"/>
                        <a:t>  nvt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4997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60</a:t>
            </a:fld>
            <a:endParaRPr lang="nl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E9F4080-F1A6-7F43-9DC5-729D9F519E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142" y="3493"/>
            <a:ext cx="11134553" cy="6854507"/>
          </a:xfrm>
          <a:prstGeom prst="rect">
            <a:avLst/>
          </a:prstGeom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/>
        </p:nvGraphicFramePr>
        <p:xfrm>
          <a:off x="10352245" y="0"/>
          <a:ext cx="184425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4538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569713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chemeClr val="accent6"/>
                          </a:solidFill>
                        </a:rPr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dirty="0">
                          <a:solidFill>
                            <a:schemeClr val="accent6"/>
                          </a:solidFill>
                        </a:rPr>
                        <a:t> 0.10</a:t>
                      </a:r>
                      <a:r>
                        <a:rPr lang="nl-BE" sz="1200" b="1" baseline="30000" dirty="0">
                          <a:solidFill>
                            <a:schemeClr val="accent6"/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aseline="0" dirty="0"/>
                        <a:t>  nvt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71335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61</a:t>
            </a:fld>
            <a:endParaRPr lang="nl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E9F4080-F1A6-7F43-9DC5-729D9F519E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493"/>
            <a:ext cx="11134551" cy="6854507"/>
          </a:xfrm>
          <a:prstGeom prst="rect">
            <a:avLst/>
          </a:prstGeom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439020"/>
              </p:ext>
            </p:extLst>
          </p:nvPr>
        </p:nvGraphicFramePr>
        <p:xfrm>
          <a:off x="10352245" y="0"/>
          <a:ext cx="184425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4538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569713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 0.10</a:t>
                      </a:r>
                      <a:r>
                        <a:rPr lang="nl-BE" sz="1200" b="0" baseline="30000" dirty="0">
                          <a:solidFill>
                            <a:schemeClr val="tx2"/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0.50</a:t>
                      </a:r>
                      <a:r>
                        <a:rPr lang="nl-BE" sz="1200" b="1" baseline="30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aseline="0" dirty="0"/>
                        <a:t>  nvt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8119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62</a:t>
            </a:fld>
            <a:endParaRPr lang="nl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E9F4080-F1A6-7F43-9DC5-729D9F519E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493"/>
            <a:ext cx="11134551" cy="6854506"/>
          </a:xfrm>
          <a:prstGeom prst="rect">
            <a:avLst/>
          </a:prstGeom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/>
        </p:nvGraphicFramePr>
        <p:xfrm>
          <a:off x="10352245" y="0"/>
          <a:ext cx="184425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4538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569713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 0.10</a:t>
                      </a:r>
                      <a:r>
                        <a:rPr lang="nl-BE" sz="1200" b="0" baseline="30000" dirty="0">
                          <a:solidFill>
                            <a:schemeClr val="tx2"/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0.50</a:t>
                      </a:r>
                      <a:r>
                        <a:rPr lang="nl-BE" sz="1200" b="1" baseline="30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aseline="0" dirty="0"/>
                        <a:t>  nvt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97274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667D0B-A7E8-8D49-BCA1-8B90D03EE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Model mét positieve interactie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3AB24AC-BF00-B648-AEBA-DA194F334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63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E5DEB23-15FB-AD48-AA37-A5F199D04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577009"/>
            <a:ext cx="11363326" cy="4660279"/>
          </a:xfrm>
        </p:spPr>
        <p:txBody>
          <a:bodyPr wrap="square"/>
          <a:lstStyle/>
          <a:p>
            <a:r>
              <a:rPr lang="nl-BE" dirty="0"/>
              <a:t>Hoe ziet dat model eruit?</a:t>
            </a:r>
          </a:p>
          <a:p>
            <a:pPr marL="0" indent="0">
              <a:buNone/>
            </a:pPr>
            <a:r>
              <a:rPr lang="nl-BE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nl-NL" sz="1800" b="0" dirty="0" err="1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Model_met_interactie</a:t>
            </a: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&lt;- lm(</a:t>
            </a:r>
            <a:r>
              <a:rPr lang="nl-NL" sz="1800" b="0" dirty="0" err="1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Schrijven_Z</a:t>
            </a: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nl-NL" sz="1800" b="0" dirty="0" err="1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Voorbeelden_Z</a:t>
            </a: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nl-NL" sz="1800" b="0" dirty="0" err="1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Conditie_D</a:t>
            </a: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</a:t>
            </a:r>
          </a:p>
          <a:p>
            <a:pPr marL="0" indent="0">
              <a:buNone/>
            </a:pP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              </a:t>
            </a:r>
            <a:r>
              <a:rPr lang="nl-NL" sz="1800" dirty="0" err="1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Voorbeelden_Z</a:t>
            </a:r>
            <a:r>
              <a:rPr lang="nl-NL" sz="180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nl-NL" sz="1800" dirty="0" err="1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Conditie_D</a:t>
            </a: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nl-NL" sz="1800" b="0" dirty="0">
                <a:solidFill>
                  <a:srgbClr val="1C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                  data = Experiment)</a:t>
            </a:r>
            <a:endParaRPr lang="nl-BE" sz="1800" b="0" dirty="0">
              <a:solidFill>
                <a:srgbClr val="1C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BE" dirty="0"/>
              <a:t>Je krijgt onderstaande resultaten, wat verandert er aan de grafiek?</a:t>
            </a:r>
          </a:p>
          <a:p>
            <a:endParaRPr lang="nl-BE" dirty="0"/>
          </a:p>
          <a:p>
            <a:endParaRPr lang="nl-BE" dirty="0"/>
          </a:p>
        </p:txBody>
      </p:sp>
      <p:graphicFrame>
        <p:nvGraphicFramePr>
          <p:cNvPr id="6" name="Tabel 8">
            <a:extLst>
              <a:ext uri="{FF2B5EF4-FFF2-40B4-BE49-F238E27FC236}">
                <a16:creationId xmlns:a16="http://schemas.microsoft.com/office/drawing/2014/main" id="{25A09A07-FE55-A842-AD7C-05777AEAA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257548"/>
              </p:ext>
            </p:extLst>
          </p:nvPr>
        </p:nvGraphicFramePr>
        <p:xfrm>
          <a:off x="1115371" y="4088101"/>
          <a:ext cx="2220042" cy="141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4242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234017">
                <a:tc>
                  <a:txBody>
                    <a:bodyPr/>
                    <a:lstStyle/>
                    <a:p>
                      <a:pPr marL="0" algn="r"/>
                      <a:r>
                        <a:rPr lang="nl-BE" sz="1600" dirty="0"/>
                        <a:t>Intercept: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dirty="0"/>
                        <a:t> 0.00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marL="0" algn="r"/>
                      <a:r>
                        <a:rPr lang="nl-BE" sz="1600" dirty="0"/>
                        <a:t>Voorbeelden_Z: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dirty="0"/>
                        <a:t>0.10</a:t>
                      </a:r>
                      <a:r>
                        <a:rPr lang="nl-BE" sz="1600" baseline="30000" dirty="0"/>
                        <a:t>*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/>
                      <a:r>
                        <a:rPr lang="nl-BE" sz="1600" dirty="0"/>
                        <a:t>Conditie_D: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dirty="0"/>
                        <a:t>0.50</a:t>
                      </a:r>
                      <a:r>
                        <a:rPr lang="nl-BE" sz="1600" baseline="30000" dirty="0"/>
                        <a:t>*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/>
                      <a:r>
                        <a:rPr lang="nl-BE" sz="1600" b="1" dirty="0"/>
                        <a:t>Interactie: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b="1" baseline="0" dirty="0"/>
                        <a:t>0.15</a:t>
                      </a:r>
                      <a:r>
                        <a:rPr lang="nl-BE" sz="1600" b="1" baseline="30000" dirty="0"/>
                        <a:t>*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038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45101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B752E-05F6-AC42-970A-3FD7D92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64</a:t>
            </a:fld>
            <a:endParaRPr lang="nl-BE" dirty="0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35218C8D-1F11-E849-9100-656A98661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0" y="0"/>
            <a:ext cx="11144251" cy="6860478"/>
          </a:xfrm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079375"/>
              </p:ext>
            </p:extLst>
          </p:nvPr>
        </p:nvGraphicFramePr>
        <p:xfrm>
          <a:off x="10229850" y="633"/>
          <a:ext cx="196983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1325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08506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0.10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baseline="0" dirty="0"/>
                        <a:t>  0.15</a:t>
                      </a:r>
                      <a:r>
                        <a:rPr lang="nl-BE" sz="1200" b="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299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B752E-05F6-AC42-970A-3FD7D92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65</a:t>
            </a:fld>
            <a:endParaRPr lang="nl-BE" dirty="0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35218C8D-1F11-E849-9100-656A98661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0" y="0"/>
            <a:ext cx="11144251" cy="6860478"/>
          </a:xfrm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507115"/>
              </p:ext>
            </p:extLst>
          </p:nvPr>
        </p:nvGraphicFramePr>
        <p:xfrm>
          <a:off x="10229850" y="633"/>
          <a:ext cx="196983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1325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08506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rgbClr val="FF0000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dirty="0">
                          <a:solidFill>
                            <a:srgbClr val="FF0000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0.10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baseline="0" dirty="0"/>
                        <a:t>  0.15</a:t>
                      </a:r>
                      <a:r>
                        <a:rPr lang="nl-BE" sz="1200" b="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  <p:sp>
        <p:nvSpPr>
          <p:cNvPr id="6" name="Ovaal 5">
            <a:extLst>
              <a:ext uri="{FF2B5EF4-FFF2-40B4-BE49-F238E27FC236}">
                <a16:creationId xmlns:a16="http://schemas.microsoft.com/office/drawing/2014/main" id="{0209A9BB-3FAF-4442-8F8D-06BEFF58D590}"/>
              </a:ext>
            </a:extLst>
          </p:cNvPr>
          <p:cNvSpPr/>
          <p:nvPr/>
        </p:nvSpPr>
        <p:spPr bwMode="auto">
          <a:xfrm>
            <a:off x="5586413" y="3543292"/>
            <a:ext cx="45719" cy="1143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3576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3E9F4080-F1A6-7F43-9DC5-729D9F519E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1547781" cy="6858000"/>
          </a:xfrm>
          <a:prstGeom prst="rect">
            <a:avLst/>
          </a:prstGeom>
        </p:spPr>
      </p:pic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66</a:t>
            </a:fld>
            <a:endParaRPr lang="nl-BE" dirty="0"/>
          </a:p>
        </p:txBody>
      </p:sp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317704"/>
              </p:ext>
            </p:extLst>
          </p:nvPr>
        </p:nvGraphicFramePr>
        <p:xfrm>
          <a:off x="10158413" y="0"/>
          <a:ext cx="203808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8493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29590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chemeClr val="accent6"/>
                          </a:solidFill>
                        </a:rPr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dirty="0">
                          <a:solidFill>
                            <a:schemeClr val="accent6"/>
                          </a:solidFill>
                        </a:rPr>
                        <a:t> 0.10</a:t>
                      </a:r>
                      <a:r>
                        <a:rPr lang="nl-BE" sz="1200" b="1" baseline="30000" dirty="0">
                          <a:solidFill>
                            <a:schemeClr val="accent6"/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aseline="0" dirty="0"/>
                        <a:t>  0.15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4805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67</a:t>
            </a:fld>
            <a:endParaRPr lang="nl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E9F4080-F1A6-7F43-9DC5-729D9F519E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1547779" cy="6858000"/>
          </a:xfrm>
          <a:prstGeom prst="rect">
            <a:avLst/>
          </a:prstGeom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/>
        </p:nvGraphicFramePr>
        <p:xfrm>
          <a:off x="10158413" y="0"/>
          <a:ext cx="203808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8493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29590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chemeClr val="accent6"/>
                          </a:solidFill>
                        </a:rPr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dirty="0">
                          <a:solidFill>
                            <a:schemeClr val="accent6"/>
                          </a:solidFill>
                        </a:rPr>
                        <a:t> 0.10</a:t>
                      </a:r>
                      <a:r>
                        <a:rPr lang="nl-BE" sz="1200" b="1" baseline="30000" dirty="0">
                          <a:solidFill>
                            <a:schemeClr val="accent6"/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aseline="0" dirty="0"/>
                        <a:t>  0.15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0200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B752E-05F6-AC42-970A-3FD7D92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68</a:t>
            </a:fld>
            <a:endParaRPr lang="nl-BE" dirty="0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35218C8D-1F11-E849-9100-656A98661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0" y="0"/>
            <a:ext cx="11144250" cy="6860478"/>
          </a:xfrm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386951"/>
              </p:ext>
            </p:extLst>
          </p:nvPr>
        </p:nvGraphicFramePr>
        <p:xfrm>
          <a:off x="10229850" y="633"/>
          <a:ext cx="196983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1325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08506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0.10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0.50</a:t>
                      </a:r>
                      <a:r>
                        <a:rPr lang="nl-BE" sz="1200" b="1" baseline="300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baseline="0" dirty="0"/>
                        <a:t>  0.15</a:t>
                      </a:r>
                      <a:r>
                        <a:rPr lang="nl-BE" sz="1200" b="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1747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B752E-05F6-AC42-970A-3FD7D92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69</a:t>
            </a:fld>
            <a:endParaRPr lang="nl-BE" dirty="0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35218C8D-1F11-E849-9100-656A98661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0" y="-3110"/>
            <a:ext cx="11144250" cy="6860477"/>
          </a:xfrm>
          <a:ln>
            <a:noFill/>
          </a:ln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985404"/>
              </p:ext>
            </p:extLst>
          </p:nvPr>
        </p:nvGraphicFramePr>
        <p:xfrm>
          <a:off x="10229850" y="633"/>
          <a:ext cx="196983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1325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08506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0.10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0.50</a:t>
                      </a:r>
                      <a:r>
                        <a:rPr lang="nl-BE" sz="1200" b="1" baseline="300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rgbClr val="FFC000"/>
                          </a:solidFill>
                        </a:rPr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baseline="0" dirty="0">
                          <a:solidFill>
                            <a:srgbClr val="FFC000"/>
                          </a:solidFill>
                        </a:rPr>
                        <a:t>  0.15</a:t>
                      </a:r>
                      <a:r>
                        <a:rPr lang="nl-BE" sz="1200" b="1" baseline="30000" dirty="0">
                          <a:solidFill>
                            <a:srgbClr val="FFC000"/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  <p:sp>
        <p:nvSpPr>
          <p:cNvPr id="4" name="Tekstvak 3">
            <a:extLst>
              <a:ext uri="{FF2B5EF4-FFF2-40B4-BE49-F238E27FC236}">
                <a16:creationId xmlns:a16="http://schemas.microsoft.com/office/drawing/2014/main" id="{63511737-A8E3-954D-88D9-3F9F4E7DEC87}"/>
              </a:ext>
            </a:extLst>
          </p:cNvPr>
          <p:cNvSpPr txBox="1"/>
          <p:nvPr/>
        </p:nvSpPr>
        <p:spPr>
          <a:xfrm>
            <a:off x="1814513" y="4557713"/>
            <a:ext cx="4400550" cy="3571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1600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0 + -2 * 0.10 + </a:t>
            </a:r>
            <a:r>
              <a:rPr lang="nl-BE" sz="2000" b="1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0</a:t>
            </a:r>
            <a:r>
              <a:rPr lang="nl-BE" sz="1600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* 0.50 + -2 * </a:t>
            </a:r>
            <a:r>
              <a:rPr lang="nl-BE" sz="2000" b="1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0</a:t>
            </a:r>
            <a:r>
              <a:rPr lang="nl-BE" sz="1600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* </a:t>
            </a:r>
            <a:r>
              <a:rPr lang="nl-BE" sz="1600" b="1" i="1" dirty="0">
                <a:solidFill>
                  <a:srgbClr val="FFC000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0.15</a:t>
            </a:r>
            <a:r>
              <a:rPr lang="nl-BE" sz="1600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  <a:r>
              <a:rPr lang="nl-BE" sz="1600" b="1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= -0.20  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28B361C2-63C7-C34A-B9D8-EDAFD0CBE8AE}"/>
              </a:ext>
            </a:extLst>
          </p:cNvPr>
          <p:cNvSpPr txBox="1"/>
          <p:nvPr/>
        </p:nvSpPr>
        <p:spPr>
          <a:xfrm>
            <a:off x="1824036" y="2381237"/>
            <a:ext cx="4400550" cy="3571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1600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0 + -2 * 0.10 + </a:t>
            </a:r>
            <a:r>
              <a:rPr lang="nl-BE" sz="2000" b="1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nl-BE" sz="1600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* 0.50 + -2 * </a:t>
            </a:r>
            <a:r>
              <a:rPr lang="nl-BE" b="1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nl-BE" sz="1600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* </a:t>
            </a:r>
            <a:r>
              <a:rPr lang="nl-BE" sz="1600" b="1" i="1" dirty="0">
                <a:solidFill>
                  <a:srgbClr val="FFC000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0.15</a:t>
            </a:r>
            <a:r>
              <a:rPr lang="nl-BE" sz="1600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  <a:r>
              <a:rPr lang="nl-BE" sz="1600" b="1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= 0</a:t>
            </a:r>
          </a:p>
        </p:txBody>
      </p:sp>
      <p:cxnSp>
        <p:nvCxnSpPr>
          <p:cNvPr id="6" name="Rechte verbindingslijn met pijl 5">
            <a:extLst>
              <a:ext uri="{FF2B5EF4-FFF2-40B4-BE49-F238E27FC236}">
                <a16:creationId xmlns:a16="http://schemas.microsoft.com/office/drawing/2014/main" id="{D41CED62-A693-C645-82E7-C21A97B01932}"/>
              </a:ext>
            </a:extLst>
          </p:cNvPr>
          <p:cNvCxnSpPr/>
          <p:nvPr/>
        </p:nvCxnSpPr>
        <p:spPr>
          <a:xfrm flipH="1" flipV="1">
            <a:off x="1171575" y="3957638"/>
            <a:ext cx="652461" cy="600075"/>
          </a:xfrm>
          <a:prstGeom prst="straightConnector1">
            <a:avLst/>
          </a:prstGeom>
          <a:ln>
            <a:solidFill>
              <a:srgbClr val="9ECAE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A39D95F2-39F2-344C-9F52-3DFD4339B9CB}"/>
              </a:ext>
            </a:extLst>
          </p:cNvPr>
          <p:cNvCxnSpPr>
            <a:cxnSpLocks/>
          </p:cNvCxnSpPr>
          <p:nvPr/>
        </p:nvCxnSpPr>
        <p:spPr>
          <a:xfrm flipH="1">
            <a:off x="1171575" y="2738424"/>
            <a:ext cx="642938" cy="876314"/>
          </a:xfrm>
          <a:prstGeom prst="straightConnector1">
            <a:avLst/>
          </a:prstGeom>
          <a:ln>
            <a:solidFill>
              <a:srgbClr val="084594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7602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563A9F-38E4-0342-A321-FA29B1552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als interactie negatief zou zijn?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1DC466B-9804-9340-8F92-83FF264873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70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AE9D4B2-84E3-BA44-B80C-25F57283A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Je krijgt onderstaande resultaten</a:t>
            </a:r>
          </a:p>
        </p:txBody>
      </p:sp>
      <p:sp>
        <p:nvSpPr>
          <p:cNvPr id="5" name="Tijdelijke aanduiding voor inhoud 3">
            <a:extLst>
              <a:ext uri="{FF2B5EF4-FFF2-40B4-BE49-F238E27FC236}">
                <a16:creationId xmlns:a16="http://schemas.microsoft.com/office/drawing/2014/main" id="{F308B95D-B4AA-5C4E-B090-A01ACBC1BAFD}"/>
              </a:ext>
            </a:extLst>
          </p:cNvPr>
          <p:cNvSpPr txBox="1">
            <a:spLocks/>
          </p:cNvSpPr>
          <p:nvPr/>
        </p:nvSpPr>
        <p:spPr>
          <a:xfrm>
            <a:off x="623887" y="1577009"/>
            <a:ext cx="11363326" cy="466027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74638" indent="-274638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§"/>
              <a:tabLst/>
              <a:defRPr sz="2800" b="1" i="0" kern="1200">
                <a:solidFill>
                  <a:schemeClr val="tx1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  <a:lvl2pPr marL="740815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2pPr>
            <a:lvl3pPr marL="1090057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733" kern="120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454114" indent="-378875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663658" indent="-226478" algn="l" defTabSz="1217054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dirty="0"/>
              <a:t>Je krijgt onderstaande resultaten, wat verandert er aan de grafiek?</a:t>
            </a:r>
          </a:p>
          <a:p>
            <a:endParaRPr lang="nl-BE" dirty="0"/>
          </a:p>
          <a:p>
            <a:endParaRPr lang="nl-BE" dirty="0"/>
          </a:p>
        </p:txBody>
      </p:sp>
      <p:graphicFrame>
        <p:nvGraphicFramePr>
          <p:cNvPr id="6" name="Tabel 8">
            <a:extLst>
              <a:ext uri="{FF2B5EF4-FFF2-40B4-BE49-F238E27FC236}">
                <a16:creationId xmlns:a16="http://schemas.microsoft.com/office/drawing/2014/main" id="{2ED94482-2954-AA47-8EF8-9077D6C06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082720"/>
              </p:ext>
            </p:extLst>
          </p:nvPr>
        </p:nvGraphicFramePr>
        <p:xfrm>
          <a:off x="1115371" y="2387881"/>
          <a:ext cx="2220042" cy="141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4242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234017">
                <a:tc>
                  <a:txBody>
                    <a:bodyPr/>
                    <a:lstStyle/>
                    <a:p>
                      <a:pPr marL="0" algn="r"/>
                      <a:r>
                        <a:rPr lang="nl-BE" sz="1600" dirty="0"/>
                        <a:t>Intercept: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dirty="0"/>
                        <a:t> 0.00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270212">
                <a:tc>
                  <a:txBody>
                    <a:bodyPr/>
                    <a:lstStyle/>
                    <a:p>
                      <a:pPr marL="0" algn="r"/>
                      <a:r>
                        <a:rPr lang="nl-BE" sz="1600" dirty="0"/>
                        <a:t>Voorbeelden_Z: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dirty="0"/>
                        <a:t>0.10</a:t>
                      </a:r>
                      <a:r>
                        <a:rPr lang="nl-BE" sz="1600" baseline="30000" dirty="0"/>
                        <a:t>*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/>
                      <a:r>
                        <a:rPr lang="nl-BE" sz="1600" dirty="0"/>
                        <a:t>Conditie_D: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dirty="0"/>
                        <a:t>0.50</a:t>
                      </a:r>
                      <a:r>
                        <a:rPr lang="nl-BE" sz="1600" baseline="30000" dirty="0"/>
                        <a:t>*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/>
                      <a:r>
                        <a:rPr lang="nl-BE" sz="1600" b="1" dirty="0"/>
                        <a:t>Interactie: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600" b="1" baseline="0" dirty="0"/>
                        <a:t>-0.15</a:t>
                      </a:r>
                      <a:r>
                        <a:rPr lang="nl-BE" sz="1600" b="1" baseline="30000" dirty="0"/>
                        <a:t>*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038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48602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B752E-05F6-AC42-970A-3FD7D92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71</a:t>
            </a:fld>
            <a:endParaRPr lang="nl-BE" dirty="0"/>
          </a:p>
        </p:txBody>
      </p:sp>
      <p:pic>
        <p:nvPicPr>
          <p:cNvPr id="6" name="Tijdelijke aanduiding voor inhoud 8">
            <a:extLst>
              <a:ext uri="{FF2B5EF4-FFF2-40B4-BE49-F238E27FC236}">
                <a16:creationId xmlns:a16="http://schemas.microsoft.com/office/drawing/2014/main" id="{13263A6A-17D1-A148-B077-31C759F1DF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923" y="0"/>
            <a:ext cx="11144250" cy="6860478"/>
          </a:xfrm>
          <a:prstGeom prst="rect">
            <a:avLst/>
          </a:prstGeom>
        </p:spPr>
      </p:pic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46176"/>
              </p:ext>
            </p:extLst>
          </p:nvPr>
        </p:nvGraphicFramePr>
        <p:xfrm>
          <a:off x="10115550" y="633"/>
          <a:ext cx="208413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316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43815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0.10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baseline="0" dirty="0"/>
                        <a:t>  -0.15</a:t>
                      </a:r>
                      <a:r>
                        <a:rPr lang="nl-BE" sz="1200" b="1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57267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B752E-05F6-AC42-970A-3FD7D92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6" name="Tijdelijke aanduiding voor inhoud 8">
            <a:extLst>
              <a:ext uri="{FF2B5EF4-FFF2-40B4-BE49-F238E27FC236}">
                <a16:creationId xmlns:a16="http://schemas.microsoft.com/office/drawing/2014/main" id="{13263A6A-17D1-A148-B077-31C759F1DF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366" y="-3110"/>
            <a:ext cx="11144249" cy="6860477"/>
          </a:xfrm>
          <a:prstGeom prst="rect">
            <a:avLst/>
          </a:prstGeom>
        </p:spPr>
      </p:pic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72</a:t>
            </a:fld>
            <a:endParaRPr lang="nl-BE" dirty="0"/>
          </a:p>
        </p:txBody>
      </p:sp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/>
        </p:nvGraphicFramePr>
        <p:xfrm>
          <a:off x="10115550" y="633"/>
          <a:ext cx="208413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316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43815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0.10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/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baseline="0" dirty="0"/>
                        <a:t>  -0.15</a:t>
                      </a:r>
                      <a:r>
                        <a:rPr lang="nl-BE" sz="1200" b="1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6FB5E7FC-8B3D-C84B-80A7-40F29D0A4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075498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9B752E-05F6-AC42-970A-3FD7D92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6" name="Tijdelijke aanduiding voor inhoud 8">
            <a:extLst>
              <a:ext uri="{FF2B5EF4-FFF2-40B4-BE49-F238E27FC236}">
                <a16:creationId xmlns:a16="http://schemas.microsoft.com/office/drawing/2014/main" id="{13263A6A-17D1-A148-B077-31C759F1DF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366" y="-3110"/>
            <a:ext cx="11144249" cy="6860476"/>
          </a:xfrm>
          <a:prstGeom prst="rect">
            <a:avLst/>
          </a:prstGeom>
        </p:spPr>
      </p:pic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C55C03-BBC2-2B4C-81AE-092F764BD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73</a:t>
            </a:fld>
            <a:endParaRPr lang="nl-BE" dirty="0"/>
          </a:p>
        </p:txBody>
      </p:sp>
      <p:graphicFrame>
        <p:nvGraphicFramePr>
          <p:cNvPr id="10" name="Tabel 8">
            <a:extLst>
              <a:ext uri="{FF2B5EF4-FFF2-40B4-BE49-F238E27FC236}">
                <a16:creationId xmlns:a16="http://schemas.microsoft.com/office/drawing/2014/main" id="{4B0D459A-12FA-D942-8BEC-852837233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258400"/>
              </p:ext>
            </p:extLst>
          </p:nvPr>
        </p:nvGraphicFramePr>
        <p:xfrm>
          <a:off x="10115550" y="633"/>
          <a:ext cx="208413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316">
                  <a:extLst>
                    <a:ext uri="{9D8B030D-6E8A-4147-A177-3AD203B41FA5}">
                      <a16:colId xmlns:a16="http://schemas.microsoft.com/office/drawing/2014/main" val="1118209492"/>
                    </a:ext>
                  </a:extLst>
                </a:gridCol>
                <a:gridCol w="643815">
                  <a:extLst>
                    <a:ext uri="{9D8B030D-6E8A-4147-A177-3AD203B41FA5}">
                      <a16:colId xmlns:a16="http://schemas.microsoft.com/office/drawing/2014/main" val="2353429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Intercept: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0" dirty="0">
                          <a:solidFill>
                            <a:schemeClr val="tx2"/>
                          </a:solidFill>
                        </a:rPr>
                        <a:t> 0.00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61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Voorbeelden_Z: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0.10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31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/>
                      <a:r>
                        <a:rPr lang="nl-BE" sz="1200" dirty="0"/>
                        <a:t>Conditie_D: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dirty="0"/>
                        <a:t> 0.50</a:t>
                      </a:r>
                      <a:r>
                        <a:rPr lang="nl-BE" sz="1200" baseline="30000" dirty="0"/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2631"/>
                  </a:ext>
                </a:extLst>
              </a:tr>
              <a:tr h="156527">
                <a:tc>
                  <a:txBody>
                    <a:bodyPr/>
                    <a:lstStyle/>
                    <a:p>
                      <a:pPr marL="0" algn="r"/>
                      <a:r>
                        <a:rPr lang="nl-BE" sz="1200" b="1" dirty="0">
                          <a:solidFill>
                            <a:srgbClr val="FFC000"/>
                          </a:solidFill>
                        </a:rPr>
                        <a:t>Interactie:</a:t>
                      </a:r>
                    </a:p>
                  </a:txBody>
                  <a:tcPr marL="9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/>
                      <a:r>
                        <a:rPr lang="nl-BE" sz="1200" b="1" baseline="0" dirty="0"/>
                        <a:t>  </a:t>
                      </a:r>
                      <a:r>
                        <a:rPr lang="nl-BE" sz="1200" b="1" baseline="0" dirty="0">
                          <a:solidFill>
                            <a:srgbClr val="FFC000"/>
                          </a:solidFill>
                        </a:rPr>
                        <a:t>-0.15</a:t>
                      </a:r>
                      <a:r>
                        <a:rPr lang="nl-BE" sz="1200" b="1" baseline="30000" dirty="0">
                          <a:solidFill>
                            <a:srgbClr val="FFC000"/>
                          </a:solidFill>
                        </a:rPr>
                        <a:t>*</a:t>
                      </a:r>
                    </a:p>
                  </a:txBody>
                  <a:tcPr marL="9000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01452"/>
                  </a:ext>
                </a:extLst>
              </a:tr>
            </a:tbl>
          </a:graphicData>
        </a:graphic>
      </p:graphicFrame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6FB5E7FC-8B3D-C84B-80A7-40F29D0A4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1213DF2C-321C-A048-A4D5-594D9D2C9387}"/>
              </a:ext>
            </a:extLst>
          </p:cNvPr>
          <p:cNvSpPr txBox="1"/>
          <p:nvPr/>
        </p:nvSpPr>
        <p:spPr>
          <a:xfrm>
            <a:off x="1814513" y="4557713"/>
            <a:ext cx="4400550" cy="3571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1600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0 + -2 * 0.10 + </a:t>
            </a:r>
            <a:r>
              <a:rPr lang="nl-BE" sz="2000" b="1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0</a:t>
            </a:r>
            <a:r>
              <a:rPr lang="nl-BE" sz="1600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* 0.50 + -2 * </a:t>
            </a:r>
            <a:r>
              <a:rPr lang="nl-BE" sz="2000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fgh</a:t>
            </a:r>
            <a:r>
              <a:rPr lang="nl-BE" sz="1600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* </a:t>
            </a:r>
            <a:r>
              <a:rPr lang="nl-BE" sz="1600" b="1" i="1" dirty="0">
                <a:solidFill>
                  <a:srgbClr val="FFC000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-0.15</a:t>
            </a:r>
            <a:r>
              <a:rPr lang="nl-BE" sz="1600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  <a:r>
              <a:rPr lang="nl-BE" sz="1600" b="1" i="1" dirty="0">
                <a:solidFill>
                  <a:srgbClr val="9ECAE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= -0.20  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53AD64DD-F110-974F-B8D6-4B37597448D3}"/>
              </a:ext>
            </a:extLst>
          </p:cNvPr>
          <p:cNvSpPr txBox="1"/>
          <p:nvPr/>
        </p:nvSpPr>
        <p:spPr>
          <a:xfrm>
            <a:off x="1824036" y="2381237"/>
            <a:ext cx="4400550" cy="3571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1600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0 + -2 * 0.10 + </a:t>
            </a:r>
            <a:r>
              <a:rPr lang="nl-BE" sz="2000" b="1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nl-BE" sz="1600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* 0.50 + -2 * </a:t>
            </a:r>
            <a:r>
              <a:rPr lang="nl-BE" sz="2000" b="1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nl-BE" sz="1600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* </a:t>
            </a:r>
            <a:r>
              <a:rPr lang="nl-BE" sz="1600" b="1" i="1" dirty="0">
                <a:solidFill>
                  <a:srgbClr val="FFC000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-0.15</a:t>
            </a:r>
            <a:r>
              <a:rPr lang="nl-BE" sz="1600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  <a:r>
              <a:rPr lang="nl-BE" sz="1600" b="1" i="1" dirty="0">
                <a:solidFill>
                  <a:srgbClr val="084594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= 0.60</a:t>
            </a:r>
          </a:p>
        </p:txBody>
      </p: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AB346937-3208-EC44-9229-79D61D63C4A2}"/>
              </a:ext>
            </a:extLst>
          </p:cNvPr>
          <p:cNvCxnSpPr>
            <a:cxnSpLocks/>
          </p:cNvCxnSpPr>
          <p:nvPr/>
        </p:nvCxnSpPr>
        <p:spPr>
          <a:xfrm flipH="1" flipV="1">
            <a:off x="1034385" y="3957639"/>
            <a:ext cx="789652" cy="600075"/>
          </a:xfrm>
          <a:prstGeom prst="straightConnector1">
            <a:avLst/>
          </a:prstGeom>
          <a:ln>
            <a:solidFill>
              <a:srgbClr val="9ECAE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72450C9A-AAAF-C742-AFBF-E68A4A9996AC}"/>
              </a:ext>
            </a:extLst>
          </p:cNvPr>
          <p:cNvCxnSpPr>
            <a:cxnSpLocks/>
          </p:cNvCxnSpPr>
          <p:nvPr/>
        </p:nvCxnSpPr>
        <p:spPr>
          <a:xfrm flipH="1">
            <a:off x="1034385" y="2559830"/>
            <a:ext cx="780128" cy="340532"/>
          </a:xfrm>
          <a:prstGeom prst="straightConnector1">
            <a:avLst/>
          </a:prstGeom>
          <a:ln>
            <a:solidFill>
              <a:srgbClr val="084594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02772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6FC219E-2B52-8B46-BCE5-D6ECF9B24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74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D75492-2D3D-2347-964F-1B7AC12DC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444CAC1-9DC2-6147-B2F3-EFB051D8189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nl-BE" dirty="0"/>
              <a:t>Virtuele oefenruimtes</a:t>
            </a:r>
          </a:p>
          <a:p>
            <a:r>
              <a:rPr lang="nl-BE" dirty="0"/>
              <a:t>Individueel oefenen </a:t>
            </a:r>
          </a:p>
        </p:txBody>
      </p:sp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47588DA9-5F49-F746-B1D9-BBA874481F4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-300680" b="-300680"/>
          <a:stretch/>
        </p:blipFill>
        <p:spPr/>
      </p:pic>
    </p:spTree>
    <p:extLst>
      <p:ext uri="{BB962C8B-B14F-4D97-AF65-F5344CB8AC3E}">
        <p14:creationId xmlns:p14="http://schemas.microsoft.com/office/powerpoint/2010/main" val="4236631438"/>
      </p:ext>
    </p:extLst>
  </p:cSld>
  <p:clrMapOvr>
    <a:masterClrMapping/>
  </p:clrMapOvr>
</p:sld>
</file>

<file path=ppt/theme/theme1.xml><?xml version="1.0" encoding="utf-8"?>
<a:theme xmlns:a="http://schemas.openxmlformats.org/drawingml/2006/main" name="UAntwerpen-inhoud">
  <a:themeElements>
    <a:clrScheme name="Kleuren_universiteitAntwerpen">
      <a:dk1>
        <a:srgbClr val="002E65"/>
      </a:dk1>
      <a:lt1>
        <a:srgbClr val="FFFFFF"/>
      </a:lt1>
      <a:dk2>
        <a:srgbClr val="002E65"/>
      </a:dk2>
      <a:lt2>
        <a:srgbClr val="BBCCCC"/>
      </a:lt2>
      <a:accent1>
        <a:srgbClr val="002E65"/>
      </a:accent1>
      <a:accent2>
        <a:srgbClr val="EA2C38"/>
      </a:accent2>
      <a:accent3>
        <a:srgbClr val="44B8F3"/>
      </a:accent3>
      <a:accent4>
        <a:srgbClr val="ADA500"/>
      </a:accent4>
      <a:accent5>
        <a:srgbClr val="AC242A"/>
      </a:accent5>
      <a:accent6>
        <a:srgbClr val="65A812"/>
      </a:accent6>
      <a:hlink>
        <a:srgbClr val="006CA9"/>
      </a:hlink>
      <a:folHlink>
        <a:srgbClr val="B1009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xtLst>
          <a:ext uri="{91240B29-F687-4f45-9708-019B960494DF}">
            <a14:hiddenLine xmlns:a14="http://schemas.microsoft.com/office/drawing/2010/main" xmlns="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lIns="180000" tIns="180000" rIns="180000" bIns="180000" anchor="ctr"/>
      <a:lstStyle>
        <a:defPPr marL="179388" indent="-179388">
          <a:spcAft>
            <a:spcPts val="450"/>
          </a:spcAft>
          <a:buFont typeface="Arial" charset="0"/>
          <a:buChar char="•"/>
          <a:defRPr sz="1600" dirty="0">
            <a:latin typeface="Verdana" charset="0"/>
            <a:ea typeface="Verdana Regular" charset="0"/>
            <a:cs typeface="Verdana Regular" charset="0"/>
            <a:sym typeface="Securitas Sans Light" charset="0"/>
          </a:defRPr>
        </a:defPPr>
      </a:lstStyle>
    </a:spDef>
    <a:lnDef>
      <a:spPr>
        <a:ln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2800" b="1" dirty="0">
            <a:solidFill>
              <a:schemeClr val="bg1"/>
            </a:solidFill>
            <a:latin typeface="Gotham" panose="02000603040000020004" pitchFamily="2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dp_powerpoint" id="{FEF18948-FC9D-1340-AA00-430FBBA861E5}" vid="{591CA67A-998E-6049-B579-1B92244B0BFA}"/>
    </a:ext>
  </a:extLst>
</a:theme>
</file>

<file path=ppt/theme/theme2.xml><?xml version="1.0" encoding="utf-8"?>
<a:theme xmlns:a="http://schemas.openxmlformats.org/drawingml/2006/main" name="UAntwerpen_titelslide">
  <a:themeElements>
    <a:clrScheme name="Kleuren_universiteitAntwerpen">
      <a:dk1>
        <a:srgbClr val="002E65"/>
      </a:dk1>
      <a:lt1>
        <a:srgbClr val="FFFFFF"/>
      </a:lt1>
      <a:dk2>
        <a:srgbClr val="002E65"/>
      </a:dk2>
      <a:lt2>
        <a:srgbClr val="BBCCCC"/>
      </a:lt2>
      <a:accent1>
        <a:srgbClr val="002E65"/>
      </a:accent1>
      <a:accent2>
        <a:srgbClr val="EA2C38"/>
      </a:accent2>
      <a:accent3>
        <a:srgbClr val="44B8F3"/>
      </a:accent3>
      <a:accent4>
        <a:srgbClr val="ADA500"/>
      </a:accent4>
      <a:accent5>
        <a:srgbClr val="AC242A"/>
      </a:accent5>
      <a:accent6>
        <a:srgbClr val="65A812"/>
      </a:accent6>
      <a:hlink>
        <a:srgbClr val="006CA9"/>
      </a:hlink>
      <a:folHlink>
        <a:srgbClr val="B1009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3E4096B1224744B14B28F94E3FEB1B" ma:contentTypeVersion="8" ma:contentTypeDescription="Een nieuw document maken." ma:contentTypeScope="" ma:versionID="dd69ad4b946f0bf0a6a24c2874057b2a">
  <xsd:schema xmlns:xsd="http://www.w3.org/2001/XMLSchema" xmlns:xs="http://www.w3.org/2001/XMLSchema" xmlns:p="http://schemas.microsoft.com/office/2006/metadata/properties" xmlns:ns2="6b30ab21-c247-4d68-a057-2d2e000e95f9" targetNamespace="http://schemas.microsoft.com/office/2006/metadata/properties" ma:root="true" ma:fieldsID="89681776de429ea430604d1296cc4f75" ns2:_="">
    <xsd:import namespace="6b30ab21-c247-4d68-a057-2d2e000e9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30ab21-c247-4d68-a057-2d2e000e9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493ED3-4630-4FB3-93C9-5190D7A81D75}">
  <ds:schemaRefs>
    <ds:schemaRef ds:uri="http://schemas.microsoft.com/office/2006/documentManagement/types"/>
    <ds:schemaRef ds:uri="6b30ab21-c247-4d68-a057-2d2e000e95f9"/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1CF5404-88CD-448A-904B-95263EA2EE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30ab21-c247-4d68-a057-2d2e000e95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C8EC77-FC4C-433A-8C45-00F51CA1C0F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vdp_powerpoint</Template>
  <TotalTime>17523</TotalTime>
  <Words>4792</Words>
  <Application>Microsoft Macintosh PowerPoint</Application>
  <PresentationFormat>Breedbeeld</PresentationFormat>
  <Paragraphs>1045</Paragraphs>
  <Slides>74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12</vt:i4>
      </vt:variant>
      <vt:variant>
        <vt:lpstr>Thema</vt:lpstr>
      </vt:variant>
      <vt:variant>
        <vt:i4>2</vt:i4>
      </vt:variant>
      <vt:variant>
        <vt:lpstr>Diatitels</vt:lpstr>
      </vt:variant>
      <vt:variant>
        <vt:i4>74</vt:i4>
      </vt:variant>
    </vt:vector>
  </HeadingPairs>
  <TitlesOfParts>
    <vt:vector size="88" baseType="lpstr">
      <vt:lpstr>ＭＳ Ｐゴシック</vt:lpstr>
      <vt:lpstr>Arial</vt:lpstr>
      <vt:lpstr>Calibri</vt:lpstr>
      <vt:lpstr>Calibri Light</vt:lpstr>
      <vt:lpstr>Cambria Math</vt:lpstr>
      <vt:lpstr>Courier New</vt:lpstr>
      <vt:lpstr>Gotham</vt:lpstr>
      <vt:lpstr>ITC Officina Sans Std Book</vt:lpstr>
      <vt:lpstr>Times New Roman</vt:lpstr>
      <vt:lpstr>Trebuchet MS</vt:lpstr>
      <vt:lpstr>Verdana</vt:lpstr>
      <vt:lpstr>Wingdings</vt:lpstr>
      <vt:lpstr>UAntwerpen-inhoud</vt:lpstr>
      <vt:lpstr>UAntwerpen_titelslide</vt:lpstr>
      <vt:lpstr>Statistiek B – contactmoment 5</vt:lpstr>
      <vt:lpstr>PowerPoint-presentatie</vt:lpstr>
      <vt:lpstr>R-kwadraat</vt:lpstr>
      <vt:lpstr>R-kwadraat:</vt:lpstr>
      <vt:lpstr>Total Sum of Squares (TSS)</vt:lpstr>
      <vt:lpstr>Total Sum of Squares (TSS)</vt:lpstr>
      <vt:lpstr>… voorspeller toevoegen nu</vt:lpstr>
      <vt:lpstr>Sum of Squares of Errors (SSE)</vt:lpstr>
      <vt:lpstr>Regression Sum of Squares (RSS)</vt:lpstr>
      <vt:lpstr>R-kwadraat</vt:lpstr>
      <vt:lpstr>Regressieanalyse als Lingua Franca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Modellen schatten</vt:lpstr>
      <vt:lpstr>Modellen vergelijken</vt:lpstr>
      <vt:lpstr>Modellen vergelijken</vt:lpstr>
      <vt:lpstr>Modellen herschatten</vt:lpstr>
      <vt:lpstr>Herschatte modellen vergelijken</vt:lpstr>
      <vt:lpstr>Assumpties beste model</vt:lpstr>
      <vt:lpstr>Interpretatie model?</vt:lpstr>
      <vt:lpstr>Voorspellen! (1)</vt:lpstr>
      <vt:lpstr>Voorspellen! (2)  </vt:lpstr>
      <vt:lpstr>Voorspellen! (2)  </vt:lpstr>
      <vt:lpstr>Voorspellen! (2)  </vt:lpstr>
      <vt:lpstr>Voorspellen! (3)  </vt:lpstr>
      <vt:lpstr>Voorspellen! (3)  </vt:lpstr>
      <vt:lpstr>Voorspellen! (3)  </vt:lpstr>
      <vt:lpstr>Voorspellen, populatie?</vt:lpstr>
      <vt:lpstr>Voorspellen, populatie?</vt:lpstr>
      <vt:lpstr>Voorspellen, populatie?</vt:lpstr>
      <vt:lpstr>Interpretatie model?</vt:lpstr>
      <vt:lpstr>PowerPoint-presentatie</vt:lpstr>
      <vt:lpstr>PowerPoint-presentatie</vt:lpstr>
      <vt:lpstr>Variabelen centreren</vt:lpstr>
      <vt:lpstr>Variabelen centreren</vt:lpstr>
      <vt:lpstr>Variabelen standaardiseren</vt:lpstr>
      <vt:lpstr>Variabelen standaardiseren</vt:lpstr>
      <vt:lpstr>Variabelen centreren en standaardiseren</vt:lpstr>
      <vt:lpstr>Variabelen centreren en standaardiseren</vt:lpstr>
      <vt:lpstr>Variabelen centreren en standaardiseren</vt:lpstr>
      <vt:lpstr>Dummyvariabelen</vt:lpstr>
      <vt:lpstr>Dummyvariabelen (meer dan 2 cat.)</vt:lpstr>
      <vt:lpstr>Dummyva     iabelen maken en controleren</vt:lpstr>
      <vt:lpstr>Dummyva     iabelen opnemen in model</vt:lpstr>
      <vt:lpstr>Dummyva     iabelen opnemen in model</vt:lpstr>
      <vt:lpstr>Regressieanalyse als Lingua Franca</vt:lpstr>
      <vt:lpstr>Regressieanalyse als Lingua Franca</vt:lpstr>
      <vt:lpstr>Regressieanalyse als Lingua Franca</vt:lpstr>
      <vt:lpstr>Interacties (Deel 1)</vt:lpstr>
      <vt:lpstr>Een voorbeeld</vt:lpstr>
      <vt:lpstr>Een voorbeeld</vt:lpstr>
      <vt:lpstr>Model zonder interactie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Model mét positieve interactie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Wat als interactie negatief zou zijn?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Sven De Maeyer</cp:lastModifiedBy>
  <cp:revision>336</cp:revision>
  <cp:lastPrinted>2021-04-21T13:33:53Z</cp:lastPrinted>
  <dcterms:created xsi:type="dcterms:W3CDTF">2020-12-07T09:05:54Z</dcterms:created>
  <dcterms:modified xsi:type="dcterms:W3CDTF">2026-03-28T12:16:41Z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0x010100D33E4096B1224744B14B28F94E3FEB1B</vt:lpwstr>
  </property>
</Properties>
</file>