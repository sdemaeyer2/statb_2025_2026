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77" r:id="rId4"/>
    <p:sldMasterId id="2147484114" r:id="rId5"/>
  </p:sldMasterIdLst>
  <p:notesMasterIdLst>
    <p:notesMasterId r:id="rId61"/>
  </p:notesMasterIdLst>
  <p:handoutMasterIdLst>
    <p:handoutMasterId r:id="rId62"/>
  </p:handoutMasterIdLst>
  <p:sldIdLst>
    <p:sldId id="257" r:id="rId6"/>
    <p:sldId id="268" r:id="rId7"/>
    <p:sldId id="331" r:id="rId8"/>
    <p:sldId id="373" r:id="rId9"/>
    <p:sldId id="374" r:id="rId10"/>
    <p:sldId id="375" r:id="rId11"/>
    <p:sldId id="376" r:id="rId12"/>
    <p:sldId id="344" r:id="rId13"/>
    <p:sldId id="343" r:id="rId14"/>
    <p:sldId id="336" r:id="rId15"/>
    <p:sldId id="337" r:id="rId16"/>
    <p:sldId id="339" r:id="rId17"/>
    <p:sldId id="383" r:id="rId18"/>
    <p:sldId id="377" r:id="rId19"/>
    <p:sldId id="378" r:id="rId20"/>
    <p:sldId id="273" r:id="rId21"/>
    <p:sldId id="341" r:id="rId22"/>
    <p:sldId id="345" r:id="rId23"/>
    <p:sldId id="346" r:id="rId24"/>
    <p:sldId id="347" r:id="rId25"/>
    <p:sldId id="348" r:id="rId26"/>
    <p:sldId id="350" r:id="rId27"/>
    <p:sldId id="382" r:id="rId28"/>
    <p:sldId id="349" r:id="rId29"/>
    <p:sldId id="351" r:id="rId30"/>
    <p:sldId id="352" r:id="rId31"/>
    <p:sldId id="353" r:id="rId32"/>
    <p:sldId id="354" r:id="rId33"/>
    <p:sldId id="370" r:id="rId34"/>
    <p:sldId id="379" r:id="rId35"/>
    <p:sldId id="380" r:id="rId36"/>
    <p:sldId id="381" r:id="rId37"/>
    <p:sldId id="291" r:id="rId38"/>
    <p:sldId id="294" r:id="rId39"/>
    <p:sldId id="292" r:id="rId40"/>
    <p:sldId id="296" r:id="rId41"/>
    <p:sldId id="356" r:id="rId42"/>
    <p:sldId id="357" r:id="rId43"/>
    <p:sldId id="366" r:id="rId44"/>
    <p:sldId id="358" r:id="rId45"/>
    <p:sldId id="359" r:id="rId46"/>
    <p:sldId id="368" r:id="rId47"/>
    <p:sldId id="321" r:id="rId48"/>
    <p:sldId id="362" r:id="rId49"/>
    <p:sldId id="363" r:id="rId50"/>
    <p:sldId id="364" r:id="rId51"/>
    <p:sldId id="360" r:id="rId52"/>
    <p:sldId id="365" r:id="rId53"/>
    <p:sldId id="361" r:id="rId54"/>
    <p:sldId id="367" r:id="rId55"/>
    <p:sldId id="324" r:id="rId56"/>
    <p:sldId id="329" r:id="rId57"/>
    <p:sldId id="325" r:id="rId58"/>
    <p:sldId id="316" r:id="rId59"/>
    <p:sldId id="332" r:id="rId60"/>
  </p:sldIdLst>
  <p:sldSz cx="12192000" cy="6858000"/>
  <p:notesSz cx="6797675" cy="9929813"/>
  <p:defaultTextStyle>
    <a:defPPr>
      <a:defRPr lang="nl-BE"/>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196" userDrawn="1">
          <p15:clr>
            <a:srgbClr val="A4A3A4"/>
          </p15:clr>
        </p15:guide>
        <p15:guide id="2" orient="horz" pos="3123" userDrawn="1">
          <p15:clr>
            <a:srgbClr val="A4A3A4"/>
          </p15:clr>
        </p15:guide>
        <p15:guide id="3" pos="197" userDrawn="1">
          <p15:clr>
            <a:srgbClr val="A4A3A4"/>
          </p15:clr>
        </p15:guide>
        <p15:guide id="4" pos="2141" userDrawn="1">
          <p15:clr>
            <a:srgbClr val="A4A3A4"/>
          </p15:clr>
        </p15:guide>
        <p15:guide id="5" pos="408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ine van Daal" initials="TvD" lastIdx="2" clrIdx="0">
    <p:extLst>
      <p:ext uri="{19B8F6BF-5375-455C-9EA6-DF929625EA0E}">
        <p15:presenceInfo xmlns:p15="http://schemas.microsoft.com/office/powerpoint/2012/main" userId="S::tvdaal@ad.ua.ac.be::ecf543c1-d1bd-4274-b68c-558406766bb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E65"/>
    <a:srgbClr val="292929"/>
    <a:srgbClr val="4D4D4D"/>
    <a:srgbClr val="000000"/>
    <a:srgbClr val="983466"/>
    <a:srgbClr val="9A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Stijl, thema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940675A-B579-460E-94D1-54222C63F5DA}" styleName="Geen stijl, tabel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Stijl, licht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85"/>
    <p:restoredTop sz="64815" autoAdjust="0"/>
  </p:normalViewPr>
  <p:slideViewPr>
    <p:cSldViewPr snapToGrid="0" snapToObjects="1" showGuides="1">
      <p:cViewPr varScale="1">
        <p:scale>
          <a:sx n="41" d="100"/>
          <a:sy n="41" d="100"/>
        </p:scale>
        <p:origin x="1776" y="24"/>
      </p:cViewPr>
      <p:guideLst/>
    </p:cSldViewPr>
  </p:slideViewPr>
  <p:notesTextViewPr>
    <p:cViewPr>
      <p:scale>
        <a:sx n="100" d="100"/>
        <a:sy n="100" d="100"/>
      </p:scale>
      <p:origin x="0" y="0"/>
    </p:cViewPr>
  </p:notesTextViewPr>
  <p:notesViewPr>
    <p:cSldViewPr snapToGrid="0" snapToObjects="1" showGuides="1">
      <p:cViewPr varScale="1">
        <p:scale>
          <a:sx n="66" d="100"/>
          <a:sy n="66" d="100"/>
        </p:scale>
        <p:origin x="0" y="0"/>
      </p:cViewPr>
      <p:guideLst>
        <p:guide orient="horz" pos="196"/>
        <p:guide orient="horz" pos="3123"/>
        <p:guide pos="197"/>
        <p:guide pos="2141"/>
        <p:guide pos="4085"/>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commentAuthors" Target="commen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theme" Target="theme/theme1.xml"/><Relationship Id="rId5" Type="http://schemas.openxmlformats.org/officeDocument/2006/relationships/slideMaster" Target="slideMasters/slideMaster2.xml"/><Relationship Id="rId61" Type="http://schemas.openxmlformats.org/officeDocument/2006/relationships/notesMaster" Target="notesMasters/notesMaster1.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135" cy="497759"/>
          </a:xfrm>
          <a:prstGeom prst="rect">
            <a:avLst/>
          </a:prstGeom>
        </p:spPr>
        <p:txBody>
          <a:bodyPr vert="horz" lIns="91312" tIns="45656" rIns="91312" bIns="45656" rtlCol="0"/>
          <a:lstStyle>
            <a:lvl1pPr algn="l">
              <a:defRPr sz="1200"/>
            </a:lvl1pPr>
          </a:lstStyle>
          <a:p>
            <a:endParaRPr lang="nl-BE"/>
          </a:p>
        </p:txBody>
      </p:sp>
      <p:sp>
        <p:nvSpPr>
          <p:cNvPr id="3" name="Tijdelijke aanduiding voor datum 2"/>
          <p:cNvSpPr>
            <a:spLocks noGrp="1"/>
          </p:cNvSpPr>
          <p:nvPr>
            <p:ph type="dt" sz="quarter" idx="1"/>
          </p:nvPr>
        </p:nvSpPr>
        <p:spPr>
          <a:xfrm>
            <a:off x="3849955" y="0"/>
            <a:ext cx="2946135" cy="497759"/>
          </a:xfrm>
          <a:prstGeom prst="rect">
            <a:avLst/>
          </a:prstGeom>
        </p:spPr>
        <p:txBody>
          <a:bodyPr vert="horz" lIns="91312" tIns="45656" rIns="91312" bIns="45656" rtlCol="0"/>
          <a:lstStyle>
            <a:lvl1pPr algn="r">
              <a:defRPr sz="1200"/>
            </a:lvl1pPr>
          </a:lstStyle>
          <a:p>
            <a:fld id="{6C376A70-C1BE-441D-809C-DA66954C17F5}" type="datetimeFigureOut">
              <a:rPr lang="nl-BE" smtClean="0"/>
              <a:t>18/02/2026</a:t>
            </a:fld>
            <a:endParaRPr lang="nl-BE"/>
          </a:p>
        </p:txBody>
      </p:sp>
      <p:sp>
        <p:nvSpPr>
          <p:cNvPr id="4" name="Tijdelijke aanduiding voor voettekst 3"/>
          <p:cNvSpPr>
            <a:spLocks noGrp="1"/>
          </p:cNvSpPr>
          <p:nvPr>
            <p:ph type="ftr" sz="quarter" idx="2"/>
          </p:nvPr>
        </p:nvSpPr>
        <p:spPr>
          <a:xfrm>
            <a:off x="0" y="9432055"/>
            <a:ext cx="2946135" cy="497759"/>
          </a:xfrm>
          <a:prstGeom prst="rect">
            <a:avLst/>
          </a:prstGeom>
        </p:spPr>
        <p:txBody>
          <a:bodyPr vert="horz" lIns="91312" tIns="45656" rIns="91312" bIns="45656" rtlCol="0" anchor="b"/>
          <a:lstStyle>
            <a:lvl1pPr algn="l">
              <a:defRPr sz="1200"/>
            </a:lvl1pPr>
          </a:lstStyle>
          <a:p>
            <a:endParaRPr lang="nl-BE"/>
          </a:p>
        </p:txBody>
      </p:sp>
      <p:sp>
        <p:nvSpPr>
          <p:cNvPr id="5" name="Tijdelijke aanduiding voor dianummer 4"/>
          <p:cNvSpPr>
            <a:spLocks noGrp="1"/>
          </p:cNvSpPr>
          <p:nvPr>
            <p:ph type="sldNum" sz="quarter" idx="3"/>
          </p:nvPr>
        </p:nvSpPr>
        <p:spPr>
          <a:xfrm>
            <a:off x="3849955" y="9432055"/>
            <a:ext cx="2946135" cy="497759"/>
          </a:xfrm>
          <a:prstGeom prst="rect">
            <a:avLst/>
          </a:prstGeom>
        </p:spPr>
        <p:txBody>
          <a:bodyPr vert="horz" lIns="91312" tIns="45656" rIns="91312" bIns="45656" rtlCol="0" anchor="b"/>
          <a:lstStyle>
            <a:lvl1pPr algn="r">
              <a:defRPr sz="1200"/>
            </a:lvl1pPr>
          </a:lstStyle>
          <a:p>
            <a:fld id="{80029CA5-3D2B-4CA8-B3E9-732B69F1D291}" type="slidenum">
              <a:rPr lang="nl-BE" smtClean="0"/>
              <a:t>‹nr.›</a:t>
            </a:fld>
            <a:endParaRPr lang="nl-BE"/>
          </a:p>
        </p:txBody>
      </p:sp>
    </p:spTree>
    <p:extLst>
      <p:ext uri="{BB962C8B-B14F-4D97-AF65-F5344CB8AC3E}">
        <p14:creationId xmlns:p14="http://schemas.microsoft.com/office/powerpoint/2010/main" val="3989685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46135" cy="497759"/>
          </a:xfrm>
          <a:prstGeom prst="rect">
            <a:avLst/>
          </a:prstGeom>
        </p:spPr>
        <p:txBody>
          <a:bodyPr vert="horz" lIns="91312" tIns="45656" rIns="91312" bIns="45656" rtlCol="0"/>
          <a:lstStyle>
            <a:lvl1pPr algn="l">
              <a:defRPr sz="1200"/>
            </a:lvl1pPr>
          </a:lstStyle>
          <a:p>
            <a:endParaRPr lang="nl-BE"/>
          </a:p>
        </p:txBody>
      </p:sp>
      <p:sp>
        <p:nvSpPr>
          <p:cNvPr id="3" name="Tijdelijke aanduiding voor datum 2"/>
          <p:cNvSpPr>
            <a:spLocks noGrp="1"/>
          </p:cNvSpPr>
          <p:nvPr>
            <p:ph type="dt" idx="1"/>
          </p:nvPr>
        </p:nvSpPr>
        <p:spPr>
          <a:xfrm>
            <a:off x="3849955" y="0"/>
            <a:ext cx="2946135" cy="497759"/>
          </a:xfrm>
          <a:prstGeom prst="rect">
            <a:avLst/>
          </a:prstGeom>
        </p:spPr>
        <p:txBody>
          <a:bodyPr vert="horz" lIns="91312" tIns="45656" rIns="91312" bIns="45656" rtlCol="0"/>
          <a:lstStyle>
            <a:lvl1pPr algn="r">
              <a:defRPr sz="1200"/>
            </a:lvl1pPr>
          </a:lstStyle>
          <a:p>
            <a:fld id="{1BA024AD-D02E-1148-9813-A0DDE1A9AA61}" type="datetimeFigureOut">
              <a:rPr lang="nl-BE" smtClean="0"/>
              <a:t>18/02/2026</a:t>
            </a:fld>
            <a:endParaRPr lang="nl-BE"/>
          </a:p>
        </p:txBody>
      </p:sp>
      <p:sp>
        <p:nvSpPr>
          <p:cNvPr id="4" name="Tijdelijke aanduiding voor dia-afbeelding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1312" tIns="45656" rIns="91312" bIns="45656" rtlCol="0" anchor="ctr"/>
          <a:lstStyle/>
          <a:p>
            <a:endParaRPr lang="nl-BE"/>
          </a:p>
        </p:txBody>
      </p:sp>
      <p:sp>
        <p:nvSpPr>
          <p:cNvPr id="5" name="Tijdelijke aanduiding voor notities 4"/>
          <p:cNvSpPr>
            <a:spLocks noGrp="1"/>
          </p:cNvSpPr>
          <p:nvPr>
            <p:ph type="body" sz="quarter" idx="3"/>
          </p:nvPr>
        </p:nvSpPr>
        <p:spPr>
          <a:xfrm>
            <a:off x="680244" y="4779437"/>
            <a:ext cx="5437188" cy="3909151"/>
          </a:xfrm>
          <a:prstGeom prst="rect">
            <a:avLst/>
          </a:prstGeom>
        </p:spPr>
        <p:txBody>
          <a:bodyPr vert="horz" lIns="91312" tIns="45656" rIns="91312" bIns="45656"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9432055"/>
            <a:ext cx="2946135" cy="497759"/>
          </a:xfrm>
          <a:prstGeom prst="rect">
            <a:avLst/>
          </a:prstGeom>
        </p:spPr>
        <p:txBody>
          <a:bodyPr vert="horz" lIns="91312" tIns="45656" rIns="91312" bIns="45656"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49955" y="9432055"/>
            <a:ext cx="2946135" cy="497759"/>
          </a:xfrm>
          <a:prstGeom prst="rect">
            <a:avLst/>
          </a:prstGeom>
        </p:spPr>
        <p:txBody>
          <a:bodyPr vert="horz" lIns="91312" tIns="45656" rIns="91312" bIns="45656" rtlCol="0" anchor="b"/>
          <a:lstStyle>
            <a:lvl1pPr algn="r">
              <a:defRPr sz="1200"/>
            </a:lvl1pPr>
          </a:lstStyle>
          <a:p>
            <a:fld id="{70203808-A6AE-8847-8EC6-9F383425AE8F}" type="slidenum">
              <a:rPr lang="nl-BE" smtClean="0"/>
              <a:t>‹nr.›</a:t>
            </a:fld>
            <a:endParaRPr lang="nl-BE"/>
          </a:p>
        </p:txBody>
      </p:sp>
    </p:spTree>
    <p:extLst>
      <p:ext uri="{BB962C8B-B14F-4D97-AF65-F5344CB8AC3E}">
        <p14:creationId xmlns:p14="http://schemas.microsoft.com/office/powerpoint/2010/main" val="4269591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a:t>
            </a:fld>
            <a:endParaRPr lang="nl-BE"/>
          </a:p>
        </p:txBody>
      </p:sp>
    </p:spTree>
    <p:extLst>
      <p:ext uri="{BB962C8B-B14F-4D97-AF65-F5344CB8AC3E}">
        <p14:creationId xmlns:p14="http://schemas.microsoft.com/office/powerpoint/2010/main" val="3371515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a:t>
            </a:fld>
            <a:endParaRPr lang="nl-BE"/>
          </a:p>
        </p:txBody>
      </p:sp>
    </p:spTree>
    <p:extLst>
      <p:ext uri="{BB962C8B-B14F-4D97-AF65-F5344CB8AC3E}">
        <p14:creationId xmlns:p14="http://schemas.microsoft.com/office/powerpoint/2010/main" val="17545830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a:t>
            </a:fld>
            <a:endParaRPr lang="nl-BE"/>
          </a:p>
        </p:txBody>
      </p:sp>
    </p:spTree>
    <p:extLst>
      <p:ext uri="{BB962C8B-B14F-4D97-AF65-F5344CB8AC3E}">
        <p14:creationId xmlns:p14="http://schemas.microsoft.com/office/powerpoint/2010/main" val="4469914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FC927-2155-2943-7357-A4224A0599B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1E893D03-40B5-8971-6337-9405EA221177}"/>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930E999-1ECE-847F-28DA-F004ECD1EEB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C314D9B4-5ED5-DD2F-1C3E-18F2A5B4E0BD}"/>
              </a:ext>
            </a:extLst>
          </p:cNvPr>
          <p:cNvSpPr>
            <a:spLocks noGrp="1"/>
          </p:cNvSpPr>
          <p:nvPr>
            <p:ph type="sldNum" sz="quarter" idx="5"/>
          </p:nvPr>
        </p:nvSpPr>
        <p:spPr/>
        <p:txBody>
          <a:bodyPr/>
          <a:lstStyle/>
          <a:p>
            <a:fld id="{70203808-A6AE-8847-8EC6-9F383425AE8F}" type="slidenum">
              <a:rPr lang="nl-BE" smtClean="0"/>
              <a:t>4</a:t>
            </a:fld>
            <a:endParaRPr lang="nl-BE"/>
          </a:p>
        </p:txBody>
      </p:sp>
    </p:spTree>
    <p:extLst>
      <p:ext uri="{BB962C8B-B14F-4D97-AF65-F5344CB8AC3E}">
        <p14:creationId xmlns:p14="http://schemas.microsoft.com/office/powerpoint/2010/main" val="1822069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269A-C39D-EE6F-04E9-4837AD128D0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C2B6298B-0708-E414-3BC0-10CA003D302B}"/>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DC9A8701-63FA-55AE-E629-7069C57A2DC7}"/>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F78CC338-AFCC-89BB-1CCF-DEDB8743B079}"/>
              </a:ext>
            </a:extLst>
          </p:cNvPr>
          <p:cNvSpPr>
            <a:spLocks noGrp="1"/>
          </p:cNvSpPr>
          <p:nvPr>
            <p:ph type="sldNum" sz="quarter" idx="5"/>
          </p:nvPr>
        </p:nvSpPr>
        <p:spPr/>
        <p:txBody>
          <a:bodyPr/>
          <a:lstStyle/>
          <a:p>
            <a:fld id="{70203808-A6AE-8847-8EC6-9F383425AE8F}" type="slidenum">
              <a:rPr lang="nl-BE" smtClean="0"/>
              <a:t>5</a:t>
            </a:fld>
            <a:endParaRPr lang="nl-BE"/>
          </a:p>
        </p:txBody>
      </p:sp>
    </p:spTree>
    <p:extLst>
      <p:ext uri="{BB962C8B-B14F-4D97-AF65-F5344CB8AC3E}">
        <p14:creationId xmlns:p14="http://schemas.microsoft.com/office/powerpoint/2010/main" val="22536095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7718E-BC37-DDCF-26F7-B9681A7C54E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971CD7F8-5928-1DEF-375C-398AB9CBA91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83FDFD4-3955-8425-56FC-3B4DF47C3E4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E53ACBF8-04FC-6D32-24F0-E61BF457F2EB}"/>
              </a:ext>
            </a:extLst>
          </p:cNvPr>
          <p:cNvSpPr>
            <a:spLocks noGrp="1"/>
          </p:cNvSpPr>
          <p:nvPr>
            <p:ph type="sldNum" sz="quarter" idx="5"/>
          </p:nvPr>
        </p:nvSpPr>
        <p:spPr/>
        <p:txBody>
          <a:bodyPr/>
          <a:lstStyle/>
          <a:p>
            <a:fld id="{70203808-A6AE-8847-8EC6-9F383425AE8F}" type="slidenum">
              <a:rPr lang="nl-BE" smtClean="0"/>
              <a:t>6</a:t>
            </a:fld>
            <a:endParaRPr lang="nl-BE"/>
          </a:p>
        </p:txBody>
      </p:sp>
    </p:spTree>
    <p:extLst>
      <p:ext uri="{BB962C8B-B14F-4D97-AF65-F5344CB8AC3E}">
        <p14:creationId xmlns:p14="http://schemas.microsoft.com/office/powerpoint/2010/main" val="20716823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88AEC-6564-6766-7564-2CC4590B89D2}"/>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3558AFDC-3914-1465-F0B8-707F68857D34}"/>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9ECD71D4-0D14-5C6C-CE36-4ABF1C9B3165}"/>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594A0116-A09A-A3EE-9948-B70920D1EB5F}"/>
              </a:ext>
            </a:extLst>
          </p:cNvPr>
          <p:cNvSpPr>
            <a:spLocks noGrp="1"/>
          </p:cNvSpPr>
          <p:nvPr>
            <p:ph type="sldNum" sz="quarter" idx="5"/>
          </p:nvPr>
        </p:nvSpPr>
        <p:spPr/>
        <p:txBody>
          <a:bodyPr/>
          <a:lstStyle/>
          <a:p>
            <a:fld id="{70203808-A6AE-8847-8EC6-9F383425AE8F}" type="slidenum">
              <a:rPr lang="nl-BE" smtClean="0"/>
              <a:t>7</a:t>
            </a:fld>
            <a:endParaRPr lang="nl-BE"/>
          </a:p>
        </p:txBody>
      </p:sp>
    </p:spTree>
    <p:extLst>
      <p:ext uri="{BB962C8B-B14F-4D97-AF65-F5344CB8AC3E}">
        <p14:creationId xmlns:p14="http://schemas.microsoft.com/office/powerpoint/2010/main" val="1602144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8</a:t>
            </a:fld>
            <a:endParaRPr lang="nl-BE"/>
          </a:p>
        </p:txBody>
      </p:sp>
    </p:spTree>
    <p:extLst>
      <p:ext uri="{BB962C8B-B14F-4D97-AF65-F5344CB8AC3E}">
        <p14:creationId xmlns:p14="http://schemas.microsoft.com/office/powerpoint/2010/main" val="977211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9</a:t>
            </a:fld>
            <a:endParaRPr lang="nl-BE"/>
          </a:p>
        </p:txBody>
      </p:sp>
    </p:spTree>
    <p:extLst>
      <p:ext uri="{BB962C8B-B14F-4D97-AF65-F5344CB8AC3E}">
        <p14:creationId xmlns:p14="http://schemas.microsoft.com/office/powerpoint/2010/main" val="19057071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10</a:t>
            </a:fld>
            <a:endParaRPr lang="nl-BE"/>
          </a:p>
        </p:txBody>
      </p:sp>
    </p:spTree>
    <p:extLst>
      <p:ext uri="{BB962C8B-B14F-4D97-AF65-F5344CB8AC3E}">
        <p14:creationId xmlns:p14="http://schemas.microsoft.com/office/powerpoint/2010/main" val="1470756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11</a:t>
            </a:fld>
            <a:endParaRPr lang="nl-BE"/>
          </a:p>
        </p:txBody>
      </p:sp>
    </p:spTree>
    <p:extLst>
      <p:ext uri="{BB962C8B-B14F-4D97-AF65-F5344CB8AC3E}">
        <p14:creationId xmlns:p14="http://schemas.microsoft.com/office/powerpoint/2010/main" val="26837130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Tijdelijke aanduiding voor notities 2"/>
              <p:cNvSpPr>
                <a:spLocks noGrp="1"/>
              </p:cNvSpPr>
              <p:nvPr>
                <p:ph type="body" idx="1"/>
              </p:nvPr>
            </p:nvSpPr>
            <p:spPr/>
            <p:txBody>
              <a:bodyPr/>
              <a:lstStyle/>
              <a:p>
                <a:endParaRPr lang="nl-BE" dirty="0"/>
              </a:p>
            </p:txBody>
          </p:sp>
        </mc:Choice>
        <mc:Fallback xmlns="">
          <p:sp>
            <p:nvSpPr>
              <p:cNvPr id="3" name="Tijdelijke aanduiding voor notities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u="sng" dirty="0" smtClean="0"/>
                  <a:t>Voorbeeldexamenvraag (antwoord D)</a:t>
                </a:r>
              </a:p>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dirty="0" smtClean="0"/>
                  <a:t>Uit de steekproef blijkt dat leerlingen</a:t>
                </a:r>
                <a:r>
                  <a:rPr lang="nl-BE" sz="1200" baseline="0" dirty="0" smtClean="0"/>
                  <a:t> uit technische richtingen (</a:t>
                </a:r>
                <a:r>
                  <a:rPr lang="nl-BE" sz="1200" i="0" baseline="0" smtClean="0">
                    <a:latin typeface="Cambria Math" panose="02040503050406030204" pitchFamily="18" charset="0"/>
                    <a:ea typeface="Cambria Math" panose="02040503050406030204" pitchFamily="18" charset="0"/>
                  </a:rPr>
                  <a:t>𝜇</a:t>
                </a:r>
                <a:r>
                  <a:rPr lang="nl-BE" sz="1200" baseline="0" dirty="0" smtClean="0"/>
                  <a:t> = 3,81) een grotere interesse hebben voor techniek dan leerlingen uit niet-technische richtingen (</a:t>
                </a:r>
                <a:r>
                  <a:rPr lang="nl-BE" sz="1200" i="0" baseline="0" smtClean="0">
                    <a:latin typeface="Cambria Math" panose="02040503050406030204" pitchFamily="18" charset="0"/>
                    <a:ea typeface="Cambria Math" panose="02040503050406030204" pitchFamily="18" charset="0"/>
                  </a:rPr>
                  <a:t>𝜇</a:t>
                </a:r>
                <a:r>
                  <a:rPr lang="nl-BE" sz="1200" baseline="0" dirty="0" smtClean="0"/>
                  <a:t> = 2,84).</a:t>
                </a:r>
              </a:p>
              <a:p>
                <a:endParaRPr lang="nl-BE" sz="1200" dirty="0" smtClean="0"/>
              </a:p>
              <a:p>
                <a:r>
                  <a:rPr lang="nl-BE" sz="1200" b="1" dirty="0" smtClean="0"/>
                  <a:t>Wat is de betekenis van die p-waarde?</a:t>
                </a:r>
              </a:p>
              <a:p>
                <a:r>
                  <a:rPr lang="nl-BE" sz="1200" dirty="0" smtClean="0"/>
                  <a:t>p-waarde</a:t>
                </a:r>
                <a:r>
                  <a:rPr lang="nl-BE" sz="1200" baseline="0" dirty="0" smtClean="0"/>
                  <a:t> = de kans op een t-waarde gelijk aan 15.68 of extremer uit te komen indien er in de populatie geen verschil is in interesse voor techniek tussen leerlingen uit een technische en een niet-technische richting.</a:t>
                </a:r>
              </a:p>
              <a:p>
                <a:r>
                  <a:rPr lang="nl-BE" sz="1200" dirty="0" smtClean="0"/>
                  <a:t>Op basis van de t-test kunnen we concluderen dat leerlingen uit technische richtingen significant hoger scoren op interesse voor techniek dan leerlingen uit niet-technische richtingen (t=-15.68, </a:t>
                </a:r>
                <a:r>
                  <a:rPr lang="nl-BE" sz="1200" dirty="0" err="1" smtClean="0"/>
                  <a:t>df</a:t>
                </a:r>
                <a:r>
                  <a:rPr lang="nl-BE" sz="1200" dirty="0" smtClean="0"/>
                  <a:t>=221.15, p&lt;0.001). </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nl-BE" sz="120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dirty="0" smtClean="0"/>
                  <a:t>(Met 95% betrouwbaarheid stellen we dat in de gehele populatie leerlingen uit technische richtingen tussen de 0.85 en 1.09 punten hoger scoren op interesse voor techniek dan leerlingen uit niet-technische richtingen.)</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nl-BE" sz="120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dirty="0" smtClean="0"/>
                  <a:t>Groep 0 = niet-technische</a:t>
                </a:r>
                <a:r>
                  <a:rPr lang="nl-BE" sz="1200" baseline="0" dirty="0" smtClean="0"/>
                  <a:t> studierichting</a:t>
                </a:r>
              </a:p>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baseline="0" dirty="0" smtClean="0"/>
                  <a:t>Groep 1 = technische studierichting</a:t>
                </a:r>
              </a:p>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b="1" baseline="0" dirty="0" smtClean="0"/>
                  <a:t>Welke groep scoort significant hoger op interesse voor techniek?</a:t>
                </a:r>
                <a:endParaRPr lang="nl-BE" sz="1200" b="1" dirty="0" smtClean="0"/>
              </a:p>
              <a:p>
                <a:pPr marL="0" marR="0" lvl="0" indent="0" algn="l" defTabSz="914400" rtl="0" eaLnBrk="0" fontAlgn="base" latinLnBrk="0" hangingPunct="0">
                  <a:lnSpc>
                    <a:spcPct val="100000"/>
                  </a:lnSpc>
                  <a:spcBef>
                    <a:spcPct val="30000"/>
                  </a:spcBef>
                  <a:spcAft>
                    <a:spcPct val="0"/>
                  </a:spcAft>
                  <a:buClrTx/>
                  <a:buSzTx/>
                  <a:buFontTx/>
                  <a:buNone/>
                  <a:tabLst/>
                  <a:defRPr/>
                </a:pPr>
                <a:endParaRPr lang="nl-BE" sz="1200" dirty="0" smtClean="0"/>
              </a:p>
              <a:p>
                <a:pPr marL="0" marR="0" lvl="0" indent="0" algn="l" defTabSz="914400" rtl="0" eaLnBrk="0" fontAlgn="base" latinLnBrk="0" hangingPunct="0">
                  <a:lnSpc>
                    <a:spcPct val="100000"/>
                  </a:lnSpc>
                  <a:spcBef>
                    <a:spcPct val="30000"/>
                  </a:spcBef>
                  <a:spcAft>
                    <a:spcPct val="0"/>
                  </a:spcAft>
                  <a:buClrTx/>
                  <a:buSzTx/>
                  <a:buFontTx/>
                  <a:buNone/>
                  <a:tabLst/>
                  <a:defRPr/>
                </a:pPr>
                <a:r>
                  <a:rPr lang="nl-BE" sz="1200" b="1" dirty="0" smtClean="0"/>
                  <a:t>Wat kunnen we besluiten op basis van de </a:t>
                </a:r>
                <a:r>
                  <a:rPr lang="nl-BE" sz="1200" b="1" dirty="0" err="1" smtClean="0"/>
                  <a:t>Cohen’s</a:t>
                </a:r>
                <a:r>
                  <a:rPr lang="nl-BE" sz="1200" b="1" dirty="0" smtClean="0"/>
                  <a:t> d?</a:t>
                </a:r>
              </a:p>
              <a:p>
                <a:r>
                  <a:rPr lang="nl-BE" sz="1200" dirty="0" smtClean="0"/>
                  <a:t>Op basis van de </a:t>
                </a:r>
                <a:r>
                  <a:rPr lang="nl-BE" sz="1200" dirty="0" err="1" smtClean="0"/>
                  <a:t>Cohen’s</a:t>
                </a:r>
                <a:r>
                  <a:rPr lang="nl-BE" sz="1200" dirty="0" smtClean="0"/>
                  <a:t> d kunnen we stellen dat het om een groot effect gaat (d = 1.13). </a:t>
                </a:r>
              </a:p>
              <a:p>
                <a:r>
                  <a:rPr lang="nl-BE" sz="1200" dirty="0" smtClean="0"/>
                  <a:t>Leerlingen uit technische richtingen scoren gemiddeld 1.13 standaardafwijkingen hoger dan leerlingen uit niet-technische richtingen op interesse voor techniek,</a:t>
                </a:r>
              </a:p>
              <a:p>
                <a:endParaRPr lang="nl-BE" dirty="0"/>
              </a:p>
            </p:txBody>
          </p:sp>
        </mc:Fallback>
      </mc:AlternateContent>
      <p:sp>
        <p:nvSpPr>
          <p:cNvPr id="4" name="Tijdelijke aanduiding voor dianummer 3"/>
          <p:cNvSpPr>
            <a:spLocks noGrp="1"/>
          </p:cNvSpPr>
          <p:nvPr>
            <p:ph type="sldNum" sz="quarter" idx="5"/>
          </p:nvPr>
        </p:nvSpPr>
        <p:spPr/>
        <p:txBody>
          <a:bodyPr/>
          <a:lstStyle/>
          <a:p>
            <a:fld id="{70203808-A6AE-8847-8EC6-9F383425AE8F}" type="slidenum">
              <a:rPr lang="nl-BE" smtClean="0"/>
              <a:t>12</a:t>
            </a:fld>
            <a:endParaRPr lang="nl-BE"/>
          </a:p>
        </p:txBody>
      </p:sp>
    </p:spTree>
    <p:extLst>
      <p:ext uri="{BB962C8B-B14F-4D97-AF65-F5344CB8AC3E}">
        <p14:creationId xmlns:p14="http://schemas.microsoft.com/office/powerpoint/2010/main" val="2183473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12AF8-6061-E8DC-4419-A7D76E608E1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2E9B5D6-F3D9-408E-049C-EFCA45842F5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FE371F77-D9F5-263E-4A7A-AEF731B0CA97}"/>
              </a:ext>
            </a:extLst>
          </p:cNvPr>
          <p:cNvSpPr>
            <a:spLocks noGrp="1"/>
          </p:cNvSpPr>
          <p:nvPr>
            <p:ph type="body" idx="1"/>
          </p:nvPr>
        </p:nvSpPr>
        <p:spPr/>
        <p:txBody>
          <a:bodyPr/>
          <a:lstStyle/>
          <a:p>
            <a:endParaRPr lang="nl-BE" dirty="0"/>
          </a:p>
        </p:txBody>
      </p:sp>
      <p:sp>
        <p:nvSpPr>
          <p:cNvPr id="4" name="Tijdelijke aanduiding voor dianummer 3">
            <a:extLst>
              <a:ext uri="{FF2B5EF4-FFF2-40B4-BE49-F238E27FC236}">
                <a16:creationId xmlns:a16="http://schemas.microsoft.com/office/drawing/2014/main" id="{71975D3E-54D0-1C2B-4491-25522746EF98}"/>
              </a:ext>
            </a:extLst>
          </p:cNvPr>
          <p:cNvSpPr>
            <a:spLocks noGrp="1"/>
          </p:cNvSpPr>
          <p:nvPr>
            <p:ph type="sldNum" sz="quarter" idx="5"/>
          </p:nvPr>
        </p:nvSpPr>
        <p:spPr/>
        <p:txBody>
          <a:bodyPr/>
          <a:lstStyle/>
          <a:p>
            <a:fld id="{70203808-A6AE-8847-8EC6-9F383425AE8F}" type="slidenum">
              <a:rPr lang="nl-BE" smtClean="0"/>
              <a:t>13</a:t>
            </a:fld>
            <a:endParaRPr lang="nl-BE"/>
          </a:p>
        </p:txBody>
      </p:sp>
    </p:spTree>
    <p:extLst>
      <p:ext uri="{BB962C8B-B14F-4D97-AF65-F5344CB8AC3E}">
        <p14:creationId xmlns:p14="http://schemas.microsoft.com/office/powerpoint/2010/main" val="20409407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A96A3-2151-67A9-5334-87F7D7FD3601}"/>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8BEEF5A-9A79-6A08-D3C4-B9551028A79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8D2636A9-B3C1-A04A-C0AF-312A401E6974}"/>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57E384E5-FC76-B39C-46BC-8EC8B8F38875}"/>
              </a:ext>
            </a:extLst>
          </p:cNvPr>
          <p:cNvSpPr>
            <a:spLocks noGrp="1"/>
          </p:cNvSpPr>
          <p:nvPr>
            <p:ph type="sldNum" sz="quarter" idx="5"/>
          </p:nvPr>
        </p:nvSpPr>
        <p:spPr/>
        <p:txBody>
          <a:bodyPr/>
          <a:lstStyle/>
          <a:p>
            <a:fld id="{70203808-A6AE-8847-8EC6-9F383425AE8F}" type="slidenum">
              <a:rPr lang="nl-BE" smtClean="0"/>
              <a:t>14</a:t>
            </a:fld>
            <a:endParaRPr lang="nl-BE"/>
          </a:p>
        </p:txBody>
      </p:sp>
    </p:spTree>
    <p:extLst>
      <p:ext uri="{BB962C8B-B14F-4D97-AF65-F5344CB8AC3E}">
        <p14:creationId xmlns:p14="http://schemas.microsoft.com/office/powerpoint/2010/main" val="4076873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3093C-0929-8B9F-491E-5D5E773331F9}"/>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DD0BAC1D-BEB9-3218-6493-7F07E23148E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3F0DDA80-2C06-3DBA-C009-1B9E1E598C27}"/>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4D6FD9BF-EAFE-D50D-E963-D6056D4A6D65}"/>
              </a:ext>
            </a:extLst>
          </p:cNvPr>
          <p:cNvSpPr>
            <a:spLocks noGrp="1"/>
          </p:cNvSpPr>
          <p:nvPr>
            <p:ph type="sldNum" sz="quarter" idx="5"/>
          </p:nvPr>
        </p:nvSpPr>
        <p:spPr/>
        <p:txBody>
          <a:bodyPr/>
          <a:lstStyle/>
          <a:p>
            <a:fld id="{70203808-A6AE-8847-8EC6-9F383425AE8F}" type="slidenum">
              <a:rPr lang="nl-BE" smtClean="0"/>
              <a:t>15</a:t>
            </a:fld>
            <a:endParaRPr lang="nl-BE"/>
          </a:p>
        </p:txBody>
      </p:sp>
    </p:spTree>
    <p:extLst>
      <p:ext uri="{BB962C8B-B14F-4D97-AF65-F5344CB8AC3E}">
        <p14:creationId xmlns:p14="http://schemas.microsoft.com/office/powerpoint/2010/main" val="3332502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16</a:t>
            </a:fld>
            <a:endParaRPr lang="nl-BE"/>
          </a:p>
        </p:txBody>
      </p:sp>
    </p:spTree>
    <p:extLst>
      <p:ext uri="{BB962C8B-B14F-4D97-AF65-F5344CB8AC3E}">
        <p14:creationId xmlns:p14="http://schemas.microsoft.com/office/powerpoint/2010/main" val="14944496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17</a:t>
            </a:fld>
            <a:endParaRPr lang="nl-BE"/>
          </a:p>
        </p:txBody>
      </p:sp>
    </p:spTree>
    <p:extLst>
      <p:ext uri="{BB962C8B-B14F-4D97-AF65-F5344CB8AC3E}">
        <p14:creationId xmlns:p14="http://schemas.microsoft.com/office/powerpoint/2010/main" val="902154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18</a:t>
            </a:fld>
            <a:endParaRPr lang="nl-BE"/>
          </a:p>
        </p:txBody>
      </p:sp>
    </p:spTree>
    <p:extLst>
      <p:ext uri="{BB962C8B-B14F-4D97-AF65-F5344CB8AC3E}">
        <p14:creationId xmlns:p14="http://schemas.microsoft.com/office/powerpoint/2010/main" val="441567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19</a:t>
            </a:fld>
            <a:endParaRPr lang="nl-BE"/>
          </a:p>
        </p:txBody>
      </p:sp>
    </p:spTree>
    <p:extLst>
      <p:ext uri="{BB962C8B-B14F-4D97-AF65-F5344CB8AC3E}">
        <p14:creationId xmlns:p14="http://schemas.microsoft.com/office/powerpoint/2010/main" val="42473738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20</a:t>
            </a:fld>
            <a:endParaRPr lang="nl-BE"/>
          </a:p>
        </p:txBody>
      </p:sp>
    </p:spTree>
    <p:extLst>
      <p:ext uri="{BB962C8B-B14F-4D97-AF65-F5344CB8AC3E}">
        <p14:creationId xmlns:p14="http://schemas.microsoft.com/office/powerpoint/2010/main" val="11156570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21</a:t>
            </a:fld>
            <a:endParaRPr lang="nl-BE"/>
          </a:p>
        </p:txBody>
      </p:sp>
    </p:spTree>
    <p:extLst>
      <p:ext uri="{BB962C8B-B14F-4D97-AF65-F5344CB8AC3E}">
        <p14:creationId xmlns:p14="http://schemas.microsoft.com/office/powerpoint/2010/main" val="9976790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22</a:t>
            </a:fld>
            <a:endParaRPr lang="nl-BE"/>
          </a:p>
        </p:txBody>
      </p:sp>
    </p:spTree>
    <p:extLst>
      <p:ext uri="{BB962C8B-B14F-4D97-AF65-F5344CB8AC3E}">
        <p14:creationId xmlns:p14="http://schemas.microsoft.com/office/powerpoint/2010/main" val="26497525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0976D-74C3-1198-8FB6-DD652D6EC295}"/>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8E4B20EE-589C-4EBE-E29C-70DC31393A5A}"/>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068AD1B8-1A18-C3D5-FCB8-01D4226DC2F7}"/>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07D4B03F-ECA0-85D7-C619-A9A50790626F}"/>
              </a:ext>
            </a:extLst>
          </p:cNvPr>
          <p:cNvSpPr>
            <a:spLocks noGrp="1"/>
          </p:cNvSpPr>
          <p:nvPr>
            <p:ph type="sldNum" sz="quarter" idx="5"/>
          </p:nvPr>
        </p:nvSpPr>
        <p:spPr/>
        <p:txBody>
          <a:bodyPr/>
          <a:lstStyle/>
          <a:p>
            <a:fld id="{70203808-A6AE-8847-8EC6-9F383425AE8F}" type="slidenum">
              <a:rPr lang="nl-BE" smtClean="0"/>
              <a:t>23</a:t>
            </a:fld>
            <a:endParaRPr lang="nl-BE"/>
          </a:p>
        </p:txBody>
      </p:sp>
    </p:spTree>
    <p:extLst>
      <p:ext uri="{BB962C8B-B14F-4D97-AF65-F5344CB8AC3E}">
        <p14:creationId xmlns:p14="http://schemas.microsoft.com/office/powerpoint/2010/main" val="27333105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24</a:t>
            </a:fld>
            <a:endParaRPr lang="nl-BE"/>
          </a:p>
        </p:txBody>
      </p:sp>
    </p:spTree>
    <p:extLst>
      <p:ext uri="{BB962C8B-B14F-4D97-AF65-F5344CB8AC3E}">
        <p14:creationId xmlns:p14="http://schemas.microsoft.com/office/powerpoint/2010/main" val="6653992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25</a:t>
            </a:fld>
            <a:endParaRPr lang="nl-BE"/>
          </a:p>
        </p:txBody>
      </p:sp>
    </p:spTree>
    <p:extLst>
      <p:ext uri="{BB962C8B-B14F-4D97-AF65-F5344CB8AC3E}">
        <p14:creationId xmlns:p14="http://schemas.microsoft.com/office/powerpoint/2010/main" val="266308285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26</a:t>
            </a:fld>
            <a:endParaRPr lang="nl-BE"/>
          </a:p>
        </p:txBody>
      </p:sp>
    </p:spTree>
    <p:extLst>
      <p:ext uri="{BB962C8B-B14F-4D97-AF65-F5344CB8AC3E}">
        <p14:creationId xmlns:p14="http://schemas.microsoft.com/office/powerpoint/2010/main" val="3407158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27</a:t>
            </a:fld>
            <a:endParaRPr lang="nl-BE"/>
          </a:p>
        </p:txBody>
      </p:sp>
    </p:spTree>
    <p:extLst>
      <p:ext uri="{BB962C8B-B14F-4D97-AF65-F5344CB8AC3E}">
        <p14:creationId xmlns:p14="http://schemas.microsoft.com/office/powerpoint/2010/main" val="4837437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28</a:t>
            </a:fld>
            <a:endParaRPr lang="nl-BE"/>
          </a:p>
        </p:txBody>
      </p:sp>
    </p:spTree>
    <p:extLst>
      <p:ext uri="{BB962C8B-B14F-4D97-AF65-F5344CB8AC3E}">
        <p14:creationId xmlns:p14="http://schemas.microsoft.com/office/powerpoint/2010/main" val="8901889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29</a:t>
            </a:fld>
            <a:endParaRPr lang="nl-BE"/>
          </a:p>
        </p:txBody>
      </p:sp>
    </p:spTree>
    <p:extLst>
      <p:ext uri="{BB962C8B-B14F-4D97-AF65-F5344CB8AC3E}">
        <p14:creationId xmlns:p14="http://schemas.microsoft.com/office/powerpoint/2010/main" val="40510287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E96E48-2975-7F5A-2495-8A9905AFC54B}"/>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11C6FE7-BDF1-F3A1-7D17-E4C56A5D0F72}"/>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4F16B6E8-90B1-1E41-9D46-AC3D6EDA6896}"/>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46DF3F2B-435E-D5F5-D212-DB37C2C519E5}"/>
              </a:ext>
            </a:extLst>
          </p:cNvPr>
          <p:cNvSpPr>
            <a:spLocks noGrp="1"/>
          </p:cNvSpPr>
          <p:nvPr>
            <p:ph type="sldNum" sz="quarter" idx="5"/>
          </p:nvPr>
        </p:nvSpPr>
        <p:spPr/>
        <p:txBody>
          <a:bodyPr/>
          <a:lstStyle/>
          <a:p>
            <a:fld id="{70203808-A6AE-8847-8EC6-9F383425AE8F}" type="slidenum">
              <a:rPr lang="nl-BE" smtClean="0"/>
              <a:t>30</a:t>
            </a:fld>
            <a:endParaRPr lang="nl-BE"/>
          </a:p>
        </p:txBody>
      </p:sp>
    </p:spTree>
    <p:extLst>
      <p:ext uri="{BB962C8B-B14F-4D97-AF65-F5344CB8AC3E}">
        <p14:creationId xmlns:p14="http://schemas.microsoft.com/office/powerpoint/2010/main" val="29339447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7273B-A358-6B02-2477-5203CF609267}"/>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F72C5EE2-AE81-9319-C0B3-AB5E82F5626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1A1A453B-5D1E-5E82-1931-A59D53486B22}"/>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8681210-8765-9084-3457-4CBE7BE27563}"/>
              </a:ext>
            </a:extLst>
          </p:cNvPr>
          <p:cNvSpPr>
            <a:spLocks noGrp="1"/>
          </p:cNvSpPr>
          <p:nvPr>
            <p:ph type="sldNum" sz="quarter" idx="5"/>
          </p:nvPr>
        </p:nvSpPr>
        <p:spPr/>
        <p:txBody>
          <a:bodyPr/>
          <a:lstStyle/>
          <a:p>
            <a:fld id="{70203808-A6AE-8847-8EC6-9F383425AE8F}" type="slidenum">
              <a:rPr lang="nl-BE" smtClean="0"/>
              <a:t>31</a:t>
            </a:fld>
            <a:endParaRPr lang="nl-BE"/>
          </a:p>
        </p:txBody>
      </p:sp>
    </p:spTree>
    <p:extLst>
      <p:ext uri="{BB962C8B-B14F-4D97-AF65-F5344CB8AC3E}">
        <p14:creationId xmlns:p14="http://schemas.microsoft.com/office/powerpoint/2010/main" val="221039002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6534A-FBF9-129D-9F9D-8F04060BF298}"/>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55837AAB-616B-69FD-8CD1-67FB18E6304C}"/>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B2E35A02-3876-6397-2182-1C2E901D3D56}"/>
              </a:ext>
            </a:extLst>
          </p:cNvPr>
          <p:cNvSpPr>
            <a:spLocks noGrp="1"/>
          </p:cNvSpPr>
          <p:nvPr>
            <p:ph type="body" idx="1"/>
          </p:nvPr>
        </p:nvSpPr>
        <p:spPr/>
        <p:txBody>
          <a:bodyPr/>
          <a:lstStyle/>
          <a:p>
            <a:endParaRPr lang="en-US" dirty="0"/>
          </a:p>
        </p:txBody>
      </p:sp>
      <p:sp>
        <p:nvSpPr>
          <p:cNvPr id="4" name="Tijdelijke aanduiding voor dianummer 3">
            <a:extLst>
              <a:ext uri="{FF2B5EF4-FFF2-40B4-BE49-F238E27FC236}">
                <a16:creationId xmlns:a16="http://schemas.microsoft.com/office/drawing/2014/main" id="{BEF095C5-688B-4A18-BA16-A9BB3D003285}"/>
              </a:ext>
            </a:extLst>
          </p:cNvPr>
          <p:cNvSpPr>
            <a:spLocks noGrp="1"/>
          </p:cNvSpPr>
          <p:nvPr>
            <p:ph type="sldNum" sz="quarter" idx="5"/>
          </p:nvPr>
        </p:nvSpPr>
        <p:spPr/>
        <p:txBody>
          <a:bodyPr/>
          <a:lstStyle/>
          <a:p>
            <a:fld id="{70203808-A6AE-8847-8EC6-9F383425AE8F}" type="slidenum">
              <a:rPr lang="nl-BE" smtClean="0"/>
              <a:t>32</a:t>
            </a:fld>
            <a:endParaRPr lang="nl-BE"/>
          </a:p>
        </p:txBody>
      </p:sp>
    </p:spTree>
    <p:extLst>
      <p:ext uri="{BB962C8B-B14F-4D97-AF65-F5344CB8AC3E}">
        <p14:creationId xmlns:p14="http://schemas.microsoft.com/office/powerpoint/2010/main" val="364144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33</a:t>
            </a:fld>
            <a:endParaRPr lang="nl-BE"/>
          </a:p>
        </p:txBody>
      </p:sp>
    </p:spTree>
    <p:extLst>
      <p:ext uri="{BB962C8B-B14F-4D97-AF65-F5344CB8AC3E}">
        <p14:creationId xmlns:p14="http://schemas.microsoft.com/office/powerpoint/2010/main" val="461166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i="0" baseline="0"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34</a:t>
            </a:fld>
            <a:endParaRPr lang="nl-BE"/>
          </a:p>
        </p:txBody>
      </p:sp>
    </p:spTree>
    <p:extLst>
      <p:ext uri="{BB962C8B-B14F-4D97-AF65-F5344CB8AC3E}">
        <p14:creationId xmlns:p14="http://schemas.microsoft.com/office/powerpoint/2010/main" val="372525460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35</a:t>
            </a:fld>
            <a:endParaRPr lang="nl-BE"/>
          </a:p>
        </p:txBody>
      </p:sp>
    </p:spTree>
    <p:extLst>
      <p:ext uri="{BB962C8B-B14F-4D97-AF65-F5344CB8AC3E}">
        <p14:creationId xmlns:p14="http://schemas.microsoft.com/office/powerpoint/2010/main" val="335693196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36</a:t>
            </a:fld>
            <a:endParaRPr lang="nl-BE"/>
          </a:p>
        </p:txBody>
      </p:sp>
    </p:spTree>
    <p:extLst>
      <p:ext uri="{BB962C8B-B14F-4D97-AF65-F5344CB8AC3E}">
        <p14:creationId xmlns:p14="http://schemas.microsoft.com/office/powerpoint/2010/main" val="1612484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lvl="1"/>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37</a:t>
            </a:fld>
            <a:endParaRPr lang="nl-BE"/>
          </a:p>
        </p:txBody>
      </p:sp>
    </p:spTree>
    <p:extLst>
      <p:ext uri="{BB962C8B-B14F-4D97-AF65-F5344CB8AC3E}">
        <p14:creationId xmlns:p14="http://schemas.microsoft.com/office/powerpoint/2010/main" val="34298309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456560" lvl="1"/>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38</a:t>
            </a:fld>
            <a:endParaRPr lang="nl-BE"/>
          </a:p>
        </p:txBody>
      </p:sp>
    </p:spTree>
    <p:extLst>
      <p:ext uri="{BB962C8B-B14F-4D97-AF65-F5344CB8AC3E}">
        <p14:creationId xmlns:p14="http://schemas.microsoft.com/office/powerpoint/2010/main" val="2568960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39</a:t>
            </a:fld>
            <a:endParaRPr lang="nl-BE"/>
          </a:p>
        </p:txBody>
      </p:sp>
    </p:spTree>
    <p:extLst>
      <p:ext uri="{BB962C8B-B14F-4D97-AF65-F5344CB8AC3E}">
        <p14:creationId xmlns:p14="http://schemas.microsoft.com/office/powerpoint/2010/main" val="42226306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40</a:t>
            </a:fld>
            <a:endParaRPr lang="nl-BE"/>
          </a:p>
        </p:txBody>
      </p:sp>
    </p:spTree>
    <p:extLst>
      <p:ext uri="{BB962C8B-B14F-4D97-AF65-F5344CB8AC3E}">
        <p14:creationId xmlns:p14="http://schemas.microsoft.com/office/powerpoint/2010/main" val="28184097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41</a:t>
            </a:fld>
            <a:endParaRPr lang="nl-BE"/>
          </a:p>
        </p:txBody>
      </p:sp>
    </p:spTree>
    <p:extLst>
      <p:ext uri="{BB962C8B-B14F-4D97-AF65-F5344CB8AC3E}">
        <p14:creationId xmlns:p14="http://schemas.microsoft.com/office/powerpoint/2010/main" val="29985706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Font typeface="Arial" panose="020B0604020202020204" pitchFamily="34" charset="0"/>
              <a:buNone/>
            </a:pPr>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42</a:t>
            </a:fld>
            <a:endParaRPr lang="nl-BE"/>
          </a:p>
        </p:txBody>
      </p:sp>
    </p:spTree>
    <p:extLst>
      <p:ext uri="{BB962C8B-B14F-4D97-AF65-F5344CB8AC3E}">
        <p14:creationId xmlns:p14="http://schemas.microsoft.com/office/powerpoint/2010/main" val="99961948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sym typeface="Wingdings" panose="05000000000000000000" pitchFamily="2" charset="2"/>
            </a:endParaRPr>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43</a:t>
            </a:fld>
            <a:endParaRPr lang="nl-BE"/>
          </a:p>
        </p:txBody>
      </p:sp>
    </p:spTree>
    <p:extLst>
      <p:ext uri="{BB962C8B-B14F-4D97-AF65-F5344CB8AC3E}">
        <p14:creationId xmlns:p14="http://schemas.microsoft.com/office/powerpoint/2010/main" val="1198745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44</a:t>
            </a:fld>
            <a:endParaRPr lang="nl-BE"/>
          </a:p>
        </p:txBody>
      </p:sp>
    </p:spTree>
    <p:extLst>
      <p:ext uri="{BB962C8B-B14F-4D97-AF65-F5344CB8AC3E}">
        <p14:creationId xmlns:p14="http://schemas.microsoft.com/office/powerpoint/2010/main" val="130795486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Font typeface="Arial" panose="020B0604020202020204" pitchFamily="34" charset="0"/>
              <a:buNone/>
            </a:pPr>
            <a:endParaRPr lang="nl-BE" dirty="0">
              <a:sym typeface="Wingdings" panose="05000000000000000000" pitchFamily="2" charset="2"/>
            </a:endParaRPr>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45</a:t>
            </a:fld>
            <a:endParaRPr lang="nl-BE"/>
          </a:p>
        </p:txBody>
      </p:sp>
    </p:spTree>
    <p:extLst>
      <p:ext uri="{BB962C8B-B14F-4D97-AF65-F5344CB8AC3E}">
        <p14:creationId xmlns:p14="http://schemas.microsoft.com/office/powerpoint/2010/main" val="18611653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46</a:t>
            </a:fld>
            <a:endParaRPr lang="nl-BE"/>
          </a:p>
        </p:txBody>
      </p:sp>
    </p:spTree>
    <p:extLst>
      <p:ext uri="{BB962C8B-B14F-4D97-AF65-F5344CB8AC3E}">
        <p14:creationId xmlns:p14="http://schemas.microsoft.com/office/powerpoint/2010/main" val="382357446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47</a:t>
            </a:fld>
            <a:endParaRPr lang="nl-BE"/>
          </a:p>
        </p:txBody>
      </p:sp>
    </p:spTree>
    <p:extLst>
      <p:ext uri="{BB962C8B-B14F-4D97-AF65-F5344CB8AC3E}">
        <p14:creationId xmlns:p14="http://schemas.microsoft.com/office/powerpoint/2010/main" val="39482781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48</a:t>
            </a:fld>
            <a:endParaRPr lang="nl-BE"/>
          </a:p>
        </p:txBody>
      </p:sp>
    </p:spTree>
    <p:extLst>
      <p:ext uri="{BB962C8B-B14F-4D97-AF65-F5344CB8AC3E}">
        <p14:creationId xmlns:p14="http://schemas.microsoft.com/office/powerpoint/2010/main" val="17833513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indent="0">
              <a:buFont typeface="Arial" panose="020B0604020202020204" pitchFamily="34" charset="0"/>
              <a:buNone/>
            </a:pPr>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49</a:t>
            </a:fld>
            <a:endParaRPr lang="nl-BE"/>
          </a:p>
        </p:txBody>
      </p:sp>
    </p:spTree>
    <p:extLst>
      <p:ext uri="{BB962C8B-B14F-4D97-AF65-F5344CB8AC3E}">
        <p14:creationId xmlns:p14="http://schemas.microsoft.com/office/powerpoint/2010/main" val="385739281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50</a:t>
            </a:fld>
            <a:endParaRPr lang="nl-BE"/>
          </a:p>
        </p:txBody>
      </p:sp>
    </p:spTree>
    <p:extLst>
      <p:ext uri="{BB962C8B-B14F-4D97-AF65-F5344CB8AC3E}">
        <p14:creationId xmlns:p14="http://schemas.microsoft.com/office/powerpoint/2010/main" val="84594393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51</a:t>
            </a:fld>
            <a:endParaRPr lang="nl-BE"/>
          </a:p>
        </p:txBody>
      </p:sp>
    </p:spTree>
    <p:extLst>
      <p:ext uri="{BB962C8B-B14F-4D97-AF65-F5344CB8AC3E}">
        <p14:creationId xmlns:p14="http://schemas.microsoft.com/office/powerpoint/2010/main" val="13098607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70203808-A6AE-8847-8EC6-9F383425AE8F}" type="slidenum">
              <a:rPr lang="nl-BE" smtClean="0"/>
              <a:t>52</a:t>
            </a:fld>
            <a:endParaRPr lang="nl-BE"/>
          </a:p>
        </p:txBody>
      </p:sp>
    </p:spTree>
    <p:extLst>
      <p:ext uri="{BB962C8B-B14F-4D97-AF65-F5344CB8AC3E}">
        <p14:creationId xmlns:p14="http://schemas.microsoft.com/office/powerpoint/2010/main" val="198161776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tabLst/>
              <a:defRPr/>
            </a:pPr>
            <a:fld id="{F52ECE38-3714-4B47-9619-03F93C682CDA}" type="slidenum">
              <a:rPr kumimoji="0" lang="nl-BE"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0" fontAlgn="base" latinLnBrk="0" hangingPunct="0">
                <a:lnSpc>
                  <a:spcPct val="100000"/>
                </a:lnSpc>
                <a:spcBef>
                  <a:spcPct val="0"/>
                </a:spcBef>
                <a:spcAft>
                  <a:spcPct val="0"/>
                </a:spcAft>
                <a:buClrTx/>
                <a:buSzTx/>
                <a:buFontTx/>
                <a:buNone/>
                <a:tabLst/>
                <a:defRPr/>
              </a:pPr>
              <a:t>55</a:t>
            </a:fld>
            <a:endParaRPr kumimoji="0" lang="nl-BE"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19152399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UAntwerpen_enkel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2A766-FA6C-4E42-BAD1-58E378599FB5}"/>
              </a:ext>
            </a:extLst>
          </p:cNvPr>
          <p:cNvSpPr>
            <a:spLocks noGrp="1"/>
          </p:cNvSpPr>
          <p:nvPr>
            <p:ph type="title" hasCustomPrompt="1"/>
          </p:nvPr>
        </p:nvSpPr>
        <p:spPr/>
        <p:txBody>
          <a:bodyPr/>
          <a:lstStyle>
            <a:lvl1pPr>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B21DCFB5-39F0-E04F-B592-B890194C076F}"/>
              </a:ext>
            </a:extLst>
          </p:cNvPr>
          <p:cNvSpPr>
            <a:spLocks noGrp="1"/>
          </p:cNvSpPr>
          <p:nvPr>
            <p:ph type="sldNum" sz="quarter" idx="10"/>
          </p:nvPr>
        </p:nvSpPr>
        <p:spPr/>
        <p:txBody>
          <a:bodyPr/>
          <a:lstStyle/>
          <a:p>
            <a:fld id="{E038E271-308C-2E46-A3EC-56326F9084CC}" type="slidenum">
              <a:rPr lang="nl-BE" smtClean="0"/>
              <a:pPr/>
              <a:t>‹nr.›</a:t>
            </a:fld>
            <a:endParaRPr lang="nl-BE" dirty="0"/>
          </a:p>
        </p:txBody>
      </p:sp>
      <p:sp>
        <p:nvSpPr>
          <p:cNvPr id="4" name="Tijdelijke aanduiding voor tekst 2">
            <a:extLst>
              <a:ext uri="{FF2B5EF4-FFF2-40B4-BE49-F238E27FC236}">
                <a16:creationId xmlns:a16="http://schemas.microsoft.com/office/drawing/2014/main" id="{1F0EA669-8677-CD4C-AD8D-C4852AC0E3E4}"/>
              </a:ext>
            </a:extLst>
          </p:cNvPr>
          <p:cNvSpPr>
            <a:spLocks noGrp="1"/>
          </p:cNvSpPr>
          <p:nvPr>
            <p:ph idx="1" hasCustomPrompt="1"/>
          </p:nvPr>
        </p:nvSpPr>
        <p:spPr>
          <a:xfrm>
            <a:off x="623887" y="1577009"/>
            <a:ext cx="10944226" cy="4660279"/>
          </a:xfrm>
          <a:prstGeom prst="rect">
            <a:avLst/>
          </a:prstGeom>
        </p:spPr>
        <p:txBody>
          <a:bodyPr vert="horz" wrap="none" lIns="0" tIns="0" rIns="0" bIns="0" rtlCol="0">
            <a:noAutofit/>
          </a:bodyPr>
          <a:lstStyle>
            <a:lvl1pPr marL="274638" indent="-274638">
              <a:buClr>
                <a:schemeClr val="accent2"/>
              </a:buClr>
              <a:buSzPct val="75000"/>
              <a:buFont typeface="Wingdings" pitchFamily="2" charset="2"/>
              <a:buChar char="§"/>
              <a:tabLst/>
              <a:defRPr b="1" i="0">
                <a:latin typeface="Calibri" panose="020F0502020204030204" pitchFamily="34" charset="0"/>
                <a:cs typeface="Calibri" panose="020F0502020204030204" pitchFamily="34" charset="0"/>
              </a:defRPr>
            </a:lvl1pPr>
            <a:lvl2pPr>
              <a:buSzPct val="75000"/>
              <a:buFont typeface="Wingdings" pitchFamily="2" charset="2"/>
              <a:buChar char="§"/>
              <a:defRPr sz="2400" b="0" i="0">
                <a:solidFill>
                  <a:schemeClr val="tx1"/>
                </a:solidFill>
                <a:latin typeface="Calibri Light" panose="020F0302020204030204" pitchFamily="34" charset="0"/>
                <a:cs typeface="Calibri Light" panose="020F0302020204030204" pitchFamily="34" charset="0"/>
              </a:defRPr>
            </a:lvl2pPr>
            <a:lvl3pPr>
              <a:defRPr>
                <a:solidFill>
                  <a:schemeClr val="tx1"/>
                </a:solidFill>
              </a:defRPr>
            </a:lvl3pPr>
          </a:lstStyle>
          <a:p>
            <a:r>
              <a:rPr lang="nl-NL" dirty="0"/>
              <a:t>Eerste niveau</a:t>
            </a:r>
          </a:p>
          <a:p>
            <a:pPr lvl="1"/>
            <a:r>
              <a:rPr lang="nl-NL" dirty="0"/>
              <a:t>Tweede niveau</a:t>
            </a:r>
          </a:p>
          <a:p>
            <a:pPr lvl="2"/>
            <a:r>
              <a:rPr lang="nl-NL" dirty="0"/>
              <a:t>Derde niveau</a:t>
            </a:r>
            <a:endParaRPr lang="nl-BE" dirty="0"/>
          </a:p>
        </p:txBody>
      </p:sp>
    </p:spTree>
    <p:extLst>
      <p:ext uri="{BB962C8B-B14F-4D97-AF65-F5344CB8AC3E}">
        <p14:creationId xmlns:p14="http://schemas.microsoft.com/office/powerpoint/2010/main" val="1885632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Antwerpen_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1B9851-093E-A241-B582-F0998CFFFEA9}"/>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7" name="Titel 4">
            <a:extLst>
              <a:ext uri="{FF2B5EF4-FFF2-40B4-BE49-F238E27FC236}">
                <a16:creationId xmlns:a16="http://schemas.microsoft.com/office/drawing/2014/main" id="{041CBA9C-BD5E-424C-93BC-60164869E1DC}"/>
              </a:ext>
            </a:extLst>
          </p:cNvPr>
          <p:cNvSpPr>
            <a:spLocks noGrp="1"/>
          </p:cNvSpPr>
          <p:nvPr>
            <p:ph type="title" hasCustomPrompt="1"/>
          </p:nvPr>
        </p:nvSpPr>
        <p:spPr>
          <a:xfrm>
            <a:off x="6564313" y="620713"/>
            <a:ext cx="5003800" cy="1385085"/>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inhoud 19">
            <a:extLst>
              <a:ext uri="{FF2B5EF4-FFF2-40B4-BE49-F238E27FC236}">
                <a16:creationId xmlns:a16="http://schemas.microsoft.com/office/drawing/2014/main" id="{BE210D56-4E21-934F-8202-FD47D01F6AAF}"/>
              </a:ext>
            </a:extLst>
          </p:cNvPr>
          <p:cNvSpPr>
            <a:spLocks noGrp="1"/>
          </p:cNvSpPr>
          <p:nvPr>
            <p:ph sz="quarter" idx="11" hasCustomPrompt="1"/>
          </p:nvPr>
        </p:nvSpPr>
        <p:spPr>
          <a:xfrm>
            <a:off x="6564313" y="2272145"/>
            <a:ext cx="5003800" cy="3965142"/>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9" name="Picture Placeholder 32">
            <a:extLst>
              <a:ext uri="{FF2B5EF4-FFF2-40B4-BE49-F238E27FC236}">
                <a16:creationId xmlns:a16="http://schemas.microsoft.com/office/drawing/2014/main" id="{971C9B50-FEE3-1047-A14B-9C8C2F5D606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79148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Antwerpen_beeldenquote">
    <p:spTree>
      <p:nvGrpSpPr>
        <p:cNvPr id="1" name=""/>
        <p:cNvGrpSpPr/>
        <p:nvPr/>
      </p:nvGrpSpPr>
      <p:grpSpPr>
        <a:xfrm>
          <a:off x="0" y="0"/>
          <a:ext cx="0" cy="0"/>
          <a:chOff x="0" y="0"/>
          <a:chExt cx="0" cy="0"/>
        </a:xfrm>
      </p:grpSpPr>
      <p:sp>
        <p:nvSpPr>
          <p:cNvPr id="5" name="Tijdelijke aanduiding voor tekst 5">
            <a:extLst>
              <a:ext uri="{FF2B5EF4-FFF2-40B4-BE49-F238E27FC236}">
                <a16:creationId xmlns:a16="http://schemas.microsoft.com/office/drawing/2014/main" id="{B12DC5D2-C15B-384E-ACE3-F0E40CA5B411}"/>
              </a:ext>
            </a:extLst>
          </p:cNvPr>
          <p:cNvSpPr>
            <a:spLocks noGrp="1"/>
          </p:cNvSpPr>
          <p:nvPr>
            <p:ph type="body" sz="quarter" idx="12" hasCustomPrompt="1"/>
          </p:nvPr>
        </p:nvSpPr>
        <p:spPr>
          <a:xfrm>
            <a:off x="6419850" y="3790950"/>
            <a:ext cx="4679950" cy="728662"/>
          </a:xfrm>
        </p:spPr>
        <p:txBody>
          <a:bodyPr lIns="0" tIns="0" rIns="0" bIns="0">
            <a:noAutofit/>
          </a:bodyPr>
          <a:lstStyle>
            <a:lvl1pPr>
              <a:defRPr sz="2400" b="1" i="0">
                <a:latin typeface="Calibri" panose="020F0502020204030204" pitchFamily="34" charset="0"/>
                <a:cs typeface="Calibri" panose="020F0502020204030204" pitchFamily="34" charset="0"/>
              </a:defRPr>
            </a:lvl1pPr>
          </a:lstStyle>
          <a:p>
            <a:r>
              <a:rPr lang="nl-NL" dirty="0"/>
              <a:t>Voornaam Naam</a:t>
            </a:r>
            <a:endParaRPr lang="nl-BE" dirty="0"/>
          </a:p>
        </p:txBody>
      </p:sp>
      <p:sp>
        <p:nvSpPr>
          <p:cNvPr id="6" name="Tijdelijke aanduiding voor dianummer 3">
            <a:extLst>
              <a:ext uri="{FF2B5EF4-FFF2-40B4-BE49-F238E27FC236}">
                <a16:creationId xmlns:a16="http://schemas.microsoft.com/office/drawing/2014/main" id="{00FD63E4-7A1F-3F45-BEA4-5214676296E8}"/>
              </a:ext>
            </a:extLst>
          </p:cNvPr>
          <p:cNvSpPr txBox="1">
            <a:spLocks/>
          </p:cNvSpPr>
          <p:nvPr userDrawn="1"/>
        </p:nvSpPr>
        <p:spPr>
          <a:xfrm>
            <a:off x="8923493" y="6339173"/>
            <a:ext cx="2743200" cy="365125"/>
          </a:xfrm>
          <a:prstGeom prst="rect">
            <a:avLst/>
          </a:prstGeom>
        </p:spPr>
        <p:txBody>
          <a:bodyPr vert="horz" lIns="91440" tIns="45720" rIns="91440" bIns="45720" rtlCol="0" anchor="ctr"/>
          <a:lstStyle>
            <a:defPPr>
              <a:defRPr lang="nl-BE"/>
            </a:defPPr>
            <a:lvl1pPr algn="r" rtl="0" eaLnBrk="0" fontAlgn="base" hangingPunct="0">
              <a:spcBef>
                <a:spcPct val="0"/>
              </a:spcBef>
              <a:spcAft>
                <a:spcPct val="0"/>
              </a:spcAft>
              <a:defRPr sz="1000" b="0" i="0" kern="1200">
                <a:solidFill>
                  <a:schemeClr val="tx2"/>
                </a:solidFill>
                <a:latin typeface="ITC Officina Sans Std Book" panose="020B0506040203020204" pitchFamily="34" charset="77"/>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a:lstStyle>
          <a:p>
            <a:fld id="{E038E271-308C-2E46-A3EC-56326F9084CC}" type="slidenum">
              <a:rPr lang="nl-BE" b="0" i="0" smtClean="0">
                <a:latin typeface="Calibri Light" panose="020F0302020204030204" pitchFamily="34" charset="0"/>
                <a:cs typeface="Calibri Light" panose="020F0302020204030204" pitchFamily="34" charset="0"/>
              </a:rPr>
              <a:pPr/>
              <a:t>‹nr.›</a:t>
            </a:fld>
            <a:endParaRPr lang="nl-BE" b="0" i="0" dirty="0">
              <a:latin typeface="Calibri Light" panose="020F0302020204030204" pitchFamily="34" charset="0"/>
              <a:cs typeface="Calibri Light" panose="020F0302020204030204" pitchFamily="34" charset="0"/>
            </a:endParaRPr>
          </a:p>
        </p:txBody>
      </p:sp>
      <p:sp>
        <p:nvSpPr>
          <p:cNvPr id="7" name="Text Placeholder 6">
            <a:extLst>
              <a:ext uri="{FF2B5EF4-FFF2-40B4-BE49-F238E27FC236}">
                <a16:creationId xmlns:a16="http://schemas.microsoft.com/office/drawing/2014/main" id="{028C578B-3D4D-A146-A851-282B51A240E9}"/>
              </a:ext>
            </a:extLst>
          </p:cNvPr>
          <p:cNvSpPr>
            <a:spLocks noGrp="1"/>
          </p:cNvSpPr>
          <p:nvPr>
            <p:ph type="body" sz="quarter" idx="14" hasCustomPrompt="1"/>
          </p:nvPr>
        </p:nvSpPr>
        <p:spPr>
          <a:xfrm>
            <a:off x="6419850" y="1550988"/>
            <a:ext cx="5148263" cy="2009775"/>
          </a:xfrm>
        </p:spPr>
        <p:txBody>
          <a:bodyPr/>
          <a:lstStyle>
            <a:lvl1pPr>
              <a:buFontTx/>
              <a:buNone/>
              <a:defRPr sz="4000" b="1" i="0">
                <a:latin typeface="Calibri" panose="020F0502020204030204" pitchFamily="34" charset="0"/>
                <a:cs typeface="Calibri" panose="020F0502020204030204" pitchFamily="34" charset="0"/>
              </a:defRPr>
            </a:lvl1pPr>
            <a:lvl2pPr>
              <a:buFontTx/>
              <a:buNone/>
              <a:defRPr b="1" i="0">
                <a:latin typeface="ITC Officina Sans Std Book" panose="020B0506040203020204" pitchFamily="34" charset="77"/>
              </a:defRPr>
            </a:lvl2pPr>
            <a:lvl3pPr>
              <a:buFontTx/>
              <a:buNone/>
              <a:defRPr b="1" i="0">
                <a:latin typeface="ITC Officina Sans Std Book" panose="020B0506040203020204" pitchFamily="34" charset="77"/>
              </a:defRPr>
            </a:lvl3pPr>
            <a:lvl4pPr>
              <a:buFontTx/>
              <a:buNone/>
              <a:defRPr b="1" i="0">
                <a:latin typeface="ITC Officina Sans Std Book" panose="020B0506040203020204" pitchFamily="34" charset="77"/>
              </a:defRPr>
            </a:lvl4pPr>
            <a:lvl5pPr>
              <a:buFontTx/>
              <a:buNone/>
              <a:defRPr b="1" i="0">
                <a:latin typeface="ITC Officina Sans Std Book" panose="020B0506040203020204" pitchFamily="34" charset="77"/>
              </a:defRPr>
            </a:lvl5pPr>
          </a:lstStyle>
          <a:p>
            <a:pPr lvl="0"/>
            <a:r>
              <a:rPr lang="en-GB" dirty="0"/>
              <a:t>Quote</a:t>
            </a:r>
            <a:endParaRPr lang="en-BE" dirty="0"/>
          </a:p>
        </p:txBody>
      </p:sp>
      <p:sp>
        <p:nvSpPr>
          <p:cNvPr id="8" name="Picture Placeholder 32">
            <a:extLst>
              <a:ext uri="{FF2B5EF4-FFF2-40B4-BE49-F238E27FC236}">
                <a16:creationId xmlns:a16="http://schemas.microsoft.com/office/drawing/2014/main" id="{EC1F9A97-4534-9843-B646-D059D7C6C134}"/>
              </a:ext>
            </a:extLst>
          </p:cNvPr>
          <p:cNvSpPr>
            <a:spLocks noGrp="1"/>
          </p:cNvSpPr>
          <p:nvPr>
            <p:ph type="pic" idx="1" hasCustomPrompt="1"/>
          </p:nvPr>
        </p:nvSpPr>
        <p:spPr>
          <a:xfrm>
            <a:off x="623889" y="620713"/>
            <a:ext cx="5145732" cy="5616575"/>
          </a:xfrm>
          <a:custGeom>
            <a:avLst/>
            <a:gdLst>
              <a:gd name="connsiteX0" fmla="*/ 0 w 5145732"/>
              <a:gd name="connsiteY0" fmla="*/ 0 h 5616575"/>
              <a:gd name="connsiteX1" fmla="*/ 5145732 w 5145732"/>
              <a:gd name="connsiteY1" fmla="*/ 0 h 5616575"/>
              <a:gd name="connsiteX2" fmla="*/ 5145732 w 5145732"/>
              <a:gd name="connsiteY2" fmla="*/ 5616575 h 5616575"/>
              <a:gd name="connsiteX3" fmla="*/ 253304 w 5145732"/>
              <a:gd name="connsiteY3" fmla="*/ 5616575 h 5616575"/>
              <a:gd name="connsiteX4" fmla="*/ 202263 w 5145732"/>
              <a:gd name="connsiteY4" fmla="*/ 5611430 h 5616575"/>
              <a:gd name="connsiteX5" fmla="*/ 0 w 514573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45732" h="5616575">
                <a:moveTo>
                  <a:pt x="0" y="0"/>
                </a:moveTo>
                <a:lnTo>
                  <a:pt x="5145732" y="0"/>
                </a:lnTo>
                <a:lnTo>
                  <a:pt x="5145732" y="5616575"/>
                </a:lnTo>
                <a:lnTo>
                  <a:pt x="253304" y="5616575"/>
                </a:lnTo>
                <a:lnTo>
                  <a:pt x="202263" y="5611430"/>
                </a:lnTo>
                <a:cubicBezTo>
                  <a:pt x="86832" y="5587809"/>
                  <a:pt x="0" y="5485676"/>
                  <a:pt x="0" y="5363262"/>
                </a:cubicBezTo>
                <a:close/>
              </a:path>
            </a:pathLst>
          </a:custGeom>
          <a:solidFill>
            <a:schemeClr val="tx2"/>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9" name="TextBox 8">
            <a:extLst>
              <a:ext uri="{FF2B5EF4-FFF2-40B4-BE49-F238E27FC236}">
                <a16:creationId xmlns:a16="http://schemas.microsoft.com/office/drawing/2014/main" id="{6A5BB1C7-FC5A-B946-BB68-C1CE13FA7270}"/>
              </a:ext>
            </a:extLst>
          </p:cNvPr>
          <p:cNvSpPr txBox="1"/>
          <p:nvPr userDrawn="1"/>
        </p:nvSpPr>
        <p:spPr>
          <a:xfrm>
            <a:off x="7758545" y="1939636"/>
            <a:ext cx="0" cy="0"/>
          </a:xfrm>
          <a:prstGeom prst="rect">
            <a:avLst/>
          </a:prstGeom>
        </p:spPr>
        <p:txBody>
          <a:bodyPr vert="horz" wrap="none" lIns="91440" tIns="45720" rIns="91440" bIns="45720" rtlCol="0">
            <a:normAutofit fontScale="25000" lnSpcReduction="20000"/>
          </a:bodyPr>
          <a:lstStyle/>
          <a:p>
            <a:pPr algn="l"/>
            <a:endParaRPr lang="en-BE" sz="1600" b="0" i="0" dirty="0">
              <a:latin typeface="ITC Officina Sans Std Book" panose="020B0506040203020204" pitchFamily="34" charset="77"/>
            </a:endParaRPr>
          </a:p>
        </p:txBody>
      </p:sp>
      <p:pic>
        <p:nvPicPr>
          <p:cNvPr id="10" name="Afbeelding 9">
            <a:extLst>
              <a:ext uri="{FF2B5EF4-FFF2-40B4-BE49-F238E27FC236}">
                <a16:creationId xmlns:a16="http://schemas.microsoft.com/office/drawing/2014/main" id="{B9ECB3C9-12BB-DD49-AC9C-6DE65FEA7EBC}"/>
              </a:ext>
            </a:extLst>
          </p:cNvPr>
          <p:cNvPicPr>
            <a:picLocks noChangeAspect="1"/>
          </p:cNvPicPr>
          <p:nvPr userDrawn="1"/>
        </p:nvPicPr>
        <p:blipFill>
          <a:blip r:embed="rId2"/>
          <a:stretch>
            <a:fillRect/>
          </a:stretch>
        </p:blipFill>
        <p:spPr>
          <a:xfrm>
            <a:off x="6419850" y="620713"/>
            <a:ext cx="457550" cy="432593"/>
          </a:xfrm>
          <a:prstGeom prst="rect">
            <a:avLst/>
          </a:prstGeom>
        </p:spPr>
      </p:pic>
    </p:spTree>
    <p:extLst>
      <p:ext uri="{BB962C8B-B14F-4D97-AF65-F5344CB8AC3E}">
        <p14:creationId xmlns:p14="http://schemas.microsoft.com/office/powerpoint/2010/main" val="1833643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UAntwerpen_smal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AC6F1C0-FB41-374F-96D7-91F7C4144D94}"/>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9356378E-A322-0148-887E-E179D9487B69}"/>
              </a:ext>
            </a:extLst>
          </p:cNvPr>
          <p:cNvSpPr>
            <a:spLocks noGrp="1"/>
          </p:cNvSpPr>
          <p:nvPr>
            <p:ph type="title" hasCustomPrompt="1"/>
          </p:nvPr>
        </p:nvSpPr>
        <p:spPr>
          <a:xfrm>
            <a:off x="4187825" y="620713"/>
            <a:ext cx="7380287" cy="1524317"/>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FF5D94AB-D4EB-5448-86E3-3EB6A7057B58}"/>
              </a:ext>
            </a:extLst>
          </p:cNvPr>
          <p:cNvSpPr>
            <a:spLocks noGrp="1"/>
          </p:cNvSpPr>
          <p:nvPr>
            <p:ph sz="quarter" idx="11" hasCustomPrompt="1"/>
          </p:nvPr>
        </p:nvSpPr>
        <p:spPr>
          <a:xfrm>
            <a:off x="4187825" y="2386148"/>
            <a:ext cx="7380287" cy="3851139"/>
          </a:xfrm>
        </p:spPr>
        <p:txBody>
          <a:bodyPr lIns="0" tIns="0" rIns="0" bIns="0"/>
          <a:lstStyle>
            <a:lvl1pPr>
              <a:defRPr b="0" i="0">
                <a:latin typeface="Calibri" panose="020F0502020204030204" pitchFamily="34" charset="0"/>
                <a:cs typeface="Calibri" panose="020F0502020204030204" pitchFamily="34" charset="0"/>
              </a:defRPr>
            </a:lvl1pPr>
          </a:lstStyle>
          <a:p>
            <a:r>
              <a:rPr lang="nl-NL" dirty="0"/>
              <a:t>Inhoud</a:t>
            </a:r>
            <a:endParaRPr lang="nl-BE" dirty="0"/>
          </a:p>
        </p:txBody>
      </p:sp>
      <p:sp>
        <p:nvSpPr>
          <p:cNvPr id="7" name="Picture Placeholder 24">
            <a:extLst>
              <a:ext uri="{FF2B5EF4-FFF2-40B4-BE49-F238E27FC236}">
                <a16:creationId xmlns:a16="http://schemas.microsoft.com/office/drawing/2014/main" id="{68654313-1537-5142-95BA-4A8661FBC4E6}"/>
              </a:ext>
            </a:extLst>
          </p:cNvPr>
          <p:cNvSpPr>
            <a:spLocks noGrp="1"/>
          </p:cNvSpPr>
          <p:nvPr>
            <p:ph type="pic" idx="1" hasCustomPrompt="1"/>
          </p:nvPr>
        </p:nvSpPr>
        <p:spPr>
          <a:xfrm>
            <a:off x="623888" y="620713"/>
            <a:ext cx="2596742" cy="5616575"/>
          </a:xfrm>
          <a:custGeom>
            <a:avLst/>
            <a:gdLst>
              <a:gd name="connsiteX0" fmla="*/ 0 w 2596742"/>
              <a:gd name="connsiteY0" fmla="*/ 0 h 5616575"/>
              <a:gd name="connsiteX1" fmla="*/ 2596742 w 2596742"/>
              <a:gd name="connsiteY1" fmla="*/ 0 h 5616575"/>
              <a:gd name="connsiteX2" fmla="*/ 2596742 w 2596742"/>
              <a:gd name="connsiteY2" fmla="*/ 5616575 h 5616575"/>
              <a:gd name="connsiteX3" fmla="*/ 253304 w 2596742"/>
              <a:gd name="connsiteY3" fmla="*/ 5616575 h 5616575"/>
              <a:gd name="connsiteX4" fmla="*/ 202263 w 2596742"/>
              <a:gd name="connsiteY4" fmla="*/ 5611430 h 5616575"/>
              <a:gd name="connsiteX5" fmla="*/ 0 w 2596742"/>
              <a:gd name="connsiteY5" fmla="*/ 5363262 h 561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6742" h="5616575">
                <a:moveTo>
                  <a:pt x="0" y="0"/>
                </a:moveTo>
                <a:lnTo>
                  <a:pt x="2596742" y="0"/>
                </a:lnTo>
                <a:lnTo>
                  <a:pt x="2596742" y="5616575"/>
                </a:lnTo>
                <a:lnTo>
                  <a:pt x="253304" y="5616575"/>
                </a:lnTo>
                <a:lnTo>
                  <a:pt x="202263" y="5611430"/>
                </a:lnTo>
                <a:cubicBezTo>
                  <a:pt x="86832" y="5587809"/>
                  <a:pt x="0" y="5485676"/>
                  <a:pt x="0" y="53632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1467339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UAntwerpen_breedbeeldenteks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1B888CD-A307-4440-9DD3-B7D11E6E0368}"/>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tel 4">
            <a:extLst>
              <a:ext uri="{FF2B5EF4-FFF2-40B4-BE49-F238E27FC236}">
                <a16:creationId xmlns:a16="http://schemas.microsoft.com/office/drawing/2014/main" id="{83767035-9902-FC49-AC72-35DC514AC308}"/>
              </a:ext>
            </a:extLst>
          </p:cNvPr>
          <p:cNvSpPr>
            <a:spLocks noGrp="1"/>
          </p:cNvSpPr>
          <p:nvPr>
            <p:ph type="title" hasCustomPrompt="1"/>
          </p:nvPr>
        </p:nvSpPr>
        <p:spPr>
          <a:xfrm>
            <a:off x="623887" y="3981389"/>
            <a:ext cx="10934529" cy="665480"/>
          </a:xfrm>
        </p:spPr>
        <p:txBody>
          <a:bodyPr/>
          <a:lstStyle>
            <a:lvl1pPr>
              <a:defRPr b="1" i="0">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5" name="Tijdelijke aanduiding voor inhoud 19">
            <a:extLst>
              <a:ext uri="{FF2B5EF4-FFF2-40B4-BE49-F238E27FC236}">
                <a16:creationId xmlns:a16="http://schemas.microsoft.com/office/drawing/2014/main" id="{A4040A68-34E6-9A48-9414-CDB50C7EDBAA}"/>
              </a:ext>
            </a:extLst>
          </p:cNvPr>
          <p:cNvSpPr>
            <a:spLocks noGrp="1"/>
          </p:cNvSpPr>
          <p:nvPr>
            <p:ph sz="quarter" idx="11" hasCustomPrompt="1"/>
          </p:nvPr>
        </p:nvSpPr>
        <p:spPr>
          <a:xfrm>
            <a:off x="623888" y="4857371"/>
            <a:ext cx="10934529" cy="1379915"/>
          </a:xfrm>
        </p:spPr>
        <p:txBody>
          <a:bodyPr lIns="0" tIns="0" rIns="0" bIns="0"/>
          <a:lstStyle>
            <a:lvl1pPr>
              <a:defRPr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6" name="Picture Placeholder 6">
            <a:extLst>
              <a:ext uri="{FF2B5EF4-FFF2-40B4-BE49-F238E27FC236}">
                <a16:creationId xmlns:a16="http://schemas.microsoft.com/office/drawing/2014/main" id="{D9E92B83-A16B-FC4F-BC12-7624D8F23711}"/>
              </a:ext>
            </a:extLst>
          </p:cNvPr>
          <p:cNvSpPr>
            <a:spLocks noGrp="1"/>
          </p:cNvSpPr>
          <p:nvPr>
            <p:ph type="pic" idx="1" hasCustomPrompt="1"/>
          </p:nvPr>
        </p:nvSpPr>
        <p:spPr>
          <a:xfrm>
            <a:off x="623888" y="620713"/>
            <a:ext cx="10934529" cy="3150175"/>
          </a:xfrm>
          <a:custGeom>
            <a:avLst/>
            <a:gdLst>
              <a:gd name="connsiteX0" fmla="*/ 0 w 10934529"/>
              <a:gd name="connsiteY0" fmla="*/ 0 h 3150175"/>
              <a:gd name="connsiteX1" fmla="*/ 10934529 w 10934529"/>
              <a:gd name="connsiteY1" fmla="*/ 0 h 3150175"/>
              <a:gd name="connsiteX2" fmla="*/ 10934529 w 10934529"/>
              <a:gd name="connsiteY2" fmla="*/ 3150175 h 3150175"/>
              <a:gd name="connsiteX3" fmla="*/ 253304 w 10934529"/>
              <a:gd name="connsiteY3" fmla="*/ 3150175 h 3150175"/>
              <a:gd name="connsiteX4" fmla="*/ 202263 w 10934529"/>
              <a:gd name="connsiteY4" fmla="*/ 3145030 h 3150175"/>
              <a:gd name="connsiteX5" fmla="*/ 0 w 10934529"/>
              <a:gd name="connsiteY5" fmla="*/ 2896862 h 3150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34529" h="3150175">
                <a:moveTo>
                  <a:pt x="0" y="0"/>
                </a:moveTo>
                <a:lnTo>
                  <a:pt x="10934529" y="0"/>
                </a:lnTo>
                <a:lnTo>
                  <a:pt x="10934529" y="3150175"/>
                </a:lnTo>
                <a:lnTo>
                  <a:pt x="253304" y="3150175"/>
                </a:lnTo>
                <a:lnTo>
                  <a:pt x="202263" y="3145030"/>
                </a:lnTo>
                <a:cubicBezTo>
                  <a:pt x="86832" y="3121409"/>
                  <a:pt x="0" y="3019276"/>
                  <a:pt x="0" y="2896862"/>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sz="3200" b="0" i="0">
                <a:solidFill>
                  <a:schemeClr val="bg1"/>
                </a:solidFill>
                <a:latin typeface="Calibri Light" panose="020F0302020204030204" pitchFamily="34" charset="0"/>
                <a:cs typeface="Calibri Light" panose="020F030202020403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6064976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UAntwerpen_3beeld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A3DA42F-3FB6-ED4E-BB67-A10574D20985}"/>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001DE70-4479-594D-A26D-6DB2E92A0AFD}"/>
              </a:ext>
            </a:extLst>
          </p:cNvPr>
          <p:cNvSpPr>
            <a:spLocks noGrp="1"/>
          </p:cNvSpPr>
          <p:nvPr>
            <p:ph sz="quarter" idx="11" hasCustomPrompt="1"/>
          </p:nvPr>
        </p:nvSpPr>
        <p:spPr>
          <a:xfrm>
            <a:off x="632724" y="4184248"/>
            <a:ext cx="3434216" cy="2050586"/>
          </a:xfrm>
        </p:spPr>
        <p:txBody>
          <a:bodyPr lIns="0" tIns="0" rIns="0" bIns="0"/>
          <a:lstStyle>
            <a:lvl1pP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inhoud 19">
            <a:extLst>
              <a:ext uri="{FF2B5EF4-FFF2-40B4-BE49-F238E27FC236}">
                <a16:creationId xmlns:a16="http://schemas.microsoft.com/office/drawing/2014/main" id="{67FEAD4B-4784-944D-8A3A-6F8F05B24242}"/>
              </a:ext>
            </a:extLst>
          </p:cNvPr>
          <p:cNvSpPr>
            <a:spLocks noGrp="1"/>
          </p:cNvSpPr>
          <p:nvPr>
            <p:ph sz="quarter" idx="16" hasCustomPrompt="1"/>
          </p:nvPr>
        </p:nvSpPr>
        <p:spPr>
          <a:xfrm>
            <a:off x="4379572" y="4184248"/>
            <a:ext cx="3444601"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6" name="Tijdelijke aanduiding voor inhoud 19">
            <a:extLst>
              <a:ext uri="{FF2B5EF4-FFF2-40B4-BE49-F238E27FC236}">
                <a16:creationId xmlns:a16="http://schemas.microsoft.com/office/drawing/2014/main" id="{9200DA6C-1B4D-7949-8FFA-3FD5A35A038A}"/>
              </a:ext>
            </a:extLst>
          </p:cNvPr>
          <p:cNvSpPr>
            <a:spLocks noGrp="1"/>
          </p:cNvSpPr>
          <p:nvPr>
            <p:ph sz="quarter" idx="17" hasCustomPrompt="1"/>
          </p:nvPr>
        </p:nvSpPr>
        <p:spPr>
          <a:xfrm>
            <a:off x="8125016" y="4184248"/>
            <a:ext cx="3422523" cy="2053040"/>
          </a:xfrm>
        </p:spPr>
        <p:txBody>
          <a:bodyPr lIns="0" tIns="0" rIns="0" bIns="0"/>
          <a:lstStyle>
            <a:lvl1pP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tekst 3">
            <a:extLst>
              <a:ext uri="{FF2B5EF4-FFF2-40B4-BE49-F238E27FC236}">
                <a16:creationId xmlns:a16="http://schemas.microsoft.com/office/drawing/2014/main" id="{AA798DC2-15C2-744D-A0DA-FBAD9971D432}"/>
              </a:ext>
            </a:extLst>
          </p:cNvPr>
          <p:cNvSpPr>
            <a:spLocks noGrp="1"/>
          </p:cNvSpPr>
          <p:nvPr>
            <p:ph type="body" sz="quarter" idx="20" hasCustomPrompt="1"/>
          </p:nvPr>
        </p:nvSpPr>
        <p:spPr>
          <a:xfrm>
            <a:off x="4367770" y="3547641"/>
            <a:ext cx="345701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8" name="Tijdelijke aanduiding voor tekst 3">
            <a:extLst>
              <a:ext uri="{FF2B5EF4-FFF2-40B4-BE49-F238E27FC236}">
                <a16:creationId xmlns:a16="http://schemas.microsoft.com/office/drawing/2014/main" id="{45C6B10F-3A7A-0A4C-A932-1D4E1382BFDF}"/>
              </a:ext>
            </a:extLst>
          </p:cNvPr>
          <p:cNvSpPr>
            <a:spLocks noGrp="1"/>
          </p:cNvSpPr>
          <p:nvPr>
            <p:ph type="body" sz="quarter" idx="21" hasCustomPrompt="1"/>
          </p:nvPr>
        </p:nvSpPr>
        <p:spPr>
          <a:xfrm>
            <a:off x="8123711" y="3547641"/>
            <a:ext cx="3423828"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9" name="Tijdelijke aanduiding voor tekst 3">
            <a:extLst>
              <a:ext uri="{FF2B5EF4-FFF2-40B4-BE49-F238E27FC236}">
                <a16:creationId xmlns:a16="http://schemas.microsoft.com/office/drawing/2014/main" id="{999ECC60-AB72-8647-A135-FB0CF9808264}"/>
              </a:ext>
            </a:extLst>
          </p:cNvPr>
          <p:cNvSpPr>
            <a:spLocks noGrp="1"/>
          </p:cNvSpPr>
          <p:nvPr>
            <p:ph type="body" sz="quarter" idx="22" hasCustomPrompt="1"/>
          </p:nvPr>
        </p:nvSpPr>
        <p:spPr>
          <a:xfrm>
            <a:off x="632724" y="3547641"/>
            <a:ext cx="3435526" cy="522288"/>
          </a:xfrm>
        </p:spPr>
        <p:txBody>
          <a:bodyPr lIns="0" tIns="0" rIns="0" bIns="0">
            <a:normAutofit/>
          </a:bodyPr>
          <a:lstStyle>
            <a:lvl1pPr algn="l">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1" name="Picture Placeholder 18">
            <a:extLst>
              <a:ext uri="{FF2B5EF4-FFF2-40B4-BE49-F238E27FC236}">
                <a16:creationId xmlns:a16="http://schemas.microsoft.com/office/drawing/2014/main" id="{9EEB3BC6-5818-4244-A78C-1A7B9F04BE53}"/>
              </a:ext>
            </a:extLst>
          </p:cNvPr>
          <p:cNvSpPr>
            <a:spLocks noGrp="1"/>
          </p:cNvSpPr>
          <p:nvPr>
            <p:ph type="pic" sz="quarter" idx="12" hasCustomPrompt="1"/>
          </p:nvPr>
        </p:nvSpPr>
        <p:spPr>
          <a:xfrm>
            <a:off x="632723"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2" name="Picture Placeholder 20">
            <a:extLst>
              <a:ext uri="{FF2B5EF4-FFF2-40B4-BE49-F238E27FC236}">
                <a16:creationId xmlns:a16="http://schemas.microsoft.com/office/drawing/2014/main" id="{816787A9-2DFD-A54D-B3D1-B9387B7C8936}"/>
              </a:ext>
            </a:extLst>
          </p:cNvPr>
          <p:cNvSpPr>
            <a:spLocks noGrp="1"/>
          </p:cNvSpPr>
          <p:nvPr>
            <p:ph type="pic" sz="quarter" idx="23" hasCustomPrompt="1"/>
          </p:nvPr>
        </p:nvSpPr>
        <p:spPr>
          <a:xfrm>
            <a:off x="438106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lang="nl-BE" sz="2800" b="0" i="0" kern="1200">
                <a:solidFill>
                  <a:schemeClr val="bg1"/>
                </a:solidFill>
                <a:latin typeface="Calibri Light" panose="020F0302020204030204" pitchFamily="34" charset="0"/>
                <a:ea typeface="Verdana"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13" name="Picture Placeholder 21">
            <a:extLst>
              <a:ext uri="{FF2B5EF4-FFF2-40B4-BE49-F238E27FC236}">
                <a16:creationId xmlns:a16="http://schemas.microsoft.com/office/drawing/2014/main" id="{B04326B7-E91B-9740-A418-C88B2E74C607}"/>
              </a:ext>
            </a:extLst>
          </p:cNvPr>
          <p:cNvSpPr>
            <a:spLocks noGrp="1"/>
          </p:cNvSpPr>
          <p:nvPr>
            <p:ph type="pic" sz="quarter" idx="24" hasCustomPrompt="1"/>
          </p:nvPr>
        </p:nvSpPr>
        <p:spPr>
          <a:xfrm>
            <a:off x="8128098" y="643266"/>
            <a:ext cx="3447151" cy="2447925"/>
          </a:xfrm>
          <a:custGeom>
            <a:avLst/>
            <a:gdLst>
              <a:gd name="connsiteX0" fmla="*/ 0 w 3447151"/>
              <a:gd name="connsiteY0" fmla="*/ 0 h 2445472"/>
              <a:gd name="connsiteX1" fmla="*/ 3447151 w 3447151"/>
              <a:gd name="connsiteY1" fmla="*/ 0 h 2445472"/>
              <a:gd name="connsiteX2" fmla="*/ 3447151 w 3447151"/>
              <a:gd name="connsiteY2" fmla="*/ 2445472 h 2445472"/>
              <a:gd name="connsiteX3" fmla="*/ 253304 w 3447151"/>
              <a:gd name="connsiteY3" fmla="*/ 2445472 h 2445472"/>
              <a:gd name="connsiteX4" fmla="*/ 202263 w 3447151"/>
              <a:gd name="connsiteY4" fmla="*/ 2440327 h 2445472"/>
              <a:gd name="connsiteX5" fmla="*/ 0 w 3447151"/>
              <a:gd name="connsiteY5" fmla="*/ 2192159 h 2445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47151" h="2445472">
                <a:moveTo>
                  <a:pt x="0" y="0"/>
                </a:moveTo>
                <a:lnTo>
                  <a:pt x="3447151" y="0"/>
                </a:lnTo>
                <a:lnTo>
                  <a:pt x="3447151" y="2445472"/>
                </a:lnTo>
                <a:lnTo>
                  <a:pt x="253304" y="2445472"/>
                </a:lnTo>
                <a:lnTo>
                  <a:pt x="202263" y="2440327"/>
                </a:lnTo>
                <a:cubicBezTo>
                  <a:pt x="86832" y="2416706"/>
                  <a:pt x="0" y="2314573"/>
                  <a:pt x="0" y="2192159"/>
                </a:cubicBezTo>
                <a:close/>
              </a:path>
            </a:pathLst>
          </a:custGeom>
          <a:solidFill>
            <a:schemeClr val="accent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4221802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UAntwerpen_3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D96712-8A94-CB4B-8CE6-B7A18FB19433}"/>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CEE21860-5FC5-0A4C-BF9F-FA989D78CDF1}"/>
              </a:ext>
            </a:extLst>
          </p:cNvPr>
          <p:cNvSpPr>
            <a:spLocks noGrp="1"/>
          </p:cNvSpPr>
          <p:nvPr>
            <p:ph sz="quarter" idx="11" hasCustomPrompt="1"/>
          </p:nvPr>
        </p:nvSpPr>
        <p:spPr>
          <a:xfrm>
            <a:off x="631466" y="4248036"/>
            <a:ext cx="3439464" cy="1989251"/>
          </a:xfrm>
        </p:spPr>
        <p:txBody>
          <a:bodyPr lIns="0" tIns="0" rIns="0" bIns="0"/>
          <a:lstStyle>
            <a:lvl1pPr algn="ctr">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9BF78AC3-F061-4145-A432-3FB7391D0F0E}"/>
              </a:ext>
            </a:extLst>
          </p:cNvPr>
          <p:cNvSpPr>
            <a:spLocks noGrp="1"/>
          </p:cNvSpPr>
          <p:nvPr>
            <p:ph type="pic" sz="quarter" idx="12" hasCustomPrompt="1"/>
          </p:nvPr>
        </p:nvSpPr>
        <p:spPr>
          <a:xfrm>
            <a:off x="1514198" y="1378339"/>
            <a:ext cx="1674000" cy="1672263"/>
          </a:xfrm>
          <a:prstGeom prst="roundRect">
            <a:avLst>
              <a:gd name="adj" fmla="val 7157"/>
            </a:avLst>
          </a:prstGeom>
          <a:solidFill>
            <a:schemeClr val="accent2"/>
          </a:solidFill>
        </p:spPr>
        <p:txBody>
          <a:bodyPr>
            <a:normAutofit/>
          </a:bodyPr>
          <a:lstStyle>
            <a:lvl1pPr>
              <a:defRPr lang="nl-BE" sz="1600" b="1"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afbeelding 33">
            <a:extLst>
              <a:ext uri="{FF2B5EF4-FFF2-40B4-BE49-F238E27FC236}">
                <a16:creationId xmlns:a16="http://schemas.microsoft.com/office/drawing/2014/main" id="{AAA97E2B-5188-B740-8501-2BF96B4796A0}"/>
              </a:ext>
            </a:extLst>
          </p:cNvPr>
          <p:cNvSpPr>
            <a:spLocks noGrp="1"/>
          </p:cNvSpPr>
          <p:nvPr>
            <p:ph type="pic" sz="quarter" idx="18" hasCustomPrompt="1"/>
          </p:nvPr>
        </p:nvSpPr>
        <p:spPr>
          <a:xfrm>
            <a:off x="5253126"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7" name="Tijdelijke aanduiding voor afbeelding 33">
            <a:extLst>
              <a:ext uri="{FF2B5EF4-FFF2-40B4-BE49-F238E27FC236}">
                <a16:creationId xmlns:a16="http://schemas.microsoft.com/office/drawing/2014/main" id="{6410F448-44B9-E245-8CA2-3AC4F6FCD9F3}"/>
              </a:ext>
            </a:extLst>
          </p:cNvPr>
          <p:cNvSpPr>
            <a:spLocks noGrp="1"/>
          </p:cNvSpPr>
          <p:nvPr>
            <p:ph type="pic" sz="quarter" idx="19" hasCustomPrompt="1"/>
          </p:nvPr>
        </p:nvSpPr>
        <p:spPr>
          <a:xfrm>
            <a:off x="9005909" y="1378339"/>
            <a:ext cx="1674000" cy="1672263"/>
          </a:xfrm>
          <a:prstGeom prst="roundRect">
            <a:avLst>
              <a:gd name="adj" fmla="val 7157"/>
            </a:avLst>
          </a:prstGeom>
          <a:solidFill>
            <a:schemeClr val="accent2"/>
          </a:solidFill>
        </p:spPr>
        <p:txBody>
          <a:bodyPr>
            <a:normAutofit/>
          </a:bodyPr>
          <a:lstStyle>
            <a:lvl1pPr>
              <a:defRPr lang="nl-BE" sz="16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tekst 3">
            <a:extLst>
              <a:ext uri="{FF2B5EF4-FFF2-40B4-BE49-F238E27FC236}">
                <a16:creationId xmlns:a16="http://schemas.microsoft.com/office/drawing/2014/main" id="{C9026212-289C-F34A-A4D7-E30D294D4195}"/>
              </a:ext>
            </a:extLst>
          </p:cNvPr>
          <p:cNvSpPr>
            <a:spLocks noGrp="1"/>
          </p:cNvSpPr>
          <p:nvPr>
            <p:ph type="body" sz="quarter" idx="22" hasCustomPrompt="1"/>
          </p:nvPr>
        </p:nvSpPr>
        <p:spPr>
          <a:xfrm>
            <a:off x="630810" y="3725749"/>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0" name="Tijdelijke aanduiding voor inhoud 19">
            <a:extLst>
              <a:ext uri="{FF2B5EF4-FFF2-40B4-BE49-F238E27FC236}">
                <a16:creationId xmlns:a16="http://schemas.microsoft.com/office/drawing/2014/main" id="{BAE77478-3281-CE4C-A99F-3E6F4A49E17C}"/>
              </a:ext>
            </a:extLst>
          </p:cNvPr>
          <p:cNvSpPr>
            <a:spLocks noGrp="1"/>
          </p:cNvSpPr>
          <p:nvPr>
            <p:ph sz="quarter" idx="23" hasCustomPrompt="1"/>
          </p:nvPr>
        </p:nvSpPr>
        <p:spPr>
          <a:xfrm>
            <a:off x="8123177" y="4248037"/>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1" name="Tijdelijke aanduiding voor tekst 3">
            <a:extLst>
              <a:ext uri="{FF2B5EF4-FFF2-40B4-BE49-F238E27FC236}">
                <a16:creationId xmlns:a16="http://schemas.microsoft.com/office/drawing/2014/main" id="{642A680A-1625-824E-8281-465F0A135B3A}"/>
              </a:ext>
            </a:extLst>
          </p:cNvPr>
          <p:cNvSpPr>
            <a:spLocks noGrp="1"/>
          </p:cNvSpPr>
          <p:nvPr>
            <p:ph type="body" sz="quarter" idx="24" hasCustomPrompt="1"/>
          </p:nvPr>
        </p:nvSpPr>
        <p:spPr>
          <a:xfrm>
            <a:off x="8122521" y="3725750"/>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
        <p:nvSpPr>
          <p:cNvPr id="12" name="Tijdelijke aanduiding voor inhoud 19">
            <a:extLst>
              <a:ext uri="{FF2B5EF4-FFF2-40B4-BE49-F238E27FC236}">
                <a16:creationId xmlns:a16="http://schemas.microsoft.com/office/drawing/2014/main" id="{050AED9D-9374-024A-95E7-51259149F7B6}"/>
              </a:ext>
            </a:extLst>
          </p:cNvPr>
          <p:cNvSpPr>
            <a:spLocks noGrp="1"/>
          </p:cNvSpPr>
          <p:nvPr>
            <p:ph sz="quarter" idx="25" hasCustomPrompt="1"/>
          </p:nvPr>
        </p:nvSpPr>
        <p:spPr>
          <a:xfrm>
            <a:off x="4370394" y="4226560"/>
            <a:ext cx="3439464" cy="1989251"/>
          </a:xfrm>
        </p:spPr>
        <p:txBody>
          <a:bodyPr lIns="0" tIns="0" rIns="0" bIns="0"/>
          <a:lstStyle>
            <a:lvl1pPr algn="ctr">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3" name="Tijdelijke aanduiding voor tekst 3">
            <a:extLst>
              <a:ext uri="{FF2B5EF4-FFF2-40B4-BE49-F238E27FC236}">
                <a16:creationId xmlns:a16="http://schemas.microsoft.com/office/drawing/2014/main" id="{466E1215-57EE-734D-95D4-32CDFD6B77AE}"/>
              </a:ext>
            </a:extLst>
          </p:cNvPr>
          <p:cNvSpPr>
            <a:spLocks noGrp="1"/>
          </p:cNvSpPr>
          <p:nvPr>
            <p:ph type="body" sz="quarter" idx="26" hasCustomPrompt="1"/>
          </p:nvPr>
        </p:nvSpPr>
        <p:spPr>
          <a:xfrm>
            <a:off x="4369738" y="3704273"/>
            <a:ext cx="3440776" cy="522288"/>
          </a:xfrm>
        </p:spPr>
        <p:txBody>
          <a:bodyPr lIns="0" tIns="0" rIns="0" bIns="0">
            <a:normAutofit/>
          </a:bodyPr>
          <a:lstStyle>
            <a:lvl1pPr algn="ctr">
              <a:defRPr sz="2200" b="1" i="0">
                <a:solidFill>
                  <a:schemeClr val="accent2"/>
                </a:solidFill>
                <a:latin typeface="Calibri" panose="020F0502020204030204" pitchFamily="34" charset="0"/>
                <a:cs typeface="Calibri" panose="020F0502020204030204" pitchFamily="34" charset="0"/>
              </a:defRPr>
            </a:lvl1pPr>
          </a:lstStyle>
          <a:p>
            <a:r>
              <a:rPr lang="nl-NL" dirty="0"/>
              <a:t>Klik om stijl te bewerken</a:t>
            </a:r>
            <a:endParaRPr lang="nl-BE" dirty="0"/>
          </a:p>
        </p:txBody>
      </p:sp>
    </p:spTree>
    <p:extLst>
      <p:ext uri="{BB962C8B-B14F-4D97-AF65-F5344CB8AC3E}">
        <p14:creationId xmlns:p14="http://schemas.microsoft.com/office/powerpoint/2010/main" val="1679231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UAntwerpen_6pictogramme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EA64A23-42F4-0341-A372-ED0B454B670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inhoud 19">
            <a:extLst>
              <a:ext uri="{FF2B5EF4-FFF2-40B4-BE49-F238E27FC236}">
                <a16:creationId xmlns:a16="http://schemas.microsoft.com/office/drawing/2014/main" id="{A56CA53A-2F47-F94E-BBC9-739AF3FD799B}"/>
              </a:ext>
            </a:extLst>
          </p:cNvPr>
          <p:cNvSpPr>
            <a:spLocks noGrp="1"/>
          </p:cNvSpPr>
          <p:nvPr>
            <p:ph sz="quarter" idx="11" hasCustomPrompt="1"/>
          </p:nvPr>
        </p:nvSpPr>
        <p:spPr>
          <a:xfrm>
            <a:off x="1339266" y="2133247"/>
            <a:ext cx="2406350" cy="1404432"/>
          </a:xfrm>
        </p:spPr>
        <p:txBody>
          <a:bodyPr lIns="0" tIns="0" rIns="0" bIns="0"/>
          <a:lstStyle>
            <a:lvl1pPr algn="l">
              <a:defRPr sz="1600" b="0" i="0">
                <a:latin typeface="Calibri Light" panose="020F0302020204030204" pitchFamily="34" charset="0"/>
                <a:cs typeface="Calibri Light" panose="020F0302020204030204" pitchFamily="34" charset="0"/>
              </a:defRPr>
            </a:lvl1pPr>
          </a:lstStyle>
          <a:p>
            <a:r>
              <a:rPr lang="nl-NL" dirty="0"/>
              <a:t>Inhoud</a:t>
            </a:r>
            <a:endParaRPr lang="nl-BE" dirty="0"/>
          </a:p>
        </p:txBody>
      </p:sp>
      <p:sp>
        <p:nvSpPr>
          <p:cNvPr id="5" name="Tijdelijke aanduiding voor afbeelding 33">
            <a:extLst>
              <a:ext uri="{FF2B5EF4-FFF2-40B4-BE49-F238E27FC236}">
                <a16:creationId xmlns:a16="http://schemas.microsoft.com/office/drawing/2014/main" id="{19D3F277-1732-274A-BDAC-F3BB5EB73340}"/>
              </a:ext>
            </a:extLst>
          </p:cNvPr>
          <p:cNvSpPr>
            <a:spLocks noGrp="1"/>
          </p:cNvSpPr>
          <p:nvPr>
            <p:ph type="pic" sz="quarter" idx="12" hasCustomPrompt="1"/>
          </p:nvPr>
        </p:nvSpPr>
        <p:spPr>
          <a:xfrm>
            <a:off x="630664" y="1389094"/>
            <a:ext cx="467313" cy="466828"/>
          </a:xfrm>
          <a:prstGeom prst="roundRect">
            <a:avLst>
              <a:gd name="adj" fmla="val 7157"/>
            </a:avLst>
          </a:prstGeom>
          <a:solidFill>
            <a:schemeClr val="accent2"/>
          </a:solidFill>
        </p:spPr>
        <p:txBody>
          <a:bodyPr>
            <a:normAutofit/>
          </a:bodyPr>
          <a:lstStyle>
            <a:lvl1pPr>
              <a:defRPr sz="800" b="0" i="0">
                <a:solidFill>
                  <a:schemeClr val="bg1"/>
                </a:solidFill>
                <a:latin typeface="Calibri Light" panose="020F0302020204030204" pitchFamily="34"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6" name="Tijdelijke aanduiding voor inhoud 19">
            <a:extLst>
              <a:ext uri="{FF2B5EF4-FFF2-40B4-BE49-F238E27FC236}">
                <a16:creationId xmlns:a16="http://schemas.microsoft.com/office/drawing/2014/main" id="{9D9A0FC3-0D38-0441-BB3C-75F8A95AF946}"/>
              </a:ext>
            </a:extLst>
          </p:cNvPr>
          <p:cNvSpPr>
            <a:spLocks noGrp="1"/>
          </p:cNvSpPr>
          <p:nvPr>
            <p:ph sz="quarter" idx="14" hasCustomPrompt="1"/>
          </p:nvPr>
        </p:nvSpPr>
        <p:spPr>
          <a:xfrm>
            <a:off x="5070977"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7" name="Tijdelijke aanduiding voor afbeelding 33">
            <a:extLst>
              <a:ext uri="{FF2B5EF4-FFF2-40B4-BE49-F238E27FC236}">
                <a16:creationId xmlns:a16="http://schemas.microsoft.com/office/drawing/2014/main" id="{C73DE83C-1825-BF4A-A473-AF62420F8C69}"/>
              </a:ext>
            </a:extLst>
          </p:cNvPr>
          <p:cNvSpPr>
            <a:spLocks noGrp="1"/>
          </p:cNvSpPr>
          <p:nvPr>
            <p:ph type="pic" sz="quarter" idx="15" hasCustomPrompt="1"/>
          </p:nvPr>
        </p:nvSpPr>
        <p:spPr>
          <a:xfrm>
            <a:off x="4410221"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8" name="Tijdelijke aanduiding voor inhoud 19">
            <a:extLst>
              <a:ext uri="{FF2B5EF4-FFF2-40B4-BE49-F238E27FC236}">
                <a16:creationId xmlns:a16="http://schemas.microsoft.com/office/drawing/2014/main" id="{2045FFF3-F25B-614B-A526-AC100D6B9B02}"/>
              </a:ext>
            </a:extLst>
          </p:cNvPr>
          <p:cNvSpPr>
            <a:spLocks noGrp="1"/>
          </p:cNvSpPr>
          <p:nvPr>
            <p:ph sz="quarter" idx="16" hasCustomPrompt="1"/>
          </p:nvPr>
        </p:nvSpPr>
        <p:spPr>
          <a:xfrm>
            <a:off x="8815080" y="2133247"/>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9" name="Tijdelijke aanduiding voor afbeelding 33">
            <a:extLst>
              <a:ext uri="{FF2B5EF4-FFF2-40B4-BE49-F238E27FC236}">
                <a16:creationId xmlns:a16="http://schemas.microsoft.com/office/drawing/2014/main" id="{64A41B62-3349-A641-9E85-33C3E278DD4F}"/>
              </a:ext>
            </a:extLst>
          </p:cNvPr>
          <p:cNvSpPr>
            <a:spLocks noGrp="1"/>
          </p:cNvSpPr>
          <p:nvPr>
            <p:ph type="pic" sz="quarter" idx="17" hasCustomPrompt="1"/>
          </p:nvPr>
        </p:nvSpPr>
        <p:spPr>
          <a:xfrm>
            <a:off x="8141330" y="1389094"/>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0" name="Tijdelijke aanduiding voor inhoud 2">
            <a:extLst>
              <a:ext uri="{FF2B5EF4-FFF2-40B4-BE49-F238E27FC236}">
                <a16:creationId xmlns:a16="http://schemas.microsoft.com/office/drawing/2014/main" id="{88F6B30C-94E8-264F-86F5-31D0E47D7244}"/>
              </a:ext>
            </a:extLst>
          </p:cNvPr>
          <p:cNvSpPr>
            <a:spLocks noGrp="1"/>
          </p:cNvSpPr>
          <p:nvPr>
            <p:ph sz="quarter" idx="24" hasCustomPrompt="1"/>
          </p:nvPr>
        </p:nvSpPr>
        <p:spPr>
          <a:xfrm>
            <a:off x="5058585"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1" name="Tijdelijke aanduiding voor inhoud 2">
            <a:extLst>
              <a:ext uri="{FF2B5EF4-FFF2-40B4-BE49-F238E27FC236}">
                <a16:creationId xmlns:a16="http://schemas.microsoft.com/office/drawing/2014/main" id="{261850B4-D4F1-234A-9F22-195572228DA4}"/>
              </a:ext>
            </a:extLst>
          </p:cNvPr>
          <p:cNvSpPr>
            <a:spLocks noGrp="1"/>
          </p:cNvSpPr>
          <p:nvPr>
            <p:ph sz="quarter" idx="25" hasCustomPrompt="1"/>
          </p:nvPr>
        </p:nvSpPr>
        <p:spPr>
          <a:xfrm>
            <a:off x="8802688" y="1411391"/>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12" name="Tijdelijke aanduiding voor inhoud 2">
            <a:extLst>
              <a:ext uri="{FF2B5EF4-FFF2-40B4-BE49-F238E27FC236}">
                <a16:creationId xmlns:a16="http://schemas.microsoft.com/office/drawing/2014/main" id="{DCDD9BD6-DB58-C84C-BD3C-F9652F4D492B}"/>
              </a:ext>
            </a:extLst>
          </p:cNvPr>
          <p:cNvSpPr>
            <a:spLocks noGrp="1"/>
          </p:cNvSpPr>
          <p:nvPr>
            <p:ph sz="quarter" idx="26" hasCustomPrompt="1"/>
          </p:nvPr>
        </p:nvSpPr>
        <p:spPr>
          <a:xfrm>
            <a:off x="1326874" y="1411391"/>
            <a:ext cx="2418742" cy="563562"/>
          </a:xfrm>
        </p:spPr>
        <p:txBody>
          <a:bodyPr lIns="0" tIns="0" rIns="0" bIns="0">
            <a:noAutofit/>
          </a:bodyPr>
          <a:lstStyle>
            <a:lvl1pPr>
              <a:defRPr sz="2200" b="1" i="0">
                <a:solidFill>
                  <a:schemeClr val="accent2"/>
                </a:solidFill>
                <a:latin typeface="Calibri" panose="020F0502020204030204" pitchFamily="34" charset="0"/>
                <a:cs typeface="Calibri" panose="020F0502020204030204" pitchFamily="34" charset="0"/>
              </a:defRPr>
            </a:lvl1pPr>
          </a:lstStyle>
          <a:p>
            <a:r>
              <a:rPr lang="nl-BE" dirty="0"/>
              <a:t>Project titel</a:t>
            </a:r>
          </a:p>
        </p:txBody>
      </p:sp>
      <p:sp>
        <p:nvSpPr>
          <p:cNvPr id="14" name="Tijdelijke aanduiding voor inhoud 19">
            <a:extLst>
              <a:ext uri="{FF2B5EF4-FFF2-40B4-BE49-F238E27FC236}">
                <a16:creationId xmlns:a16="http://schemas.microsoft.com/office/drawing/2014/main" id="{0385125A-3379-2746-BD83-583F817C5CC6}"/>
              </a:ext>
            </a:extLst>
          </p:cNvPr>
          <p:cNvSpPr>
            <a:spLocks noGrp="1"/>
          </p:cNvSpPr>
          <p:nvPr>
            <p:ph sz="quarter" idx="27" hasCustomPrompt="1"/>
          </p:nvPr>
        </p:nvSpPr>
        <p:spPr>
          <a:xfrm>
            <a:off x="1339266"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5" name="Tijdelijke aanduiding voor afbeelding 33">
            <a:extLst>
              <a:ext uri="{FF2B5EF4-FFF2-40B4-BE49-F238E27FC236}">
                <a16:creationId xmlns:a16="http://schemas.microsoft.com/office/drawing/2014/main" id="{965879DE-F296-964E-A952-9184C5050EF5}"/>
              </a:ext>
            </a:extLst>
          </p:cNvPr>
          <p:cNvSpPr>
            <a:spLocks noGrp="1"/>
          </p:cNvSpPr>
          <p:nvPr>
            <p:ph type="pic" sz="quarter" idx="28" hasCustomPrompt="1"/>
          </p:nvPr>
        </p:nvSpPr>
        <p:spPr>
          <a:xfrm>
            <a:off x="630664"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6" name="Tijdelijke aanduiding voor inhoud 19">
            <a:extLst>
              <a:ext uri="{FF2B5EF4-FFF2-40B4-BE49-F238E27FC236}">
                <a16:creationId xmlns:a16="http://schemas.microsoft.com/office/drawing/2014/main" id="{2459C232-5B0E-134D-B9C4-9B40E0751E2B}"/>
              </a:ext>
            </a:extLst>
          </p:cNvPr>
          <p:cNvSpPr>
            <a:spLocks noGrp="1"/>
          </p:cNvSpPr>
          <p:nvPr>
            <p:ph sz="quarter" idx="29" hasCustomPrompt="1"/>
          </p:nvPr>
        </p:nvSpPr>
        <p:spPr>
          <a:xfrm>
            <a:off x="5070977"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7" name="Tijdelijke aanduiding voor afbeelding 33">
            <a:extLst>
              <a:ext uri="{FF2B5EF4-FFF2-40B4-BE49-F238E27FC236}">
                <a16:creationId xmlns:a16="http://schemas.microsoft.com/office/drawing/2014/main" id="{D15EA347-33D1-EE4E-9464-3CF0EAE3CC0B}"/>
              </a:ext>
            </a:extLst>
          </p:cNvPr>
          <p:cNvSpPr>
            <a:spLocks noGrp="1"/>
          </p:cNvSpPr>
          <p:nvPr>
            <p:ph type="pic" sz="quarter" idx="30" hasCustomPrompt="1"/>
          </p:nvPr>
        </p:nvSpPr>
        <p:spPr>
          <a:xfrm>
            <a:off x="4410221"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18" name="Tijdelijke aanduiding voor inhoud 19">
            <a:extLst>
              <a:ext uri="{FF2B5EF4-FFF2-40B4-BE49-F238E27FC236}">
                <a16:creationId xmlns:a16="http://schemas.microsoft.com/office/drawing/2014/main" id="{FA64A415-5531-2B4D-907A-7C688388BF90}"/>
              </a:ext>
            </a:extLst>
          </p:cNvPr>
          <p:cNvSpPr>
            <a:spLocks noGrp="1"/>
          </p:cNvSpPr>
          <p:nvPr>
            <p:ph sz="quarter" idx="31" hasCustomPrompt="1"/>
          </p:nvPr>
        </p:nvSpPr>
        <p:spPr>
          <a:xfrm>
            <a:off x="8815080" y="4585989"/>
            <a:ext cx="2406350" cy="1404432"/>
          </a:xfrm>
        </p:spPr>
        <p:txBody>
          <a:bodyPr lIns="0" tIns="0" rIns="0" bIns="0"/>
          <a:lstStyle>
            <a:lvl1pPr algn="l">
              <a:defRPr lang="nl-BE" sz="1600" b="0" i="0" kern="1200" dirty="0">
                <a:solidFill>
                  <a:schemeClr val="tx1"/>
                </a:solidFill>
                <a:latin typeface="Calibri Light" panose="020F0302020204030204" pitchFamily="34" charset="0"/>
                <a:ea typeface="Verdana" charset="0"/>
                <a:cs typeface="Calibri Light" panose="020F0302020204030204" pitchFamily="34" charset="0"/>
              </a:defRPr>
            </a:lvl1pPr>
          </a:lstStyle>
          <a:p>
            <a:r>
              <a:rPr lang="nl-NL" dirty="0"/>
              <a:t>Inhoud</a:t>
            </a:r>
            <a:endParaRPr lang="nl-BE" dirty="0"/>
          </a:p>
        </p:txBody>
      </p:sp>
      <p:sp>
        <p:nvSpPr>
          <p:cNvPr id="19" name="Tijdelijke aanduiding voor afbeelding 33">
            <a:extLst>
              <a:ext uri="{FF2B5EF4-FFF2-40B4-BE49-F238E27FC236}">
                <a16:creationId xmlns:a16="http://schemas.microsoft.com/office/drawing/2014/main" id="{4EC1974C-2EB3-274B-A88C-617CC7414E5A}"/>
              </a:ext>
            </a:extLst>
          </p:cNvPr>
          <p:cNvSpPr>
            <a:spLocks noGrp="1"/>
          </p:cNvSpPr>
          <p:nvPr>
            <p:ph type="pic" sz="quarter" idx="32" hasCustomPrompt="1"/>
          </p:nvPr>
        </p:nvSpPr>
        <p:spPr>
          <a:xfrm>
            <a:off x="8141330" y="3841836"/>
            <a:ext cx="467313" cy="466828"/>
          </a:xfrm>
          <a:prstGeom prst="roundRect">
            <a:avLst>
              <a:gd name="adj" fmla="val 7157"/>
            </a:avLst>
          </a:prstGeom>
          <a:solidFill>
            <a:schemeClr val="accent2"/>
          </a:solidFill>
        </p:spPr>
        <p:txBody>
          <a:bodyPr>
            <a:normAutofit/>
          </a:bodyPr>
          <a:lstStyle>
            <a:lvl1pPr>
              <a:defRPr lang="nl-BE" sz="800" b="0" i="0" kern="1200" dirty="0">
                <a:solidFill>
                  <a:schemeClr val="bg1"/>
                </a:solidFill>
                <a:latin typeface="Calibri Light" panose="020F0302020204030204" pitchFamily="34" charset="0"/>
                <a:ea typeface="Verdana" charset="0"/>
                <a:cs typeface="Calibri Light" panose="020F0302020204030204" pitchFamily="34" charset="0"/>
              </a:defRPr>
            </a:lvl1pPr>
          </a:lstStyle>
          <a:p>
            <a:r>
              <a:rPr lang="nl-NL" dirty="0"/>
              <a:t>Klik op het pictogram om een witte afbeelding toe </a:t>
            </a:r>
            <a:r>
              <a:rPr lang="nl-NL" dirty="0" err="1"/>
              <a:t>tevoegen</a:t>
            </a:r>
            <a:r>
              <a:rPr lang="nl-NL" dirty="0"/>
              <a:t> (</a:t>
            </a:r>
            <a:r>
              <a:rPr lang="nl-NL" dirty="0" err="1"/>
              <a:t>png</a:t>
            </a:r>
            <a:r>
              <a:rPr lang="nl-NL" dirty="0"/>
              <a:t>)</a:t>
            </a:r>
            <a:endParaRPr lang="nl-BE" dirty="0"/>
          </a:p>
        </p:txBody>
      </p:sp>
      <p:sp>
        <p:nvSpPr>
          <p:cNvPr id="20" name="Tijdelijke aanduiding voor inhoud 2">
            <a:extLst>
              <a:ext uri="{FF2B5EF4-FFF2-40B4-BE49-F238E27FC236}">
                <a16:creationId xmlns:a16="http://schemas.microsoft.com/office/drawing/2014/main" id="{330314A6-BF29-EC42-BF75-622C5286D534}"/>
              </a:ext>
            </a:extLst>
          </p:cNvPr>
          <p:cNvSpPr>
            <a:spLocks noGrp="1"/>
          </p:cNvSpPr>
          <p:nvPr>
            <p:ph sz="quarter" idx="33" hasCustomPrompt="1"/>
          </p:nvPr>
        </p:nvSpPr>
        <p:spPr>
          <a:xfrm>
            <a:off x="5058585"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1" name="Tijdelijke aanduiding voor inhoud 2">
            <a:extLst>
              <a:ext uri="{FF2B5EF4-FFF2-40B4-BE49-F238E27FC236}">
                <a16:creationId xmlns:a16="http://schemas.microsoft.com/office/drawing/2014/main" id="{D6D76FCC-D508-DD4F-BB82-48A5BCC54578}"/>
              </a:ext>
            </a:extLst>
          </p:cNvPr>
          <p:cNvSpPr>
            <a:spLocks noGrp="1"/>
          </p:cNvSpPr>
          <p:nvPr>
            <p:ph sz="quarter" idx="34" hasCustomPrompt="1"/>
          </p:nvPr>
        </p:nvSpPr>
        <p:spPr>
          <a:xfrm>
            <a:off x="8802688"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
        <p:nvSpPr>
          <p:cNvPr id="22" name="Tijdelijke aanduiding voor inhoud 2">
            <a:extLst>
              <a:ext uri="{FF2B5EF4-FFF2-40B4-BE49-F238E27FC236}">
                <a16:creationId xmlns:a16="http://schemas.microsoft.com/office/drawing/2014/main" id="{125E4E80-E44F-EA4F-8054-6AB42A8470B4}"/>
              </a:ext>
            </a:extLst>
          </p:cNvPr>
          <p:cNvSpPr>
            <a:spLocks noGrp="1"/>
          </p:cNvSpPr>
          <p:nvPr>
            <p:ph sz="quarter" idx="35" hasCustomPrompt="1"/>
          </p:nvPr>
        </p:nvSpPr>
        <p:spPr>
          <a:xfrm>
            <a:off x="1326874" y="3864133"/>
            <a:ext cx="2418742" cy="563562"/>
          </a:xfrm>
        </p:spPr>
        <p:txBody>
          <a:bodyPr lIns="0" tIns="0" rIns="0" bIns="0">
            <a:noAutofit/>
          </a:bodyPr>
          <a:lstStyle>
            <a:lvl1pPr>
              <a:defRPr lang="nl-BE" sz="2200" b="1" i="0" kern="1200" dirty="0">
                <a:solidFill>
                  <a:schemeClr val="accent2"/>
                </a:solidFill>
                <a:latin typeface="Calibri" panose="020F0502020204030204" pitchFamily="34" charset="0"/>
                <a:ea typeface="Verdana" charset="0"/>
                <a:cs typeface="Calibri" panose="020F0502020204030204" pitchFamily="34" charset="0"/>
              </a:defRPr>
            </a:lvl1pPr>
          </a:lstStyle>
          <a:p>
            <a:r>
              <a:rPr lang="nl-BE" dirty="0"/>
              <a:t>Project titel</a:t>
            </a:r>
          </a:p>
        </p:txBody>
      </p:sp>
    </p:spTree>
    <p:extLst>
      <p:ext uri="{BB962C8B-B14F-4D97-AF65-F5344CB8AC3E}">
        <p14:creationId xmlns:p14="http://schemas.microsoft.com/office/powerpoint/2010/main" val="414916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UAntwerpen-objec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906A4-C8C0-BA4F-A09B-9014BCE49913}"/>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1876E971-EE47-7745-ACA8-1DEF0415F3DA}"/>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967EE9E6-2701-5E4F-A341-5478485FBD82}"/>
              </a:ext>
            </a:extLst>
          </p:cNvPr>
          <p:cNvSpPr>
            <a:spLocks noGrp="1"/>
          </p:cNvSpPr>
          <p:nvPr>
            <p:ph type="chart" sz="quarter" idx="11" hasCustomPrompt="1"/>
          </p:nvPr>
        </p:nvSpPr>
        <p:spPr>
          <a:xfrm>
            <a:off x="623889" y="1578459"/>
            <a:ext cx="10944224" cy="4658829"/>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Tree>
    <p:extLst>
      <p:ext uri="{BB962C8B-B14F-4D97-AF65-F5344CB8AC3E}">
        <p14:creationId xmlns:p14="http://schemas.microsoft.com/office/powerpoint/2010/main" val="3082753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UAntwerpen_grafiekentek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F6014-7DB0-CF4A-88E9-463AB221AB3E}"/>
              </a:ext>
            </a:extLst>
          </p:cNvPr>
          <p:cNvSpPr>
            <a:spLocks noGrp="1"/>
          </p:cNvSpPr>
          <p:nvPr>
            <p:ph type="title" hasCustomPrompt="1"/>
          </p:nvPr>
        </p:nvSpPr>
        <p:spPr/>
        <p:txBody>
          <a:bodyPr/>
          <a:lstStyle>
            <a:lvl1pPr>
              <a:defRPr b="1" i="0">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en-BE" dirty="0"/>
          </a:p>
        </p:txBody>
      </p:sp>
      <p:sp>
        <p:nvSpPr>
          <p:cNvPr id="3" name="Slide Number Placeholder 2">
            <a:extLst>
              <a:ext uri="{FF2B5EF4-FFF2-40B4-BE49-F238E27FC236}">
                <a16:creationId xmlns:a16="http://schemas.microsoft.com/office/drawing/2014/main" id="{0245457A-9933-1149-9392-ABAF631B7C61}"/>
              </a:ext>
            </a:extLst>
          </p:cNvPr>
          <p:cNvSpPr>
            <a:spLocks noGrp="1"/>
          </p:cNvSpPr>
          <p:nvPr>
            <p:ph type="sldNum" sz="quarter" idx="10"/>
          </p:nvPr>
        </p:nvSpPr>
        <p:spPr/>
        <p:txBody>
          <a:bodyPr/>
          <a:lstStyle>
            <a:lvl1pPr>
              <a:defRPr b="0" i="0">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endParaRPr>
          </a:p>
        </p:txBody>
      </p:sp>
      <p:sp>
        <p:nvSpPr>
          <p:cNvPr id="4" name="Tijdelijke aanduiding voor grafiek 4">
            <a:extLst>
              <a:ext uri="{FF2B5EF4-FFF2-40B4-BE49-F238E27FC236}">
                <a16:creationId xmlns:a16="http://schemas.microsoft.com/office/drawing/2014/main" id="{3AF460E3-37FD-6B4C-86A1-EEC95DD40B34}"/>
              </a:ext>
            </a:extLst>
          </p:cNvPr>
          <p:cNvSpPr>
            <a:spLocks noGrp="1"/>
          </p:cNvSpPr>
          <p:nvPr>
            <p:ph type="chart" sz="quarter" idx="11" hasCustomPrompt="1"/>
          </p:nvPr>
        </p:nvSpPr>
        <p:spPr>
          <a:xfrm>
            <a:off x="623889" y="2760663"/>
            <a:ext cx="10944224" cy="3476625"/>
          </a:xfrm>
        </p:spPr>
        <p:txBody>
          <a:bodyPr/>
          <a:lstStyle>
            <a:lvl1pPr>
              <a:defRPr b="0" i="0">
                <a:latin typeface="Calibri Light" panose="020F0302020204030204" pitchFamily="34" charset="0"/>
                <a:cs typeface="Calibri Light" panose="020F0302020204030204" pitchFamily="34" charset="0"/>
              </a:defRPr>
            </a:lvl1pPr>
          </a:lstStyle>
          <a:p>
            <a:r>
              <a:rPr lang="nl-NL" dirty="0"/>
              <a:t>Klik op het pictogram als u een object wilt toevoegen</a:t>
            </a:r>
            <a:endParaRPr lang="nl-BE" dirty="0"/>
          </a:p>
        </p:txBody>
      </p:sp>
      <p:sp>
        <p:nvSpPr>
          <p:cNvPr id="5" name="Text Placeholder 3">
            <a:extLst>
              <a:ext uri="{FF2B5EF4-FFF2-40B4-BE49-F238E27FC236}">
                <a16:creationId xmlns:a16="http://schemas.microsoft.com/office/drawing/2014/main" id="{4A507705-E8A5-0A44-A7D0-4ECFDD431F4E}"/>
              </a:ext>
            </a:extLst>
          </p:cNvPr>
          <p:cNvSpPr>
            <a:spLocks noGrp="1"/>
          </p:cNvSpPr>
          <p:nvPr>
            <p:ph type="body" sz="quarter" idx="12" hasCustomPrompt="1"/>
          </p:nvPr>
        </p:nvSpPr>
        <p:spPr>
          <a:xfrm>
            <a:off x="623888" y="1690688"/>
            <a:ext cx="10936287" cy="885825"/>
          </a:xfrm>
        </p:spPr>
        <p:txBody>
          <a:bodyPr/>
          <a:lstStyle>
            <a:lvl1pPr>
              <a:defRPr b="0" i="0">
                <a:latin typeface="+mn-lt"/>
                <a:cs typeface="Calibri Light" panose="020F0302020204030204" pitchFamily="34" charset="0"/>
              </a:defRPr>
            </a:lvl1pPr>
          </a:lstStyle>
          <a:p>
            <a:r>
              <a:rPr lang="nl-NL" dirty="0"/>
              <a:t>Ondertitel</a:t>
            </a:r>
          </a:p>
        </p:txBody>
      </p:sp>
    </p:spTree>
    <p:extLst>
      <p:ext uri="{BB962C8B-B14F-4D97-AF65-F5344CB8AC3E}">
        <p14:creationId xmlns:p14="http://schemas.microsoft.com/office/powerpoint/2010/main" val="3683614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UAntwerpen_lee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9080251"/>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UAntwerpen_titelroodvolvlak">
    <p:bg>
      <p:bgPr>
        <a:solidFill>
          <a:schemeClr val="accent2"/>
        </a:solidFill>
        <a:effectLst/>
      </p:bgPr>
    </p:bg>
    <p:spTree>
      <p:nvGrpSpPr>
        <p:cNvPr id="1" name=""/>
        <p:cNvGrpSpPr/>
        <p:nvPr/>
      </p:nvGrpSpPr>
      <p:grpSpPr>
        <a:xfrm>
          <a:off x="0" y="0"/>
          <a:ext cx="0" cy="0"/>
          <a:chOff x="0" y="0"/>
          <a:chExt cx="0" cy="0"/>
        </a:xfrm>
      </p:grpSpPr>
      <p:sp>
        <p:nvSpPr>
          <p:cNvPr id="3" name="Tijdelijke aanduiding voor titel 1">
            <a:extLst>
              <a:ext uri="{FF2B5EF4-FFF2-40B4-BE49-F238E27FC236}">
                <a16:creationId xmlns:a16="http://schemas.microsoft.com/office/drawing/2014/main" id="{7ABBDCB5-5D2A-8947-AEB8-B06A6093E366}"/>
              </a:ext>
            </a:extLst>
          </p:cNvPr>
          <p:cNvSpPr>
            <a:spLocks noGrp="1"/>
          </p:cNvSpPr>
          <p:nvPr>
            <p:ph type="title" hasCustomPrompt="1"/>
          </p:nvPr>
        </p:nvSpPr>
        <p:spPr>
          <a:xfrm>
            <a:off x="623888" y="2737623"/>
            <a:ext cx="1094422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pic>
        <p:nvPicPr>
          <p:cNvPr id="4" name="Afbeelding 3">
            <a:extLst>
              <a:ext uri="{FF2B5EF4-FFF2-40B4-BE49-F238E27FC236}">
                <a16:creationId xmlns:a16="http://schemas.microsoft.com/office/drawing/2014/main" id="{835C0A10-7AE5-B54C-981D-2DBA7B6F3497}"/>
              </a:ext>
            </a:extLst>
          </p:cNvPr>
          <p:cNvPicPr>
            <a:picLocks noChangeAspect="1"/>
          </p:cNvPicPr>
          <p:nvPr userDrawn="1"/>
        </p:nvPicPr>
        <p:blipFill>
          <a:blip r:embed="rId2"/>
          <a:stretch>
            <a:fillRect/>
          </a:stretch>
        </p:blipFill>
        <p:spPr>
          <a:xfrm>
            <a:off x="5149850" y="1613587"/>
            <a:ext cx="1892300" cy="533400"/>
          </a:xfrm>
          <a:prstGeom prst="rect">
            <a:avLst/>
          </a:prstGeom>
        </p:spPr>
      </p:pic>
      <p:sp>
        <p:nvSpPr>
          <p:cNvPr id="5" name="Text Placeholder 6">
            <a:extLst>
              <a:ext uri="{FF2B5EF4-FFF2-40B4-BE49-F238E27FC236}">
                <a16:creationId xmlns:a16="http://schemas.microsoft.com/office/drawing/2014/main" id="{DBF08461-C600-4C47-803A-43BF0EAD9B39}"/>
              </a:ext>
            </a:extLst>
          </p:cNvPr>
          <p:cNvSpPr>
            <a:spLocks noGrp="1"/>
          </p:cNvSpPr>
          <p:nvPr>
            <p:ph type="body" sz="quarter" idx="10" hasCustomPrompt="1"/>
          </p:nvPr>
        </p:nvSpPr>
        <p:spPr>
          <a:xfrm>
            <a:off x="623888" y="4471987"/>
            <a:ext cx="10944225" cy="1062037"/>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7954843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UAntwerpen_titelroodvolvlak">
    <p:bg>
      <p:bgPr>
        <a:solidFill>
          <a:schemeClr val="accent2"/>
        </a:solidFill>
        <a:effectLst/>
      </p:bgPr>
    </p:bg>
    <p:spTree>
      <p:nvGrpSpPr>
        <p:cNvPr id="1" name=""/>
        <p:cNvGrpSpPr/>
        <p:nvPr/>
      </p:nvGrpSpPr>
      <p:grpSpPr>
        <a:xfrm>
          <a:off x="0" y="0"/>
          <a:ext cx="0" cy="0"/>
          <a:chOff x="0" y="0"/>
          <a:chExt cx="0" cy="0"/>
        </a:xfrm>
      </p:grpSpPr>
      <p:sp>
        <p:nvSpPr>
          <p:cNvPr id="3" name="Tijdelijke aanduiding voor titel 1">
            <a:extLst>
              <a:ext uri="{FF2B5EF4-FFF2-40B4-BE49-F238E27FC236}">
                <a16:creationId xmlns:a16="http://schemas.microsoft.com/office/drawing/2014/main" id="{7ABBDCB5-5D2A-8947-AEB8-B06A6093E366}"/>
              </a:ext>
            </a:extLst>
          </p:cNvPr>
          <p:cNvSpPr>
            <a:spLocks noGrp="1"/>
          </p:cNvSpPr>
          <p:nvPr>
            <p:ph type="title" hasCustomPrompt="1"/>
          </p:nvPr>
        </p:nvSpPr>
        <p:spPr>
          <a:xfrm>
            <a:off x="623888" y="2737623"/>
            <a:ext cx="1094422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pic>
        <p:nvPicPr>
          <p:cNvPr id="4" name="Afbeelding 3">
            <a:extLst>
              <a:ext uri="{FF2B5EF4-FFF2-40B4-BE49-F238E27FC236}">
                <a16:creationId xmlns:a16="http://schemas.microsoft.com/office/drawing/2014/main" id="{835C0A10-7AE5-B54C-981D-2DBA7B6F3497}"/>
              </a:ext>
            </a:extLst>
          </p:cNvPr>
          <p:cNvPicPr>
            <a:picLocks noChangeAspect="1"/>
          </p:cNvPicPr>
          <p:nvPr userDrawn="1"/>
        </p:nvPicPr>
        <p:blipFill>
          <a:blip r:embed="rId2"/>
          <a:stretch>
            <a:fillRect/>
          </a:stretch>
        </p:blipFill>
        <p:spPr>
          <a:xfrm>
            <a:off x="5149850" y="1613587"/>
            <a:ext cx="1892300" cy="533400"/>
          </a:xfrm>
          <a:prstGeom prst="rect">
            <a:avLst/>
          </a:prstGeom>
        </p:spPr>
      </p:pic>
      <p:sp>
        <p:nvSpPr>
          <p:cNvPr id="5" name="Text Placeholder 6">
            <a:extLst>
              <a:ext uri="{FF2B5EF4-FFF2-40B4-BE49-F238E27FC236}">
                <a16:creationId xmlns:a16="http://schemas.microsoft.com/office/drawing/2014/main" id="{DBF08461-C600-4C47-803A-43BF0EAD9B39}"/>
              </a:ext>
            </a:extLst>
          </p:cNvPr>
          <p:cNvSpPr>
            <a:spLocks noGrp="1"/>
          </p:cNvSpPr>
          <p:nvPr>
            <p:ph type="body" sz="quarter" idx="10" hasCustomPrompt="1"/>
          </p:nvPr>
        </p:nvSpPr>
        <p:spPr>
          <a:xfrm>
            <a:off x="623888" y="4471987"/>
            <a:ext cx="10944225" cy="1062037"/>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812384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UAntwerpen_titelrood">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AABACC8-28A2-D34B-8A1E-5CF7BA9005CC}"/>
              </a:ext>
            </a:extLst>
          </p:cNvPr>
          <p:cNvSpPr/>
          <p:nvPr userDrawn="1"/>
        </p:nvSpPr>
        <p:spPr>
          <a:xfrm>
            <a:off x="623888" y="627478"/>
            <a:ext cx="10954551" cy="5618356"/>
          </a:xfrm>
          <a:custGeom>
            <a:avLst/>
            <a:gdLst>
              <a:gd name="connsiteX0" fmla="*/ 0 w 10296525"/>
              <a:gd name="connsiteY0" fmla="*/ 0 h 4968875"/>
              <a:gd name="connsiteX1" fmla="*/ 10296525 w 10296525"/>
              <a:gd name="connsiteY1" fmla="*/ 0 h 4968875"/>
              <a:gd name="connsiteX2" fmla="*/ 10296525 w 10296525"/>
              <a:gd name="connsiteY2" fmla="*/ 4968875 h 4968875"/>
              <a:gd name="connsiteX3" fmla="*/ 253304 w 10296525"/>
              <a:gd name="connsiteY3" fmla="*/ 4968875 h 4968875"/>
              <a:gd name="connsiteX4" fmla="*/ 202263 w 10296525"/>
              <a:gd name="connsiteY4" fmla="*/ 4963730 h 4968875"/>
              <a:gd name="connsiteX5" fmla="*/ 0 w 10296525"/>
              <a:gd name="connsiteY5" fmla="*/ 4715562 h 4968875"/>
              <a:gd name="connsiteX6" fmla="*/ 0 w 10296525"/>
              <a:gd name="connsiteY6" fmla="*/ 0 h 4968875"/>
              <a:gd name="connsiteX0" fmla="*/ 0 w 10629811"/>
              <a:gd name="connsiteY0" fmla="*/ 0 h 4968875"/>
              <a:gd name="connsiteX1" fmla="*/ 10629811 w 10629811"/>
              <a:gd name="connsiteY1" fmla="*/ 8546 h 4968875"/>
              <a:gd name="connsiteX2" fmla="*/ 10296525 w 10629811"/>
              <a:gd name="connsiteY2" fmla="*/ 4968875 h 4968875"/>
              <a:gd name="connsiteX3" fmla="*/ 253304 w 10629811"/>
              <a:gd name="connsiteY3" fmla="*/ 4968875 h 4968875"/>
              <a:gd name="connsiteX4" fmla="*/ 202263 w 10629811"/>
              <a:gd name="connsiteY4" fmla="*/ 4963730 h 4968875"/>
              <a:gd name="connsiteX5" fmla="*/ 0 w 10629811"/>
              <a:gd name="connsiteY5" fmla="*/ 4715562 h 4968875"/>
              <a:gd name="connsiteX6" fmla="*/ 0 w 10629811"/>
              <a:gd name="connsiteY6" fmla="*/ 0 h 4968875"/>
              <a:gd name="connsiteX0" fmla="*/ 0 w 10629811"/>
              <a:gd name="connsiteY0" fmla="*/ 0 h 4977421"/>
              <a:gd name="connsiteX1" fmla="*/ 10629811 w 10629811"/>
              <a:gd name="connsiteY1" fmla="*/ 8546 h 4977421"/>
              <a:gd name="connsiteX2" fmla="*/ 10629811 w 10629811"/>
              <a:gd name="connsiteY2" fmla="*/ 4977421 h 4977421"/>
              <a:gd name="connsiteX3" fmla="*/ 253304 w 10629811"/>
              <a:gd name="connsiteY3" fmla="*/ 4968875 h 4977421"/>
              <a:gd name="connsiteX4" fmla="*/ 202263 w 10629811"/>
              <a:gd name="connsiteY4" fmla="*/ 4963730 h 4977421"/>
              <a:gd name="connsiteX5" fmla="*/ 0 w 10629811"/>
              <a:gd name="connsiteY5" fmla="*/ 4715562 h 4977421"/>
              <a:gd name="connsiteX6" fmla="*/ 0 w 10629811"/>
              <a:gd name="connsiteY6" fmla="*/ 0 h 4977421"/>
              <a:gd name="connsiteX0" fmla="*/ 8545 w 10629811"/>
              <a:gd name="connsiteY0" fmla="*/ 0 h 5618356"/>
              <a:gd name="connsiteX1" fmla="*/ 10629811 w 10629811"/>
              <a:gd name="connsiteY1" fmla="*/ 649481 h 5618356"/>
              <a:gd name="connsiteX2" fmla="*/ 10629811 w 10629811"/>
              <a:gd name="connsiteY2" fmla="*/ 5618356 h 5618356"/>
              <a:gd name="connsiteX3" fmla="*/ 253304 w 10629811"/>
              <a:gd name="connsiteY3" fmla="*/ 5609810 h 5618356"/>
              <a:gd name="connsiteX4" fmla="*/ 202263 w 10629811"/>
              <a:gd name="connsiteY4" fmla="*/ 5604665 h 5618356"/>
              <a:gd name="connsiteX5" fmla="*/ 0 w 10629811"/>
              <a:gd name="connsiteY5" fmla="*/ 5356497 h 5618356"/>
              <a:gd name="connsiteX6" fmla="*/ 8545 w 10629811"/>
              <a:gd name="connsiteY6" fmla="*/ 0 h 5618356"/>
              <a:gd name="connsiteX0" fmla="*/ 8545 w 10946005"/>
              <a:gd name="connsiteY0" fmla="*/ 0 h 5618356"/>
              <a:gd name="connsiteX1" fmla="*/ 10946005 w 10946005"/>
              <a:gd name="connsiteY1" fmla="*/ 8546 h 5618356"/>
              <a:gd name="connsiteX2" fmla="*/ 10629811 w 10946005"/>
              <a:gd name="connsiteY2" fmla="*/ 5618356 h 5618356"/>
              <a:gd name="connsiteX3" fmla="*/ 253304 w 10946005"/>
              <a:gd name="connsiteY3" fmla="*/ 5609810 h 5618356"/>
              <a:gd name="connsiteX4" fmla="*/ 202263 w 10946005"/>
              <a:gd name="connsiteY4" fmla="*/ 5604665 h 5618356"/>
              <a:gd name="connsiteX5" fmla="*/ 0 w 10946005"/>
              <a:gd name="connsiteY5" fmla="*/ 5356497 h 5618356"/>
              <a:gd name="connsiteX6" fmla="*/ 8545 w 10946005"/>
              <a:gd name="connsiteY6" fmla="*/ 0 h 5618356"/>
              <a:gd name="connsiteX0" fmla="*/ 8545 w 10954551"/>
              <a:gd name="connsiteY0" fmla="*/ 0 h 5618356"/>
              <a:gd name="connsiteX1" fmla="*/ 10946005 w 10954551"/>
              <a:gd name="connsiteY1" fmla="*/ 8546 h 5618356"/>
              <a:gd name="connsiteX2" fmla="*/ 10954551 w 10954551"/>
              <a:gd name="connsiteY2" fmla="*/ 5618356 h 5618356"/>
              <a:gd name="connsiteX3" fmla="*/ 253304 w 10954551"/>
              <a:gd name="connsiteY3" fmla="*/ 5609810 h 5618356"/>
              <a:gd name="connsiteX4" fmla="*/ 202263 w 10954551"/>
              <a:gd name="connsiteY4" fmla="*/ 5604665 h 5618356"/>
              <a:gd name="connsiteX5" fmla="*/ 0 w 10954551"/>
              <a:gd name="connsiteY5" fmla="*/ 5356497 h 5618356"/>
              <a:gd name="connsiteX6" fmla="*/ 8545 w 10954551"/>
              <a:gd name="connsiteY6" fmla="*/ 0 h 56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54551" h="5618356">
                <a:moveTo>
                  <a:pt x="8545" y="0"/>
                </a:moveTo>
                <a:lnTo>
                  <a:pt x="10946005" y="8546"/>
                </a:lnTo>
                <a:cubicBezTo>
                  <a:pt x="10948854" y="1878483"/>
                  <a:pt x="10951702" y="3748419"/>
                  <a:pt x="10954551" y="5618356"/>
                </a:cubicBezTo>
                <a:lnTo>
                  <a:pt x="253304" y="5609810"/>
                </a:lnTo>
                <a:lnTo>
                  <a:pt x="202263" y="5604665"/>
                </a:lnTo>
                <a:cubicBezTo>
                  <a:pt x="86832" y="5581044"/>
                  <a:pt x="0" y="5478911"/>
                  <a:pt x="0" y="5356497"/>
                </a:cubicBezTo>
                <a:cubicBezTo>
                  <a:pt x="2848" y="3570998"/>
                  <a:pt x="5697" y="1785499"/>
                  <a:pt x="8545"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BE" dirty="0"/>
          </a:p>
        </p:txBody>
      </p:sp>
      <p:pic>
        <p:nvPicPr>
          <p:cNvPr id="4" name="Afbeelding 4">
            <a:extLst>
              <a:ext uri="{FF2B5EF4-FFF2-40B4-BE49-F238E27FC236}">
                <a16:creationId xmlns:a16="http://schemas.microsoft.com/office/drawing/2014/main" id="{3E52E258-A471-1A48-9273-7FE52ACD15DB}"/>
              </a:ext>
            </a:extLst>
          </p:cNvPr>
          <p:cNvPicPr>
            <a:picLocks noChangeAspect="1"/>
          </p:cNvPicPr>
          <p:nvPr userDrawn="1"/>
        </p:nvPicPr>
        <p:blipFill>
          <a:blip r:embed="rId2"/>
          <a:stretch>
            <a:fillRect/>
          </a:stretch>
        </p:blipFill>
        <p:spPr>
          <a:xfrm>
            <a:off x="623888" y="6429781"/>
            <a:ext cx="794485" cy="223949"/>
          </a:xfrm>
          <a:prstGeom prst="rect">
            <a:avLst/>
          </a:prstGeom>
        </p:spPr>
      </p:pic>
      <p:sp>
        <p:nvSpPr>
          <p:cNvPr id="5" name="Tijdelijke aanduiding voor titel 1">
            <a:extLst>
              <a:ext uri="{FF2B5EF4-FFF2-40B4-BE49-F238E27FC236}">
                <a16:creationId xmlns:a16="http://schemas.microsoft.com/office/drawing/2014/main" id="{31D26ADD-50E0-864E-879F-AED5604BF2AB}"/>
              </a:ext>
            </a:extLst>
          </p:cNvPr>
          <p:cNvSpPr>
            <a:spLocks noGrp="1"/>
          </p:cNvSpPr>
          <p:nvPr>
            <p:ph type="title" hasCustomPrompt="1"/>
          </p:nvPr>
        </p:nvSpPr>
        <p:spPr>
          <a:xfrm>
            <a:off x="614453" y="2318879"/>
            <a:ext cx="10963985" cy="1325563"/>
          </a:xfrm>
          <a:prstGeom prst="rect">
            <a:avLst/>
          </a:prstGeom>
        </p:spPr>
        <p:txBody>
          <a:bodyPr vert="horz" lIns="91440" tIns="45720" rIns="91440" bIns="45720" rtlCol="0" anchor="ctr">
            <a:normAutofit/>
          </a:bodyPr>
          <a:lstStyle>
            <a:lvl1pPr algn="ctr">
              <a:defRPr sz="6600" b="1" i="0">
                <a:solidFill>
                  <a:schemeClr val="bg1"/>
                </a:solidFill>
                <a:latin typeface="Calibri" panose="020F0502020204030204" pitchFamily="34" charset="0"/>
                <a:cs typeface="Calibri" panose="020F0502020204030204" pitchFamily="34" charset="0"/>
              </a:defRPr>
            </a:lvl1pPr>
          </a:lstStyle>
          <a:p>
            <a:r>
              <a:rPr lang="en-GB" dirty="0" err="1"/>
              <a:t>Klik</a:t>
            </a:r>
            <a:r>
              <a:rPr lang="en-GB" dirty="0"/>
              <a:t> om de </a:t>
            </a:r>
            <a:r>
              <a:rPr lang="en-GB" dirty="0" err="1"/>
              <a:t>stijl</a:t>
            </a:r>
            <a:r>
              <a:rPr lang="en-GB" dirty="0"/>
              <a:t> van de </a:t>
            </a:r>
            <a:r>
              <a:rPr lang="en-GB" dirty="0" err="1"/>
              <a:t>mastertitel</a:t>
            </a:r>
            <a:r>
              <a:rPr lang="en-GB" dirty="0"/>
              <a:t> </a:t>
            </a:r>
            <a:r>
              <a:rPr lang="en-GB" dirty="0" err="1"/>
              <a:t>te</a:t>
            </a:r>
            <a:r>
              <a:rPr lang="en-GB" dirty="0"/>
              <a:t> </a:t>
            </a:r>
            <a:r>
              <a:rPr lang="en-GB" dirty="0" err="1"/>
              <a:t>bewerken</a:t>
            </a:r>
            <a:endParaRPr lang="nl-BE" dirty="0"/>
          </a:p>
        </p:txBody>
      </p:sp>
      <p:sp>
        <p:nvSpPr>
          <p:cNvPr id="6" name="Text Placeholder 6">
            <a:extLst>
              <a:ext uri="{FF2B5EF4-FFF2-40B4-BE49-F238E27FC236}">
                <a16:creationId xmlns:a16="http://schemas.microsoft.com/office/drawing/2014/main" id="{2534ABFA-B94B-7346-9AA3-E2278EC84FE9}"/>
              </a:ext>
            </a:extLst>
          </p:cNvPr>
          <p:cNvSpPr>
            <a:spLocks noGrp="1"/>
          </p:cNvSpPr>
          <p:nvPr>
            <p:ph type="body" sz="quarter" idx="10" hasCustomPrompt="1"/>
          </p:nvPr>
        </p:nvSpPr>
        <p:spPr>
          <a:xfrm>
            <a:off x="614453" y="4071937"/>
            <a:ext cx="10963985" cy="1043343"/>
          </a:xfrm>
          <a:prstGeom prst="rect">
            <a:avLst/>
          </a:prstGeom>
        </p:spPr>
        <p:txBody>
          <a:bodyPr/>
          <a:lstStyle>
            <a:lvl1pPr algn="ctr">
              <a:buNone/>
              <a:defRPr b="1" i="0">
                <a:solidFill>
                  <a:schemeClr val="bg1"/>
                </a:solidFill>
                <a:latin typeface="Calibri" panose="020F0502020204030204" pitchFamily="34" charset="0"/>
                <a:cs typeface="Calibri" panose="020F0502020204030204" pitchFamily="34" charset="0"/>
              </a:defRPr>
            </a:lvl1pPr>
            <a:lvl2pPr algn="ctr">
              <a:buNone/>
              <a:defRPr b="1" i="0">
                <a:solidFill>
                  <a:schemeClr val="bg1"/>
                </a:solidFill>
                <a:latin typeface="ITC Officina Sans Std Book" panose="020B0506040203020204" pitchFamily="34" charset="77"/>
              </a:defRPr>
            </a:lvl2pPr>
            <a:lvl3pPr algn="ctr">
              <a:buNone/>
              <a:defRPr b="1" i="0">
                <a:solidFill>
                  <a:schemeClr val="bg1"/>
                </a:solidFill>
                <a:latin typeface="ITC Officina Sans Std Book" panose="020B0506040203020204" pitchFamily="34" charset="77"/>
              </a:defRPr>
            </a:lvl3pPr>
            <a:lvl4pPr algn="ctr">
              <a:buNone/>
              <a:defRPr b="1" i="0">
                <a:solidFill>
                  <a:schemeClr val="bg1"/>
                </a:solidFill>
                <a:latin typeface="ITC Officina Sans Std Book" panose="020B0506040203020204" pitchFamily="34" charset="77"/>
              </a:defRPr>
            </a:lvl4pPr>
            <a:lvl5pPr algn="ctr">
              <a:buNone/>
              <a:defRPr b="1" i="0">
                <a:solidFill>
                  <a:schemeClr val="bg1"/>
                </a:solidFill>
                <a:latin typeface="ITC Officina Sans Std Book" panose="020B0506040203020204" pitchFamily="34" charset="77"/>
              </a:defRPr>
            </a:lvl5pPr>
          </a:lstStyle>
          <a:p>
            <a:pPr lvl="0"/>
            <a:r>
              <a:rPr lang="en-GB" dirty="0" err="1"/>
              <a:t>Klik</a:t>
            </a:r>
            <a:r>
              <a:rPr lang="en-GB" dirty="0"/>
              <a:t> om de </a:t>
            </a:r>
            <a:r>
              <a:rPr lang="en-GB" dirty="0" err="1"/>
              <a:t>stijl</a:t>
            </a:r>
            <a:r>
              <a:rPr lang="en-GB" dirty="0"/>
              <a:t> van de master </a:t>
            </a:r>
            <a:r>
              <a:rPr lang="en-GB" dirty="0" err="1"/>
              <a:t>ondertitel</a:t>
            </a:r>
            <a:r>
              <a:rPr lang="en-GB" dirty="0"/>
              <a:t> </a:t>
            </a:r>
            <a:r>
              <a:rPr lang="en-GB" dirty="0" err="1"/>
              <a:t>te</a:t>
            </a:r>
            <a:r>
              <a:rPr lang="en-GB" dirty="0"/>
              <a:t> </a:t>
            </a:r>
            <a:r>
              <a:rPr lang="en-GB" dirty="0" err="1"/>
              <a:t>bewerken</a:t>
            </a:r>
            <a:endParaRPr lang="en-GB" dirty="0"/>
          </a:p>
        </p:txBody>
      </p:sp>
    </p:spTree>
    <p:extLst>
      <p:ext uri="{BB962C8B-B14F-4D97-AF65-F5344CB8AC3E}">
        <p14:creationId xmlns:p14="http://schemas.microsoft.com/office/powerpoint/2010/main" val="3523788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UAntwerpen_1beeldmetU">
    <p:spTree>
      <p:nvGrpSpPr>
        <p:cNvPr id="1" name=""/>
        <p:cNvGrpSpPr/>
        <p:nvPr/>
      </p:nvGrpSpPr>
      <p:grpSpPr>
        <a:xfrm>
          <a:off x="0" y="0"/>
          <a:ext cx="0" cy="0"/>
          <a:chOff x="0" y="0"/>
          <a:chExt cx="0" cy="0"/>
        </a:xfrm>
      </p:grpSpPr>
      <p:sp>
        <p:nvSpPr>
          <p:cNvPr id="3" name="Picture Placeholder 19">
            <a:extLst>
              <a:ext uri="{FF2B5EF4-FFF2-40B4-BE49-F238E27FC236}">
                <a16:creationId xmlns:a16="http://schemas.microsoft.com/office/drawing/2014/main" id="{C3132F7D-D063-1C4B-8D0F-49AC33221A42}"/>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Tree>
    <p:extLst>
      <p:ext uri="{BB962C8B-B14F-4D97-AF65-F5344CB8AC3E}">
        <p14:creationId xmlns:p14="http://schemas.microsoft.com/office/powerpoint/2010/main" val="3398203282"/>
      </p:ext>
    </p:extLst>
  </p:cSld>
  <p:clrMapOvr>
    <a:masterClrMapping/>
  </p:clrMapOvr>
  <p:extLst>
    <p:ext uri="{DCECCB84-F9BA-43D5-87BE-67443E8EF086}">
      <p15:sldGuideLst xmlns:p15="http://schemas.microsoft.com/office/powerpoint/2012/main">
        <p15:guide id="1" orient="horz" pos="391"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UAntwerpen_1bee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87999222-05DA-F24F-99F4-A098BCC40D85}"/>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pic>
        <p:nvPicPr>
          <p:cNvPr id="4" name="Afbeelding 4">
            <a:extLst>
              <a:ext uri="{FF2B5EF4-FFF2-40B4-BE49-F238E27FC236}">
                <a16:creationId xmlns:a16="http://schemas.microsoft.com/office/drawing/2014/main" id="{40E03AEB-DCFF-FA42-98DA-C3ACA4374FDD}"/>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4196090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UAntwerpen_1beeldenquote">
    <p:spTree>
      <p:nvGrpSpPr>
        <p:cNvPr id="1" name=""/>
        <p:cNvGrpSpPr/>
        <p:nvPr/>
      </p:nvGrpSpPr>
      <p:grpSpPr>
        <a:xfrm>
          <a:off x="0" y="0"/>
          <a:ext cx="0" cy="0"/>
          <a:chOff x="0" y="0"/>
          <a:chExt cx="0" cy="0"/>
        </a:xfrm>
      </p:grpSpPr>
      <p:sp>
        <p:nvSpPr>
          <p:cNvPr id="3" name="Tijdelijke aanduiding voor afbeelding 3">
            <a:extLst>
              <a:ext uri="{FF2B5EF4-FFF2-40B4-BE49-F238E27FC236}">
                <a16:creationId xmlns:a16="http://schemas.microsoft.com/office/drawing/2014/main" id="{BF020726-1AA6-EE4D-9CD8-9B40673609EC}"/>
              </a:ext>
            </a:extLst>
          </p:cNvPr>
          <p:cNvSpPr>
            <a:spLocks noGrp="1"/>
          </p:cNvSpPr>
          <p:nvPr>
            <p:ph type="pic" sz="quarter" idx="10" hasCustomPrompt="1"/>
          </p:nvPr>
        </p:nvSpPr>
        <p:spPr>
          <a:xfrm>
            <a:off x="0" y="0"/>
            <a:ext cx="12192000" cy="6858000"/>
          </a:xfrm>
          <a:prstGeom prst="rect">
            <a:avLst/>
          </a:prstGeom>
          <a:solidFill>
            <a:schemeClr val="accent1"/>
          </a:solidFill>
        </p:spPr>
        <p:txBody>
          <a:bodyPr/>
          <a:lstStyle>
            <a:lvl1pPr marL="0" marR="0" indent="0" algn="l" defTabSz="914400" rtl="0" eaLnBrk="1" fontAlgn="auto" latinLnBrk="0" hangingPunct="1">
              <a:lnSpc>
                <a:spcPct val="90000"/>
              </a:lnSpc>
              <a:spcBef>
                <a:spcPts val="1000"/>
              </a:spcBef>
              <a:spcAft>
                <a:spcPts val="0"/>
              </a:spcAft>
              <a:buClrTx/>
              <a:buSzTx/>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nl-NL" dirty="0"/>
              <a:t>Klik op het pictogram om een afbeelding wilt toevoegen</a:t>
            </a:r>
            <a:endParaRPr lang="nl-BE" dirty="0"/>
          </a:p>
          <a:p>
            <a:endParaRPr lang="nl-BE" dirty="0"/>
          </a:p>
        </p:txBody>
      </p:sp>
      <p:sp>
        <p:nvSpPr>
          <p:cNvPr id="4" name="Tijdelijke aanduiding voor tekst 5">
            <a:extLst>
              <a:ext uri="{FF2B5EF4-FFF2-40B4-BE49-F238E27FC236}">
                <a16:creationId xmlns:a16="http://schemas.microsoft.com/office/drawing/2014/main" id="{89753A3A-E019-254C-9677-C9C519017AAD}"/>
              </a:ext>
            </a:extLst>
          </p:cNvPr>
          <p:cNvSpPr>
            <a:spLocks noGrp="1"/>
          </p:cNvSpPr>
          <p:nvPr>
            <p:ph type="body" sz="quarter" idx="12" hasCustomPrompt="1"/>
          </p:nvPr>
        </p:nvSpPr>
        <p:spPr>
          <a:xfrm>
            <a:off x="7806518" y="3613790"/>
            <a:ext cx="376159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4D01101A-4B64-9146-92CB-AB7133B61F74}"/>
              </a:ext>
            </a:extLst>
          </p:cNvPr>
          <p:cNvSpPr>
            <a:spLocks noGrp="1"/>
          </p:cNvSpPr>
          <p:nvPr>
            <p:ph type="body" sz="quarter" idx="13" hasCustomPrompt="1"/>
          </p:nvPr>
        </p:nvSpPr>
        <p:spPr>
          <a:xfrm>
            <a:off x="7805738" y="1500371"/>
            <a:ext cx="3762375" cy="1945955"/>
          </a:xfrm>
          <a:prstGeom prst="rect">
            <a:avLst/>
          </a:prstGeom>
        </p:spPr>
        <p:txBody>
          <a:bodyPr/>
          <a:lstStyle>
            <a:lvl1pPr>
              <a:spcBef>
                <a:spcPts val="0"/>
              </a:spcBef>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spTree>
    <p:extLst>
      <p:ext uri="{BB962C8B-B14F-4D97-AF65-F5344CB8AC3E}">
        <p14:creationId xmlns:p14="http://schemas.microsoft.com/office/powerpoint/2010/main" val="10921906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UAntwerpen_1beeldquote en logo">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09DBE046-B8F3-D840-ABA8-37DDBE8E14F1}"/>
              </a:ext>
            </a:extLst>
          </p:cNvPr>
          <p:cNvSpPr>
            <a:spLocks noGrp="1"/>
          </p:cNvSpPr>
          <p:nvPr>
            <p:ph type="pic" sz="quarter" idx="10" hasCustomPrompt="1"/>
          </p:nvPr>
        </p:nvSpPr>
        <p:spPr>
          <a:xfrm>
            <a:off x="623888" y="627478"/>
            <a:ext cx="10944225" cy="5609810"/>
          </a:xfrm>
          <a:custGeom>
            <a:avLst/>
            <a:gdLst>
              <a:gd name="connsiteX0" fmla="*/ 8545 w 10944225"/>
              <a:gd name="connsiteY0" fmla="*/ 0 h 5609810"/>
              <a:gd name="connsiteX1" fmla="*/ 10944225 w 10944225"/>
              <a:gd name="connsiteY1" fmla="*/ 8545 h 5609810"/>
              <a:gd name="connsiteX2" fmla="*/ 10944225 w 10944225"/>
              <a:gd name="connsiteY2" fmla="*/ 5609810 h 5609810"/>
              <a:gd name="connsiteX3" fmla="*/ 253304 w 10944225"/>
              <a:gd name="connsiteY3" fmla="*/ 5609810 h 5609810"/>
              <a:gd name="connsiteX4" fmla="*/ 202263 w 10944225"/>
              <a:gd name="connsiteY4" fmla="*/ 5604665 h 5609810"/>
              <a:gd name="connsiteX5" fmla="*/ 0 w 10944225"/>
              <a:gd name="connsiteY5" fmla="*/ 5356497 h 5609810"/>
              <a:gd name="connsiteX6" fmla="*/ 8545 w 10944225"/>
              <a:gd name="connsiteY6" fmla="*/ 0 h 5609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44225" h="5609810">
                <a:moveTo>
                  <a:pt x="8545" y="0"/>
                </a:moveTo>
                <a:lnTo>
                  <a:pt x="10944225" y="8545"/>
                </a:lnTo>
                <a:lnTo>
                  <a:pt x="10944225" y="5609810"/>
                </a:lnTo>
                <a:lnTo>
                  <a:pt x="253304" y="5609810"/>
                </a:lnTo>
                <a:lnTo>
                  <a:pt x="202263" y="5604665"/>
                </a:lnTo>
                <a:cubicBezTo>
                  <a:pt x="86832" y="5581044"/>
                  <a:pt x="0" y="5478911"/>
                  <a:pt x="0" y="5356497"/>
                </a:cubicBezTo>
                <a:cubicBezTo>
                  <a:pt x="2848" y="3570998"/>
                  <a:pt x="5697" y="1785499"/>
                  <a:pt x="8545" y="0"/>
                </a:cubicBezTo>
                <a:close/>
              </a:path>
            </a:pathLst>
          </a:custGeom>
          <a:solidFill>
            <a:schemeClr val="tx1"/>
          </a:solidFill>
        </p:spPr>
        <p:txBody>
          <a:bodyPr wrap="square">
            <a:noAutofit/>
          </a:bodyPr>
          <a:lstStyle>
            <a:lvl1pPr marL="0" marR="0" indent="0" algn="l" defTabSz="914400" rtl="0" eaLnBrk="1" fontAlgn="auto" latinLnBrk="0" hangingPunct="1">
              <a:lnSpc>
                <a:spcPct val="90000"/>
              </a:lnSpc>
              <a:spcBef>
                <a:spcPts val="1000"/>
              </a:spcBef>
              <a:spcAft>
                <a:spcPts val="0"/>
              </a:spcAft>
              <a:buClr>
                <a:schemeClr val="accent2"/>
              </a:buClr>
              <a:buSzPct val="75000"/>
              <a:buFontTx/>
              <a:buNone/>
              <a:tabLst/>
              <a:defRPr b="0" i="0">
                <a:solidFill>
                  <a:schemeClr val="bg1"/>
                </a:solidFill>
                <a:latin typeface="Calibri Light" panose="020F0302020204030204" pitchFamily="34" charset="0"/>
                <a:cs typeface="Calibri Light" panose="020F0302020204030204" pitchFamily="34" charset="0"/>
              </a:defRPr>
            </a:lvl1pPr>
          </a:lstStyle>
          <a:p>
            <a:pPr marL="0" marR="0" lvl="0" indent="0" algn="l" defTabSz="914400" rtl="0" eaLnBrk="1" fontAlgn="auto" latinLnBrk="0" hangingPunct="1">
              <a:lnSpc>
                <a:spcPct val="90000"/>
              </a:lnSpc>
              <a:spcBef>
                <a:spcPts val="1000"/>
              </a:spcBef>
              <a:spcAft>
                <a:spcPts val="0"/>
              </a:spcAft>
              <a:buClr>
                <a:schemeClr val="accent2"/>
              </a:buClr>
              <a:buSzPct val="75000"/>
              <a:buFontTx/>
              <a:buNone/>
              <a:tabLst/>
              <a:defRPr/>
            </a:pPr>
            <a:r>
              <a:rPr lang="nl-NL" dirty="0"/>
              <a:t>Klik op het pictogram om een afbeelding wilt toevoegen</a:t>
            </a:r>
            <a:endParaRPr lang="nl-BE" dirty="0"/>
          </a:p>
        </p:txBody>
      </p:sp>
      <p:sp>
        <p:nvSpPr>
          <p:cNvPr id="4" name="Tijdelijke aanduiding voor tekst 5">
            <a:extLst>
              <a:ext uri="{FF2B5EF4-FFF2-40B4-BE49-F238E27FC236}">
                <a16:creationId xmlns:a16="http://schemas.microsoft.com/office/drawing/2014/main" id="{29C33EA9-EAA8-554B-9770-EC4BF96CD42E}"/>
              </a:ext>
            </a:extLst>
          </p:cNvPr>
          <p:cNvSpPr>
            <a:spLocks noGrp="1"/>
          </p:cNvSpPr>
          <p:nvPr>
            <p:ph type="body" sz="quarter" idx="12" hasCustomPrompt="1"/>
          </p:nvPr>
        </p:nvSpPr>
        <p:spPr>
          <a:xfrm>
            <a:off x="7806519" y="3613790"/>
            <a:ext cx="3415735" cy="728662"/>
          </a:xfrm>
          <a:prstGeom prst="rect">
            <a:avLst/>
          </a:prstGeom>
        </p:spPr>
        <p:txBody>
          <a:bodyPr lIns="0" tIns="0" rIns="0" bIns="0">
            <a:noAutofit/>
          </a:bodyPr>
          <a:lstStyle>
            <a:lvl1pPr marL="0" indent="0">
              <a:buNone/>
              <a:defRPr sz="2400" b="0" i="0">
                <a:solidFill>
                  <a:schemeClr val="bg1"/>
                </a:solidFill>
                <a:latin typeface="Calibri Light" panose="020F0302020204030204" pitchFamily="34" charset="0"/>
                <a:cs typeface="Calibri Light" panose="020F0302020204030204" pitchFamily="34" charset="0"/>
              </a:defRPr>
            </a:lvl1pPr>
          </a:lstStyle>
          <a:p>
            <a:r>
              <a:rPr lang="nl-NL" dirty="0"/>
              <a:t>Voornaam Naam</a:t>
            </a:r>
            <a:endParaRPr lang="nl-BE" dirty="0"/>
          </a:p>
        </p:txBody>
      </p:sp>
      <p:sp>
        <p:nvSpPr>
          <p:cNvPr id="5" name="Text Placeholder 14">
            <a:extLst>
              <a:ext uri="{FF2B5EF4-FFF2-40B4-BE49-F238E27FC236}">
                <a16:creationId xmlns:a16="http://schemas.microsoft.com/office/drawing/2014/main" id="{9A2A5195-C3FC-3548-A159-FD845F8D8AB0}"/>
              </a:ext>
            </a:extLst>
          </p:cNvPr>
          <p:cNvSpPr>
            <a:spLocks noGrp="1"/>
          </p:cNvSpPr>
          <p:nvPr>
            <p:ph type="body" sz="quarter" idx="13" hasCustomPrompt="1"/>
          </p:nvPr>
        </p:nvSpPr>
        <p:spPr>
          <a:xfrm>
            <a:off x="7805739" y="1500371"/>
            <a:ext cx="3416443" cy="1945955"/>
          </a:xfrm>
          <a:prstGeom prst="rect">
            <a:avLst/>
          </a:prstGeom>
        </p:spPr>
        <p:txBody>
          <a:bodyPr/>
          <a:lstStyle>
            <a:lvl1pPr>
              <a:buNone/>
              <a:defRPr b="1" i="0">
                <a:solidFill>
                  <a:schemeClr val="bg1"/>
                </a:solidFill>
                <a:latin typeface="Calibri" panose="020F0502020204030204" pitchFamily="34" charset="0"/>
                <a:cs typeface="Calibri" panose="020F0502020204030204" pitchFamily="34" charset="0"/>
              </a:defRPr>
            </a:lvl1pPr>
          </a:lstStyle>
          <a:p>
            <a:r>
              <a:rPr lang="nl-NL" dirty="0"/>
              <a:t>Quote</a:t>
            </a:r>
            <a:endParaRPr lang="nl-BE" dirty="0"/>
          </a:p>
        </p:txBody>
      </p:sp>
      <p:pic>
        <p:nvPicPr>
          <p:cNvPr id="6" name="Afbeelding 4">
            <a:extLst>
              <a:ext uri="{FF2B5EF4-FFF2-40B4-BE49-F238E27FC236}">
                <a16:creationId xmlns:a16="http://schemas.microsoft.com/office/drawing/2014/main" id="{A0A6BFC5-0BDC-5046-9C6A-AAF1C2A72DA3}"/>
              </a:ext>
            </a:extLst>
          </p:cNvPr>
          <p:cNvPicPr>
            <a:picLocks noChangeAspect="1"/>
          </p:cNvPicPr>
          <p:nvPr userDrawn="1"/>
        </p:nvPicPr>
        <p:blipFill>
          <a:blip r:embed="rId2"/>
          <a:stretch>
            <a:fillRect/>
          </a:stretch>
        </p:blipFill>
        <p:spPr>
          <a:xfrm>
            <a:off x="623888" y="6429781"/>
            <a:ext cx="794485" cy="223949"/>
          </a:xfrm>
          <a:prstGeom prst="rect">
            <a:avLst/>
          </a:prstGeom>
        </p:spPr>
      </p:pic>
    </p:spTree>
    <p:extLst>
      <p:ext uri="{BB962C8B-B14F-4D97-AF65-F5344CB8AC3E}">
        <p14:creationId xmlns:p14="http://schemas.microsoft.com/office/powerpoint/2010/main" val="2810974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Tijdelijke aanduiding voor titel 1">
            <a:extLst>
              <a:ext uri="{FF2B5EF4-FFF2-40B4-BE49-F238E27FC236}">
                <a16:creationId xmlns:a16="http://schemas.microsoft.com/office/drawing/2014/main" id="{1948A336-DFA9-6348-B512-B2BBC75D1D43}"/>
              </a:ext>
            </a:extLst>
          </p:cNvPr>
          <p:cNvSpPr>
            <a:spLocks noGrp="1"/>
          </p:cNvSpPr>
          <p:nvPr>
            <p:ph type="title"/>
          </p:nvPr>
        </p:nvSpPr>
        <p:spPr>
          <a:xfrm>
            <a:off x="623887" y="620713"/>
            <a:ext cx="10944226" cy="791794"/>
          </a:xfrm>
          <a:prstGeom prst="rect">
            <a:avLst/>
          </a:prstGeom>
        </p:spPr>
        <p:txBody>
          <a:bodyPr vert="horz" lIns="0" tIns="0" rIns="0" bIns="0" rtlCol="0" anchor="t" anchorCtr="0">
            <a:normAutofit/>
          </a:bodyPr>
          <a:lstStyle/>
          <a:p>
            <a:r>
              <a:rPr lang="nl-NL" dirty="0"/>
              <a:t>Titel</a:t>
            </a:r>
            <a:endParaRPr lang="nl-BE" dirty="0"/>
          </a:p>
        </p:txBody>
      </p:sp>
      <p:sp>
        <p:nvSpPr>
          <p:cNvPr id="8" name="Tijdelijke aanduiding voor tekst 13">
            <a:extLst>
              <a:ext uri="{FF2B5EF4-FFF2-40B4-BE49-F238E27FC236}">
                <a16:creationId xmlns:a16="http://schemas.microsoft.com/office/drawing/2014/main" id="{FC89CC1E-5699-C54E-83AE-63F796F398B8}"/>
              </a:ext>
            </a:extLst>
          </p:cNvPr>
          <p:cNvSpPr>
            <a:spLocks noGrp="1"/>
          </p:cNvSpPr>
          <p:nvPr>
            <p:ph type="body" idx="1"/>
          </p:nvPr>
        </p:nvSpPr>
        <p:spPr>
          <a:xfrm>
            <a:off x="623888" y="1604479"/>
            <a:ext cx="10944226" cy="621013"/>
          </a:xfrm>
          <a:prstGeom prst="rect">
            <a:avLst/>
          </a:prstGeom>
        </p:spPr>
        <p:txBody>
          <a:bodyPr vert="horz" lIns="0" tIns="0" rIns="0" bIns="0" rtlCol="0">
            <a:normAutofit/>
          </a:bodyPr>
          <a:lstStyle/>
          <a:p>
            <a:r>
              <a:rPr lang="nl-NL" dirty="0"/>
              <a:t>Ondertitel</a:t>
            </a:r>
          </a:p>
        </p:txBody>
      </p:sp>
      <p:sp>
        <p:nvSpPr>
          <p:cNvPr id="9" name="Tijdelijke aanduiding voor dianummer 3">
            <a:extLst>
              <a:ext uri="{FF2B5EF4-FFF2-40B4-BE49-F238E27FC236}">
                <a16:creationId xmlns:a16="http://schemas.microsoft.com/office/drawing/2014/main" id="{ACEE07E0-D229-2548-A4C6-019956C34182}"/>
              </a:ext>
            </a:extLst>
          </p:cNvPr>
          <p:cNvSpPr>
            <a:spLocks noGrp="1"/>
          </p:cNvSpPr>
          <p:nvPr>
            <p:ph type="sldNum" sz="quarter" idx="4"/>
          </p:nvPr>
        </p:nvSpPr>
        <p:spPr>
          <a:xfrm>
            <a:off x="8923493" y="6339173"/>
            <a:ext cx="2743200" cy="365125"/>
          </a:xfrm>
          <a:prstGeom prst="rect">
            <a:avLst/>
          </a:prstGeom>
        </p:spPr>
        <p:txBody>
          <a:bodyPr vert="horz" lIns="91440" tIns="45720" rIns="91440" bIns="45720" rtlCol="0" anchor="ctr"/>
          <a:lstStyle>
            <a:lvl1pPr algn="r">
              <a:defRPr sz="1000" b="0" i="0">
                <a:solidFill>
                  <a:schemeClr val="tx2"/>
                </a:solidFill>
                <a:latin typeface="Calibri Light" panose="020F0302020204030204" pitchFamily="34" charset="0"/>
                <a:cs typeface="Calibri Light" panose="020F0302020204030204" pitchFamily="34" charset="0"/>
              </a:defRPr>
            </a:lvl1pPr>
          </a:lstStyle>
          <a:p>
            <a:fld id="{E038E271-308C-2E46-A3EC-56326F9084CC}" type="slidenum">
              <a:rPr lang="nl-BE" smtClean="0"/>
              <a:pPr/>
              <a:t>‹nr.›</a:t>
            </a:fld>
            <a:endParaRPr lang="nl-BE" dirty="0">
              <a:latin typeface="Calibri Light" panose="020F0302020204030204" pitchFamily="34" charset="0"/>
              <a:cs typeface="Calibri Light" panose="020F0302020204030204" pitchFamily="34" charset="0"/>
            </a:endParaRPr>
          </a:p>
        </p:txBody>
      </p:sp>
      <p:pic>
        <p:nvPicPr>
          <p:cNvPr id="10" name="Afbeelding 4">
            <a:extLst>
              <a:ext uri="{FF2B5EF4-FFF2-40B4-BE49-F238E27FC236}">
                <a16:creationId xmlns:a16="http://schemas.microsoft.com/office/drawing/2014/main" id="{B2CABEA2-6FA0-0245-B24A-C92832AA0D0A}"/>
              </a:ext>
            </a:extLst>
          </p:cNvPr>
          <p:cNvPicPr>
            <a:picLocks noChangeAspect="1"/>
          </p:cNvPicPr>
          <p:nvPr userDrawn="1"/>
        </p:nvPicPr>
        <p:blipFill>
          <a:blip r:embed="rId14"/>
          <a:stretch>
            <a:fillRect/>
          </a:stretch>
        </p:blipFill>
        <p:spPr>
          <a:xfrm>
            <a:off x="623888" y="6429781"/>
            <a:ext cx="794485" cy="223949"/>
          </a:xfrm>
          <a:prstGeom prst="rect">
            <a:avLst/>
          </a:prstGeom>
        </p:spPr>
      </p:pic>
    </p:spTree>
  </p:cSld>
  <p:clrMap bg1="lt1" tx1="dk1" bg2="lt2" tx2="dk2" accent1="accent1" accent2="accent2" accent3="accent3" accent4="accent4" accent5="accent5" accent6="accent6" hlink="hlink" folHlink="folHlink"/>
  <p:sldLayoutIdLst>
    <p:sldLayoutId id="2147484115" r:id="rId1"/>
    <p:sldLayoutId id="2147484105" r:id="rId2"/>
    <p:sldLayoutId id="2147484106" r:id="rId3"/>
    <p:sldLayoutId id="2147484107" r:id="rId4"/>
    <p:sldLayoutId id="2147484108" r:id="rId5"/>
    <p:sldLayoutId id="2147484109" r:id="rId6"/>
    <p:sldLayoutId id="2147484110" r:id="rId7"/>
    <p:sldLayoutId id="2147484111" r:id="rId8"/>
    <p:sldLayoutId id="2147484113" r:id="rId9"/>
    <p:sldLayoutId id="2147484112" r:id="rId10"/>
    <p:sldLayoutId id="2147484102" r:id="rId11"/>
    <p:sldLayoutId id="2147484116" r:id="rId12"/>
  </p:sldLayoutIdLst>
  <p:hf hdr="0"/>
  <p:txStyles>
    <p:titleStyle>
      <a:lvl1pPr algn="l" defTabSz="1217054" rtl="0" eaLnBrk="1" fontAlgn="base" hangingPunct="1">
        <a:spcBef>
          <a:spcPct val="0"/>
        </a:spcBef>
        <a:spcAft>
          <a:spcPct val="0"/>
        </a:spcAft>
        <a:defRPr sz="3800" b="1" i="0" kern="1200">
          <a:solidFill>
            <a:srgbClr val="FF0000"/>
          </a:solidFill>
          <a:latin typeface="Calibri" panose="020F0502020204030204" pitchFamily="34" charset="0"/>
          <a:ea typeface="Verdana" charset="0"/>
          <a:cs typeface="Calibri" panose="020F0502020204030204" pitchFamily="34" charset="0"/>
        </a:defRPr>
      </a:lvl1pPr>
      <a:lvl2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2pPr>
      <a:lvl3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3pPr>
      <a:lvl4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4pPr>
      <a:lvl5pPr algn="l" defTabSz="1217054" rtl="0" eaLnBrk="1" fontAlgn="base" hangingPunct="1">
        <a:spcBef>
          <a:spcPct val="0"/>
        </a:spcBef>
        <a:spcAft>
          <a:spcPct val="0"/>
        </a:spcAft>
        <a:defRPr sz="2667">
          <a:solidFill>
            <a:schemeClr val="accent1"/>
          </a:solidFill>
          <a:latin typeface="Verdana" panose="020B0604030504040204" pitchFamily="34" charset="0"/>
          <a:ea typeface="Verdana" panose="020B0604030504040204" pitchFamily="34" charset="0"/>
          <a:cs typeface="Verdana" panose="020B060403050404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0" algn="l" defTabSz="1217054" rtl="0" eaLnBrk="1" fontAlgn="base" hangingPunct="1">
        <a:spcBef>
          <a:spcPct val="20000"/>
        </a:spcBef>
        <a:spcAft>
          <a:spcPct val="0"/>
        </a:spcAft>
        <a:buClr>
          <a:schemeClr val="accent1"/>
        </a:buClr>
        <a:buFont typeface="Arial" panose="020B0604020202020204" pitchFamily="34" charset="0"/>
        <a:buNone/>
        <a:defRPr sz="2800" b="0" i="0" kern="1200">
          <a:solidFill>
            <a:schemeClr val="tx1"/>
          </a:solidFill>
          <a:latin typeface="+mn-lt"/>
          <a:ea typeface="Verdana" charset="0"/>
          <a:cs typeface="Calibri Light" panose="020F0302020204030204" pitchFamily="34" charset="0"/>
        </a:defRPr>
      </a:lvl1pPr>
      <a:lvl2pPr marL="740815"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2pPr>
      <a:lvl3pPr marL="1090057"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bg1"/>
          </a:solidFill>
          <a:latin typeface="Verdana" charset="0"/>
          <a:ea typeface="Verdana" charset="0"/>
          <a:cs typeface="Verdana" charset="0"/>
        </a:defRPr>
      </a:lvl3pPr>
      <a:lvl4pPr marL="1454114" indent="-378875"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4pPr>
      <a:lvl5pPr marL="1663658" indent="-226478"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nl-B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93" userDrawn="1">
          <p15:clr>
            <a:srgbClr val="F26B43"/>
          </p15:clr>
        </p15:guide>
        <p15:guide id="2" pos="7287" userDrawn="1">
          <p15:clr>
            <a:srgbClr val="F26B43"/>
          </p15:clr>
        </p15:guide>
        <p15:guide id="3" orient="horz" pos="391" userDrawn="1">
          <p15:clr>
            <a:srgbClr val="F26B43"/>
          </p15:clr>
        </p15:guide>
        <p15:guide id="4" orient="horz" pos="392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1548678"/>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userDrawn="1">
          <p15:clr>
            <a:srgbClr val="F26B43"/>
          </p15:clr>
        </p15:guide>
        <p15:guide id="2" pos="393" userDrawn="1">
          <p15:clr>
            <a:srgbClr val="F26B43"/>
          </p15:clr>
        </p15:guide>
        <p15:guide id="3" pos="7287" userDrawn="1">
          <p15:clr>
            <a:srgbClr val="F26B43"/>
          </p15:clr>
        </p15:guide>
        <p15:guide id="4" orient="horz" pos="392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microsoft.com/office/2007/relationships/hdphoto" Target="../media/hdphoto2.wdp"/><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tif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hyperlink" Target="https://www.sciencedirect.com/science/article/pii/S016920462500163X?ref=cra_js_challenge&amp;fr=RR-1" TargetMode="External"/><Relationship Id="rId5" Type="http://schemas.openxmlformats.org/officeDocument/2006/relationships/hyperlink" Target="https://www.vrt.be/vrtnws/nl/2026/02/05/vogel-geluiden-natuur-wandeling-welzijn-stress/" TargetMode="External"/><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ojs.interpersonajournal.com/index.php/ojs/article/view/733/1271" TargetMode="External"/><Relationship Id="rId5" Type="http://schemas.openxmlformats.org/officeDocument/2006/relationships/hyperlink" Target="https://www.vrt.be/vrtnws/nl/2026/02/17/liefde-passie-verliefd-onderzoek/" TargetMode="Externa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hyperlink" Target="https://www.sciencedirect.com/science/article/pii/S016920462500163X?ref=cra_js_challenge&amp;fr=RR-1" TargetMode="External"/><Relationship Id="rId5" Type="http://schemas.openxmlformats.org/officeDocument/2006/relationships/hyperlink" Target="https://www.vrt.be/vrtnws/nl/2026/02/05/vogel-geluiden-natuur-wandeling-welzijn-stress/" TargetMode="Externa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27.jpeg"/></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290.png"/></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10.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5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C7654-B1F8-CB41-A11C-78EAAE0B4DB9}"/>
              </a:ext>
            </a:extLst>
          </p:cNvPr>
          <p:cNvSpPr>
            <a:spLocks noGrp="1"/>
          </p:cNvSpPr>
          <p:nvPr>
            <p:ph type="title"/>
          </p:nvPr>
        </p:nvSpPr>
        <p:spPr/>
        <p:txBody>
          <a:bodyPr>
            <a:normAutofit fontScale="90000"/>
          </a:bodyPr>
          <a:lstStyle/>
          <a:p>
            <a:r>
              <a:rPr lang="nl-BE" dirty="0"/>
              <a:t>Statistiek B – contactmoment 2</a:t>
            </a:r>
            <a:endParaRPr lang="en-BE"/>
          </a:p>
        </p:txBody>
      </p:sp>
      <p:sp>
        <p:nvSpPr>
          <p:cNvPr id="3" name="Text Placeholder 2">
            <a:extLst>
              <a:ext uri="{FF2B5EF4-FFF2-40B4-BE49-F238E27FC236}">
                <a16:creationId xmlns:a16="http://schemas.microsoft.com/office/drawing/2014/main" id="{BE59F27B-4FA1-1945-B3AE-2234EB3F591F}"/>
              </a:ext>
            </a:extLst>
          </p:cNvPr>
          <p:cNvSpPr>
            <a:spLocks noGrp="1"/>
          </p:cNvSpPr>
          <p:nvPr>
            <p:ph type="body" sz="quarter" idx="10"/>
          </p:nvPr>
        </p:nvSpPr>
        <p:spPr>
          <a:xfrm>
            <a:off x="8505825" y="4495800"/>
            <a:ext cx="1736725" cy="1062037"/>
          </a:xfrm>
        </p:spPr>
        <p:txBody>
          <a:bodyPr lIns="91440" tIns="45720" rIns="91440" bIns="45720" anchor="t"/>
          <a:lstStyle/>
          <a:p>
            <a:pPr algn="l"/>
            <a:r>
              <a:rPr lang="nl-BE" i="1" dirty="0">
                <a:latin typeface="Calibri"/>
                <a:cs typeface="Calibri"/>
              </a:rPr>
              <a:t>ANOVA</a:t>
            </a:r>
            <a:endParaRPr lang="nl-NL" dirty="0"/>
          </a:p>
          <a:p>
            <a:pPr algn="l"/>
            <a:r>
              <a:rPr lang="nl-BE" i="1" dirty="0">
                <a:latin typeface="Calibri"/>
                <a:cs typeface="Calibri"/>
              </a:rPr>
              <a:t>Kruistabel</a:t>
            </a:r>
            <a:endParaRPr lang="nl-NL" dirty="0"/>
          </a:p>
          <a:p>
            <a:pPr algn="l"/>
            <a:endParaRPr lang="nl-BE" dirty="0"/>
          </a:p>
        </p:txBody>
      </p:sp>
    </p:spTree>
    <p:extLst>
      <p:ext uri="{BB962C8B-B14F-4D97-AF65-F5344CB8AC3E}">
        <p14:creationId xmlns:p14="http://schemas.microsoft.com/office/powerpoint/2010/main" val="232380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69D7D5-11ED-B94F-B3FF-72321C7F890C}"/>
              </a:ext>
            </a:extLst>
          </p:cNvPr>
          <p:cNvSpPr>
            <a:spLocks noGrp="1"/>
          </p:cNvSpPr>
          <p:nvPr>
            <p:ph type="sldNum" sz="quarter" idx="10"/>
          </p:nvPr>
        </p:nvSpPr>
        <p:spPr/>
        <p:txBody>
          <a:bodyPr/>
          <a:lstStyle/>
          <a:p>
            <a:fld id="{E038E271-308C-2E46-A3EC-56326F9084CC}" type="slidenum">
              <a:rPr lang="nl-BE" smtClean="0"/>
              <a:pPr/>
              <a:t>2</a:t>
            </a:fld>
            <a:endParaRPr lang="nl-BE" dirty="0"/>
          </a:p>
        </p:txBody>
      </p:sp>
      <p:pic>
        <p:nvPicPr>
          <p:cNvPr id="17" name="Tijdelijke aanduiding voor afbeelding 16">
            <a:extLst>
              <a:ext uri="{FF2B5EF4-FFF2-40B4-BE49-F238E27FC236}">
                <a16:creationId xmlns:a16="http://schemas.microsoft.com/office/drawing/2014/main" id="{8B125C63-E17C-4743-8DB7-1795A93F7971}"/>
              </a:ext>
            </a:extLst>
          </p:cNvPr>
          <p:cNvPicPr>
            <a:picLocks noGrp="1" noChangeAspect="1"/>
          </p:cNvPicPr>
          <p:nvPr>
            <p:ph type="pic" sz="quarter" idx="19"/>
          </p:nvPr>
        </p:nvPicPr>
        <p:blipFill rotWithShape="1">
          <a:blip r:embed="rId3"/>
          <a:srcRect t="-155533" b="-155533"/>
          <a:stretch/>
        </p:blipFill>
        <p:spPr>
          <a:xfrm>
            <a:off x="9005909" y="1378339"/>
            <a:ext cx="1674000" cy="1672263"/>
          </a:xfrm>
          <a:prstGeom prst="roundRect">
            <a:avLst>
              <a:gd name="adj" fmla="val 50000"/>
            </a:avLst>
          </a:prstGeom>
        </p:spPr>
      </p:pic>
      <p:sp>
        <p:nvSpPr>
          <p:cNvPr id="7" name="Text Placeholder 6">
            <a:extLst>
              <a:ext uri="{FF2B5EF4-FFF2-40B4-BE49-F238E27FC236}">
                <a16:creationId xmlns:a16="http://schemas.microsoft.com/office/drawing/2014/main" id="{D33FF37A-7607-954E-B668-B3051AFFDF6F}"/>
              </a:ext>
            </a:extLst>
          </p:cNvPr>
          <p:cNvSpPr>
            <a:spLocks noGrp="1"/>
          </p:cNvSpPr>
          <p:nvPr>
            <p:ph type="body" sz="quarter" idx="22"/>
          </p:nvPr>
        </p:nvSpPr>
        <p:spPr/>
        <p:txBody>
          <a:bodyPr/>
          <a:lstStyle/>
          <a:p>
            <a:r>
              <a:rPr lang="nl-BE" dirty="0"/>
              <a:t>Te      ugblik</a:t>
            </a:r>
            <a:endParaRPr lang="en-BE"/>
          </a:p>
        </p:txBody>
      </p:sp>
      <p:sp>
        <p:nvSpPr>
          <p:cNvPr id="8" name="Content Placeholder 7">
            <a:extLst>
              <a:ext uri="{FF2B5EF4-FFF2-40B4-BE49-F238E27FC236}">
                <a16:creationId xmlns:a16="http://schemas.microsoft.com/office/drawing/2014/main" id="{6058EBD4-6BC5-D844-98F0-F06FCADD0653}"/>
              </a:ext>
            </a:extLst>
          </p:cNvPr>
          <p:cNvSpPr>
            <a:spLocks noGrp="1"/>
          </p:cNvSpPr>
          <p:nvPr>
            <p:ph sz="quarter" idx="23"/>
          </p:nvPr>
        </p:nvSpPr>
        <p:spPr/>
        <p:txBody>
          <a:bodyPr/>
          <a:lstStyle/>
          <a:p>
            <a:endParaRPr lang="en-BE"/>
          </a:p>
        </p:txBody>
      </p:sp>
      <p:sp>
        <p:nvSpPr>
          <p:cNvPr id="9" name="Text Placeholder 8">
            <a:extLst>
              <a:ext uri="{FF2B5EF4-FFF2-40B4-BE49-F238E27FC236}">
                <a16:creationId xmlns:a16="http://schemas.microsoft.com/office/drawing/2014/main" id="{D9090C32-1664-AD4C-90CB-B21340D4B19F}"/>
              </a:ext>
            </a:extLst>
          </p:cNvPr>
          <p:cNvSpPr>
            <a:spLocks noGrp="1"/>
          </p:cNvSpPr>
          <p:nvPr>
            <p:ph type="body" sz="quarter" idx="24"/>
          </p:nvPr>
        </p:nvSpPr>
        <p:spPr/>
        <p:txBody>
          <a:bodyPr/>
          <a:lstStyle/>
          <a:p>
            <a:r>
              <a:rPr lang="nl-BE" dirty="0"/>
              <a:t>kruistabel</a:t>
            </a:r>
            <a:endParaRPr lang="en-BE"/>
          </a:p>
        </p:txBody>
      </p:sp>
      <p:sp>
        <p:nvSpPr>
          <p:cNvPr id="10" name="Content Placeholder 9">
            <a:extLst>
              <a:ext uri="{FF2B5EF4-FFF2-40B4-BE49-F238E27FC236}">
                <a16:creationId xmlns:a16="http://schemas.microsoft.com/office/drawing/2014/main" id="{A72CD1A8-D6A8-3C42-A93B-672CCFBA05C0}"/>
              </a:ext>
            </a:extLst>
          </p:cNvPr>
          <p:cNvSpPr>
            <a:spLocks noGrp="1"/>
          </p:cNvSpPr>
          <p:nvPr>
            <p:ph sz="quarter" idx="25"/>
          </p:nvPr>
        </p:nvSpPr>
        <p:spPr/>
        <p:txBody>
          <a:bodyPr/>
          <a:lstStyle/>
          <a:p>
            <a:endParaRPr lang="en-BE"/>
          </a:p>
        </p:txBody>
      </p:sp>
      <p:sp>
        <p:nvSpPr>
          <p:cNvPr id="11" name="Text Placeholder 10">
            <a:extLst>
              <a:ext uri="{FF2B5EF4-FFF2-40B4-BE49-F238E27FC236}">
                <a16:creationId xmlns:a16="http://schemas.microsoft.com/office/drawing/2014/main" id="{E52DBBB3-1531-CD4F-90B1-1F37ABD2F586}"/>
              </a:ext>
            </a:extLst>
          </p:cNvPr>
          <p:cNvSpPr>
            <a:spLocks noGrp="1"/>
          </p:cNvSpPr>
          <p:nvPr>
            <p:ph type="body" sz="quarter" idx="26"/>
          </p:nvPr>
        </p:nvSpPr>
        <p:spPr/>
        <p:txBody>
          <a:bodyPr/>
          <a:lstStyle/>
          <a:p>
            <a:r>
              <a:rPr lang="nl-BE" dirty="0"/>
              <a:t>ANOVA</a:t>
            </a:r>
            <a:endParaRPr lang="en-BE"/>
          </a:p>
        </p:txBody>
      </p:sp>
      <p:pic>
        <p:nvPicPr>
          <p:cNvPr id="1026" name="Picture 2" descr="Afbeeldingsresultaat voor lineaire regressie">
            <a:extLst>
              <a:ext uri="{FF2B5EF4-FFF2-40B4-BE49-F238E27FC236}">
                <a16:creationId xmlns:a16="http://schemas.microsoft.com/office/drawing/2014/main" id="{4E07EFA0-DD24-404B-8C76-9FDA855BCEC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303777">
            <a:off x="7249399" y="-549269"/>
            <a:ext cx="260229" cy="130115"/>
          </a:xfrm>
          <a:prstGeom prst="rect">
            <a:avLst/>
          </a:prstGeom>
          <a:noFill/>
          <a:extLst>
            <a:ext uri="{909E8E84-426E-40DD-AFC4-6F175D3DCCD1}">
              <a14:hiddenFill xmlns:a14="http://schemas.microsoft.com/office/drawing/2010/main">
                <a:solidFill>
                  <a:srgbClr val="FFFFFF"/>
                </a:solidFill>
              </a14:hiddenFill>
            </a:ext>
          </a:extLst>
        </p:spPr>
      </p:pic>
      <p:sp>
        <p:nvSpPr>
          <p:cNvPr id="4" name="Tijdelijke aanduiding voor inhoud 3">
            <a:extLst>
              <a:ext uri="{FF2B5EF4-FFF2-40B4-BE49-F238E27FC236}">
                <a16:creationId xmlns:a16="http://schemas.microsoft.com/office/drawing/2014/main" id="{FDAC1844-DEFE-ED4A-A4CE-2A0E3BE20D9B}"/>
              </a:ext>
            </a:extLst>
          </p:cNvPr>
          <p:cNvSpPr>
            <a:spLocks noGrp="1"/>
          </p:cNvSpPr>
          <p:nvPr>
            <p:ph sz="quarter" idx="11"/>
          </p:nvPr>
        </p:nvSpPr>
        <p:spPr/>
        <p:txBody>
          <a:bodyPr/>
          <a:lstStyle/>
          <a:p>
            <a:endParaRPr lang="nl-BE"/>
          </a:p>
        </p:txBody>
      </p:sp>
      <p:pic>
        <p:nvPicPr>
          <p:cNvPr id="22" name="Tijdelijke aanduiding voor afbeelding 21">
            <a:extLst>
              <a:ext uri="{FF2B5EF4-FFF2-40B4-BE49-F238E27FC236}">
                <a16:creationId xmlns:a16="http://schemas.microsoft.com/office/drawing/2014/main" id="{2394DF99-89BB-5B44-A0D2-F4E4EB0CAED9}"/>
              </a:ext>
            </a:extLst>
          </p:cNvPr>
          <p:cNvPicPr>
            <a:picLocks noGrp="1" noChangeAspect="1"/>
          </p:cNvPicPr>
          <p:nvPr>
            <p:ph type="pic" sz="quarter" idx="18"/>
          </p:nvPr>
        </p:nvPicPr>
        <p:blipFill rotWithShape="1">
          <a:blip r:embed="rId5"/>
          <a:srcRect t="-49267" b="-49267"/>
          <a:stretch/>
        </p:blipFill>
        <p:spPr/>
      </p:pic>
      <p:pic>
        <p:nvPicPr>
          <p:cNvPr id="26" name="Tijdelijke aanduiding voor afbeelding 25">
            <a:extLst>
              <a:ext uri="{FF2B5EF4-FFF2-40B4-BE49-F238E27FC236}">
                <a16:creationId xmlns:a16="http://schemas.microsoft.com/office/drawing/2014/main" id="{3E8147A5-BADD-F247-BB47-2F1BA714EB39}"/>
              </a:ext>
            </a:extLst>
          </p:cNvPr>
          <p:cNvPicPr>
            <a:picLocks noGrp="1" noChangeAspect="1"/>
          </p:cNvPicPr>
          <p:nvPr>
            <p:ph type="pic" sz="quarter" idx="12"/>
          </p:nvPr>
        </p:nvPicPr>
        <p:blipFill rotWithShape="1">
          <a:blip r:embed="rId6"/>
          <a:srcRect l="-52" r="-52"/>
          <a:stretch/>
        </p:blipFill>
        <p:spPr>
          <a:prstGeom prst="roundRect">
            <a:avLst>
              <a:gd name="adj" fmla="val 42457"/>
            </a:avLst>
          </a:prstGeom>
        </p:spPr>
      </p:pic>
      <p:pic>
        <p:nvPicPr>
          <p:cNvPr id="20482" name="Picture 2" descr="Afbeeldingsresultaat voor R">
            <a:extLst>
              <a:ext uri="{FF2B5EF4-FFF2-40B4-BE49-F238E27FC236}">
                <a16:creationId xmlns:a16="http://schemas.microsoft.com/office/drawing/2014/main" id="{83C2D785-B42D-A54C-8BF1-7CD9CB242C47}"/>
              </a:ext>
            </a:extLst>
          </p:cNvPr>
          <p:cNvPicPr>
            <a:picLocks noChangeAspect="1" noChangeArrowheads="1"/>
          </p:cNvPicPr>
          <p:nvPr/>
        </p:nvPicPr>
        <p:blipFill>
          <a:blip r:embed="rId7">
            <a:extLst>
              <a:ext uri="{BEBA8EAE-BF5A-486C-A8C5-ECC9F3942E4B}">
                <a14:imgProps xmlns:a14="http://schemas.microsoft.com/office/drawing/2010/main">
                  <a14:imgLayer r:embed="rId8">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1980810" y="3761031"/>
            <a:ext cx="299404" cy="299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711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3</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a:xfrm>
            <a:off x="6248400" y="647066"/>
            <a:ext cx="5003800" cy="1385085"/>
          </a:xfrm>
        </p:spPr>
        <p:txBody>
          <a:bodyPr/>
          <a:lstStyle/>
          <a:p>
            <a:r>
              <a:rPr lang="nl-BE" dirty="0"/>
              <a:t>Te.   ugblik   </a:t>
            </a:r>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3"/>
          <a:srcRect t="-4575" b="-4575"/>
          <a:stretch/>
        </p:blipFill>
        <p:spPr>
          <a:xfrm>
            <a:off x="623889" y="620713"/>
            <a:ext cx="5145732" cy="5616575"/>
          </a:xfrm>
        </p:spPr>
      </p:pic>
      <p:pic>
        <p:nvPicPr>
          <p:cNvPr id="6" name="Picture 2" descr="Afbeeldingsresultaat voor R">
            <a:extLst>
              <a:ext uri="{FF2B5EF4-FFF2-40B4-BE49-F238E27FC236}">
                <a16:creationId xmlns:a16="http://schemas.microsoft.com/office/drawing/2014/main" id="{E9B265D6-B5C0-9345-BB62-156CF04BDB3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2667" b="98667" l="4000" r="94667">
                        <a14:foregroundMark x1="15556" y1="24889" x2="4000" y2="64000"/>
                        <a14:foregroundMark x1="4000" y1="64000" x2="4000" y2="65778"/>
                        <a14:foregroundMark x1="19556" y1="12000" x2="55111" y2="7556"/>
                        <a14:foregroundMark x1="55111" y1="7556" x2="61333" y2="7556"/>
                        <a14:foregroundMark x1="20000" y1="51556" x2="35111" y2="84000"/>
                        <a14:foregroundMark x1="35111" y1="84000" x2="57333" y2="84000"/>
                        <a14:foregroundMark x1="57333" y1="84000" x2="76444" y2="71556"/>
                        <a14:foregroundMark x1="76444" y1="71556" x2="80000" y2="51556"/>
                        <a14:foregroundMark x1="80000" y1="51556" x2="76000" y2="44444"/>
                        <a14:foregroundMark x1="47111" y1="58222" x2="55556" y2="67111"/>
                        <a14:foregroundMark x1="39556" y1="53333" x2="39556" y2="26222"/>
                        <a14:foregroundMark x1="47111" y1="35111" x2="55556" y2="38222"/>
                        <a14:foregroundMark x1="48889" y1="28000" x2="65778" y2="30222"/>
                        <a14:foregroundMark x1="65778" y1="30222" x2="56000" y2="44444"/>
                        <a14:foregroundMark x1="56000" y1="44444" x2="65333" y2="68000"/>
                        <a14:foregroundMark x1="31556" y1="67111" x2="45333" y2="67111"/>
                        <a14:foregroundMark x1="81333" y1="35556" x2="89778" y2="64000"/>
                        <a14:foregroundMark x1="62667" y1="90222" x2="82667" y2="83556"/>
                        <a14:foregroundMark x1="82667" y1="83556" x2="91111" y2="64444"/>
                        <a14:foregroundMark x1="91111" y1="64444" x2="88000" y2="24000"/>
                        <a14:foregroundMark x1="88000" y1="24000" x2="78667" y2="16444"/>
                        <a14:foregroundMark x1="39556" y1="92889" x2="39556" y2="92889"/>
                        <a14:foregroundMark x1="43111" y1="98667" x2="51556" y2="99111"/>
                        <a14:foregroundMark x1="39556" y1="67111" x2="39556" y2="56444"/>
                        <a14:foregroundMark x1="24444" y1="8444" x2="31111" y2="5778"/>
                        <a14:foregroundMark x1="48444" y1="48889" x2="54222" y2="52889"/>
                        <a14:foregroundMark x1="93333" y1="44000" x2="94667" y2="50667"/>
                        <a14:foregroundMark x1="33778" y1="4889" x2="50667" y2="2667"/>
                        <a14:foregroundMark x1="50667" y1="2667" x2="51556" y2="2667"/>
                      </a14:backgroundRemoval>
                    </a14:imgEffect>
                  </a14:imgLayer>
                </a14:imgProps>
              </a:ext>
              <a:ext uri="{28A0092B-C50C-407E-A947-70E740481C1C}">
                <a14:useLocalDpi xmlns:a14="http://schemas.microsoft.com/office/drawing/2010/main" val="0"/>
              </a:ext>
            </a:extLst>
          </a:blip>
          <a:srcRect/>
          <a:stretch>
            <a:fillRect/>
          </a:stretch>
        </p:blipFill>
        <p:spPr bwMode="auto">
          <a:xfrm>
            <a:off x="6699883" y="766393"/>
            <a:ext cx="426725" cy="426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985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FD888-81ED-560A-CA42-17ABDB91088C}"/>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0AAA3A62-2F6F-6391-1A81-B032ABC379D7}"/>
              </a:ext>
            </a:extLst>
          </p:cNvPr>
          <p:cNvSpPr>
            <a:spLocks noGrp="1"/>
          </p:cNvSpPr>
          <p:nvPr>
            <p:ph type="sldNum" sz="quarter" idx="10"/>
          </p:nvPr>
        </p:nvSpPr>
        <p:spPr/>
        <p:txBody>
          <a:bodyPr/>
          <a:lstStyle/>
          <a:p>
            <a:fld id="{E038E271-308C-2E46-A3EC-56326F9084CC}" type="slidenum">
              <a:rPr lang="nl-BE" smtClean="0"/>
              <a:pPr/>
              <a:t>4</a:t>
            </a:fld>
            <a:endParaRPr lang="nl-BE" dirty="0"/>
          </a:p>
        </p:txBody>
      </p:sp>
      <p:sp>
        <p:nvSpPr>
          <p:cNvPr id="4" name="Tijdelijke aanduiding voor inhoud 3">
            <a:extLst>
              <a:ext uri="{FF2B5EF4-FFF2-40B4-BE49-F238E27FC236}">
                <a16:creationId xmlns:a16="http://schemas.microsoft.com/office/drawing/2014/main" id="{DDB30012-E8E0-CB97-5ED2-88988A50D5B5}"/>
              </a:ext>
            </a:extLst>
          </p:cNvPr>
          <p:cNvSpPr>
            <a:spLocks noGrp="1"/>
          </p:cNvSpPr>
          <p:nvPr>
            <p:ph idx="1"/>
          </p:nvPr>
        </p:nvSpPr>
        <p:spPr>
          <a:xfrm>
            <a:off x="623887" y="574307"/>
            <a:ext cx="10944226" cy="4660279"/>
          </a:xfrm>
        </p:spPr>
        <p:txBody>
          <a:bodyPr vert="horz" wrap="square" lIns="0" tIns="0" rIns="0" bIns="0" rtlCol="0" anchor="t">
            <a:noAutofit/>
          </a:bodyPr>
          <a:lstStyle/>
          <a:p>
            <a:pPr marL="0" indent="0">
              <a:buNone/>
            </a:pPr>
            <a:r>
              <a:rPr lang="nl-BE" dirty="0">
                <a:latin typeface="Calibri"/>
                <a:ea typeface="Verdana"/>
                <a:cs typeface="Calibri"/>
              </a:rPr>
              <a:t>Is er een verschil in interesse voor techniek tussen leerlingen uit een technische en een niet-technische richting? </a:t>
            </a:r>
            <a:r>
              <a:rPr lang="nl-BE" sz="2000" b="0" dirty="0">
                <a:latin typeface="Calibri"/>
                <a:ea typeface="Verdana"/>
                <a:cs typeface="Calibri"/>
              </a:rPr>
              <a:t>(</a:t>
            </a:r>
            <a:r>
              <a:rPr lang="nl-BE" sz="2000" b="0" dirty="0" err="1">
                <a:latin typeface="Calibri"/>
                <a:ea typeface="Verdana"/>
                <a:cs typeface="Calibri"/>
              </a:rPr>
              <a:t>Interest.voor</a:t>
            </a:r>
            <a:r>
              <a:rPr lang="nl-BE" sz="2000" b="0" dirty="0">
                <a:latin typeface="Calibri"/>
                <a:ea typeface="Verdana"/>
                <a:cs typeface="Calibri"/>
              </a:rPr>
              <a:t> &amp; Richting2cat)</a:t>
            </a:r>
          </a:p>
          <a:p>
            <a:pPr marL="274320" indent="-274320"/>
            <a:endParaRPr lang="nl-BE" sz="2000" b="0" dirty="0"/>
          </a:p>
          <a:p>
            <a:pPr marL="740410" lvl="1" indent="-378460"/>
            <a:r>
              <a:rPr lang="nl-BE" dirty="0"/>
              <a:t>Teken het </a:t>
            </a:r>
            <a:r>
              <a:rPr lang="nl-BE" dirty="0" err="1"/>
              <a:t>onderzoeksmodel</a:t>
            </a:r>
            <a:endParaRPr lang="nl-BE" dirty="0"/>
          </a:p>
          <a:p>
            <a:pPr marL="740410" lvl="1" indent="-378460"/>
            <a:endParaRPr lang="nl-BE" dirty="0"/>
          </a:p>
          <a:p>
            <a:pPr marL="740410" lvl="1" indent="-378460"/>
            <a:endParaRPr lang="nl-BE" dirty="0"/>
          </a:p>
          <a:p>
            <a:pPr marL="361950" lvl="1" indent="0">
              <a:buNone/>
            </a:pPr>
            <a:endParaRPr lang="nl-BE" dirty="0"/>
          </a:p>
          <a:p>
            <a:pPr marL="740410" lvl="1" indent="-378460"/>
            <a:r>
              <a:rPr lang="nl-BE" dirty="0"/>
              <a:t>Formuleer de hypotheses</a:t>
            </a:r>
          </a:p>
          <a:p>
            <a:pPr marL="274320" indent="-274320"/>
            <a:endParaRPr lang="nl-BE" dirty="0"/>
          </a:p>
          <a:p>
            <a:pPr marL="274320" indent="-274320"/>
            <a:endParaRPr lang="nl-BE" dirty="0"/>
          </a:p>
        </p:txBody>
      </p:sp>
      <mc:AlternateContent xmlns:mc="http://schemas.openxmlformats.org/markup-compatibility/2006" xmlns:a14="http://schemas.microsoft.com/office/drawing/2010/main">
        <mc:Choice Requires="a14">
          <p:graphicFrame>
            <p:nvGraphicFramePr>
              <p:cNvPr id="5" name="Table 1">
                <a:extLst>
                  <a:ext uri="{FF2B5EF4-FFF2-40B4-BE49-F238E27FC236}">
                    <a16:creationId xmlns:a16="http://schemas.microsoft.com/office/drawing/2014/main" id="{54F1EAFB-D940-7501-A2EE-93529E3AB24B}"/>
                  </a:ext>
                </a:extLst>
              </p:cNvPr>
              <p:cNvGraphicFramePr>
                <a:graphicFrameLocks noGrp="1"/>
              </p:cNvGraphicFramePr>
              <p:nvPr>
                <p:extLst>
                  <p:ext uri="{D42A27DB-BD31-4B8C-83A1-F6EECF244321}">
                    <p14:modId xmlns:p14="http://schemas.microsoft.com/office/powerpoint/2010/main" val="4005173742"/>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r>
                            <a:rPr lang="nl-NL" sz="1800" b="0" dirty="0"/>
                            <a:t>Nulhypothese (</a:t>
                          </a:r>
                          <a14:m>
                            <m:oMath xmlns:m="http://schemas.openxmlformats.org/officeDocument/2006/math">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0</m:t>
                                  </m:r>
                                </m:sub>
                              </m:sSub>
                            </m:oMath>
                          </a14:m>
                          <a:r>
                            <a:rPr lang="nl-NL" sz="1800" b="0" dirty="0"/>
                            <a:t>):</a:t>
                          </a:r>
                        </a:p>
                      </a:txBody>
                      <a:tcPr marL="91439" marR="91439" marT="45727" marB="45727" anchor="ctr"/>
                    </a:tc>
                    <a:tc>
                      <a:txBody>
                        <a:bodyPr/>
                        <a:lstStyle/>
                        <a:p>
                          <a:pPr algn="just"/>
                          <a:endParaRPr lang="nl-NL" sz="1800" b="0" dirty="0"/>
                        </a:p>
                      </a:txBody>
                      <a:tcPr marL="91439" marR="91439" marT="45727" marB="45727" anchor="ctr"/>
                    </a:tc>
                    <a:extLst>
                      <a:ext uri="{0D108BD9-81ED-4DB2-BD59-A6C34878D82A}">
                        <a16:rowId xmlns:a16="http://schemas.microsoft.com/office/drawing/2014/main" val="10000"/>
                      </a:ext>
                    </a:extLst>
                  </a:tr>
                  <a:tr h="1036245">
                    <a:tc>
                      <a:txBody>
                        <a:bodyPr/>
                        <a:lstStyle/>
                        <a:p>
                          <a:r>
                            <a:rPr lang="nl-NL" sz="1800" dirty="0"/>
                            <a:t>Alternatieve hypothese </a:t>
                          </a:r>
                          <a14:m>
                            <m:oMath xmlns:m="http://schemas.openxmlformats.org/officeDocument/2006/math">
                              <m:r>
                                <a:rPr lang="nl-BE" sz="1800" b="0" i="0" smtClean="0">
                                  <a:latin typeface="Cambria Math" panose="02040503050406030204" pitchFamily="18" charset="0"/>
                                </a:rPr>
                                <m:t>(</m:t>
                              </m:r>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1</m:t>
                                  </m:r>
                                </m:sub>
                              </m:sSub>
                            </m:oMath>
                          </a14:m>
                          <a:r>
                            <a:rPr lang="nl-NL" sz="1800" dirty="0"/>
                            <a:t>):</a:t>
                          </a:r>
                        </a:p>
                      </a:txBody>
                      <a:tcPr marL="91439" marR="91439" marT="45727" marB="45727" anchor="ct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endParaRPr lang="nl-NL" sz="1800" dirty="0"/>
                        </a:p>
                      </a:txBody>
                      <a:tcPr marL="91439" marR="91439" marT="45727" marB="45727" anchor="ctr"/>
                    </a:tc>
                    <a:extLst>
                      <a:ext uri="{0D108BD9-81ED-4DB2-BD59-A6C34878D82A}">
                        <a16:rowId xmlns:a16="http://schemas.microsoft.com/office/drawing/2014/main" val="10001"/>
                      </a:ext>
                    </a:extLst>
                  </a:tr>
                </a:tbl>
              </a:graphicData>
            </a:graphic>
          </p:graphicFrame>
        </mc:Choice>
        <mc:Fallback xmlns="">
          <p:graphicFrame>
            <p:nvGraphicFramePr>
              <p:cNvPr id="5" name="Table 1">
                <a:extLst>
                  <a:ext uri="{FF2B5EF4-FFF2-40B4-BE49-F238E27FC236}">
                    <a16:creationId xmlns:a16="http://schemas.microsoft.com/office/drawing/2014/main" id="{54F1EAFB-D940-7501-A2EE-93529E3AB24B}"/>
                  </a:ext>
                </a:extLst>
              </p:cNvPr>
              <p:cNvGraphicFramePr>
                <a:graphicFrameLocks noGrp="1"/>
              </p:cNvGraphicFramePr>
              <p:nvPr>
                <p:extLst>
                  <p:ext uri="{D42A27DB-BD31-4B8C-83A1-F6EECF244321}">
                    <p14:modId xmlns:p14="http://schemas.microsoft.com/office/powerpoint/2010/main" val="4005173742"/>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endParaRPr lang="nl-BE"/>
                        </a:p>
                      </a:txBody>
                      <a:tcPr marL="91439" marR="91439" marT="45727" marB="45727" anchor="ctr">
                        <a:blipFill>
                          <a:blip r:embed="rId3"/>
                          <a:stretch>
                            <a:fillRect l="-210" t="-578" r="-185535" b="-100000"/>
                          </a:stretch>
                        </a:blipFill>
                      </a:tcPr>
                    </a:tc>
                    <a:tc>
                      <a:txBody>
                        <a:bodyPr/>
                        <a:lstStyle/>
                        <a:p>
                          <a:pPr algn="just"/>
                          <a:endParaRPr lang="nl-NL" sz="1800" b="0" dirty="0"/>
                        </a:p>
                      </a:txBody>
                      <a:tcPr marL="91439" marR="91439" marT="45727" marB="45727" anchor="ctr"/>
                    </a:tc>
                    <a:extLst>
                      <a:ext uri="{0D108BD9-81ED-4DB2-BD59-A6C34878D82A}">
                        <a16:rowId xmlns:a16="http://schemas.microsoft.com/office/drawing/2014/main" val="10000"/>
                      </a:ext>
                    </a:extLst>
                  </a:tr>
                  <a:tr h="1036245">
                    <a:tc>
                      <a:txBody>
                        <a:bodyPr/>
                        <a:lstStyle/>
                        <a:p>
                          <a:endParaRPr lang="nl-BE"/>
                        </a:p>
                      </a:txBody>
                      <a:tcPr marL="91439" marR="91439" marT="45727" marB="45727" anchor="ctr">
                        <a:blipFill>
                          <a:blip r:embed="rId3"/>
                          <a:stretch>
                            <a:fillRect l="-210" t="-101754" r="-185535" b="-1170"/>
                          </a:stretch>
                        </a:blipFill>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endParaRPr lang="nl-NL" sz="1800" dirty="0"/>
                        </a:p>
                      </a:txBody>
                      <a:tcPr marL="91439" marR="91439" marT="45727" marB="45727" anchor="ct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36926902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EA10-CF18-C5E8-973B-875D552E011E}"/>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B8C8A716-AD03-EB00-7C41-F6747E67E204}"/>
              </a:ext>
            </a:extLst>
          </p:cNvPr>
          <p:cNvSpPr>
            <a:spLocks noGrp="1"/>
          </p:cNvSpPr>
          <p:nvPr>
            <p:ph type="sldNum" sz="quarter" idx="10"/>
          </p:nvPr>
        </p:nvSpPr>
        <p:spPr/>
        <p:txBody>
          <a:bodyPr/>
          <a:lstStyle/>
          <a:p>
            <a:fld id="{E038E271-308C-2E46-A3EC-56326F9084CC}" type="slidenum">
              <a:rPr lang="nl-BE" smtClean="0"/>
              <a:pPr/>
              <a:t>5</a:t>
            </a:fld>
            <a:endParaRPr lang="nl-BE" dirty="0"/>
          </a:p>
        </p:txBody>
      </p:sp>
      <p:sp>
        <p:nvSpPr>
          <p:cNvPr id="4" name="Tijdelijke aanduiding voor inhoud 3">
            <a:extLst>
              <a:ext uri="{FF2B5EF4-FFF2-40B4-BE49-F238E27FC236}">
                <a16:creationId xmlns:a16="http://schemas.microsoft.com/office/drawing/2014/main" id="{3ACFF010-232E-4056-C59A-F99CEF4B12BA}"/>
              </a:ext>
            </a:extLst>
          </p:cNvPr>
          <p:cNvSpPr>
            <a:spLocks noGrp="1"/>
          </p:cNvSpPr>
          <p:nvPr>
            <p:ph idx="1"/>
          </p:nvPr>
        </p:nvSpPr>
        <p:spPr>
          <a:xfrm>
            <a:off x="623887" y="574307"/>
            <a:ext cx="10944226" cy="4660279"/>
          </a:xfrm>
        </p:spPr>
        <p:txBody>
          <a:bodyPr vert="horz" wrap="square" lIns="0" tIns="0" rIns="0" bIns="0" rtlCol="0" anchor="t">
            <a:noAutofit/>
          </a:bodyPr>
          <a:lstStyle/>
          <a:p>
            <a:pPr marL="0" indent="0">
              <a:buNone/>
            </a:pPr>
            <a:r>
              <a:rPr lang="nl-BE" dirty="0">
                <a:latin typeface="Calibri"/>
                <a:ea typeface="Verdana"/>
                <a:cs typeface="Calibri"/>
              </a:rPr>
              <a:t>Is er een verschil in interesse voor techniek tussen leerlingen uit een technische en een niet-technische richting? </a:t>
            </a:r>
            <a:r>
              <a:rPr lang="nl-BE" sz="2000" b="0" dirty="0">
                <a:latin typeface="Calibri"/>
                <a:ea typeface="Verdana"/>
                <a:cs typeface="Calibri"/>
              </a:rPr>
              <a:t>(</a:t>
            </a:r>
            <a:r>
              <a:rPr lang="nl-BE" sz="2000" b="0" dirty="0" err="1">
                <a:latin typeface="Calibri"/>
                <a:ea typeface="Verdana"/>
                <a:cs typeface="Calibri"/>
              </a:rPr>
              <a:t>Interest.voor</a:t>
            </a:r>
            <a:r>
              <a:rPr lang="nl-BE" sz="2000" b="0" dirty="0">
                <a:latin typeface="Calibri"/>
                <a:ea typeface="Verdana"/>
                <a:cs typeface="Calibri"/>
              </a:rPr>
              <a:t> &amp; Richting2cat)</a:t>
            </a:r>
          </a:p>
          <a:p>
            <a:pPr marL="274320" indent="-274320"/>
            <a:endParaRPr lang="nl-BE" sz="2000" b="0" dirty="0"/>
          </a:p>
          <a:p>
            <a:pPr marL="740410" lvl="1" indent="-378460"/>
            <a:r>
              <a:rPr lang="nl-BE" dirty="0"/>
              <a:t>Teken het </a:t>
            </a:r>
            <a:r>
              <a:rPr lang="nl-BE" dirty="0" err="1"/>
              <a:t>onderzoeksmodel</a:t>
            </a:r>
            <a:endParaRPr lang="nl-BE" dirty="0"/>
          </a:p>
          <a:p>
            <a:pPr marL="740410" lvl="1" indent="-378460"/>
            <a:endParaRPr lang="nl-BE" dirty="0"/>
          </a:p>
          <a:p>
            <a:pPr marL="740410" lvl="1" indent="-378460"/>
            <a:endParaRPr lang="nl-BE" dirty="0"/>
          </a:p>
          <a:p>
            <a:pPr marL="361950" lvl="1" indent="0">
              <a:buNone/>
            </a:pPr>
            <a:endParaRPr lang="nl-BE" dirty="0"/>
          </a:p>
          <a:p>
            <a:pPr marL="740410" lvl="1" indent="-378460"/>
            <a:r>
              <a:rPr lang="nl-BE" dirty="0"/>
              <a:t>Formuleer de hypotheses</a:t>
            </a:r>
          </a:p>
          <a:p>
            <a:pPr marL="274320" indent="-274320"/>
            <a:endParaRPr lang="nl-BE" dirty="0"/>
          </a:p>
          <a:p>
            <a:pPr marL="274320" indent="-274320"/>
            <a:endParaRPr lang="nl-BE" dirty="0"/>
          </a:p>
        </p:txBody>
      </p:sp>
      <mc:AlternateContent xmlns:mc="http://schemas.openxmlformats.org/markup-compatibility/2006" xmlns:a14="http://schemas.microsoft.com/office/drawing/2010/main">
        <mc:Choice Requires="a14">
          <p:graphicFrame>
            <p:nvGraphicFramePr>
              <p:cNvPr id="5" name="Table 1">
                <a:extLst>
                  <a:ext uri="{FF2B5EF4-FFF2-40B4-BE49-F238E27FC236}">
                    <a16:creationId xmlns:a16="http://schemas.microsoft.com/office/drawing/2014/main" id="{5269BC3C-D58B-E525-FCF9-32B25AC4C8D1}"/>
                  </a:ext>
                </a:extLst>
              </p:cNvPr>
              <p:cNvGraphicFramePr>
                <a:graphicFrameLocks noGrp="1"/>
              </p:cNvGraphicFramePr>
              <p:nvPr>
                <p:extLst>
                  <p:ext uri="{D42A27DB-BD31-4B8C-83A1-F6EECF244321}">
                    <p14:modId xmlns:p14="http://schemas.microsoft.com/office/powerpoint/2010/main" val="2073520799"/>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r>
                            <a:rPr lang="nl-NL" sz="1800" b="0" dirty="0"/>
                            <a:t>Nulhypothese (</a:t>
                          </a:r>
                          <a14:m>
                            <m:oMath xmlns:m="http://schemas.openxmlformats.org/officeDocument/2006/math">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0</m:t>
                                  </m:r>
                                </m:sub>
                              </m:sSub>
                            </m:oMath>
                          </a14:m>
                          <a:r>
                            <a:rPr lang="nl-NL" sz="1800" b="0" dirty="0"/>
                            <a:t>):</a:t>
                          </a:r>
                        </a:p>
                      </a:txBody>
                      <a:tcPr marL="91439" marR="91439" marT="45727" marB="45727" anchor="ctr"/>
                    </a:tc>
                    <a:tc>
                      <a:txBody>
                        <a:bodyPr/>
                        <a:lstStyle/>
                        <a:p>
                          <a:pPr algn="just"/>
                          <a:endParaRPr lang="nl-NL" sz="1800" b="0" dirty="0"/>
                        </a:p>
                      </a:txBody>
                      <a:tcPr marL="91439" marR="91439" marT="45727" marB="45727" anchor="ctr"/>
                    </a:tc>
                    <a:extLst>
                      <a:ext uri="{0D108BD9-81ED-4DB2-BD59-A6C34878D82A}">
                        <a16:rowId xmlns:a16="http://schemas.microsoft.com/office/drawing/2014/main" val="10000"/>
                      </a:ext>
                    </a:extLst>
                  </a:tr>
                  <a:tr h="1036245">
                    <a:tc>
                      <a:txBody>
                        <a:bodyPr/>
                        <a:lstStyle/>
                        <a:p>
                          <a:r>
                            <a:rPr lang="nl-NL" sz="1800" dirty="0"/>
                            <a:t>Alternatieve hypothese </a:t>
                          </a:r>
                          <a14:m>
                            <m:oMath xmlns:m="http://schemas.openxmlformats.org/officeDocument/2006/math">
                              <m:r>
                                <a:rPr lang="nl-BE" sz="1800" b="0" i="0" smtClean="0">
                                  <a:latin typeface="Cambria Math" panose="02040503050406030204" pitchFamily="18" charset="0"/>
                                </a:rPr>
                                <m:t>(</m:t>
                              </m:r>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1</m:t>
                                  </m:r>
                                </m:sub>
                              </m:sSub>
                            </m:oMath>
                          </a14:m>
                          <a:r>
                            <a:rPr lang="nl-NL" sz="1800" dirty="0"/>
                            <a:t>):</a:t>
                          </a:r>
                        </a:p>
                      </a:txBody>
                      <a:tcPr marL="91439" marR="91439" marT="45727" marB="45727" anchor="ct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endParaRPr lang="nl-NL" sz="1800" dirty="0"/>
                        </a:p>
                      </a:txBody>
                      <a:tcPr marL="91439" marR="91439" marT="45727" marB="45727" anchor="ctr"/>
                    </a:tc>
                    <a:extLst>
                      <a:ext uri="{0D108BD9-81ED-4DB2-BD59-A6C34878D82A}">
                        <a16:rowId xmlns:a16="http://schemas.microsoft.com/office/drawing/2014/main" val="10001"/>
                      </a:ext>
                    </a:extLst>
                  </a:tr>
                </a:tbl>
              </a:graphicData>
            </a:graphic>
          </p:graphicFrame>
        </mc:Choice>
        <mc:Fallback xmlns="">
          <p:graphicFrame>
            <p:nvGraphicFramePr>
              <p:cNvPr id="5" name="Table 1">
                <a:extLst>
                  <a:ext uri="{FF2B5EF4-FFF2-40B4-BE49-F238E27FC236}">
                    <a16:creationId xmlns:a16="http://schemas.microsoft.com/office/drawing/2014/main" id="{5269BC3C-D58B-E525-FCF9-32B25AC4C8D1}"/>
                  </a:ext>
                </a:extLst>
              </p:cNvPr>
              <p:cNvGraphicFramePr>
                <a:graphicFrameLocks noGrp="1"/>
              </p:cNvGraphicFramePr>
              <p:nvPr>
                <p:extLst>
                  <p:ext uri="{D42A27DB-BD31-4B8C-83A1-F6EECF244321}">
                    <p14:modId xmlns:p14="http://schemas.microsoft.com/office/powerpoint/2010/main" val="2073520799"/>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endParaRPr lang="nl-BE"/>
                        </a:p>
                      </a:txBody>
                      <a:tcPr marL="91439" marR="91439" marT="45727" marB="45727" anchor="ctr">
                        <a:blipFill>
                          <a:blip r:embed="rId3"/>
                          <a:stretch>
                            <a:fillRect l="-210" t="-578" r="-185535" b="-100000"/>
                          </a:stretch>
                        </a:blipFill>
                      </a:tcPr>
                    </a:tc>
                    <a:tc>
                      <a:txBody>
                        <a:bodyPr/>
                        <a:lstStyle/>
                        <a:p>
                          <a:pPr algn="just"/>
                          <a:endParaRPr lang="nl-NL" sz="1800" b="0" dirty="0"/>
                        </a:p>
                      </a:txBody>
                      <a:tcPr marL="91439" marR="91439" marT="45727" marB="45727" anchor="ctr"/>
                    </a:tc>
                    <a:extLst>
                      <a:ext uri="{0D108BD9-81ED-4DB2-BD59-A6C34878D82A}">
                        <a16:rowId xmlns:a16="http://schemas.microsoft.com/office/drawing/2014/main" val="10000"/>
                      </a:ext>
                    </a:extLst>
                  </a:tr>
                  <a:tr h="1036245">
                    <a:tc>
                      <a:txBody>
                        <a:bodyPr/>
                        <a:lstStyle/>
                        <a:p>
                          <a:endParaRPr lang="nl-BE"/>
                        </a:p>
                      </a:txBody>
                      <a:tcPr marL="91439" marR="91439" marT="45727" marB="45727" anchor="ctr">
                        <a:blipFill>
                          <a:blip r:embed="rId3"/>
                          <a:stretch>
                            <a:fillRect l="-210" t="-101754" r="-185535" b="-1170"/>
                          </a:stretch>
                        </a:blipFill>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endParaRPr lang="nl-NL" sz="1800" dirty="0"/>
                        </a:p>
                      </a:txBody>
                      <a:tcPr marL="91439" marR="91439" marT="45727" marB="45727" anchor="ctr"/>
                    </a:tc>
                    <a:extLst>
                      <a:ext uri="{0D108BD9-81ED-4DB2-BD59-A6C34878D82A}">
                        <a16:rowId xmlns:a16="http://schemas.microsoft.com/office/drawing/2014/main" val="10001"/>
                      </a:ext>
                    </a:extLst>
                  </a:tr>
                </a:tbl>
              </a:graphicData>
            </a:graphic>
          </p:graphicFrame>
        </mc:Fallback>
      </mc:AlternateContent>
      <p:graphicFrame>
        <p:nvGraphicFramePr>
          <p:cNvPr id="8" name="Tabel 7">
            <a:extLst>
              <a:ext uri="{FF2B5EF4-FFF2-40B4-BE49-F238E27FC236}">
                <a16:creationId xmlns:a16="http://schemas.microsoft.com/office/drawing/2014/main" id="{29B01850-D26D-E99C-2609-47CFC78A2DA2}"/>
              </a:ext>
            </a:extLst>
          </p:cNvPr>
          <p:cNvGraphicFramePr>
            <a:graphicFrameLocks noGrp="1"/>
          </p:cNvGraphicFramePr>
          <p:nvPr/>
        </p:nvGraphicFramePr>
        <p:xfrm>
          <a:off x="1955415" y="2551852"/>
          <a:ext cx="2677160" cy="792480"/>
        </p:xfrm>
        <a:graphic>
          <a:graphicData uri="http://schemas.openxmlformats.org/drawingml/2006/table">
            <a:tbl>
              <a:tblPr firstRow="1" bandRow="1">
                <a:tableStyleId>{BDBED569-4797-4DF1-A0F4-6AAB3CD982D8}</a:tableStyleId>
              </a:tblPr>
              <a:tblGrid>
                <a:gridCol w="2677160">
                  <a:extLst>
                    <a:ext uri="{9D8B030D-6E8A-4147-A177-3AD203B41FA5}">
                      <a16:colId xmlns:a16="http://schemas.microsoft.com/office/drawing/2014/main" val="2003565156"/>
                    </a:ext>
                  </a:extLst>
                </a:gridCol>
              </a:tblGrid>
              <a:tr h="370840">
                <a:tc>
                  <a:txBody>
                    <a:bodyPr/>
                    <a:lstStyle/>
                    <a:p>
                      <a:pPr algn="ctr"/>
                      <a:r>
                        <a:rPr lang="nl-BE" sz="2000" b="0" dirty="0"/>
                        <a:t>Technische richting</a:t>
                      </a:r>
                    </a:p>
                  </a:txBody>
                  <a:tcPr anchor="ctr"/>
                </a:tc>
                <a:extLst>
                  <a:ext uri="{0D108BD9-81ED-4DB2-BD59-A6C34878D82A}">
                    <a16:rowId xmlns:a16="http://schemas.microsoft.com/office/drawing/2014/main" val="4161324693"/>
                  </a:ext>
                </a:extLst>
              </a:tr>
              <a:tr h="370840">
                <a:tc>
                  <a:txBody>
                    <a:bodyPr/>
                    <a:lstStyle/>
                    <a:p>
                      <a:pPr algn="ctr"/>
                      <a:r>
                        <a:rPr lang="nl-BE" sz="2000" b="0" dirty="0"/>
                        <a:t>Niet-technische richting</a:t>
                      </a:r>
                    </a:p>
                  </a:txBody>
                  <a:tcPr anchor="ctr"/>
                </a:tc>
                <a:extLst>
                  <a:ext uri="{0D108BD9-81ED-4DB2-BD59-A6C34878D82A}">
                    <a16:rowId xmlns:a16="http://schemas.microsoft.com/office/drawing/2014/main" val="1759539274"/>
                  </a:ext>
                </a:extLst>
              </a:tr>
            </a:tbl>
          </a:graphicData>
        </a:graphic>
      </p:graphicFrame>
      <p:graphicFrame>
        <p:nvGraphicFramePr>
          <p:cNvPr id="9" name="Tabel 8">
            <a:extLst>
              <a:ext uri="{FF2B5EF4-FFF2-40B4-BE49-F238E27FC236}">
                <a16:creationId xmlns:a16="http://schemas.microsoft.com/office/drawing/2014/main" id="{D791346A-83A6-6612-6C8F-B6ADD1952D70}"/>
              </a:ext>
            </a:extLst>
          </p:cNvPr>
          <p:cNvGraphicFramePr>
            <a:graphicFrameLocks noGrp="1"/>
          </p:cNvGraphicFramePr>
          <p:nvPr/>
        </p:nvGraphicFramePr>
        <p:xfrm>
          <a:off x="6246333" y="2734858"/>
          <a:ext cx="2677160" cy="439972"/>
        </p:xfrm>
        <a:graphic>
          <a:graphicData uri="http://schemas.openxmlformats.org/drawingml/2006/table">
            <a:tbl>
              <a:tblPr firstRow="1" bandRow="1">
                <a:tableStyleId>{BDBED569-4797-4DF1-A0F4-6AAB3CD982D8}</a:tableStyleId>
              </a:tblPr>
              <a:tblGrid>
                <a:gridCol w="2677160">
                  <a:extLst>
                    <a:ext uri="{9D8B030D-6E8A-4147-A177-3AD203B41FA5}">
                      <a16:colId xmlns:a16="http://schemas.microsoft.com/office/drawing/2014/main" val="1794566576"/>
                    </a:ext>
                  </a:extLst>
                </a:gridCol>
              </a:tblGrid>
              <a:tr h="439972">
                <a:tc>
                  <a:txBody>
                    <a:bodyPr/>
                    <a:lstStyle/>
                    <a:p>
                      <a:pPr algn="ctr"/>
                      <a:r>
                        <a:rPr lang="nl-BE" sz="2000" b="0" dirty="0"/>
                        <a:t>Interesse voor techniek</a:t>
                      </a:r>
                    </a:p>
                  </a:txBody>
                  <a:tcPr anchor="ctr"/>
                </a:tc>
                <a:extLst>
                  <a:ext uri="{0D108BD9-81ED-4DB2-BD59-A6C34878D82A}">
                    <a16:rowId xmlns:a16="http://schemas.microsoft.com/office/drawing/2014/main" val="2089272958"/>
                  </a:ext>
                </a:extLst>
              </a:tr>
            </a:tbl>
          </a:graphicData>
        </a:graphic>
      </p:graphicFrame>
      <p:cxnSp>
        <p:nvCxnSpPr>
          <p:cNvPr id="11" name="Rechte verbindingslijn met pijl 10">
            <a:extLst>
              <a:ext uri="{FF2B5EF4-FFF2-40B4-BE49-F238E27FC236}">
                <a16:creationId xmlns:a16="http://schemas.microsoft.com/office/drawing/2014/main" id="{11071357-5FEA-E2D4-C17B-4A1A88124AEF}"/>
              </a:ext>
            </a:extLst>
          </p:cNvPr>
          <p:cNvCxnSpPr>
            <a:cxnSpLocks/>
            <a:endCxn id="9" idx="1"/>
          </p:cNvCxnSpPr>
          <p:nvPr/>
        </p:nvCxnSpPr>
        <p:spPr>
          <a:xfrm>
            <a:off x="4632575" y="2948092"/>
            <a:ext cx="1613758" cy="6752"/>
          </a:xfrm>
          <a:prstGeom prst="straightConnector1">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6293969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183C8-AF11-77D1-36EB-C6FA5FB10678}"/>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F91506F7-3A32-5C5D-648B-4449F9F89305}"/>
              </a:ext>
            </a:extLst>
          </p:cNvPr>
          <p:cNvSpPr>
            <a:spLocks noGrp="1"/>
          </p:cNvSpPr>
          <p:nvPr>
            <p:ph type="sldNum" sz="quarter" idx="10"/>
          </p:nvPr>
        </p:nvSpPr>
        <p:spPr/>
        <p:txBody>
          <a:bodyPr/>
          <a:lstStyle/>
          <a:p>
            <a:fld id="{E038E271-308C-2E46-A3EC-56326F9084CC}" type="slidenum">
              <a:rPr lang="nl-BE" smtClean="0"/>
              <a:pPr/>
              <a:t>6</a:t>
            </a:fld>
            <a:endParaRPr lang="nl-BE" dirty="0"/>
          </a:p>
        </p:txBody>
      </p:sp>
      <p:sp>
        <p:nvSpPr>
          <p:cNvPr id="4" name="Tijdelijke aanduiding voor inhoud 3">
            <a:extLst>
              <a:ext uri="{FF2B5EF4-FFF2-40B4-BE49-F238E27FC236}">
                <a16:creationId xmlns:a16="http://schemas.microsoft.com/office/drawing/2014/main" id="{BB2E1D0A-3BCC-6CE7-37ED-5EF8C4320BC2}"/>
              </a:ext>
            </a:extLst>
          </p:cNvPr>
          <p:cNvSpPr>
            <a:spLocks noGrp="1"/>
          </p:cNvSpPr>
          <p:nvPr>
            <p:ph idx="1"/>
          </p:nvPr>
        </p:nvSpPr>
        <p:spPr>
          <a:xfrm>
            <a:off x="623887" y="574307"/>
            <a:ext cx="10944226" cy="4660279"/>
          </a:xfrm>
        </p:spPr>
        <p:txBody>
          <a:bodyPr vert="horz" wrap="square" lIns="0" tIns="0" rIns="0" bIns="0" rtlCol="0" anchor="t">
            <a:noAutofit/>
          </a:bodyPr>
          <a:lstStyle/>
          <a:p>
            <a:pPr marL="0" indent="0">
              <a:buNone/>
            </a:pPr>
            <a:r>
              <a:rPr lang="nl-BE" dirty="0">
                <a:latin typeface="Calibri"/>
                <a:ea typeface="Verdana"/>
                <a:cs typeface="Calibri"/>
              </a:rPr>
              <a:t>Is er een verschil in interesse voor techniek tussen leerlingen uit een technische en een niet-technische richting? </a:t>
            </a:r>
            <a:r>
              <a:rPr lang="nl-BE" sz="2000" b="0" dirty="0">
                <a:latin typeface="Calibri"/>
                <a:ea typeface="Verdana"/>
                <a:cs typeface="Calibri"/>
              </a:rPr>
              <a:t>(</a:t>
            </a:r>
            <a:r>
              <a:rPr lang="nl-BE" sz="2000" b="0" dirty="0" err="1">
                <a:latin typeface="Calibri"/>
                <a:ea typeface="Verdana"/>
                <a:cs typeface="Calibri"/>
              </a:rPr>
              <a:t>Interest.voor</a:t>
            </a:r>
            <a:r>
              <a:rPr lang="nl-BE" sz="2000" b="0" dirty="0">
                <a:latin typeface="Calibri"/>
                <a:ea typeface="Verdana"/>
                <a:cs typeface="Calibri"/>
              </a:rPr>
              <a:t> &amp; Richting2cat)</a:t>
            </a:r>
          </a:p>
          <a:p>
            <a:pPr marL="274320" indent="-274320"/>
            <a:endParaRPr lang="nl-BE" sz="2000" b="0" dirty="0"/>
          </a:p>
          <a:p>
            <a:pPr marL="740410" lvl="1" indent="-378460"/>
            <a:r>
              <a:rPr lang="nl-BE" dirty="0"/>
              <a:t>Teken het </a:t>
            </a:r>
            <a:r>
              <a:rPr lang="nl-BE" dirty="0" err="1"/>
              <a:t>onderzoeksmodel</a:t>
            </a:r>
            <a:endParaRPr lang="nl-BE" dirty="0"/>
          </a:p>
          <a:p>
            <a:pPr marL="740410" lvl="1" indent="-378460"/>
            <a:endParaRPr lang="nl-BE" dirty="0"/>
          </a:p>
          <a:p>
            <a:pPr marL="740410" lvl="1" indent="-378460"/>
            <a:endParaRPr lang="nl-BE" dirty="0"/>
          </a:p>
          <a:p>
            <a:pPr marL="361950" lvl="1" indent="0">
              <a:buNone/>
            </a:pPr>
            <a:endParaRPr lang="nl-BE" dirty="0"/>
          </a:p>
          <a:p>
            <a:pPr marL="740410" lvl="1" indent="-378460"/>
            <a:r>
              <a:rPr lang="nl-BE" dirty="0"/>
              <a:t>Formuleer de hypotheses</a:t>
            </a:r>
          </a:p>
          <a:p>
            <a:pPr marL="274320" indent="-274320"/>
            <a:endParaRPr lang="nl-BE" dirty="0"/>
          </a:p>
          <a:p>
            <a:pPr marL="274320" indent="-274320"/>
            <a:endParaRPr lang="nl-BE" dirty="0"/>
          </a:p>
        </p:txBody>
      </p:sp>
      <mc:AlternateContent xmlns:mc="http://schemas.openxmlformats.org/markup-compatibility/2006" xmlns:a14="http://schemas.microsoft.com/office/drawing/2010/main">
        <mc:Choice Requires="a14">
          <p:graphicFrame>
            <p:nvGraphicFramePr>
              <p:cNvPr id="5" name="Table 1">
                <a:extLst>
                  <a:ext uri="{FF2B5EF4-FFF2-40B4-BE49-F238E27FC236}">
                    <a16:creationId xmlns:a16="http://schemas.microsoft.com/office/drawing/2014/main" id="{55BC7F20-2287-9B9F-1F2A-55FDA77A6C7D}"/>
                  </a:ext>
                </a:extLst>
              </p:cNvPr>
              <p:cNvGraphicFramePr>
                <a:graphicFrameLocks noGrp="1"/>
              </p:cNvGraphicFramePr>
              <p:nvPr>
                <p:extLst>
                  <p:ext uri="{D42A27DB-BD31-4B8C-83A1-F6EECF244321}">
                    <p14:modId xmlns:p14="http://schemas.microsoft.com/office/powerpoint/2010/main" val="2015293337"/>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r>
                            <a:rPr lang="nl-NL" sz="1800" b="0" dirty="0"/>
                            <a:t>Nulhypothese (</a:t>
                          </a:r>
                          <a14:m>
                            <m:oMath xmlns:m="http://schemas.openxmlformats.org/officeDocument/2006/math">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0</m:t>
                                  </m:r>
                                </m:sub>
                              </m:sSub>
                            </m:oMath>
                          </a14:m>
                          <a:r>
                            <a:rPr lang="nl-NL" sz="1800" b="0" dirty="0"/>
                            <a:t>):</a:t>
                          </a:r>
                        </a:p>
                      </a:txBody>
                      <a:tcPr marL="91439" marR="91439" marT="45727" marB="45727" anchor="ctr"/>
                    </a:tc>
                    <a:tc>
                      <a:txBody>
                        <a:bodyPr/>
                        <a:lstStyle/>
                        <a:p>
                          <a:pPr algn="just"/>
                          <a:r>
                            <a:rPr lang="nl-NL" sz="1800" b="0" dirty="0"/>
                            <a:t>Er is </a:t>
                          </a:r>
                          <a:r>
                            <a:rPr lang="nl-NL" sz="1800" b="1" i="1" dirty="0">
                              <a:solidFill>
                                <a:schemeClr val="accent5"/>
                              </a:solidFill>
                            </a:rPr>
                            <a:t>in de populatie </a:t>
                          </a:r>
                          <a:r>
                            <a:rPr lang="nl-NL" sz="1800" b="0" u="sng" dirty="0"/>
                            <a:t>geen verschil in interesse voor techniek tussen</a:t>
                          </a:r>
                          <a:r>
                            <a:rPr lang="nl-NL" sz="1800" b="0" dirty="0"/>
                            <a:t> leerlingen uit een technische en een niet-technische richting.</a:t>
                          </a:r>
                        </a:p>
                      </a:txBody>
                      <a:tcPr marL="91439" marR="91439" marT="45727" marB="45727" anchor="ctr"/>
                    </a:tc>
                    <a:extLst>
                      <a:ext uri="{0D108BD9-81ED-4DB2-BD59-A6C34878D82A}">
                        <a16:rowId xmlns:a16="http://schemas.microsoft.com/office/drawing/2014/main" val="10000"/>
                      </a:ext>
                    </a:extLst>
                  </a:tr>
                  <a:tr h="1036245">
                    <a:tc>
                      <a:txBody>
                        <a:bodyPr/>
                        <a:lstStyle/>
                        <a:p>
                          <a:r>
                            <a:rPr lang="nl-NL" sz="1800" dirty="0"/>
                            <a:t>Alternatieve hypothese </a:t>
                          </a:r>
                          <a14:m>
                            <m:oMath xmlns:m="http://schemas.openxmlformats.org/officeDocument/2006/math">
                              <m:r>
                                <a:rPr lang="nl-BE" sz="1800" b="0" i="0" smtClean="0">
                                  <a:latin typeface="Cambria Math" panose="02040503050406030204" pitchFamily="18" charset="0"/>
                                </a:rPr>
                                <m:t>(</m:t>
                              </m:r>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1</m:t>
                                  </m:r>
                                </m:sub>
                              </m:sSub>
                            </m:oMath>
                          </a14:m>
                          <a:r>
                            <a:rPr lang="nl-NL" sz="1800" dirty="0"/>
                            <a:t>):</a:t>
                          </a:r>
                        </a:p>
                      </a:txBody>
                      <a:tcPr marL="91439" marR="91439" marT="45727" marB="45727" anchor="ct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endParaRPr lang="nl-NL" sz="1800" dirty="0"/>
                        </a:p>
                      </a:txBody>
                      <a:tcPr marL="91439" marR="91439" marT="45727" marB="45727" anchor="ctr"/>
                    </a:tc>
                    <a:extLst>
                      <a:ext uri="{0D108BD9-81ED-4DB2-BD59-A6C34878D82A}">
                        <a16:rowId xmlns:a16="http://schemas.microsoft.com/office/drawing/2014/main" val="10001"/>
                      </a:ext>
                    </a:extLst>
                  </a:tr>
                </a:tbl>
              </a:graphicData>
            </a:graphic>
          </p:graphicFrame>
        </mc:Choice>
        <mc:Fallback xmlns="">
          <p:graphicFrame>
            <p:nvGraphicFramePr>
              <p:cNvPr id="5" name="Table 1">
                <a:extLst>
                  <a:ext uri="{FF2B5EF4-FFF2-40B4-BE49-F238E27FC236}">
                    <a16:creationId xmlns:a16="http://schemas.microsoft.com/office/drawing/2014/main" id="{55BC7F20-2287-9B9F-1F2A-55FDA77A6C7D}"/>
                  </a:ext>
                </a:extLst>
              </p:cNvPr>
              <p:cNvGraphicFramePr>
                <a:graphicFrameLocks noGrp="1"/>
              </p:cNvGraphicFramePr>
              <p:nvPr>
                <p:extLst>
                  <p:ext uri="{D42A27DB-BD31-4B8C-83A1-F6EECF244321}">
                    <p14:modId xmlns:p14="http://schemas.microsoft.com/office/powerpoint/2010/main" val="2015293337"/>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endParaRPr lang="nl-BE"/>
                        </a:p>
                      </a:txBody>
                      <a:tcPr marL="91439" marR="91439" marT="45727" marB="45727" anchor="ctr">
                        <a:blipFill>
                          <a:blip r:embed="rId3"/>
                          <a:stretch>
                            <a:fillRect l="-210" t="-578" r="-185535" b="-100000"/>
                          </a:stretch>
                        </a:blipFill>
                      </a:tcPr>
                    </a:tc>
                    <a:tc>
                      <a:txBody>
                        <a:bodyPr/>
                        <a:lstStyle/>
                        <a:p>
                          <a:pPr algn="just"/>
                          <a:r>
                            <a:rPr lang="nl-NL" sz="1800" b="0" dirty="0"/>
                            <a:t>Er is </a:t>
                          </a:r>
                          <a:r>
                            <a:rPr lang="nl-NL" sz="1800" b="1" i="1" dirty="0">
                              <a:solidFill>
                                <a:schemeClr val="accent5"/>
                              </a:solidFill>
                            </a:rPr>
                            <a:t>in de populatie </a:t>
                          </a:r>
                          <a:r>
                            <a:rPr lang="nl-NL" sz="1800" b="0" u="sng" dirty="0"/>
                            <a:t>geen verschil in interesse voor techniek tussen</a:t>
                          </a:r>
                          <a:r>
                            <a:rPr lang="nl-NL" sz="1800" b="0" dirty="0"/>
                            <a:t> leerlingen uit een technische en een niet-technische richting.</a:t>
                          </a:r>
                        </a:p>
                      </a:txBody>
                      <a:tcPr marL="91439" marR="91439" marT="45727" marB="45727" anchor="ctr"/>
                    </a:tc>
                    <a:extLst>
                      <a:ext uri="{0D108BD9-81ED-4DB2-BD59-A6C34878D82A}">
                        <a16:rowId xmlns:a16="http://schemas.microsoft.com/office/drawing/2014/main" val="10000"/>
                      </a:ext>
                    </a:extLst>
                  </a:tr>
                  <a:tr h="1036245">
                    <a:tc>
                      <a:txBody>
                        <a:bodyPr/>
                        <a:lstStyle/>
                        <a:p>
                          <a:endParaRPr lang="nl-BE"/>
                        </a:p>
                      </a:txBody>
                      <a:tcPr marL="91439" marR="91439" marT="45727" marB="45727" anchor="ctr">
                        <a:blipFill>
                          <a:blip r:embed="rId3"/>
                          <a:stretch>
                            <a:fillRect l="-210" t="-101754" r="-185535" b="-1170"/>
                          </a:stretch>
                        </a:blipFill>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endParaRPr lang="nl-NL" sz="1800" dirty="0"/>
                        </a:p>
                      </a:txBody>
                      <a:tcPr marL="91439" marR="91439" marT="45727" marB="45727" anchor="ctr"/>
                    </a:tc>
                    <a:extLst>
                      <a:ext uri="{0D108BD9-81ED-4DB2-BD59-A6C34878D82A}">
                        <a16:rowId xmlns:a16="http://schemas.microsoft.com/office/drawing/2014/main" val="10001"/>
                      </a:ext>
                    </a:extLst>
                  </a:tr>
                </a:tbl>
              </a:graphicData>
            </a:graphic>
          </p:graphicFrame>
        </mc:Fallback>
      </mc:AlternateContent>
      <p:graphicFrame>
        <p:nvGraphicFramePr>
          <p:cNvPr id="8" name="Tabel 7">
            <a:extLst>
              <a:ext uri="{FF2B5EF4-FFF2-40B4-BE49-F238E27FC236}">
                <a16:creationId xmlns:a16="http://schemas.microsoft.com/office/drawing/2014/main" id="{F45A1C8F-2C87-333C-64B6-8A70ACAE2EB9}"/>
              </a:ext>
            </a:extLst>
          </p:cNvPr>
          <p:cNvGraphicFramePr>
            <a:graphicFrameLocks noGrp="1"/>
          </p:cNvGraphicFramePr>
          <p:nvPr/>
        </p:nvGraphicFramePr>
        <p:xfrm>
          <a:off x="1955415" y="2551852"/>
          <a:ext cx="2677160" cy="792480"/>
        </p:xfrm>
        <a:graphic>
          <a:graphicData uri="http://schemas.openxmlformats.org/drawingml/2006/table">
            <a:tbl>
              <a:tblPr firstRow="1" bandRow="1">
                <a:tableStyleId>{BDBED569-4797-4DF1-A0F4-6AAB3CD982D8}</a:tableStyleId>
              </a:tblPr>
              <a:tblGrid>
                <a:gridCol w="2677160">
                  <a:extLst>
                    <a:ext uri="{9D8B030D-6E8A-4147-A177-3AD203B41FA5}">
                      <a16:colId xmlns:a16="http://schemas.microsoft.com/office/drawing/2014/main" val="2003565156"/>
                    </a:ext>
                  </a:extLst>
                </a:gridCol>
              </a:tblGrid>
              <a:tr h="370840">
                <a:tc>
                  <a:txBody>
                    <a:bodyPr/>
                    <a:lstStyle/>
                    <a:p>
                      <a:pPr algn="ctr"/>
                      <a:r>
                        <a:rPr lang="nl-BE" sz="2000" b="0" dirty="0"/>
                        <a:t>Technische richting</a:t>
                      </a:r>
                    </a:p>
                  </a:txBody>
                  <a:tcPr anchor="ctr"/>
                </a:tc>
                <a:extLst>
                  <a:ext uri="{0D108BD9-81ED-4DB2-BD59-A6C34878D82A}">
                    <a16:rowId xmlns:a16="http://schemas.microsoft.com/office/drawing/2014/main" val="4161324693"/>
                  </a:ext>
                </a:extLst>
              </a:tr>
              <a:tr h="370840">
                <a:tc>
                  <a:txBody>
                    <a:bodyPr/>
                    <a:lstStyle/>
                    <a:p>
                      <a:pPr algn="ctr"/>
                      <a:r>
                        <a:rPr lang="nl-BE" sz="2000" b="0" dirty="0"/>
                        <a:t>Niet-technische richting</a:t>
                      </a:r>
                    </a:p>
                  </a:txBody>
                  <a:tcPr anchor="ctr"/>
                </a:tc>
                <a:extLst>
                  <a:ext uri="{0D108BD9-81ED-4DB2-BD59-A6C34878D82A}">
                    <a16:rowId xmlns:a16="http://schemas.microsoft.com/office/drawing/2014/main" val="1759539274"/>
                  </a:ext>
                </a:extLst>
              </a:tr>
            </a:tbl>
          </a:graphicData>
        </a:graphic>
      </p:graphicFrame>
      <p:graphicFrame>
        <p:nvGraphicFramePr>
          <p:cNvPr id="9" name="Tabel 8">
            <a:extLst>
              <a:ext uri="{FF2B5EF4-FFF2-40B4-BE49-F238E27FC236}">
                <a16:creationId xmlns:a16="http://schemas.microsoft.com/office/drawing/2014/main" id="{530444ED-3356-AC58-1C1C-EAC1C070017B}"/>
              </a:ext>
            </a:extLst>
          </p:cNvPr>
          <p:cNvGraphicFramePr>
            <a:graphicFrameLocks noGrp="1"/>
          </p:cNvGraphicFramePr>
          <p:nvPr/>
        </p:nvGraphicFramePr>
        <p:xfrm>
          <a:off x="6246333" y="2734858"/>
          <a:ext cx="2677160" cy="439972"/>
        </p:xfrm>
        <a:graphic>
          <a:graphicData uri="http://schemas.openxmlformats.org/drawingml/2006/table">
            <a:tbl>
              <a:tblPr firstRow="1" bandRow="1">
                <a:tableStyleId>{BDBED569-4797-4DF1-A0F4-6AAB3CD982D8}</a:tableStyleId>
              </a:tblPr>
              <a:tblGrid>
                <a:gridCol w="2677160">
                  <a:extLst>
                    <a:ext uri="{9D8B030D-6E8A-4147-A177-3AD203B41FA5}">
                      <a16:colId xmlns:a16="http://schemas.microsoft.com/office/drawing/2014/main" val="1794566576"/>
                    </a:ext>
                  </a:extLst>
                </a:gridCol>
              </a:tblGrid>
              <a:tr h="439972">
                <a:tc>
                  <a:txBody>
                    <a:bodyPr/>
                    <a:lstStyle/>
                    <a:p>
                      <a:pPr algn="ctr"/>
                      <a:r>
                        <a:rPr lang="nl-BE" sz="2000" b="0" dirty="0"/>
                        <a:t>Interesse voor techniek</a:t>
                      </a:r>
                    </a:p>
                  </a:txBody>
                  <a:tcPr anchor="ctr"/>
                </a:tc>
                <a:extLst>
                  <a:ext uri="{0D108BD9-81ED-4DB2-BD59-A6C34878D82A}">
                    <a16:rowId xmlns:a16="http://schemas.microsoft.com/office/drawing/2014/main" val="2089272958"/>
                  </a:ext>
                </a:extLst>
              </a:tr>
            </a:tbl>
          </a:graphicData>
        </a:graphic>
      </p:graphicFrame>
      <p:cxnSp>
        <p:nvCxnSpPr>
          <p:cNvPr id="11" name="Rechte verbindingslijn met pijl 10">
            <a:extLst>
              <a:ext uri="{FF2B5EF4-FFF2-40B4-BE49-F238E27FC236}">
                <a16:creationId xmlns:a16="http://schemas.microsoft.com/office/drawing/2014/main" id="{C9CEE1FB-251B-A654-0CEE-4190FFA2AB08}"/>
              </a:ext>
            </a:extLst>
          </p:cNvPr>
          <p:cNvCxnSpPr>
            <a:cxnSpLocks/>
            <a:endCxn id="9" idx="1"/>
          </p:cNvCxnSpPr>
          <p:nvPr/>
        </p:nvCxnSpPr>
        <p:spPr>
          <a:xfrm>
            <a:off x="4632575" y="2948092"/>
            <a:ext cx="1613758" cy="6752"/>
          </a:xfrm>
          <a:prstGeom prst="straightConnector1">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680522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3FA2-059A-5E20-3A7A-59938AA51B32}"/>
            </a:ext>
          </a:extLst>
        </p:cNvPr>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D200A896-779D-A352-3204-162FF9A602A5}"/>
              </a:ext>
            </a:extLst>
          </p:cNvPr>
          <p:cNvSpPr>
            <a:spLocks noGrp="1"/>
          </p:cNvSpPr>
          <p:nvPr>
            <p:ph type="sldNum" sz="quarter" idx="10"/>
          </p:nvPr>
        </p:nvSpPr>
        <p:spPr/>
        <p:txBody>
          <a:bodyPr/>
          <a:lstStyle/>
          <a:p>
            <a:fld id="{E038E271-308C-2E46-A3EC-56326F9084CC}" type="slidenum">
              <a:rPr lang="nl-BE" smtClean="0"/>
              <a:pPr/>
              <a:t>7</a:t>
            </a:fld>
            <a:endParaRPr lang="nl-BE" dirty="0"/>
          </a:p>
        </p:txBody>
      </p:sp>
      <p:sp>
        <p:nvSpPr>
          <p:cNvPr id="4" name="Tijdelijke aanduiding voor inhoud 3">
            <a:extLst>
              <a:ext uri="{FF2B5EF4-FFF2-40B4-BE49-F238E27FC236}">
                <a16:creationId xmlns:a16="http://schemas.microsoft.com/office/drawing/2014/main" id="{184D7C5B-7B79-B785-8CAA-4954EB0194A7}"/>
              </a:ext>
            </a:extLst>
          </p:cNvPr>
          <p:cNvSpPr>
            <a:spLocks noGrp="1"/>
          </p:cNvSpPr>
          <p:nvPr>
            <p:ph idx="1"/>
          </p:nvPr>
        </p:nvSpPr>
        <p:spPr>
          <a:xfrm>
            <a:off x="623887" y="574307"/>
            <a:ext cx="10944226" cy="4660279"/>
          </a:xfrm>
        </p:spPr>
        <p:txBody>
          <a:bodyPr vert="horz" wrap="square" lIns="0" tIns="0" rIns="0" bIns="0" rtlCol="0" anchor="t">
            <a:noAutofit/>
          </a:bodyPr>
          <a:lstStyle/>
          <a:p>
            <a:pPr marL="0" indent="0">
              <a:buNone/>
            </a:pPr>
            <a:r>
              <a:rPr lang="nl-BE" dirty="0">
                <a:latin typeface="Calibri"/>
                <a:ea typeface="Verdana"/>
                <a:cs typeface="Calibri"/>
              </a:rPr>
              <a:t>Is er een verschil in interesse voor techniek tussen leerlingen uit een technische en een niet-technische richting? </a:t>
            </a:r>
            <a:r>
              <a:rPr lang="nl-BE" sz="2000" b="0" dirty="0">
                <a:latin typeface="Calibri"/>
                <a:ea typeface="Verdana"/>
                <a:cs typeface="Calibri"/>
              </a:rPr>
              <a:t>(</a:t>
            </a:r>
            <a:r>
              <a:rPr lang="nl-BE" sz="2000" b="0" dirty="0" err="1">
                <a:latin typeface="Calibri"/>
                <a:ea typeface="Verdana"/>
                <a:cs typeface="Calibri"/>
              </a:rPr>
              <a:t>Interest.voor</a:t>
            </a:r>
            <a:r>
              <a:rPr lang="nl-BE" sz="2000" b="0" dirty="0">
                <a:latin typeface="Calibri"/>
                <a:ea typeface="Verdana"/>
                <a:cs typeface="Calibri"/>
              </a:rPr>
              <a:t> &amp; Richting2cat)</a:t>
            </a:r>
          </a:p>
          <a:p>
            <a:pPr marL="274320" indent="-274320"/>
            <a:endParaRPr lang="nl-BE" sz="2000" b="0" dirty="0"/>
          </a:p>
          <a:p>
            <a:pPr marL="740410" lvl="1" indent="-378460"/>
            <a:r>
              <a:rPr lang="nl-BE" dirty="0"/>
              <a:t>Teken het </a:t>
            </a:r>
            <a:r>
              <a:rPr lang="nl-BE" dirty="0" err="1"/>
              <a:t>onderzoeksmodel</a:t>
            </a:r>
            <a:endParaRPr lang="nl-BE" dirty="0"/>
          </a:p>
          <a:p>
            <a:pPr marL="740410" lvl="1" indent="-378460"/>
            <a:endParaRPr lang="nl-BE" dirty="0"/>
          </a:p>
          <a:p>
            <a:pPr marL="740410" lvl="1" indent="-378460"/>
            <a:endParaRPr lang="nl-BE" dirty="0"/>
          </a:p>
          <a:p>
            <a:pPr marL="361950" lvl="1" indent="0">
              <a:buNone/>
            </a:pPr>
            <a:endParaRPr lang="nl-BE" dirty="0"/>
          </a:p>
          <a:p>
            <a:pPr marL="740410" lvl="1" indent="-378460"/>
            <a:r>
              <a:rPr lang="nl-BE" dirty="0"/>
              <a:t>Formuleer de hypotheses</a:t>
            </a:r>
          </a:p>
          <a:p>
            <a:pPr marL="274320" indent="-274320"/>
            <a:endParaRPr lang="nl-BE" dirty="0"/>
          </a:p>
          <a:p>
            <a:pPr marL="274320" indent="-274320"/>
            <a:endParaRPr lang="nl-BE" dirty="0"/>
          </a:p>
        </p:txBody>
      </p:sp>
      <mc:AlternateContent xmlns:mc="http://schemas.openxmlformats.org/markup-compatibility/2006" xmlns:a14="http://schemas.microsoft.com/office/drawing/2010/main">
        <mc:Choice Requires="a14">
          <p:graphicFrame>
            <p:nvGraphicFramePr>
              <p:cNvPr id="5" name="Table 1">
                <a:extLst>
                  <a:ext uri="{FF2B5EF4-FFF2-40B4-BE49-F238E27FC236}">
                    <a16:creationId xmlns:a16="http://schemas.microsoft.com/office/drawing/2014/main" id="{97784703-520A-926F-4F27-99C35FA4B87E}"/>
                  </a:ext>
                </a:extLst>
              </p:cNvPr>
              <p:cNvGraphicFramePr>
                <a:graphicFrameLocks noGrp="1"/>
              </p:cNvGraphicFramePr>
              <p:nvPr>
                <p:extLst>
                  <p:ext uri="{D42A27DB-BD31-4B8C-83A1-F6EECF244321}">
                    <p14:modId xmlns:p14="http://schemas.microsoft.com/office/powerpoint/2010/main" val="770875286"/>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r>
                            <a:rPr lang="nl-NL" sz="1800" b="0" dirty="0"/>
                            <a:t>Nulhypothese (</a:t>
                          </a:r>
                          <a14:m>
                            <m:oMath xmlns:m="http://schemas.openxmlformats.org/officeDocument/2006/math">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0</m:t>
                                  </m:r>
                                </m:sub>
                              </m:sSub>
                            </m:oMath>
                          </a14:m>
                          <a:r>
                            <a:rPr lang="nl-NL" sz="1800" b="0" dirty="0"/>
                            <a:t>):</a:t>
                          </a:r>
                        </a:p>
                      </a:txBody>
                      <a:tcPr marL="91439" marR="91439" marT="45727" marB="45727" anchor="ctr"/>
                    </a:tc>
                    <a:tc>
                      <a:txBody>
                        <a:bodyPr/>
                        <a:lstStyle/>
                        <a:p>
                          <a:pPr algn="just"/>
                          <a:r>
                            <a:rPr lang="nl-NL" sz="1800" b="0" dirty="0"/>
                            <a:t>Er is </a:t>
                          </a:r>
                          <a:r>
                            <a:rPr lang="nl-NL" sz="1800" b="1" i="1" dirty="0">
                              <a:solidFill>
                                <a:schemeClr val="accent5"/>
                              </a:solidFill>
                            </a:rPr>
                            <a:t>in de populatie </a:t>
                          </a:r>
                          <a:r>
                            <a:rPr lang="nl-NL" sz="1800" b="0" u="sng" dirty="0"/>
                            <a:t>geen verschil in interesse voor techniek tussen</a:t>
                          </a:r>
                          <a:r>
                            <a:rPr lang="nl-NL" sz="1800" b="0" dirty="0"/>
                            <a:t> leerlingen uit een technische en een niet-technische richting.</a:t>
                          </a:r>
                        </a:p>
                      </a:txBody>
                      <a:tcPr marL="91439" marR="91439" marT="45727" marB="45727" anchor="ctr"/>
                    </a:tc>
                    <a:extLst>
                      <a:ext uri="{0D108BD9-81ED-4DB2-BD59-A6C34878D82A}">
                        <a16:rowId xmlns:a16="http://schemas.microsoft.com/office/drawing/2014/main" val="10000"/>
                      </a:ext>
                    </a:extLst>
                  </a:tr>
                  <a:tr h="1036245">
                    <a:tc>
                      <a:txBody>
                        <a:bodyPr/>
                        <a:lstStyle/>
                        <a:p>
                          <a:r>
                            <a:rPr lang="nl-NL" sz="1800" dirty="0"/>
                            <a:t>Alternatieve hypothese </a:t>
                          </a:r>
                          <a14:m>
                            <m:oMath xmlns:m="http://schemas.openxmlformats.org/officeDocument/2006/math">
                              <m:r>
                                <a:rPr lang="nl-BE" sz="1800" b="0" i="0" smtClean="0">
                                  <a:latin typeface="Cambria Math" panose="02040503050406030204" pitchFamily="18" charset="0"/>
                                </a:rPr>
                                <m:t>(</m:t>
                              </m:r>
                              <m:sSub>
                                <m:sSubPr>
                                  <m:ctrlPr>
                                    <a:rPr lang="nl-NL" sz="1800" b="0" i="1" smtClean="0">
                                      <a:latin typeface="Cambria Math" panose="02040503050406030204" pitchFamily="18" charset="0"/>
                                    </a:rPr>
                                  </m:ctrlPr>
                                </m:sSubPr>
                                <m:e>
                                  <m:r>
                                    <m:rPr>
                                      <m:sty m:val="p"/>
                                    </m:rPr>
                                    <a:rPr lang="nl-BE" sz="1800" b="0" i="0" smtClean="0">
                                      <a:latin typeface="Cambria Math" panose="02040503050406030204" pitchFamily="18" charset="0"/>
                                    </a:rPr>
                                    <m:t>H</m:t>
                                  </m:r>
                                </m:e>
                                <m:sub>
                                  <m:r>
                                    <a:rPr lang="nl-BE" sz="1800" b="0" i="0" smtClean="0">
                                      <a:latin typeface="Cambria Math" panose="02040503050406030204" pitchFamily="18" charset="0"/>
                                    </a:rPr>
                                    <m:t>1</m:t>
                                  </m:r>
                                </m:sub>
                              </m:sSub>
                            </m:oMath>
                          </a14:m>
                          <a:r>
                            <a:rPr lang="nl-NL" sz="1800" dirty="0"/>
                            <a:t>):</a:t>
                          </a:r>
                        </a:p>
                      </a:txBody>
                      <a:tcPr marL="91439" marR="91439" marT="45727" marB="45727" anchor="ct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nl-NL" sz="1800" dirty="0"/>
                            <a:t>Er is </a:t>
                          </a:r>
                          <a:r>
                            <a:rPr lang="nl-NL" sz="1800" b="1" i="1" dirty="0">
                              <a:solidFill>
                                <a:schemeClr val="accent5"/>
                              </a:solidFill>
                            </a:rPr>
                            <a:t>in de populatie </a:t>
                          </a:r>
                          <a:r>
                            <a:rPr lang="nl-NL" sz="1800" u="sng" dirty="0"/>
                            <a:t>wel een verschil in interesse voor techniek</a:t>
                          </a:r>
                          <a:r>
                            <a:rPr lang="nl-NL" sz="1800" dirty="0"/>
                            <a:t> tussen leerlingen uit een technische en een niet-technische richting.</a:t>
                          </a:r>
                        </a:p>
                      </a:txBody>
                      <a:tcPr marL="91439" marR="91439" marT="45727" marB="45727" anchor="ctr"/>
                    </a:tc>
                    <a:extLst>
                      <a:ext uri="{0D108BD9-81ED-4DB2-BD59-A6C34878D82A}">
                        <a16:rowId xmlns:a16="http://schemas.microsoft.com/office/drawing/2014/main" val="10001"/>
                      </a:ext>
                    </a:extLst>
                  </a:tr>
                </a:tbl>
              </a:graphicData>
            </a:graphic>
          </p:graphicFrame>
        </mc:Choice>
        <mc:Fallback xmlns="">
          <p:graphicFrame>
            <p:nvGraphicFramePr>
              <p:cNvPr id="5" name="Table 1">
                <a:extLst>
                  <a:ext uri="{FF2B5EF4-FFF2-40B4-BE49-F238E27FC236}">
                    <a16:creationId xmlns:a16="http://schemas.microsoft.com/office/drawing/2014/main" id="{97784703-520A-926F-4F27-99C35FA4B87E}"/>
                  </a:ext>
                </a:extLst>
              </p:cNvPr>
              <p:cNvGraphicFramePr>
                <a:graphicFrameLocks noGrp="1"/>
              </p:cNvGraphicFramePr>
              <p:nvPr>
                <p:extLst>
                  <p:ext uri="{D42A27DB-BD31-4B8C-83A1-F6EECF244321}">
                    <p14:modId xmlns:p14="http://schemas.microsoft.com/office/powerpoint/2010/main" val="770875286"/>
                  </p:ext>
                </p:extLst>
              </p:nvPr>
            </p:nvGraphicFramePr>
            <p:xfrm>
              <a:off x="1955415" y="4277429"/>
              <a:ext cx="8281169" cy="2088896"/>
            </p:xfrm>
            <a:graphic>
              <a:graphicData uri="http://schemas.openxmlformats.org/drawingml/2006/table">
                <a:tbl>
                  <a:tblPr firstRow="1" bandRow="1">
                    <a:tableStyleId>{22838BEF-8BB2-4498-84A7-C5851F593DF1}</a:tableStyleId>
                  </a:tblPr>
                  <a:tblGrid>
                    <a:gridCol w="2901948">
                      <a:extLst>
                        <a:ext uri="{9D8B030D-6E8A-4147-A177-3AD203B41FA5}">
                          <a16:colId xmlns:a16="http://schemas.microsoft.com/office/drawing/2014/main" val="20000"/>
                        </a:ext>
                      </a:extLst>
                    </a:gridCol>
                    <a:gridCol w="5379221">
                      <a:extLst>
                        <a:ext uri="{9D8B030D-6E8A-4147-A177-3AD203B41FA5}">
                          <a16:colId xmlns:a16="http://schemas.microsoft.com/office/drawing/2014/main" val="20001"/>
                        </a:ext>
                      </a:extLst>
                    </a:gridCol>
                  </a:tblGrid>
                  <a:tr h="1052651">
                    <a:tc>
                      <a:txBody>
                        <a:bodyPr/>
                        <a:lstStyle/>
                        <a:p>
                          <a:endParaRPr lang="nl-BE"/>
                        </a:p>
                      </a:txBody>
                      <a:tcPr marL="91439" marR="91439" marT="45727" marB="45727" anchor="ctr">
                        <a:blipFill>
                          <a:blip r:embed="rId3"/>
                          <a:stretch>
                            <a:fillRect l="-210" t="-578" r="-185535" b="-101734"/>
                          </a:stretch>
                        </a:blipFill>
                      </a:tcPr>
                    </a:tc>
                    <a:tc>
                      <a:txBody>
                        <a:bodyPr/>
                        <a:lstStyle/>
                        <a:p>
                          <a:pPr algn="just"/>
                          <a:r>
                            <a:rPr lang="nl-NL" sz="1800" b="0" dirty="0"/>
                            <a:t>Er is </a:t>
                          </a:r>
                          <a:r>
                            <a:rPr lang="nl-NL" sz="1800" b="1" i="1" dirty="0">
                              <a:solidFill>
                                <a:schemeClr val="accent5"/>
                              </a:solidFill>
                            </a:rPr>
                            <a:t>in de populatie </a:t>
                          </a:r>
                          <a:r>
                            <a:rPr lang="nl-NL" sz="1800" b="0" u="sng" dirty="0"/>
                            <a:t>geen verschil in interesse voor techniek tussen</a:t>
                          </a:r>
                          <a:r>
                            <a:rPr lang="nl-NL" sz="1800" b="0" dirty="0"/>
                            <a:t> leerlingen uit een technische en een niet-technische richting.</a:t>
                          </a:r>
                        </a:p>
                      </a:txBody>
                      <a:tcPr marL="91439" marR="91439" marT="45727" marB="45727" anchor="ctr"/>
                    </a:tc>
                    <a:extLst>
                      <a:ext uri="{0D108BD9-81ED-4DB2-BD59-A6C34878D82A}">
                        <a16:rowId xmlns:a16="http://schemas.microsoft.com/office/drawing/2014/main" val="10000"/>
                      </a:ext>
                    </a:extLst>
                  </a:tr>
                  <a:tr h="1036245">
                    <a:tc>
                      <a:txBody>
                        <a:bodyPr/>
                        <a:lstStyle/>
                        <a:p>
                          <a:endParaRPr lang="nl-BE"/>
                        </a:p>
                      </a:txBody>
                      <a:tcPr marL="91439" marR="91439" marT="45727" marB="45727" anchor="ctr">
                        <a:blipFill>
                          <a:blip r:embed="rId3"/>
                          <a:stretch>
                            <a:fillRect l="-210" t="-101754" r="-185535" b="-2924"/>
                          </a:stretch>
                        </a:blipFill>
                      </a:tcPr>
                    </a:tc>
                    <a:tc>
                      <a:txBody>
                        <a:bodyPr/>
                        <a:lstStyle/>
                        <a:p>
                          <a:pPr marL="0" marR="0" indent="0" algn="just" defTabSz="457200" rtl="0" eaLnBrk="1" fontAlgn="auto" latinLnBrk="0" hangingPunct="1">
                            <a:lnSpc>
                              <a:spcPct val="100000"/>
                            </a:lnSpc>
                            <a:spcBef>
                              <a:spcPts val="0"/>
                            </a:spcBef>
                            <a:spcAft>
                              <a:spcPts val="0"/>
                            </a:spcAft>
                            <a:buClrTx/>
                            <a:buSzTx/>
                            <a:buFontTx/>
                            <a:buNone/>
                            <a:tabLst/>
                            <a:defRPr/>
                          </a:pPr>
                          <a:r>
                            <a:rPr lang="nl-NL" sz="1800" dirty="0"/>
                            <a:t>Er is </a:t>
                          </a:r>
                          <a:r>
                            <a:rPr lang="nl-NL" sz="1800" b="1" i="1" dirty="0">
                              <a:solidFill>
                                <a:schemeClr val="accent5"/>
                              </a:solidFill>
                            </a:rPr>
                            <a:t>in de populatie </a:t>
                          </a:r>
                          <a:r>
                            <a:rPr lang="nl-NL" sz="1800" u="sng" dirty="0"/>
                            <a:t>wel een verschil in interesse voor techniek</a:t>
                          </a:r>
                          <a:r>
                            <a:rPr lang="nl-NL" sz="1800" dirty="0"/>
                            <a:t> tussen leerlingen uit een technische en een niet-technische richting.</a:t>
                          </a:r>
                        </a:p>
                      </a:txBody>
                      <a:tcPr marL="91439" marR="91439" marT="45727" marB="45727" anchor="ctr"/>
                    </a:tc>
                    <a:extLst>
                      <a:ext uri="{0D108BD9-81ED-4DB2-BD59-A6C34878D82A}">
                        <a16:rowId xmlns:a16="http://schemas.microsoft.com/office/drawing/2014/main" val="10001"/>
                      </a:ext>
                    </a:extLst>
                  </a:tr>
                </a:tbl>
              </a:graphicData>
            </a:graphic>
          </p:graphicFrame>
        </mc:Fallback>
      </mc:AlternateContent>
      <p:graphicFrame>
        <p:nvGraphicFramePr>
          <p:cNvPr id="8" name="Tabel 7">
            <a:extLst>
              <a:ext uri="{FF2B5EF4-FFF2-40B4-BE49-F238E27FC236}">
                <a16:creationId xmlns:a16="http://schemas.microsoft.com/office/drawing/2014/main" id="{FAF2C6C5-F266-A0C0-D725-975E9348F9A7}"/>
              </a:ext>
            </a:extLst>
          </p:cNvPr>
          <p:cNvGraphicFramePr>
            <a:graphicFrameLocks noGrp="1"/>
          </p:cNvGraphicFramePr>
          <p:nvPr/>
        </p:nvGraphicFramePr>
        <p:xfrm>
          <a:off x="1955415" y="2551852"/>
          <a:ext cx="2677160" cy="792480"/>
        </p:xfrm>
        <a:graphic>
          <a:graphicData uri="http://schemas.openxmlformats.org/drawingml/2006/table">
            <a:tbl>
              <a:tblPr firstRow="1" bandRow="1">
                <a:tableStyleId>{BDBED569-4797-4DF1-A0F4-6AAB3CD982D8}</a:tableStyleId>
              </a:tblPr>
              <a:tblGrid>
                <a:gridCol w="2677160">
                  <a:extLst>
                    <a:ext uri="{9D8B030D-6E8A-4147-A177-3AD203B41FA5}">
                      <a16:colId xmlns:a16="http://schemas.microsoft.com/office/drawing/2014/main" val="2003565156"/>
                    </a:ext>
                  </a:extLst>
                </a:gridCol>
              </a:tblGrid>
              <a:tr h="370840">
                <a:tc>
                  <a:txBody>
                    <a:bodyPr/>
                    <a:lstStyle/>
                    <a:p>
                      <a:pPr algn="ctr"/>
                      <a:r>
                        <a:rPr lang="nl-BE" sz="2000" b="0" dirty="0"/>
                        <a:t>Technische richting</a:t>
                      </a:r>
                    </a:p>
                  </a:txBody>
                  <a:tcPr anchor="ctr"/>
                </a:tc>
                <a:extLst>
                  <a:ext uri="{0D108BD9-81ED-4DB2-BD59-A6C34878D82A}">
                    <a16:rowId xmlns:a16="http://schemas.microsoft.com/office/drawing/2014/main" val="4161324693"/>
                  </a:ext>
                </a:extLst>
              </a:tr>
              <a:tr h="370840">
                <a:tc>
                  <a:txBody>
                    <a:bodyPr/>
                    <a:lstStyle/>
                    <a:p>
                      <a:pPr algn="ctr"/>
                      <a:r>
                        <a:rPr lang="nl-BE" sz="2000" b="0" dirty="0"/>
                        <a:t>Niet-technische richting</a:t>
                      </a:r>
                    </a:p>
                  </a:txBody>
                  <a:tcPr anchor="ctr"/>
                </a:tc>
                <a:extLst>
                  <a:ext uri="{0D108BD9-81ED-4DB2-BD59-A6C34878D82A}">
                    <a16:rowId xmlns:a16="http://schemas.microsoft.com/office/drawing/2014/main" val="1759539274"/>
                  </a:ext>
                </a:extLst>
              </a:tr>
            </a:tbl>
          </a:graphicData>
        </a:graphic>
      </p:graphicFrame>
      <p:graphicFrame>
        <p:nvGraphicFramePr>
          <p:cNvPr id="9" name="Tabel 8">
            <a:extLst>
              <a:ext uri="{FF2B5EF4-FFF2-40B4-BE49-F238E27FC236}">
                <a16:creationId xmlns:a16="http://schemas.microsoft.com/office/drawing/2014/main" id="{8E5F033F-CD60-AEB0-955A-F803A5D7CD75}"/>
              </a:ext>
            </a:extLst>
          </p:cNvPr>
          <p:cNvGraphicFramePr>
            <a:graphicFrameLocks noGrp="1"/>
          </p:cNvGraphicFramePr>
          <p:nvPr/>
        </p:nvGraphicFramePr>
        <p:xfrm>
          <a:off x="6246333" y="2734858"/>
          <a:ext cx="2677160" cy="439972"/>
        </p:xfrm>
        <a:graphic>
          <a:graphicData uri="http://schemas.openxmlformats.org/drawingml/2006/table">
            <a:tbl>
              <a:tblPr firstRow="1" bandRow="1">
                <a:tableStyleId>{BDBED569-4797-4DF1-A0F4-6AAB3CD982D8}</a:tableStyleId>
              </a:tblPr>
              <a:tblGrid>
                <a:gridCol w="2677160">
                  <a:extLst>
                    <a:ext uri="{9D8B030D-6E8A-4147-A177-3AD203B41FA5}">
                      <a16:colId xmlns:a16="http://schemas.microsoft.com/office/drawing/2014/main" val="1794566576"/>
                    </a:ext>
                  </a:extLst>
                </a:gridCol>
              </a:tblGrid>
              <a:tr h="439972">
                <a:tc>
                  <a:txBody>
                    <a:bodyPr/>
                    <a:lstStyle/>
                    <a:p>
                      <a:pPr algn="ctr"/>
                      <a:r>
                        <a:rPr lang="nl-BE" sz="2000" b="0" dirty="0"/>
                        <a:t>Interesse voor techniek</a:t>
                      </a:r>
                    </a:p>
                  </a:txBody>
                  <a:tcPr anchor="ctr"/>
                </a:tc>
                <a:extLst>
                  <a:ext uri="{0D108BD9-81ED-4DB2-BD59-A6C34878D82A}">
                    <a16:rowId xmlns:a16="http://schemas.microsoft.com/office/drawing/2014/main" val="2089272958"/>
                  </a:ext>
                </a:extLst>
              </a:tr>
            </a:tbl>
          </a:graphicData>
        </a:graphic>
      </p:graphicFrame>
      <p:cxnSp>
        <p:nvCxnSpPr>
          <p:cNvPr id="11" name="Rechte verbindingslijn met pijl 10">
            <a:extLst>
              <a:ext uri="{FF2B5EF4-FFF2-40B4-BE49-F238E27FC236}">
                <a16:creationId xmlns:a16="http://schemas.microsoft.com/office/drawing/2014/main" id="{AF684302-05FA-0009-B55B-EDE770547204}"/>
              </a:ext>
            </a:extLst>
          </p:cNvPr>
          <p:cNvCxnSpPr>
            <a:cxnSpLocks/>
            <a:endCxn id="9" idx="1"/>
          </p:cNvCxnSpPr>
          <p:nvPr/>
        </p:nvCxnSpPr>
        <p:spPr>
          <a:xfrm>
            <a:off x="4632575" y="2948092"/>
            <a:ext cx="1613758" cy="6752"/>
          </a:xfrm>
          <a:prstGeom prst="straightConnector1">
            <a:avLst/>
          </a:prstGeom>
          <a:ln w="3810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1627543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80B0F8-0282-1E43-92CF-161C30299208}"/>
              </a:ext>
            </a:extLst>
          </p:cNvPr>
          <p:cNvSpPr>
            <a:spLocks noGrp="1"/>
          </p:cNvSpPr>
          <p:nvPr>
            <p:ph type="title"/>
          </p:nvPr>
        </p:nvSpPr>
        <p:spPr/>
        <p:txBody>
          <a:bodyPr>
            <a:normAutofit/>
          </a:bodyPr>
          <a:lstStyle/>
          <a:p>
            <a:r>
              <a:rPr lang="nl-BE" dirty="0">
                <a:latin typeface="Calibri"/>
                <a:ea typeface="Verdana"/>
                <a:cs typeface="Calibri"/>
              </a:rPr>
              <a:t>Aanpak t-test?</a:t>
            </a:r>
            <a:endParaRPr lang="nl-NL" dirty="0"/>
          </a:p>
        </p:txBody>
      </p:sp>
      <p:sp>
        <p:nvSpPr>
          <p:cNvPr id="3" name="Tijdelijke aanduiding voor dianummer 2">
            <a:extLst>
              <a:ext uri="{FF2B5EF4-FFF2-40B4-BE49-F238E27FC236}">
                <a16:creationId xmlns:a16="http://schemas.microsoft.com/office/drawing/2014/main" id="{79D1D14F-BB37-5E41-9EE4-B185E3A2DE7C}"/>
              </a:ext>
            </a:extLst>
          </p:cNvPr>
          <p:cNvSpPr>
            <a:spLocks noGrp="1"/>
          </p:cNvSpPr>
          <p:nvPr>
            <p:ph type="sldNum" sz="quarter" idx="10"/>
          </p:nvPr>
        </p:nvSpPr>
        <p:spPr/>
        <p:txBody>
          <a:bodyPr/>
          <a:lstStyle/>
          <a:p>
            <a:fld id="{E038E271-308C-2E46-A3EC-56326F9084CC}" type="slidenum">
              <a:rPr lang="nl-BE" smtClean="0"/>
              <a:pPr/>
              <a:t>8</a:t>
            </a:fld>
            <a:endParaRPr lang="nl-BE" dirty="0"/>
          </a:p>
        </p:txBody>
      </p:sp>
      <p:sp>
        <p:nvSpPr>
          <p:cNvPr id="4" name="Tijdelijke aanduiding voor inhoud 3">
            <a:extLst>
              <a:ext uri="{FF2B5EF4-FFF2-40B4-BE49-F238E27FC236}">
                <a16:creationId xmlns:a16="http://schemas.microsoft.com/office/drawing/2014/main" id="{715FBF83-5414-C34E-B20B-04FBBE455DC2}"/>
              </a:ext>
            </a:extLst>
          </p:cNvPr>
          <p:cNvSpPr>
            <a:spLocks noGrp="1"/>
          </p:cNvSpPr>
          <p:nvPr>
            <p:ph idx="1"/>
          </p:nvPr>
        </p:nvSpPr>
        <p:spPr>
          <a:xfrm>
            <a:off x="623887" y="2439272"/>
            <a:ext cx="10944226" cy="3798016"/>
          </a:xfrm>
        </p:spPr>
        <p:txBody>
          <a:bodyPr/>
          <a:lstStyle/>
          <a:p>
            <a:pPr marL="514350" indent="-514350">
              <a:lnSpc>
                <a:spcPct val="150000"/>
              </a:lnSpc>
              <a:buFont typeface="+mj-lt"/>
              <a:buAutoNum type="arabicPeriod"/>
            </a:pPr>
            <a:r>
              <a:rPr lang="nl-BE" sz="2400" b="0" dirty="0"/>
              <a:t>Gemiddeldes verschillen in steekproef?</a:t>
            </a:r>
          </a:p>
          <a:p>
            <a:pPr marL="514350" indent="-514350">
              <a:lnSpc>
                <a:spcPct val="150000"/>
              </a:lnSpc>
              <a:buFont typeface="+mj-lt"/>
              <a:buAutoNum type="arabicPeriod"/>
            </a:pPr>
            <a:r>
              <a:rPr lang="nl-BE" sz="2400" b="0" dirty="0">
                <a:latin typeface="Calibri"/>
                <a:ea typeface="Verdana"/>
                <a:cs typeface="Calibri"/>
              </a:rPr>
              <a:t>Assumptie </a:t>
            </a:r>
            <a:r>
              <a:rPr lang="nl-BE" sz="2400" b="0" dirty="0" err="1">
                <a:latin typeface="Calibri"/>
                <a:ea typeface="Verdana"/>
                <a:cs typeface="Calibri"/>
              </a:rPr>
              <a:t>binnengroepvariantie</a:t>
            </a:r>
            <a:r>
              <a:rPr lang="nl-BE" sz="2400" b="0" dirty="0">
                <a:latin typeface="Calibri"/>
                <a:ea typeface="Verdana"/>
                <a:cs typeface="Calibri"/>
              </a:rPr>
              <a:t>? Afhankelijke variabele normaal verdeeld?</a:t>
            </a:r>
          </a:p>
          <a:p>
            <a:pPr marL="514350" indent="-514350">
              <a:lnSpc>
                <a:spcPct val="150000"/>
              </a:lnSpc>
              <a:buFont typeface="+mj-lt"/>
              <a:buAutoNum type="arabicPeriod"/>
            </a:pPr>
            <a:r>
              <a:rPr lang="nl-BE" sz="2400" b="0" dirty="0">
                <a:latin typeface="Calibri"/>
                <a:ea typeface="Verdana"/>
                <a:cs typeface="Calibri"/>
              </a:rPr>
              <a:t>Statistische significantie (t-test)</a:t>
            </a:r>
          </a:p>
          <a:p>
            <a:pPr marL="514350" indent="-514350">
              <a:lnSpc>
                <a:spcPct val="150000"/>
              </a:lnSpc>
              <a:buFont typeface="+mj-lt"/>
              <a:buAutoNum type="arabicPeriod"/>
            </a:pPr>
            <a:r>
              <a:rPr lang="nl-BE" sz="2400" b="0" dirty="0">
                <a:latin typeface="Calibri"/>
                <a:ea typeface="Verdana"/>
                <a:cs typeface="Calibri"/>
              </a:rPr>
              <a:t>Effectgrootte? (</a:t>
            </a:r>
            <a:r>
              <a:rPr lang="nl-BE" sz="2400" b="0" dirty="0" err="1">
                <a:latin typeface="Calibri"/>
                <a:ea typeface="Verdana"/>
                <a:cs typeface="Calibri"/>
              </a:rPr>
              <a:t>cohen’s</a:t>
            </a:r>
            <a:r>
              <a:rPr lang="nl-BE" sz="2400" b="0" dirty="0">
                <a:latin typeface="Calibri"/>
                <a:ea typeface="Verdana"/>
                <a:cs typeface="Calibri"/>
              </a:rPr>
              <a:t> </a:t>
            </a:r>
            <a:r>
              <a:rPr lang="nl-BE" sz="2400" b="0" i="1" dirty="0">
                <a:latin typeface="Calibri"/>
                <a:ea typeface="Verdana"/>
                <a:cs typeface="Calibri"/>
              </a:rPr>
              <a:t>d</a:t>
            </a:r>
            <a:r>
              <a:rPr lang="nl-BE" sz="2400" b="0" dirty="0">
                <a:latin typeface="Calibri"/>
                <a:ea typeface="Verdana"/>
                <a:cs typeface="Calibri"/>
              </a:rPr>
              <a:t>)</a:t>
            </a:r>
          </a:p>
          <a:p>
            <a:pPr marL="514350" indent="-514350">
              <a:buFont typeface="+mj-lt"/>
              <a:buAutoNum type="arabicPeriod"/>
            </a:pPr>
            <a:endParaRPr lang="nl-BE" dirty="0">
              <a:solidFill>
                <a:schemeClr val="accent1"/>
              </a:solidFill>
            </a:endParaRPr>
          </a:p>
          <a:p>
            <a:pPr marL="514350" indent="-514350">
              <a:buFont typeface="+mj-lt"/>
              <a:buAutoNum type="arabicPeriod"/>
            </a:pPr>
            <a:endParaRPr lang="nl-BE" dirty="0">
              <a:solidFill>
                <a:schemeClr val="accent1"/>
              </a:solidFill>
            </a:endParaRPr>
          </a:p>
          <a:p>
            <a:pPr marL="514350" indent="-514350">
              <a:buFont typeface="+mj-lt"/>
              <a:buAutoNum type="arabicPeriod"/>
            </a:pPr>
            <a:endParaRPr lang="nl-BE" dirty="0">
              <a:solidFill>
                <a:schemeClr val="accent1"/>
              </a:solidFill>
            </a:endParaRPr>
          </a:p>
          <a:p>
            <a:pPr marL="514350" indent="-514350">
              <a:buFont typeface="+mj-lt"/>
              <a:buAutoNum type="arabicPeriod"/>
            </a:pPr>
            <a:endParaRPr lang="nl-BE" dirty="0">
              <a:solidFill>
                <a:schemeClr val="accent1"/>
              </a:solidFill>
            </a:endParaRPr>
          </a:p>
          <a:p>
            <a:pPr marL="514350" indent="-514350">
              <a:buFont typeface="+mj-lt"/>
              <a:buAutoNum type="arabicPeriod"/>
            </a:pPr>
            <a:endParaRPr lang="nl-BE" dirty="0">
              <a:solidFill>
                <a:schemeClr val="accent1"/>
              </a:solidFill>
            </a:endParaRPr>
          </a:p>
          <a:p>
            <a:pPr marL="514350" indent="-514350">
              <a:buFont typeface="+mj-lt"/>
              <a:buAutoNum type="arabicPeriod"/>
            </a:pPr>
            <a:endParaRPr lang="nl-BE" dirty="0">
              <a:solidFill>
                <a:schemeClr val="accent1"/>
              </a:solidFill>
            </a:endParaRPr>
          </a:p>
          <a:p>
            <a:pPr marL="514350" indent="-514350">
              <a:buFont typeface="+mj-lt"/>
              <a:buAutoNum type="arabicPeriod"/>
            </a:pPr>
            <a:endParaRPr lang="nl-BE" dirty="0"/>
          </a:p>
          <a:p>
            <a:pPr marL="514350" indent="-514350">
              <a:buFont typeface="+mj-lt"/>
              <a:buAutoNum type="arabicPeriod"/>
            </a:pPr>
            <a:r>
              <a:rPr lang="nl-BE" dirty="0">
                <a:solidFill>
                  <a:schemeClr val="bg1"/>
                </a:solidFill>
              </a:rPr>
              <a:t>?</a:t>
            </a:r>
          </a:p>
          <a:p>
            <a:endParaRPr lang="nl-BE" dirty="0"/>
          </a:p>
        </p:txBody>
      </p:sp>
      <p:sp>
        <p:nvSpPr>
          <p:cNvPr id="5" name="Tekstvak 4">
            <a:extLst>
              <a:ext uri="{FF2B5EF4-FFF2-40B4-BE49-F238E27FC236}">
                <a16:creationId xmlns:a16="http://schemas.microsoft.com/office/drawing/2014/main" id="{CA3386DB-B539-4148-B35D-EE6A2C50EC95}"/>
              </a:ext>
            </a:extLst>
          </p:cNvPr>
          <p:cNvSpPr txBox="1"/>
          <p:nvPr/>
        </p:nvSpPr>
        <p:spPr>
          <a:xfrm>
            <a:off x="563479" y="1415716"/>
            <a:ext cx="11145252" cy="8617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l-BE" sz="2800" b="1" dirty="0">
                <a:solidFill>
                  <a:srgbClr val="002E65"/>
                </a:solidFill>
                <a:latin typeface="Calibri"/>
              </a:rPr>
              <a:t>(Is er een verschil in interesse voor techniek tussen leerlingen uit een technische en een niet-technische richting?</a:t>
            </a:r>
            <a:r>
              <a:rPr lang="nl-BE" b="1" dirty="0">
                <a:solidFill>
                  <a:srgbClr val="002E65"/>
                </a:solidFill>
                <a:latin typeface="Calibri"/>
              </a:rPr>
              <a:t> </a:t>
            </a:r>
            <a:r>
              <a:rPr lang="nl-BE" sz="2000" dirty="0">
                <a:solidFill>
                  <a:srgbClr val="002E65"/>
                </a:solidFill>
                <a:latin typeface="Calibri"/>
              </a:rPr>
              <a:t>(</a:t>
            </a:r>
            <a:r>
              <a:rPr lang="nl-BE" sz="2000" dirty="0" err="1">
                <a:solidFill>
                  <a:srgbClr val="002E65"/>
                </a:solidFill>
                <a:latin typeface="Calibri"/>
              </a:rPr>
              <a:t>Interest.voor</a:t>
            </a:r>
            <a:r>
              <a:rPr lang="nl-BE" sz="2000" dirty="0">
                <a:solidFill>
                  <a:srgbClr val="002E65"/>
                </a:solidFill>
                <a:latin typeface="Calibri"/>
              </a:rPr>
              <a:t> &amp; Richting2cat)</a:t>
            </a:r>
            <a:r>
              <a:rPr lang="nl-BE" sz="2800" b="1" dirty="0">
                <a:solidFill>
                  <a:srgbClr val="002E65"/>
                </a:solidFill>
                <a:latin typeface="Calibri"/>
              </a:rPr>
              <a:t>)</a:t>
            </a:r>
            <a:endParaRPr lang="nl-NL" sz="2800" b="1" dirty="0">
              <a:solidFill>
                <a:srgbClr val="002E65"/>
              </a:solidFill>
              <a:latin typeface="Calibri"/>
            </a:endParaRPr>
          </a:p>
        </p:txBody>
      </p:sp>
    </p:spTree>
    <p:extLst>
      <p:ext uri="{BB962C8B-B14F-4D97-AF65-F5344CB8AC3E}">
        <p14:creationId xmlns:p14="http://schemas.microsoft.com/office/powerpoint/2010/main" val="29663419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80B0F8-0282-1E43-92CF-161C30299208}"/>
              </a:ext>
            </a:extLst>
          </p:cNvPr>
          <p:cNvSpPr>
            <a:spLocks noGrp="1"/>
          </p:cNvSpPr>
          <p:nvPr>
            <p:ph type="title"/>
          </p:nvPr>
        </p:nvSpPr>
        <p:spPr/>
        <p:txBody>
          <a:bodyPr/>
          <a:lstStyle/>
          <a:p>
            <a:r>
              <a:rPr lang="nl-BE" dirty="0"/>
              <a:t>Aanpak t-test?</a:t>
            </a:r>
          </a:p>
        </p:txBody>
      </p:sp>
      <p:sp>
        <p:nvSpPr>
          <p:cNvPr id="3" name="Tijdelijke aanduiding voor dianummer 2">
            <a:extLst>
              <a:ext uri="{FF2B5EF4-FFF2-40B4-BE49-F238E27FC236}">
                <a16:creationId xmlns:a16="http://schemas.microsoft.com/office/drawing/2014/main" id="{79D1D14F-BB37-5E41-9EE4-B185E3A2DE7C}"/>
              </a:ext>
            </a:extLst>
          </p:cNvPr>
          <p:cNvSpPr>
            <a:spLocks noGrp="1"/>
          </p:cNvSpPr>
          <p:nvPr>
            <p:ph type="sldNum" sz="quarter" idx="10"/>
          </p:nvPr>
        </p:nvSpPr>
        <p:spPr/>
        <p:txBody>
          <a:bodyPr/>
          <a:lstStyle/>
          <a:p>
            <a:fld id="{E038E271-308C-2E46-A3EC-56326F9084CC}" type="slidenum">
              <a:rPr lang="nl-BE" smtClean="0"/>
              <a:pPr/>
              <a:t>9</a:t>
            </a:fld>
            <a:endParaRPr lang="nl-BE" dirty="0"/>
          </a:p>
        </p:txBody>
      </p:sp>
      <p:sp>
        <p:nvSpPr>
          <p:cNvPr id="4" name="Tijdelijke aanduiding voor inhoud 3">
            <a:extLst>
              <a:ext uri="{FF2B5EF4-FFF2-40B4-BE49-F238E27FC236}">
                <a16:creationId xmlns:a16="http://schemas.microsoft.com/office/drawing/2014/main" id="{715FBF83-5414-C34E-B20B-04FBBE455DC2}"/>
              </a:ext>
            </a:extLst>
          </p:cNvPr>
          <p:cNvSpPr>
            <a:spLocks noGrp="1"/>
          </p:cNvSpPr>
          <p:nvPr>
            <p:ph idx="1"/>
          </p:nvPr>
        </p:nvSpPr>
        <p:spPr>
          <a:xfrm>
            <a:off x="623887" y="2359061"/>
            <a:ext cx="10944226" cy="3878227"/>
          </a:xfrm>
        </p:spPr>
        <p:txBody>
          <a:bodyPr vert="horz" wrap="none" lIns="0" tIns="0" rIns="0" bIns="0" rtlCol="0" anchor="t">
            <a:noAutofit/>
          </a:bodyPr>
          <a:lstStyle/>
          <a:p>
            <a:pPr marL="514350" indent="-514350">
              <a:buFont typeface="+mj-lt"/>
              <a:buAutoNum type="arabicPeriod"/>
            </a:pPr>
            <a:r>
              <a:rPr lang="nl-BE" sz="2000" dirty="0">
                <a:latin typeface="Calibri"/>
                <a:ea typeface="Verdana"/>
                <a:cs typeface="Calibri"/>
              </a:rPr>
              <a:t>Gemiddeldes verschillen </a:t>
            </a:r>
            <a:r>
              <a:rPr lang="nl-BE" sz="2000" i="1" dirty="0">
                <a:latin typeface="Calibri"/>
                <a:ea typeface="Verdana"/>
                <a:cs typeface="Calibri"/>
              </a:rPr>
              <a:t>in steekproef</a:t>
            </a:r>
            <a:r>
              <a:rPr lang="nl-BE" sz="2000" dirty="0">
                <a:latin typeface="Calibri"/>
                <a:ea typeface="Verdana"/>
                <a:cs typeface="Calibri"/>
              </a:rPr>
              <a:t>?</a:t>
            </a:r>
          </a:p>
          <a:p>
            <a:pPr marL="514350" indent="-514350">
              <a:buFont typeface="+mj-lt"/>
              <a:buAutoNum type="arabicPeriod"/>
            </a:pPr>
            <a:endParaRPr lang="nl-BE" dirty="0"/>
          </a:p>
          <a:p>
            <a:pPr marL="514350" indent="-514350">
              <a:buFont typeface="+mj-lt"/>
              <a:buAutoNum type="arabicPeriod"/>
            </a:pPr>
            <a:endParaRPr lang="nl-BE" dirty="0"/>
          </a:p>
          <a:p>
            <a:pPr marL="514350" indent="-514350">
              <a:buFont typeface="+mj-lt"/>
              <a:buAutoNum type="arabicPeriod"/>
            </a:pPr>
            <a:endParaRPr lang="nl-BE" dirty="0"/>
          </a:p>
          <a:p>
            <a:pPr marL="514350" indent="-514350">
              <a:buFont typeface="+mj-lt"/>
              <a:buAutoNum type="arabicPeriod"/>
            </a:pPr>
            <a:endParaRPr lang="nl-BE" dirty="0"/>
          </a:p>
          <a:p>
            <a:pPr marL="514350" indent="-514350">
              <a:buFont typeface="+mj-lt"/>
              <a:buAutoNum type="arabicPeriod"/>
            </a:pPr>
            <a:endParaRPr lang="nl-BE" dirty="0"/>
          </a:p>
          <a:p>
            <a:pPr marL="514350" indent="-514350">
              <a:buFont typeface="+mj-lt"/>
              <a:buAutoNum type="arabicPeriod"/>
            </a:pPr>
            <a:r>
              <a:rPr lang="nl-BE" sz="2000" dirty="0">
                <a:latin typeface="Calibri"/>
                <a:ea typeface="Verdana"/>
                <a:cs typeface="Calibri"/>
              </a:rPr>
              <a:t>Assumptie </a:t>
            </a:r>
            <a:r>
              <a:rPr lang="nl-BE" sz="2000" dirty="0" err="1">
                <a:latin typeface="Calibri"/>
                <a:ea typeface="Verdana"/>
                <a:cs typeface="Calibri"/>
              </a:rPr>
              <a:t>binnengroepvariantie</a:t>
            </a:r>
            <a:r>
              <a:rPr lang="nl-BE" sz="2000" dirty="0">
                <a:latin typeface="Calibri"/>
                <a:ea typeface="Verdana"/>
                <a:cs typeface="Calibri"/>
              </a:rPr>
              <a:t>? Afhankelijke variabele normaal verdeeld?</a:t>
            </a:r>
          </a:p>
          <a:p>
            <a:pPr marL="514350" indent="-514350">
              <a:buFont typeface="+mj-lt"/>
              <a:buAutoNum type="arabicPeriod"/>
            </a:pPr>
            <a:r>
              <a:rPr lang="nl-BE" sz="2000" dirty="0">
                <a:latin typeface="Calibri"/>
                <a:ea typeface="Verdana"/>
                <a:cs typeface="Calibri"/>
              </a:rPr>
              <a:t>Statistische significantie (t-test)</a:t>
            </a:r>
          </a:p>
          <a:p>
            <a:pPr marL="514350" indent="-514350">
              <a:buFont typeface="+mj-lt"/>
              <a:buAutoNum type="arabicPeriod"/>
            </a:pPr>
            <a:r>
              <a:rPr lang="nl-BE" sz="2000" dirty="0">
                <a:latin typeface="Calibri"/>
                <a:ea typeface="Verdana"/>
                <a:cs typeface="Calibri"/>
              </a:rPr>
              <a:t>Effectgrootte? (cohen’s </a:t>
            </a:r>
            <a:r>
              <a:rPr lang="nl-BE" sz="2000" i="1" dirty="0">
                <a:latin typeface="Calibri"/>
                <a:ea typeface="Verdana"/>
                <a:cs typeface="Calibri"/>
              </a:rPr>
              <a:t>d</a:t>
            </a:r>
            <a:r>
              <a:rPr lang="nl-BE" sz="2000" dirty="0">
                <a:latin typeface="Calibri"/>
                <a:ea typeface="Verdana"/>
                <a:cs typeface="Calibri"/>
              </a:rPr>
              <a:t>)</a:t>
            </a:r>
          </a:p>
          <a:p>
            <a:pPr marL="274320" indent="-274320"/>
            <a:endParaRPr lang="nl-BE" dirty="0"/>
          </a:p>
        </p:txBody>
      </p:sp>
      <p:pic>
        <p:nvPicPr>
          <p:cNvPr id="9" name="Afbeelding 8" descr="Afbeelding met tekst&#10;&#10;Automatisch gegenereerde beschrijving">
            <a:extLst>
              <a:ext uri="{FF2B5EF4-FFF2-40B4-BE49-F238E27FC236}">
                <a16:creationId xmlns:a16="http://schemas.microsoft.com/office/drawing/2014/main" id="{D8FC7EA1-3AF8-4C46-990D-88C6D9DB55E0}"/>
              </a:ext>
            </a:extLst>
          </p:cNvPr>
          <p:cNvPicPr>
            <a:picLocks noChangeAspect="1"/>
          </p:cNvPicPr>
          <p:nvPr/>
        </p:nvPicPr>
        <p:blipFill rotWithShape="1">
          <a:blip r:embed="rId3"/>
          <a:srcRect r="35593" b="23754"/>
          <a:stretch/>
        </p:blipFill>
        <p:spPr>
          <a:xfrm>
            <a:off x="1106438" y="2719536"/>
            <a:ext cx="6109245" cy="1744356"/>
          </a:xfrm>
          <a:prstGeom prst="rect">
            <a:avLst/>
          </a:prstGeom>
        </p:spPr>
      </p:pic>
      <p:pic>
        <p:nvPicPr>
          <p:cNvPr id="10" name="Afbeelding 9">
            <a:extLst>
              <a:ext uri="{FF2B5EF4-FFF2-40B4-BE49-F238E27FC236}">
                <a16:creationId xmlns:a16="http://schemas.microsoft.com/office/drawing/2014/main" id="{37740525-B612-904A-A01C-E9858A9F5E5D}"/>
              </a:ext>
            </a:extLst>
          </p:cNvPr>
          <p:cNvPicPr>
            <a:picLocks noChangeAspect="1"/>
          </p:cNvPicPr>
          <p:nvPr/>
        </p:nvPicPr>
        <p:blipFill rotWithShape="1">
          <a:blip r:embed="rId4"/>
          <a:srcRect t="16863"/>
          <a:stretch/>
        </p:blipFill>
        <p:spPr>
          <a:xfrm>
            <a:off x="7797208" y="2650182"/>
            <a:ext cx="4191013" cy="2686050"/>
          </a:xfrm>
          <a:prstGeom prst="rect">
            <a:avLst/>
          </a:prstGeom>
        </p:spPr>
      </p:pic>
      <p:pic>
        <p:nvPicPr>
          <p:cNvPr id="12" name="Afbeelding 11">
            <a:extLst>
              <a:ext uri="{FF2B5EF4-FFF2-40B4-BE49-F238E27FC236}">
                <a16:creationId xmlns:a16="http://schemas.microsoft.com/office/drawing/2014/main" id="{8E517DF5-F032-C54A-8AF2-01FD764CEB7B}"/>
              </a:ext>
            </a:extLst>
          </p:cNvPr>
          <p:cNvPicPr>
            <a:picLocks noChangeAspect="1"/>
          </p:cNvPicPr>
          <p:nvPr/>
        </p:nvPicPr>
        <p:blipFill>
          <a:blip r:embed="rId5"/>
          <a:stretch>
            <a:fillRect/>
          </a:stretch>
        </p:blipFill>
        <p:spPr>
          <a:xfrm>
            <a:off x="1245201" y="4548874"/>
            <a:ext cx="5023745" cy="567354"/>
          </a:xfrm>
          <a:prstGeom prst="rect">
            <a:avLst/>
          </a:prstGeom>
        </p:spPr>
      </p:pic>
      <p:sp>
        <p:nvSpPr>
          <p:cNvPr id="5" name="Tekstvak 4">
            <a:extLst>
              <a:ext uri="{FF2B5EF4-FFF2-40B4-BE49-F238E27FC236}">
                <a16:creationId xmlns:a16="http://schemas.microsoft.com/office/drawing/2014/main" id="{577DA1B3-F6F2-4D87-8A2F-F8808BE7B390}"/>
              </a:ext>
            </a:extLst>
          </p:cNvPr>
          <p:cNvSpPr txBox="1"/>
          <p:nvPr/>
        </p:nvSpPr>
        <p:spPr>
          <a:xfrm>
            <a:off x="563479" y="1415716"/>
            <a:ext cx="11145252" cy="86177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nl-BE" sz="2800" b="1" dirty="0">
                <a:solidFill>
                  <a:srgbClr val="002E65"/>
                </a:solidFill>
                <a:latin typeface="Calibri"/>
              </a:rPr>
              <a:t>Is er een verschil in interesse voor techniek tussen leerlingen uit een technische en een niet-technische richting?</a:t>
            </a:r>
            <a:r>
              <a:rPr lang="nl-BE" b="1" dirty="0">
                <a:solidFill>
                  <a:srgbClr val="002E65"/>
                </a:solidFill>
                <a:latin typeface="Calibri"/>
              </a:rPr>
              <a:t> </a:t>
            </a:r>
            <a:r>
              <a:rPr lang="nl-BE" sz="2000" dirty="0">
                <a:solidFill>
                  <a:srgbClr val="002E65"/>
                </a:solidFill>
                <a:latin typeface="Calibri"/>
              </a:rPr>
              <a:t>(</a:t>
            </a:r>
            <a:r>
              <a:rPr lang="nl-BE" sz="2000" dirty="0" err="1">
                <a:solidFill>
                  <a:srgbClr val="002E65"/>
                </a:solidFill>
                <a:latin typeface="Calibri"/>
              </a:rPr>
              <a:t>Interest.voor</a:t>
            </a:r>
            <a:r>
              <a:rPr lang="nl-BE" sz="2000" dirty="0">
                <a:solidFill>
                  <a:srgbClr val="002E65"/>
                </a:solidFill>
                <a:latin typeface="Calibri"/>
              </a:rPr>
              <a:t> &amp; Richting2cat)</a:t>
            </a:r>
            <a:endParaRPr lang="nl-NL" sz="2000" dirty="0"/>
          </a:p>
        </p:txBody>
      </p:sp>
    </p:spTree>
    <p:extLst>
      <p:ext uri="{BB962C8B-B14F-4D97-AF65-F5344CB8AC3E}">
        <p14:creationId xmlns:p14="http://schemas.microsoft.com/office/powerpoint/2010/main" val="1000544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0FB61-251B-914A-9486-F8A70A48FD6D}"/>
              </a:ext>
            </a:extLst>
          </p:cNvPr>
          <p:cNvSpPr>
            <a:spLocks noGrp="1"/>
          </p:cNvSpPr>
          <p:nvPr>
            <p:ph type="title"/>
          </p:nvPr>
        </p:nvSpPr>
        <p:spPr/>
        <p:txBody>
          <a:bodyPr/>
          <a:lstStyle/>
          <a:p>
            <a:r>
              <a:rPr lang="nl-BE" dirty="0"/>
              <a:t>Assumptie binnen-groepen-variantie?</a:t>
            </a:r>
          </a:p>
        </p:txBody>
      </p:sp>
      <p:sp>
        <p:nvSpPr>
          <p:cNvPr id="3" name="Tijdelijke aanduiding voor dianummer 2">
            <a:extLst>
              <a:ext uri="{FF2B5EF4-FFF2-40B4-BE49-F238E27FC236}">
                <a16:creationId xmlns:a16="http://schemas.microsoft.com/office/drawing/2014/main" id="{70238EEF-1323-F24A-A56D-C1A5CDB7A4AB}"/>
              </a:ext>
            </a:extLst>
          </p:cNvPr>
          <p:cNvSpPr>
            <a:spLocks noGrp="1"/>
          </p:cNvSpPr>
          <p:nvPr>
            <p:ph type="sldNum" sz="quarter" idx="10"/>
          </p:nvPr>
        </p:nvSpPr>
        <p:spPr/>
        <p:txBody>
          <a:bodyPr/>
          <a:lstStyle/>
          <a:p>
            <a:fld id="{E038E271-308C-2E46-A3EC-56326F9084CC}" type="slidenum">
              <a:rPr lang="nl-BE" smtClean="0"/>
              <a:pPr/>
              <a:t>10</a:t>
            </a:fld>
            <a:endParaRPr lang="nl-BE" dirty="0"/>
          </a:p>
        </p:txBody>
      </p:sp>
      <p:sp>
        <p:nvSpPr>
          <p:cNvPr id="4" name="Tijdelijke aanduiding voor inhoud 3">
            <a:extLst>
              <a:ext uri="{FF2B5EF4-FFF2-40B4-BE49-F238E27FC236}">
                <a16:creationId xmlns:a16="http://schemas.microsoft.com/office/drawing/2014/main" id="{6B4F1E21-319E-9546-AC97-01BAFCC56015}"/>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grpSp>
        <p:nvGrpSpPr>
          <p:cNvPr id="5" name="Group 20">
            <a:extLst>
              <a:ext uri="{FF2B5EF4-FFF2-40B4-BE49-F238E27FC236}">
                <a16:creationId xmlns:a16="http://schemas.microsoft.com/office/drawing/2014/main" id="{C7F40E03-C5A6-1246-BF46-77926135D468}"/>
              </a:ext>
            </a:extLst>
          </p:cNvPr>
          <p:cNvGrpSpPr/>
          <p:nvPr/>
        </p:nvGrpSpPr>
        <p:grpSpPr>
          <a:xfrm>
            <a:off x="2755133" y="1849925"/>
            <a:ext cx="2971328" cy="2332712"/>
            <a:chOff x="683568" y="3059668"/>
            <a:chExt cx="2971328" cy="2332712"/>
          </a:xfrm>
        </p:grpSpPr>
        <p:grpSp>
          <p:nvGrpSpPr>
            <p:cNvPr id="6" name="Group 16">
              <a:extLst>
                <a:ext uri="{FF2B5EF4-FFF2-40B4-BE49-F238E27FC236}">
                  <a16:creationId xmlns:a16="http://schemas.microsoft.com/office/drawing/2014/main" id="{8F42902C-2F52-6142-AC91-96126A21FF4B}"/>
                </a:ext>
              </a:extLst>
            </p:cNvPr>
            <p:cNvGrpSpPr/>
            <p:nvPr/>
          </p:nvGrpSpPr>
          <p:grpSpPr>
            <a:xfrm>
              <a:off x="683568" y="3645024"/>
              <a:ext cx="2971328" cy="1747356"/>
              <a:chOff x="2987824" y="3284984"/>
              <a:chExt cx="2971328" cy="1747356"/>
            </a:xfrm>
          </p:grpSpPr>
          <p:grpSp>
            <p:nvGrpSpPr>
              <p:cNvPr id="8" name="Group 13">
                <a:extLst>
                  <a:ext uri="{FF2B5EF4-FFF2-40B4-BE49-F238E27FC236}">
                    <a16:creationId xmlns:a16="http://schemas.microsoft.com/office/drawing/2014/main" id="{088B30A1-60D4-9D4D-92B0-47EA502EF152}"/>
                  </a:ext>
                </a:extLst>
              </p:cNvPr>
              <p:cNvGrpSpPr/>
              <p:nvPr/>
            </p:nvGrpSpPr>
            <p:grpSpPr>
              <a:xfrm>
                <a:off x="3419872" y="3284984"/>
                <a:ext cx="720080" cy="1224136"/>
                <a:chOff x="755576" y="2781399"/>
                <a:chExt cx="720080" cy="1224136"/>
              </a:xfrm>
            </p:grpSpPr>
            <p:sp>
              <p:nvSpPr>
                <p:cNvPr id="15" name="TextBox 3">
                  <a:extLst>
                    <a:ext uri="{FF2B5EF4-FFF2-40B4-BE49-F238E27FC236}">
                      <a16:creationId xmlns:a16="http://schemas.microsoft.com/office/drawing/2014/main" id="{075812C2-B373-4C46-AAF7-3E6E6CD3B172}"/>
                    </a:ext>
                  </a:extLst>
                </p:cNvPr>
                <p:cNvSpPr txBox="1"/>
                <p:nvPr/>
              </p:nvSpPr>
              <p:spPr>
                <a:xfrm>
                  <a:off x="755576" y="2781399"/>
                  <a:ext cx="432048" cy="1224136"/>
                </a:xfrm>
                <a:prstGeom prst="rect">
                  <a:avLst/>
                </a:prstGeom>
                <a:noFill/>
              </p:spPr>
              <p:txBody>
                <a:bodyPr wrap="square" rtlCol="0">
                  <a:spAutoFit/>
                </a:bodyPr>
                <a:lstStyle/>
                <a:p>
                  <a:r>
                    <a:rPr lang="nl-NL" dirty="0">
                      <a:solidFill>
                        <a:schemeClr val="accent3"/>
                      </a:solidFill>
                    </a:rPr>
                    <a:t>1</a:t>
                  </a:r>
                </a:p>
                <a:p>
                  <a:r>
                    <a:rPr lang="nl-NL" dirty="0">
                      <a:solidFill>
                        <a:schemeClr val="accent3"/>
                      </a:solidFill>
                    </a:rPr>
                    <a:t>2</a:t>
                  </a:r>
                  <a:br>
                    <a:rPr lang="nl-NL" dirty="0">
                      <a:solidFill>
                        <a:schemeClr val="accent3"/>
                      </a:solidFill>
                    </a:rPr>
                  </a:br>
                  <a:r>
                    <a:rPr lang="nl-NL" dirty="0">
                      <a:solidFill>
                        <a:schemeClr val="accent3"/>
                      </a:solidFill>
                    </a:rPr>
                    <a:t>3</a:t>
                  </a:r>
                </a:p>
                <a:p>
                  <a:r>
                    <a:rPr lang="nl-NL" dirty="0">
                      <a:solidFill>
                        <a:schemeClr val="accent3"/>
                      </a:solidFill>
                    </a:rPr>
                    <a:t>4</a:t>
                  </a:r>
                </a:p>
              </p:txBody>
            </p:sp>
            <p:cxnSp>
              <p:nvCxnSpPr>
                <p:cNvPr id="16" name="Straight Arrow Connector 7">
                  <a:extLst>
                    <a:ext uri="{FF2B5EF4-FFF2-40B4-BE49-F238E27FC236}">
                      <a16:creationId xmlns:a16="http://schemas.microsoft.com/office/drawing/2014/main" id="{53132BD0-186B-3240-B823-9067F4B1817B}"/>
                    </a:ext>
                  </a:extLst>
                </p:cNvPr>
                <p:cNvCxnSpPr/>
                <p:nvPr/>
              </p:nvCxnSpPr>
              <p:spPr bwMode="auto">
                <a:xfrm>
                  <a:off x="1115616" y="2853407"/>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7" name="TextBox 8">
                  <a:extLst>
                    <a:ext uri="{FF2B5EF4-FFF2-40B4-BE49-F238E27FC236}">
                      <a16:creationId xmlns:a16="http://schemas.microsoft.com/office/drawing/2014/main" id="{C4C6C31F-373D-BA4A-9764-1FBEBE0AF5F3}"/>
                    </a:ext>
                  </a:extLst>
                </p:cNvPr>
                <p:cNvSpPr txBox="1"/>
                <p:nvPr/>
              </p:nvSpPr>
              <p:spPr>
                <a:xfrm>
                  <a:off x="1043608" y="3141439"/>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grpSp>
            <p:nvGrpSpPr>
              <p:cNvPr id="9" name="Group 15">
                <a:extLst>
                  <a:ext uri="{FF2B5EF4-FFF2-40B4-BE49-F238E27FC236}">
                    <a16:creationId xmlns:a16="http://schemas.microsoft.com/office/drawing/2014/main" id="{23A1663C-D01C-C54F-A80E-58E0E0BF7742}"/>
                  </a:ext>
                </a:extLst>
              </p:cNvPr>
              <p:cNvGrpSpPr/>
              <p:nvPr/>
            </p:nvGrpSpPr>
            <p:grpSpPr>
              <a:xfrm>
                <a:off x="4860032" y="3284984"/>
                <a:ext cx="864096" cy="1200329"/>
                <a:chOff x="2195736" y="3284984"/>
                <a:chExt cx="864096" cy="1200329"/>
              </a:xfrm>
            </p:grpSpPr>
            <p:sp>
              <p:nvSpPr>
                <p:cNvPr id="12" name="TextBox 9">
                  <a:extLst>
                    <a:ext uri="{FF2B5EF4-FFF2-40B4-BE49-F238E27FC236}">
                      <a16:creationId xmlns:a16="http://schemas.microsoft.com/office/drawing/2014/main" id="{81B5B821-1DE8-1148-BF6E-593AA4F24784}"/>
                    </a:ext>
                  </a:extLst>
                </p:cNvPr>
                <p:cNvSpPr txBox="1"/>
                <p:nvPr/>
              </p:nvSpPr>
              <p:spPr>
                <a:xfrm>
                  <a:off x="2195736" y="3284984"/>
                  <a:ext cx="504056" cy="1200329"/>
                </a:xfrm>
                <a:prstGeom prst="rect">
                  <a:avLst/>
                </a:prstGeom>
                <a:noFill/>
              </p:spPr>
              <p:txBody>
                <a:bodyPr wrap="square" rtlCol="0">
                  <a:spAutoFit/>
                </a:bodyPr>
                <a:lstStyle/>
                <a:p>
                  <a:r>
                    <a:rPr lang="nl-NL" dirty="0">
                      <a:solidFill>
                        <a:schemeClr val="accent4"/>
                      </a:solidFill>
                    </a:rPr>
                    <a:t>10</a:t>
                  </a:r>
                </a:p>
                <a:p>
                  <a:r>
                    <a:rPr lang="nl-NL" dirty="0">
                      <a:solidFill>
                        <a:schemeClr val="accent4"/>
                      </a:solidFill>
                    </a:rPr>
                    <a:t>20</a:t>
                  </a:r>
                  <a:br>
                    <a:rPr lang="nl-NL" dirty="0">
                      <a:solidFill>
                        <a:schemeClr val="accent4"/>
                      </a:solidFill>
                    </a:rPr>
                  </a:br>
                  <a:r>
                    <a:rPr lang="nl-NL" dirty="0">
                      <a:solidFill>
                        <a:schemeClr val="accent4"/>
                      </a:solidFill>
                    </a:rPr>
                    <a:t>30</a:t>
                  </a:r>
                </a:p>
                <a:p>
                  <a:r>
                    <a:rPr lang="nl-NL" dirty="0">
                      <a:solidFill>
                        <a:schemeClr val="accent4"/>
                      </a:solidFill>
                    </a:rPr>
                    <a:t>40</a:t>
                  </a:r>
                </a:p>
              </p:txBody>
            </p:sp>
            <p:cxnSp>
              <p:nvCxnSpPr>
                <p:cNvPr id="13" name="Straight Arrow Connector 12">
                  <a:extLst>
                    <a:ext uri="{FF2B5EF4-FFF2-40B4-BE49-F238E27FC236}">
                      <a16:creationId xmlns:a16="http://schemas.microsoft.com/office/drawing/2014/main" id="{33EF9EFB-119B-6446-B4BF-B5FA78ECD219}"/>
                    </a:ext>
                  </a:extLst>
                </p:cNvPr>
                <p:cNvCxnSpPr/>
                <p:nvPr/>
              </p:nvCxnSpPr>
              <p:spPr bwMode="auto">
                <a:xfrm>
                  <a:off x="2699792" y="3356992"/>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 name="TextBox 14">
                  <a:extLst>
                    <a:ext uri="{FF2B5EF4-FFF2-40B4-BE49-F238E27FC236}">
                      <a16:creationId xmlns:a16="http://schemas.microsoft.com/office/drawing/2014/main" id="{2BFB2578-DED3-6B40-89BD-12C707AA2954}"/>
                    </a:ext>
                  </a:extLst>
                </p:cNvPr>
                <p:cNvSpPr txBox="1"/>
                <p:nvPr/>
              </p:nvSpPr>
              <p:spPr>
                <a:xfrm>
                  <a:off x="2627784" y="3635732"/>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sp>
            <p:nvSpPr>
              <p:cNvPr id="10" name="TextBox 11">
                <a:extLst>
                  <a:ext uri="{FF2B5EF4-FFF2-40B4-BE49-F238E27FC236}">
                    <a16:creationId xmlns:a16="http://schemas.microsoft.com/office/drawing/2014/main" id="{E2FD7120-5A33-C842-B63A-90FF9E3C8D76}"/>
                  </a:ext>
                </a:extLst>
              </p:cNvPr>
              <p:cNvSpPr txBox="1"/>
              <p:nvPr/>
            </p:nvSpPr>
            <p:spPr>
              <a:xfrm>
                <a:off x="2987824" y="4509120"/>
                <a:ext cx="1512168" cy="523220"/>
              </a:xfrm>
              <a:prstGeom prst="rect">
                <a:avLst/>
              </a:prstGeom>
              <a:noFill/>
            </p:spPr>
            <p:txBody>
              <a:bodyPr wrap="square" rtlCol="0">
                <a:spAutoFit/>
              </a:bodyPr>
              <a:lstStyle/>
              <a:p>
                <a:pPr algn="ctr"/>
                <a:r>
                  <a:rPr lang="nl-NL" sz="1400" dirty="0" err="1">
                    <a:solidFill>
                      <a:schemeClr val="accent3"/>
                    </a:solidFill>
                  </a:rPr>
                  <a:t>Nt</a:t>
                </a:r>
                <a:r>
                  <a:rPr lang="nl-NL" sz="1400" dirty="0">
                    <a:solidFill>
                      <a:schemeClr val="accent3"/>
                    </a:solidFill>
                  </a:rPr>
                  <a:t>-technische</a:t>
                </a:r>
              </a:p>
              <a:p>
                <a:pPr algn="ctr"/>
                <a:r>
                  <a:rPr lang="nl-NL" sz="1400" dirty="0">
                    <a:solidFill>
                      <a:schemeClr val="accent3"/>
                    </a:solidFill>
                  </a:rPr>
                  <a:t>richting</a:t>
                </a:r>
              </a:p>
            </p:txBody>
          </p:sp>
          <p:sp>
            <p:nvSpPr>
              <p:cNvPr id="11" name="TextBox 17">
                <a:extLst>
                  <a:ext uri="{FF2B5EF4-FFF2-40B4-BE49-F238E27FC236}">
                    <a16:creationId xmlns:a16="http://schemas.microsoft.com/office/drawing/2014/main" id="{54396775-24D8-A740-AE5F-E3200D79B9F8}"/>
                  </a:ext>
                </a:extLst>
              </p:cNvPr>
              <p:cNvSpPr txBox="1"/>
              <p:nvPr/>
            </p:nvSpPr>
            <p:spPr>
              <a:xfrm>
                <a:off x="4446984" y="4509120"/>
                <a:ext cx="1512168" cy="523220"/>
              </a:xfrm>
              <a:prstGeom prst="rect">
                <a:avLst/>
              </a:prstGeom>
              <a:noFill/>
            </p:spPr>
            <p:txBody>
              <a:bodyPr wrap="square" rtlCol="0">
                <a:spAutoFit/>
              </a:bodyPr>
              <a:lstStyle/>
              <a:p>
                <a:pPr algn="ctr"/>
                <a:r>
                  <a:rPr lang="nl-NL" sz="1400" dirty="0">
                    <a:solidFill>
                      <a:schemeClr val="accent4"/>
                    </a:solidFill>
                  </a:rPr>
                  <a:t>Technische</a:t>
                </a:r>
              </a:p>
              <a:p>
                <a:pPr algn="ctr"/>
                <a:r>
                  <a:rPr lang="nl-NL" sz="1400" dirty="0">
                    <a:solidFill>
                      <a:schemeClr val="accent4"/>
                    </a:solidFill>
                  </a:rPr>
                  <a:t>richting</a:t>
                </a:r>
              </a:p>
            </p:txBody>
          </p:sp>
        </p:grpSp>
        <p:sp>
          <p:nvSpPr>
            <p:cNvPr id="7" name="TextBox 18">
              <a:extLst>
                <a:ext uri="{FF2B5EF4-FFF2-40B4-BE49-F238E27FC236}">
                  <a16:creationId xmlns:a16="http://schemas.microsoft.com/office/drawing/2014/main" id="{B367F2AE-491A-5044-A4A8-CF92A87A89F3}"/>
                </a:ext>
              </a:extLst>
            </p:cNvPr>
            <p:cNvSpPr txBox="1"/>
            <p:nvPr/>
          </p:nvSpPr>
          <p:spPr>
            <a:xfrm>
              <a:off x="1115616" y="3059668"/>
              <a:ext cx="2160240" cy="369332"/>
            </a:xfrm>
            <a:prstGeom prst="rect">
              <a:avLst/>
            </a:prstGeom>
            <a:noFill/>
          </p:spPr>
          <p:txBody>
            <a:bodyPr wrap="square" rtlCol="0">
              <a:spAutoFit/>
            </a:bodyPr>
            <a:lstStyle/>
            <a:p>
              <a:pPr algn="ctr"/>
              <a:r>
                <a:rPr lang="nl-NL" b="1" dirty="0">
                  <a:solidFill>
                    <a:srgbClr val="000000"/>
                  </a:solidFill>
                </a:rPr>
                <a:t>Situatie A</a:t>
              </a:r>
            </a:p>
          </p:txBody>
        </p:sp>
      </p:grpSp>
      <p:grpSp>
        <p:nvGrpSpPr>
          <p:cNvPr id="21" name="Group 32">
            <a:extLst>
              <a:ext uri="{FF2B5EF4-FFF2-40B4-BE49-F238E27FC236}">
                <a16:creationId xmlns:a16="http://schemas.microsoft.com/office/drawing/2014/main" id="{9E9EBECA-183E-BE46-8E70-EC0FF3CA9889}"/>
              </a:ext>
            </a:extLst>
          </p:cNvPr>
          <p:cNvGrpSpPr/>
          <p:nvPr/>
        </p:nvGrpSpPr>
        <p:grpSpPr>
          <a:xfrm>
            <a:off x="6535553" y="1873735"/>
            <a:ext cx="2997832" cy="2323420"/>
            <a:chOff x="4644008" y="3068960"/>
            <a:chExt cx="2997832" cy="2323420"/>
          </a:xfrm>
        </p:grpSpPr>
        <p:grpSp>
          <p:nvGrpSpPr>
            <p:cNvPr id="22" name="Group 21">
              <a:extLst>
                <a:ext uri="{FF2B5EF4-FFF2-40B4-BE49-F238E27FC236}">
                  <a16:creationId xmlns:a16="http://schemas.microsoft.com/office/drawing/2014/main" id="{31D4662C-1CEF-5B46-A268-241271754738}"/>
                </a:ext>
              </a:extLst>
            </p:cNvPr>
            <p:cNvGrpSpPr/>
            <p:nvPr/>
          </p:nvGrpSpPr>
          <p:grpSpPr>
            <a:xfrm>
              <a:off x="4644008" y="3645024"/>
              <a:ext cx="2997832" cy="1747356"/>
              <a:chOff x="2987824" y="3284984"/>
              <a:chExt cx="2997832" cy="1747356"/>
            </a:xfrm>
          </p:grpSpPr>
          <p:grpSp>
            <p:nvGrpSpPr>
              <p:cNvPr id="24" name="Group 22">
                <a:extLst>
                  <a:ext uri="{FF2B5EF4-FFF2-40B4-BE49-F238E27FC236}">
                    <a16:creationId xmlns:a16="http://schemas.microsoft.com/office/drawing/2014/main" id="{91E98364-D0A0-8341-825E-0F6CDAA49EE7}"/>
                  </a:ext>
                </a:extLst>
              </p:cNvPr>
              <p:cNvGrpSpPr/>
              <p:nvPr/>
            </p:nvGrpSpPr>
            <p:grpSpPr>
              <a:xfrm>
                <a:off x="3419872" y="3284984"/>
                <a:ext cx="720080" cy="1224136"/>
                <a:chOff x="755576" y="2781399"/>
                <a:chExt cx="720080" cy="1224136"/>
              </a:xfrm>
            </p:grpSpPr>
            <p:sp>
              <p:nvSpPr>
                <p:cNvPr id="31" name="TextBox 29">
                  <a:extLst>
                    <a:ext uri="{FF2B5EF4-FFF2-40B4-BE49-F238E27FC236}">
                      <a16:creationId xmlns:a16="http://schemas.microsoft.com/office/drawing/2014/main" id="{4F6EEE8F-01B9-244C-A664-211BD5B97D3B}"/>
                    </a:ext>
                  </a:extLst>
                </p:cNvPr>
                <p:cNvSpPr txBox="1"/>
                <p:nvPr/>
              </p:nvSpPr>
              <p:spPr>
                <a:xfrm>
                  <a:off x="755576" y="2781399"/>
                  <a:ext cx="432048" cy="1224136"/>
                </a:xfrm>
                <a:prstGeom prst="rect">
                  <a:avLst/>
                </a:prstGeom>
                <a:noFill/>
              </p:spPr>
              <p:txBody>
                <a:bodyPr wrap="square" rtlCol="0">
                  <a:spAutoFit/>
                </a:bodyPr>
                <a:lstStyle/>
                <a:p>
                  <a:r>
                    <a:rPr lang="nl-NL" dirty="0">
                      <a:solidFill>
                        <a:schemeClr val="accent3"/>
                      </a:solidFill>
                    </a:rPr>
                    <a:t>1</a:t>
                  </a:r>
                </a:p>
                <a:p>
                  <a:r>
                    <a:rPr lang="nl-NL" dirty="0">
                      <a:solidFill>
                        <a:schemeClr val="accent3"/>
                      </a:solidFill>
                    </a:rPr>
                    <a:t>3</a:t>
                  </a:r>
                  <a:br>
                    <a:rPr lang="nl-NL" dirty="0">
                      <a:solidFill>
                        <a:schemeClr val="accent3"/>
                      </a:solidFill>
                    </a:rPr>
                  </a:br>
                  <a:r>
                    <a:rPr lang="nl-NL" dirty="0">
                      <a:solidFill>
                        <a:schemeClr val="accent3"/>
                      </a:solidFill>
                    </a:rPr>
                    <a:t>5</a:t>
                  </a:r>
                </a:p>
                <a:p>
                  <a:r>
                    <a:rPr lang="nl-NL" dirty="0">
                      <a:solidFill>
                        <a:schemeClr val="accent3"/>
                      </a:solidFill>
                    </a:rPr>
                    <a:t>7</a:t>
                  </a:r>
                </a:p>
              </p:txBody>
            </p:sp>
            <p:cxnSp>
              <p:nvCxnSpPr>
                <p:cNvPr id="32" name="Straight Arrow Connector 30">
                  <a:extLst>
                    <a:ext uri="{FF2B5EF4-FFF2-40B4-BE49-F238E27FC236}">
                      <a16:creationId xmlns:a16="http://schemas.microsoft.com/office/drawing/2014/main" id="{5A676424-CCA5-914F-9C77-82322D3471FA}"/>
                    </a:ext>
                  </a:extLst>
                </p:cNvPr>
                <p:cNvCxnSpPr/>
                <p:nvPr/>
              </p:nvCxnSpPr>
              <p:spPr bwMode="auto">
                <a:xfrm>
                  <a:off x="1115616" y="2853407"/>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3" name="TextBox 31">
                  <a:extLst>
                    <a:ext uri="{FF2B5EF4-FFF2-40B4-BE49-F238E27FC236}">
                      <a16:creationId xmlns:a16="http://schemas.microsoft.com/office/drawing/2014/main" id="{D8A5B9E7-2C17-1C47-8E6C-E8C7D1A12CF1}"/>
                    </a:ext>
                  </a:extLst>
                </p:cNvPr>
                <p:cNvSpPr txBox="1"/>
                <p:nvPr/>
              </p:nvSpPr>
              <p:spPr>
                <a:xfrm>
                  <a:off x="1043608" y="3141439"/>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grpSp>
            <p:nvGrpSpPr>
              <p:cNvPr id="25" name="Group 23">
                <a:extLst>
                  <a:ext uri="{FF2B5EF4-FFF2-40B4-BE49-F238E27FC236}">
                    <a16:creationId xmlns:a16="http://schemas.microsoft.com/office/drawing/2014/main" id="{5046DBFE-0D6E-0848-8B78-BCEBF14EE8E3}"/>
                  </a:ext>
                </a:extLst>
              </p:cNvPr>
              <p:cNvGrpSpPr/>
              <p:nvPr/>
            </p:nvGrpSpPr>
            <p:grpSpPr>
              <a:xfrm>
                <a:off x="4860032" y="3284984"/>
                <a:ext cx="864096" cy="1200329"/>
                <a:chOff x="2195736" y="3284984"/>
                <a:chExt cx="864096" cy="1200329"/>
              </a:xfrm>
            </p:grpSpPr>
            <p:sp>
              <p:nvSpPr>
                <p:cNvPr id="28" name="TextBox 26">
                  <a:extLst>
                    <a:ext uri="{FF2B5EF4-FFF2-40B4-BE49-F238E27FC236}">
                      <a16:creationId xmlns:a16="http://schemas.microsoft.com/office/drawing/2014/main" id="{BA89A0CA-FD75-EF41-9311-CAD833A05F13}"/>
                    </a:ext>
                  </a:extLst>
                </p:cNvPr>
                <p:cNvSpPr txBox="1"/>
                <p:nvPr/>
              </p:nvSpPr>
              <p:spPr>
                <a:xfrm>
                  <a:off x="2195736" y="3284984"/>
                  <a:ext cx="504056" cy="1200329"/>
                </a:xfrm>
                <a:prstGeom prst="rect">
                  <a:avLst/>
                </a:prstGeom>
                <a:noFill/>
              </p:spPr>
              <p:txBody>
                <a:bodyPr wrap="square" rtlCol="0">
                  <a:spAutoFit/>
                </a:bodyPr>
                <a:lstStyle/>
                <a:p>
                  <a:r>
                    <a:rPr lang="nl-NL" dirty="0">
                      <a:solidFill>
                        <a:schemeClr val="accent4"/>
                      </a:solidFill>
                    </a:rPr>
                    <a:t>10</a:t>
                  </a:r>
                </a:p>
                <a:p>
                  <a:r>
                    <a:rPr lang="nl-NL" dirty="0">
                      <a:solidFill>
                        <a:schemeClr val="accent4"/>
                      </a:solidFill>
                    </a:rPr>
                    <a:t>12</a:t>
                  </a:r>
                  <a:br>
                    <a:rPr lang="nl-NL" dirty="0">
                      <a:solidFill>
                        <a:schemeClr val="accent4"/>
                      </a:solidFill>
                    </a:rPr>
                  </a:br>
                  <a:r>
                    <a:rPr lang="nl-NL" dirty="0">
                      <a:solidFill>
                        <a:schemeClr val="accent4"/>
                      </a:solidFill>
                    </a:rPr>
                    <a:t>14</a:t>
                  </a:r>
                </a:p>
                <a:p>
                  <a:r>
                    <a:rPr lang="nl-NL" dirty="0">
                      <a:solidFill>
                        <a:schemeClr val="accent4"/>
                      </a:solidFill>
                    </a:rPr>
                    <a:t>16</a:t>
                  </a:r>
                </a:p>
              </p:txBody>
            </p:sp>
            <p:cxnSp>
              <p:nvCxnSpPr>
                <p:cNvPr id="29" name="Straight Arrow Connector 27">
                  <a:extLst>
                    <a:ext uri="{FF2B5EF4-FFF2-40B4-BE49-F238E27FC236}">
                      <a16:creationId xmlns:a16="http://schemas.microsoft.com/office/drawing/2014/main" id="{E4E49C70-6886-E74C-A1F4-97CD287BAF41}"/>
                    </a:ext>
                  </a:extLst>
                </p:cNvPr>
                <p:cNvCxnSpPr/>
                <p:nvPr/>
              </p:nvCxnSpPr>
              <p:spPr bwMode="auto">
                <a:xfrm>
                  <a:off x="2699792" y="3356992"/>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0" name="TextBox 28">
                  <a:extLst>
                    <a:ext uri="{FF2B5EF4-FFF2-40B4-BE49-F238E27FC236}">
                      <a16:creationId xmlns:a16="http://schemas.microsoft.com/office/drawing/2014/main" id="{428AD93B-18E3-F34C-822E-68629288ECC7}"/>
                    </a:ext>
                  </a:extLst>
                </p:cNvPr>
                <p:cNvSpPr txBox="1"/>
                <p:nvPr/>
              </p:nvSpPr>
              <p:spPr>
                <a:xfrm>
                  <a:off x="2627784" y="3635732"/>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sp>
            <p:nvSpPr>
              <p:cNvPr id="26" name="TextBox 24">
                <a:extLst>
                  <a:ext uri="{FF2B5EF4-FFF2-40B4-BE49-F238E27FC236}">
                    <a16:creationId xmlns:a16="http://schemas.microsoft.com/office/drawing/2014/main" id="{F2EFBF7E-BDD2-3541-817F-3497806CC7C2}"/>
                  </a:ext>
                </a:extLst>
              </p:cNvPr>
              <p:cNvSpPr txBox="1"/>
              <p:nvPr/>
            </p:nvSpPr>
            <p:spPr>
              <a:xfrm>
                <a:off x="2987824" y="4509120"/>
                <a:ext cx="1512168" cy="523220"/>
              </a:xfrm>
              <a:prstGeom prst="rect">
                <a:avLst/>
              </a:prstGeom>
              <a:noFill/>
            </p:spPr>
            <p:txBody>
              <a:bodyPr wrap="square" rtlCol="0">
                <a:spAutoFit/>
              </a:bodyPr>
              <a:lstStyle/>
              <a:p>
                <a:pPr algn="ctr"/>
                <a:r>
                  <a:rPr lang="nl-NL" sz="1400" dirty="0" err="1">
                    <a:solidFill>
                      <a:schemeClr val="accent3"/>
                    </a:solidFill>
                  </a:rPr>
                  <a:t>Nt</a:t>
                </a:r>
                <a:r>
                  <a:rPr lang="nl-NL" sz="1400" dirty="0">
                    <a:solidFill>
                      <a:schemeClr val="accent3"/>
                    </a:solidFill>
                  </a:rPr>
                  <a:t>-technische</a:t>
                </a:r>
              </a:p>
              <a:p>
                <a:pPr algn="ctr"/>
                <a:r>
                  <a:rPr lang="nl-NL" sz="1400" dirty="0">
                    <a:solidFill>
                      <a:schemeClr val="accent3"/>
                    </a:solidFill>
                  </a:rPr>
                  <a:t>richting</a:t>
                </a:r>
              </a:p>
            </p:txBody>
          </p:sp>
          <p:sp>
            <p:nvSpPr>
              <p:cNvPr id="27" name="TextBox 25">
                <a:extLst>
                  <a:ext uri="{FF2B5EF4-FFF2-40B4-BE49-F238E27FC236}">
                    <a16:creationId xmlns:a16="http://schemas.microsoft.com/office/drawing/2014/main" id="{5668BF23-D1A8-EA48-A671-C19050862C79}"/>
                  </a:ext>
                </a:extLst>
              </p:cNvPr>
              <p:cNvSpPr txBox="1"/>
              <p:nvPr/>
            </p:nvSpPr>
            <p:spPr>
              <a:xfrm>
                <a:off x="4473488" y="4509120"/>
                <a:ext cx="1512168" cy="523220"/>
              </a:xfrm>
              <a:prstGeom prst="rect">
                <a:avLst/>
              </a:prstGeom>
              <a:noFill/>
            </p:spPr>
            <p:txBody>
              <a:bodyPr wrap="square" rtlCol="0">
                <a:spAutoFit/>
              </a:bodyPr>
              <a:lstStyle/>
              <a:p>
                <a:pPr algn="ctr"/>
                <a:r>
                  <a:rPr lang="nl-NL" sz="1400" dirty="0">
                    <a:solidFill>
                      <a:schemeClr val="accent4"/>
                    </a:solidFill>
                  </a:rPr>
                  <a:t>Technische</a:t>
                </a:r>
              </a:p>
              <a:p>
                <a:pPr algn="ctr"/>
                <a:r>
                  <a:rPr lang="nl-NL" sz="1400" dirty="0">
                    <a:solidFill>
                      <a:schemeClr val="accent4"/>
                    </a:solidFill>
                  </a:rPr>
                  <a:t>richting</a:t>
                </a:r>
              </a:p>
            </p:txBody>
          </p:sp>
        </p:grpSp>
        <p:sp>
          <p:nvSpPr>
            <p:cNvPr id="23" name="TextBox 33">
              <a:extLst>
                <a:ext uri="{FF2B5EF4-FFF2-40B4-BE49-F238E27FC236}">
                  <a16:creationId xmlns:a16="http://schemas.microsoft.com/office/drawing/2014/main" id="{39F69AE0-735E-174E-AF9B-A0EA099FBE26}"/>
                </a:ext>
              </a:extLst>
            </p:cNvPr>
            <p:cNvSpPr txBox="1"/>
            <p:nvPr/>
          </p:nvSpPr>
          <p:spPr>
            <a:xfrm>
              <a:off x="5004048" y="3068960"/>
              <a:ext cx="2160240" cy="369332"/>
            </a:xfrm>
            <a:prstGeom prst="rect">
              <a:avLst/>
            </a:prstGeom>
            <a:noFill/>
          </p:spPr>
          <p:txBody>
            <a:bodyPr wrap="square" rtlCol="0">
              <a:spAutoFit/>
            </a:bodyPr>
            <a:lstStyle/>
            <a:p>
              <a:pPr algn="ctr"/>
              <a:r>
                <a:rPr lang="nl-NL" b="1" dirty="0">
                  <a:solidFill>
                    <a:srgbClr val="000000"/>
                  </a:solidFill>
                </a:rPr>
                <a:t>Situatie B</a:t>
              </a:r>
            </a:p>
          </p:txBody>
        </p:sp>
      </p:grpSp>
      <p:sp>
        <p:nvSpPr>
          <p:cNvPr id="39" name="Tekstvak 38">
            <a:extLst>
              <a:ext uri="{FF2B5EF4-FFF2-40B4-BE49-F238E27FC236}">
                <a16:creationId xmlns:a16="http://schemas.microsoft.com/office/drawing/2014/main" id="{04576C1B-C02E-9046-9AEC-5377F3754E3A}"/>
              </a:ext>
            </a:extLst>
          </p:cNvPr>
          <p:cNvSpPr txBox="1"/>
          <p:nvPr/>
        </p:nvSpPr>
        <p:spPr>
          <a:xfrm>
            <a:off x="3086587" y="4630512"/>
            <a:ext cx="6018825" cy="776460"/>
          </a:xfrm>
          <a:prstGeom prst="rect">
            <a:avLst/>
          </a:prstGeom>
          <a:solidFill>
            <a:schemeClr val="bg2">
              <a:alpha val="44000"/>
            </a:schemeClr>
          </a:solidFill>
          <a:ln w="28575">
            <a:solidFill>
              <a:schemeClr val="tx1"/>
            </a:solidFill>
          </a:ln>
        </p:spPr>
        <p:txBody>
          <a:bodyPr wrap="square" lIns="0" tIns="0" rIns="0" bIns="0" rtlCol="0" anchor="ctr">
            <a:noAutofit/>
          </a:bodyPr>
          <a:lstStyle/>
          <a:p>
            <a:pPr algn="ctr"/>
            <a:r>
              <a:rPr lang="nl-BE" sz="2400" b="1" i="1" dirty="0">
                <a:latin typeface="Gotham" panose="02000603040000020004" pitchFamily="2" charset="0"/>
                <a:ea typeface="Verdana" panose="020B0604030504040204" pitchFamily="34" charset="0"/>
                <a:cs typeface="Verdana" panose="020B0604030504040204" pitchFamily="34" charset="0"/>
              </a:rPr>
              <a:t>In welk situatie is aan assumptie 2 voldaan?  </a:t>
            </a:r>
            <a:endParaRPr lang="nl-BE" sz="2800" b="1" i="1" dirty="0">
              <a:latin typeface="Gotham" panose="02000603040000020004" pitchFamily="2"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1405666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0FB61-251B-914A-9486-F8A70A48FD6D}"/>
              </a:ext>
            </a:extLst>
          </p:cNvPr>
          <p:cNvSpPr>
            <a:spLocks noGrp="1"/>
          </p:cNvSpPr>
          <p:nvPr>
            <p:ph type="title"/>
          </p:nvPr>
        </p:nvSpPr>
        <p:spPr/>
        <p:txBody>
          <a:bodyPr/>
          <a:lstStyle/>
          <a:p>
            <a:r>
              <a:rPr lang="nl-BE" dirty="0"/>
              <a:t>Assumptie binnen-groepen-variantie?</a:t>
            </a:r>
          </a:p>
        </p:txBody>
      </p:sp>
      <p:sp>
        <p:nvSpPr>
          <p:cNvPr id="3" name="Tijdelijke aanduiding voor dianummer 2">
            <a:extLst>
              <a:ext uri="{FF2B5EF4-FFF2-40B4-BE49-F238E27FC236}">
                <a16:creationId xmlns:a16="http://schemas.microsoft.com/office/drawing/2014/main" id="{70238EEF-1323-F24A-A56D-C1A5CDB7A4AB}"/>
              </a:ext>
            </a:extLst>
          </p:cNvPr>
          <p:cNvSpPr>
            <a:spLocks noGrp="1"/>
          </p:cNvSpPr>
          <p:nvPr>
            <p:ph type="sldNum" sz="quarter" idx="10"/>
          </p:nvPr>
        </p:nvSpPr>
        <p:spPr/>
        <p:txBody>
          <a:bodyPr/>
          <a:lstStyle/>
          <a:p>
            <a:fld id="{E038E271-308C-2E46-A3EC-56326F9084CC}" type="slidenum">
              <a:rPr lang="nl-BE" smtClean="0"/>
              <a:pPr/>
              <a:t>11</a:t>
            </a:fld>
            <a:endParaRPr lang="nl-BE" dirty="0"/>
          </a:p>
        </p:txBody>
      </p:sp>
      <p:sp>
        <p:nvSpPr>
          <p:cNvPr id="4" name="Tijdelijke aanduiding voor inhoud 3">
            <a:extLst>
              <a:ext uri="{FF2B5EF4-FFF2-40B4-BE49-F238E27FC236}">
                <a16:creationId xmlns:a16="http://schemas.microsoft.com/office/drawing/2014/main" id="{6B4F1E21-319E-9546-AC97-01BAFCC56015}"/>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grpSp>
        <p:nvGrpSpPr>
          <p:cNvPr id="5" name="Group 20">
            <a:extLst>
              <a:ext uri="{FF2B5EF4-FFF2-40B4-BE49-F238E27FC236}">
                <a16:creationId xmlns:a16="http://schemas.microsoft.com/office/drawing/2014/main" id="{C7F40E03-C5A6-1246-BF46-77926135D468}"/>
              </a:ext>
            </a:extLst>
          </p:cNvPr>
          <p:cNvGrpSpPr/>
          <p:nvPr/>
        </p:nvGrpSpPr>
        <p:grpSpPr>
          <a:xfrm>
            <a:off x="2755133" y="1849925"/>
            <a:ext cx="2971328" cy="2332712"/>
            <a:chOff x="683568" y="3059668"/>
            <a:chExt cx="2971328" cy="2332712"/>
          </a:xfrm>
        </p:grpSpPr>
        <p:grpSp>
          <p:nvGrpSpPr>
            <p:cNvPr id="6" name="Group 16">
              <a:extLst>
                <a:ext uri="{FF2B5EF4-FFF2-40B4-BE49-F238E27FC236}">
                  <a16:creationId xmlns:a16="http://schemas.microsoft.com/office/drawing/2014/main" id="{8F42902C-2F52-6142-AC91-96126A21FF4B}"/>
                </a:ext>
              </a:extLst>
            </p:cNvPr>
            <p:cNvGrpSpPr/>
            <p:nvPr/>
          </p:nvGrpSpPr>
          <p:grpSpPr>
            <a:xfrm>
              <a:off x="683568" y="3645024"/>
              <a:ext cx="2971328" cy="1747356"/>
              <a:chOff x="2987824" y="3284984"/>
              <a:chExt cx="2971328" cy="1747356"/>
            </a:xfrm>
          </p:grpSpPr>
          <p:grpSp>
            <p:nvGrpSpPr>
              <p:cNvPr id="8" name="Group 13">
                <a:extLst>
                  <a:ext uri="{FF2B5EF4-FFF2-40B4-BE49-F238E27FC236}">
                    <a16:creationId xmlns:a16="http://schemas.microsoft.com/office/drawing/2014/main" id="{088B30A1-60D4-9D4D-92B0-47EA502EF152}"/>
                  </a:ext>
                </a:extLst>
              </p:cNvPr>
              <p:cNvGrpSpPr/>
              <p:nvPr/>
            </p:nvGrpSpPr>
            <p:grpSpPr>
              <a:xfrm>
                <a:off x="3419872" y="3284984"/>
                <a:ext cx="720080" cy="1224136"/>
                <a:chOff x="755576" y="2781399"/>
                <a:chExt cx="720080" cy="1224136"/>
              </a:xfrm>
            </p:grpSpPr>
            <p:sp>
              <p:nvSpPr>
                <p:cNvPr id="15" name="TextBox 3">
                  <a:extLst>
                    <a:ext uri="{FF2B5EF4-FFF2-40B4-BE49-F238E27FC236}">
                      <a16:creationId xmlns:a16="http://schemas.microsoft.com/office/drawing/2014/main" id="{075812C2-B373-4C46-AAF7-3E6E6CD3B172}"/>
                    </a:ext>
                  </a:extLst>
                </p:cNvPr>
                <p:cNvSpPr txBox="1"/>
                <p:nvPr/>
              </p:nvSpPr>
              <p:spPr>
                <a:xfrm>
                  <a:off x="755576" y="2781399"/>
                  <a:ext cx="432048" cy="1224136"/>
                </a:xfrm>
                <a:prstGeom prst="rect">
                  <a:avLst/>
                </a:prstGeom>
                <a:noFill/>
              </p:spPr>
              <p:txBody>
                <a:bodyPr wrap="square" rtlCol="0">
                  <a:spAutoFit/>
                </a:bodyPr>
                <a:lstStyle/>
                <a:p>
                  <a:r>
                    <a:rPr lang="nl-NL" dirty="0">
                      <a:solidFill>
                        <a:schemeClr val="accent3"/>
                      </a:solidFill>
                    </a:rPr>
                    <a:t>1</a:t>
                  </a:r>
                </a:p>
                <a:p>
                  <a:r>
                    <a:rPr lang="nl-NL" dirty="0">
                      <a:solidFill>
                        <a:schemeClr val="accent3"/>
                      </a:solidFill>
                    </a:rPr>
                    <a:t>2</a:t>
                  </a:r>
                  <a:br>
                    <a:rPr lang="nl-NL" dirty="0">
                      <a:solidFill>
                        <a:schemeClr val="accent3"/>
                      </a:solidFill>
                    </a:rPr>
                  </a:br>
                  <a:r>
                    <a:rPr lang="nl-NL" dirty="0">
                      <a:solidFill>
                        <a:schemeClr val="accent3"/>
                      </a:solidFill>
                    </a:rPr>
                    <a:t>3</a:t>
                  </a:r>
                </a:p>
                <a:p>
                  <a:r>
                    <a:rPr lang="nl-NL" dirty="0">
                      <a:solidFill>
                        <a:schemeClr val="accent3"/>
                      </a:solidFill>
                    </a:rPr>
                    <a:t>4</a:t>
                  </a:r>
                </a:p>
              </p:txBody>
            </p:sp>
            <p:cxnSp>
              <p:nvCxnSpPr>
                <p:cNvPr id="16" name="Straight Arrow Connector 7">
                  <a:extLst>
                    <a:ext uri="{FF2B5EF4-FFF2-40B4-BE49-F238E27FC236}">
                      <a16:creationId xmlns:a16="http://schemas.microsoft.com/office/drawing/2014/main" id="{53132BD0-186B-3240-B823-9067F4B1817B}"/>
                    </a:ext>
                  </a:extLst>
                </p:cNvPr>
                <p:cNvCxnSpPr/>
                <p:nvPr/>
              </p:nvCxnSpPr>
              <p:spPr bwMode="auto">
                <a:xfrm>
                  <a:off x="1115616" y="2853407"/>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7" name="TextBox 8">
                  <a:extLst>
                    <a:ext uri="{FF2B5EF4-FFF2-40B4-BE49-F238E27FC236}">
                      <a16:creationId xmlns:a16="http://schemas.microsoft.com/office/drawing/2014/main" id="{C4C6C31F-373D-BA4A-9764-1FBEBE0AF5F3}"/>
                    </a:ext>
                  </a:extLst>
                </p:cNvPr>
                <p:cNvSpPr txBox="1"/>
                <p:nvPr/>
              </p:nvSpPr>
              <p:spPr>
                <a:xfrm>
                  <a:off x="1043608" y="3141439"/>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grpSp>
            <p:nvGrpSpPr>
              <p:cNvPr id="9" name="Group 15">
                <a:extLst>
                  <a:ext uri="{FF2B5EF4-FFF2-40B4-BE49-F238E27FC236}">
                    <a16:creationId xmlns:a16="http://schemas.microsoft.com/office/drawing/2014/main" id="{23A1663C-D01C-C54F-A80E-58E0E0BF7742}"/>
                  </a:ext>
                </a:extLst>
              </p:cNvPr>
              <p:cNvGrpSpPr/>
              <p:nvPr/>
            </p:nvGrpSpPr>
            <p:grpSpPr>
              <a:xfrm>
                <a:off x="4860032" y="3284984"/>
                <a:ext cx="864096" cy="1200329"/>
                <a:chOff x="2195736" y="3284984"/>
                <a:chExt cx="864096" cy="1200329"/>
              </a:xfrm>
            </p:grpSpPr>
            <p:sp>
              <p:nvSpPr>
                <p:cNvPr id="12" name="TextBox 9">
                  <a:extLst>
                    <a:ext uri="{FF2B5EF4-FFF2-40B4-BE49-F238E27FC236}">
                      <a16:creationId xmlns:a16="http://schemas.microsoft.com/office/drawing/2014/main" id="{81B5B821-1DE8-1148-BF6E-593AA4F24784}"/>
                    </a:ext>
                  </a:extLst>
                </p:cNvPr>
                <p:cNvSpPr txBox="1"/>
                <p:nvPr/>
              </p:nvSpPr>
              <p:spPr>
                <a:xfrm>
                  <a:off x="2195736" y="3284984"/>
                  <a:ext cx="504056" cy="1200329"/>
                </a:xfrm>
                <a:prstGeom prst="rect">
                  <a:avLst/>
                </a:prstGeom>
                <a:noFill/>
              </p:spPr>
              <p:txBody>
                <a:bodyPr wrap="square" rtlCol="0">
                  <a:spAutoFit/>
                </a:bodyPr>
                <a:lstStyle/>
                <a:p>
                  <a:r>
                    <a:rPr lang="nl-NL" dirty="0">
                      <a:solidFill>
                        <a:schemeClr val="accent4"/>
                      </a:solidFill>
                    </a:rPr>
                    <a:t>10</a:t>
                  </a:r>
                </a:p>
                <a:p>
                  <a:r>
                    <a:rPr lang="nl-NL" dirty="0">
                      <a:solidFill>
                        <a:schemeClr val="accent4"/>
                      </a:solidFill>
                    </a:rPr>
                    <a:t>20</a:t>
                  </a:r>
                  <a:br>
                    <a:rPr lang="nl-NL" dirty="0">
                      <a:solidFill>
                        <a:schemeClr val="accent4"/>
                      </a:solidFill>
                    </a:rPr>
                  </a:br>
                  <a:r>
                    <a:rPr lang="nl-NL" dirty="0">
                      <a:solidFill>
                        <a:schemeClr val="accent4"/>
                      </a:solidFill>
                    </a:rPr>
                    <a:t>30</a:t>
                  </a:r>
                </a:p>
                <a:p>
                  <a:r>
                    <a:rPr lang="nl-NL" dirty="0">
                      <a:solidFill>
                        <a:schemeClr val="accent4"/>
                      </a:solidFill>
                    </a:rPr>
                    <a:t>40</a:t>
                  </a:r>
                </a:p>
              </p:txBody>
            </p:sp>
            <p:cxnSp>
              <p:nvCxnSpPr>
                <p:cNvPr id="13" name="Straight Arrow Connector 12">
                  <a:extLst>
                    <a:ext uri="{FF2B5EF4-FFF2-40B4-BE49-F238E27FC236}">
                      <a16:creationId xmlns:a16="http://schemas.microsoft.com/office/drawing/2014/main" id="{33EF9EFB-119B-6446-B4BF-B5FA78ECD219}"/>
                    </a:ext>
                  </a:extLst>
                </p:cNvPr>
                <p:cNvCxnSpPr/>
                <p:nvPr/>
              </p:nvCxnSpPr>
              <p:spPr bwMode="auto">
                <a:xfrm>
                  <a:off x="2699792" y="3356992"/>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14" name="TextBox 14">
                  <a:extLst>
                    <a:ext uri="{FF2B5EF4-FFF2-40B4-BE49-F238E27FC236}">
                      <a16:creationId xmlns:a16="http://schemas.microsoft.com/office/drawing/2014/main" id="{2BFB2578-DED3-6B40-89BD-12C707AA2954}"/>
                    </a:ext>
                  </a:extLst>
                </p:cNvPr>
                <p:cNvSpPr txBox="1"/>
                <p:nvPr/>
              </p:nvSpPr>
              <p:spPr>
                <a:xfrm>
                  <a:off x="2627784" y="3635732"/>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sp>
            <p:nvSpPr>
              <p:cNvPr id="10" name="TextBox 11">
                <a:extLst>
                  <a:ext uri="{FF2B5EF4-FFF2-40B4-BE49-F238E27FC236}">
                    <a16:creationId xmlns:a16="http://schemas.microsoft.com/office/drawing/2014/main" id="{E2FD7120-5A33-C842-B63A-90FF9E3C8D76}"/>
                  </a:ext>
                </a:extLst>
              </p:cNvPr>
              <p:cNvSpPr txBox="1"/>
              <p:nvPr/>
            </p:nvSpPr>
            <p:spPr>
              <a:xfrm>
                <a:off x="2987824" y="4509120"/>
                <a:ext cx="1512168" cy="523220"/>
              </a:xfrm>
              <a:prstGeom prst="rect">
                <a:avLst/>
              </a:prstGeom>
              <a:noFill/>
            </p:spPr>
            <p:txBody>
              <a:bodyPr wrap="square" rtlCol="0">
                <a:spAutoFit/>
              </a:bodyPr>
              <a:lstStyle/>
              <a:p>
                <a:pPr algn="ctr"/>
                <a:r>
                  <a:rPr lang="nl-NL" sz="1400" dirty="0" err="1">
                    <a:solidFill>
                      <a:schemeClr val="accent3"/>
                    </a:solidFill>
                  </a:rPr>
                  <a:t>Nt</a:t>
                </a:r>
                <a:r>
                  <a:rPr lang="nl-NL" sz="1400" dirty="0">
                    <a:solidFill>
                      <a:schemeClr val="accent3"/>
                    </a:solidFill>
                  </a:rPr>
                  <a:t>-technische</a:t>
                </a:r>
              </a:p>
              <a:p>
                <a:pPr algn="ctr"/>
                <a:r>
                  <a:rPr lang="nl-NL" sz="1400" dirty="0">
                    <a:solidFill>
                      <a:schemeClr val="accent3"/>
                    </a:solidFill>
                  </a:rPr>
                  <a:t>richting</a:t>
                </a:r>
              </a:p>
            </p:txBody>
          </p:sp>
          <p:sp>
            <p:nvSpPr>
              <p:cNvPr id="11" name="TextBox 17">
                <a:extLst>
                  <a:ext uri="{FF2B5EF4-FFF2-40B4-BE49-F238E27FC236}">
                    <a16:creationId xmlns:a16="http://schemas.microsoft.com/office/drawing/2014/main" id="{54396775-24D8-A740-AE5F-E3200D79B9F8}"/>
                  </a:ext>
                </a:extLst>
              </p:cNvPr>
              <p:cNvSpPr txBox="1"/>
              <p:nvPr/>
            </p:nvSpPr>
            <p:spPr>
              <a:xfrm>
                <a:off x="4446984" y="4509120"/>
                <a:ext cx="1512168" cy="523220"/>
              </a:xfrm>
              <a:prstGeom prst="rect">
                <a:avLst/>
              </a:prstGeom>
              <a:noFill/>
            </p:spPr>
            <p:txBody>
              <a:bodyPr wrap="square" rtlCol="0">
                <a:spAutoFit/>
              </a:bodyPr>
              <a:lstStyle/>
              <a:p>
                <a:pPr algn="ctr"/>
                <a:r>
                  <a:rPr lang="nl-NL" sz="1400" dirty="0">
                    <a:solidFill>
                      <a:schemeClr val="accent4"/>
                    </a:solidFill>
                  </a:rPr>
                  <a:t>Technische</a:t>
                </a:r>
              </a:p>
              <a:p>
                <a:pPr algn="ctr"/>
                <a:r>
                  <a:rPr lang="nl-NL" sz="1400" dirty="0">
                    <a:solidFill>
                      <a:schemeClr val="accent4"/>
                    </a:solidFill>
                  </a:rPr>
                  <a:t>richting</a:t>
                </a:r>
              </a:p>
            </p:txBody>
          </p:sp>
        </p:grpSp>
        <p:sp>
          <p:nvSpPr>
            <p:cNvPr id="7" name="TextBox 18">
              <a:extLst>
                <a:ext uri="{FF2B5EF4-FFF2-40B4-BE49-F238E27FC236}">
                  <a16:creationId xmlns:a16="http://schemas.microsoft.com/office/drawing/2014/main" id="{B367F2AE-491A-5044-A4A8-CF92A87A89F3}"/>
                </a:ext>
              </a:extLst>
            </p:cNvPr>
            <p:cNvSpPr txBox="1"/>
            <p:nvPr/>
          </p:nvSpPr>
          <p:spPr>
            <a:xfrm>
              <a:off x="1115616" y="3059668"/>
              <a:ext cx="2160240" cy="369332"/>
            </a:xfrm>
            <a:prstGeom prst="rect">
              <a:avLst/>
            </a:prstGeom>
            <a:noFill/>
          </p:spPr>
          <p:txBody>
            <a:bodyPr wrap="square" rtlCol="0">
              <a:spAutoFit/>
            </a:bodyPr>
            <a:lstStyle/>
            <a:p>
              <a:pPr algn="ctr"/>
              <a:r>
                <a:rPr lang="nl-NL" b="1" dirty="0">
                  <a:solidFill>
                    <a:srgbClr val="000000"/>
                  </a:solidFill>
                </a:rPr>
                <a:t>Situatie A</a:t>
              </a:r>
            </a:p>
          </p:txBody>
        </p:sp>
      </p:grpSp>
      <p:grpSp>
        <p:nvGrpSpPr>
          <p:cNvPr id="18" name="Group 34">
            <a:extLst>
              <a:ext uri="{FF2B5EF4-FFF2-40B4-BE49-F238E27FC236}">
                <a16:creationId xmlns:a16="http://schemas.microsoft.com/office/drawing/2014/main" id="{CD49AA9C-8EA6-0E41-A732-E2A1EA4B86FC}"/>
              </a:ext>
            </a:extLst>
          </p:cNvPr>
          <p:cNvGrpSpPr/>
          <p:nvPr/>
        </p:nvGrpSpPr>
        <p:grpSpPr>
          <a:xfrm>
            <a:off x="2997184" y="4397483"/>
            <a:ext cx="2736304" cy="307777"/>
            <a:chOff x="827584" y="5497487"/>
            <a:chExt cx="2736304" cy="307777"/>
          </a:xfrm>
        </p:grpSpPr>
        <p:sp>
          <p:nvSpPr>
            <p:cNvPr id="19" name="TextBox 19">
              <a:extLst>
                <a:ext uri="{FF2B5EF4-FFF2-40B4-BE49-F238E27FC236}">
                  <a16:creationId xmlns:a16="http://schemas.microsoft.com/office/drawing/2014/main" id="{96BE3A53-985C-D844-85B3-1DAD571513C6}"/>
                </a:ext>
              </a:extLst>
            </p:cNvPr>
            <p:cNvSpPr txBox="1"/>
            <p:nvPr/>
          </p:nvSpPr>
          <p:spPr>
            <a:xfrm>
              <a:off x="827584" y="5497487"/>
              <a:ext cx="1224136" cy="307777"/>
            </a:xfrm>
            <a:prstGeom prst="rect">
              <a:avLst/>
            </a:prstGeom>
            <a:noFill/>
          </p:spPr>
          <p:txBody>
            <a:bodyPr wrap="square" rtlCol="0">
              <a:spAutoFit/>
            </a:bodyPr>
            <a:lstStyle/>
            <a:p>
              <a:r>
                <a:rPr lang="nl-NL" sz="1400" b="1" i="1" dirty="0">
                  <a:solidFill>
                    <a:schemeClr val="accent3"/>
                  </a:solidFill>
                </a:rPr>
                <a:t>var = 1,67 </a:t>
              </a:r>
            </a:p>
          </p:txBody>
        </p:sp>
        <p:sp>
          <p:nvSpPr>
            <p:cNvPr id="20" name="TextBox 35">
              <a:extLst>
                <a:ext uri="{FF2B5EF4-FFF2-40B4-BE49-F238E27FC236}">
                  <a16:creationId xmlns:a16="http://schemas.microsoft.com/office/drawing/2014/main" id="{595EE40B-A385-0C48-8588-D27A06BC426D}"/>
                </a:ext>
              </a:extLst>
            </p:cNvPr>
            <p:cNvSpPr txBox="1"/>
            <p:nvPr/>
          </p:nvSpPr>
          <p:spPr>
            <a:xfrm>
              <a:off x="2195736" y="5497487"/>
              <a:ext cx="1368152" cy="307777"/>
            </a:xfrm>
            <a:prstGeom prst="rect">
              <a:avLst/>
            </a:prstGeom>
            <a:noFill/>
          </p:spPr>
          <p:txBody>
            <a:bodyPr wrap="square" rtlCol="0">
              <a:spAutoFit/>
            </a:bodyPr>
            <a:lstStyle/>
            <a:p>
              <a:r>
                <a:rPr lang="nl-NL" sz="1400" b="1" i="1" dirty="0">
                  <a:solidFill>
                    <a:schemeClr val="accent4"/>
                  </a:solidFill>
                </a:rPr>
                <a:t>var = 166,67 </a:t>
              </a:r>
            </a:p>
          </p:txBody>
        </p:sp>
      </p:grpSp>
      <p:grpSp>
        <p:nvGrpSpPr>
          <p:cNvPr id="21" name="Group 32">
            <a:extLst>
              <a:ext uri="{FF2B5EF4-FFF2-40B4-BE49-F238E27FC236}">
                <a16:creationId xmlns:a16="http://schemas.microsoft.com/office/drawing/2014/main" id="{9E9EBECA-183E-BE46-8E70-EC0FF3CA9889}"/>
              </a:ext>
            </a:extLst>
          </p:cNvPr>
          <p:cNvGrpSpPr/>
          <p:nvPr/>
        </p:nvGrpSpPr>
        <p:grpSpPr>
          <a:xfrm>
            <a:off x="6535553" y="1873735"/>
            <a:ext cx="2997832" cy="2323420"/>
            <a:chOff x="4644008" y="3068960"/>
            <a:chExt cx="2997832" cy="2323420"/>
          </a:xfrm>
        </p:grpSpPr>
        <p:grpSp>
          <p:nvGrpSpPr>
            <p:cNvPr id="22" name="Group 21">
              <a:extLst>
                <a:ext uri="{FF2B5EF4-FFF2-40B4-BE49-F238E27FC236}">
                  <a16:creationId xmlns:a16="http://schemas.microsoft.com/office/drawing/2014/main" id="{31D4662C-1CEF-5B46-A268-241271754738}"/>
                </a:ext>
              </a:extLst>
            </p:cNvPr>
            <p:cNvGrpSpPr/>
            <p:nvPr/>
          </p:nvGrpSpPr>
          <p:grpSpPr>
            <a:xfrm>
              <a:off x="4644008" y="3645024"/>
              <a:ext cx="2997832" cy="1747356"/>
              <a:chOff x="2987824" y="3284984"/>
              <a:chExt cx="2997832" cy="1747356"/>
            </a:xfrm>
          </p:grpSpPr>
          <p:grpSp>
            <p:nvGrpSpPr>
              <p:cNvPr id="24" name="Group 22">
                <a:extLst>
                  <a:ext uri="{FF2B5EF4-FFF2-40B4-BE49-F238E27FC236}">
                    <a16:creationId xmlns:a16="http://schemas.microsoft.com/office/drawing/2014/main" id="{91E98364-D0A0-8341-825E-0F6CDAA49EE7}"/>
                  </a:ext>
                </a:extLst>
              </p:cNvPr>
              <p:cNvGrpSpPr/>
              <p:nvPr/>
            </p:nvGrpSpPr>
            <p:grpSpPr>
              <a:xfrm>
                <a:off x="3419872" y="3284984"/>
                <a:ext cx="720080" cy="1224136"/>
                <a:chOff x="755576" y="2781399"/>
                <a:chExt cx="720080" cy="1224136"/>
              </a:xfrm>
            </p:grpSpPr>
            <p:sp>
              <p:nvSpPr>
                <p:cNvPr id="31" name="TextBox 29">
                  <a:extLst>
                    <a:ext uri="{FF2B5EF4-FFF2-40B4-BE49-F238E27FC236}">
                      <a16:creationId xmlns:a16="http://schemas.microsoft.com/office/drawing/2014/main" id="{4F6EEE8F-01B9-244C-A664-211BD5B97D3B}"/>
                    </a:ext>
                  </a:extLst>
                </p:cNvPr>
                <p:cNvSpPr txBox="1"/>
                <p:nvPr/>
              </p:nvSpPr>
              <p:spPr>
                <a:xfrm>
                  <a:off x="755576" y="2781399"/>
                  <a:ext cx="432048" cy="1224136"/>
                </a:xfrm>
                <a:prstGeom prst="rect">
                  <a:avLst/>
                </a:prstGeom>
                <a:noFill/>
              </p:spPr>
              <p:txBody>
                <a:bodyPr wrap="square" rtlCol="0">
                  <a:spAutoFit/>
                </a:bodyPr>
                <a:lstStyle/>
                <a:p>
                  <a:r>
                    <a:rPr lang="nl-NL" dirty="0">
                      <a:solidFill>
                        <a:schemeClr val="accent3"/>
                      </a:solidFill>
                    </a:rPr>
                    <a:t>1</a:t>
                  </a:r>
                </a:p>
                <a:p>
                  <a:r>
                    <a:rPr lang="nl-NL" dirty="0">
                      <a:solidFill>
                        <a:schemeClr val="accent3"/>
                      </a:solidFill>
                    </a:rPr>
                    <a:t>3</a:t>
                  </a:r>
                  <a:br>
                    <a:rPr lang="nl-NL" dirty="0">
                      <a:solidFill>
                        <a:schemeClr val="accent3"/>
                      </a:solidFill>
                    </a:rPr>
                  </a:br>
                  <a:r>
                    <a:rPr lang="nl-NL" dirty="0">
                      <a:solidFill>
                        <a:schemeClr val="accent3"/>
                      </a:solidFill>
                    </a:rPr>
                    <a:t>5</a:t>
                  </a:r>
                </a:p>
                <a:p>
                  <a:r>
                    <a:rPr lang="nl-NL" dirty="0">
                      <a:solidFill>
                        <a:schemeClr val="accent3"/>
                      </a:solidFill>
                    </a:rPr>
                    <a:t>7</a:t>
                  </a:r>
                </a:p>
              </p:txBody>
            </p:sp>
            <p:cxnSp>
              <p:nvCxnSpPr>
                <p:cNvPr id="32" name="Straight Arrow Connector 30">
                  <a:extLst>
                    <a:ext uri="{FF2B5EF4-FFF2-40B4-BE49-F238E27FC236}">
                      <a16:creationId xmlns:a16="http://schemas.microsoft.com/office/drawing/2014/main" id="{5A676424-CCA5-914F-9C77-82322D3471FA}"/>
                    </a:ext>
                  </a:extLst>
                </p:cNvPr>
                <p:cNvCxnSpPr/>
                <p:nvPr/>
              </p:nvCxnSpPr>
              <p:spPr bwMode="auto">
                <a:xfrm>
                  <a:off x="1115616" y="2853407"/>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3" name="TextBox 31">
                  <a:extLst>
                    <a:ext uri="{FF2B5EF4-FFF2-40B4-BE49-F238E27FC236}">
                      <a16:creationId xmlns:a16="http://schemas.microsoft.com/office/drawing/2014/main" id="{D8A5B9E7-2C17-1C47-8E6C-E8C7D1A12CF1}"/>
                    </a:ext>
                  </a:extLst>
                </p:cNvPr>
                <p:cNvSpPr txBox="1"/>
                <p:nvPr/>
              </p:nvSpPr>
              <p:spPr>
                <a:xfrm>
                  <a:off x="1043608" y="3141439"/>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grpSp>
            <p:nvGrpSpPr>
              <p:cNvPr id="25" name="Group 23">
                <a:extLst>
                  <a:ext uri="{FF2B5EF4-FFF2-40B4-BE49-F238E27FC236}">
                    <a16:creationId xmlns:a16="http://schemas.microsoft.com/office/drawing/2014/main" id="{5046DBFE-0D6E-0848-8B78-BCEBF14EE8E3}"/>
                  </a:ext>
                </a:extLst>
              </p:cNvPr>
              <p:cNvGrpSpPr/>
              <p:nvPr/>
            </p:nvGrpSpPr>
            <p:grpSpPr>
              <a:xfrm>
                <a:off x="4860032" y="3284984"/>
                <a:ext cx="864096" cy="1200329"/>
                <a:chOff x="2195736" y="3284984"/>
                <a:chExt cx="864096" cy="1200329"/>
              </a:xfrm>
            </p:grpSpPr>
            <p:sp>
              <p:nvSpPr>
                <p:cNvPr id="28" name="TextBox 26">
                  <a:extLst>
                    <a:ext uri="{FF2B5EF4-FFF2-40B4-BE49-F238E27FC236}">
                      <a16:creationId xmlns:a16="http://schemas.microsoft.com/office/drawing/2014/main" id="{BA89A0CA-FD75-EF41-9311-CAD833A05F13}"/>
                    </a:ext>
                  </a:extLst>
                </p:cNvPr>
                <p:cNvSpPr txBox="1"/>
                <p:nvPr/>
              </p:nvSpPr>
              <p:spPr>
                <a:xfrm>
                  <a:off x="2195736" y="3284984"/>
                  <a:ext cx="504056" cy="1200329"/>
                </a:xfrm>
                <a:prstGeom prst="rect">
                  <a:avLst/>
                </a:prstGeom>
                <a:noFill/>
              </p:spPr>
              <p:txBody>
                <a:bodyPr wrap="square" rtlCol="0">
                  <a:spAutoFit/>
                </a:bodyPr>
                <a:lstStyle/>
                <a:p>
                  <a:r>
                    <a:rPr lang="nl-NL" dirty="0">
                      <a:solidFill>
                        <a:schemeClr val="accent4"/>
                      </a:solidFill>
                    </a:rPr>
                    <a:t>10</a:t>
                  </a:r>
                </a:p>
                <a:p>
                  <a:r>
                    <a:rPr lang="nl-NL" dirty="0">
                      <a:solidFill>
                        <a:schemeClr val="accent4"/>
                      </a:solidFill>
                    </a:rPr>
                    <a:t>12</a:t>
                  </a:r>
                  <a:br>
                    <a:rPr lang="nl-NL" dirty="0">
                      <a:solidFill>
                        <a:schemeClr val="accent4"/>
                      </a:solidFill>
                    </a:rPr>
                  </a:br>
                  <a:r>
                    <a:rPr lang="nl-NL" dirty="0">
                      <a:solidFill>
                        <a:schemeClr val="accent4"/>
                      </a:solidFill>
                    </a:rPr>
                    <a:t>14</a:t>
                  </a:r>
                </a:p>
                <a:p>
                  <a:r>
                    <a:rPr lang="nl-NL" dirty="0">
                      <a:solidFill>
                        <a:schemeClr val="accent4"/>
                      </a:solidFill>
                    </a:rPr>
                    <a:t>16</a:t>
                  </a:r>
                </a:p>
              </p:txBody>
            </p:sp>
            <p:cxnSp>
              <p:nvCxnSpPr>
                <p:cNvPr id="29" name="Straight Arrow Connector 27">
                  <a:extLst>
                    <a:ext uri="{FF2B5EF4-FFF2-40B4-BE49-F238E27FC236}">
                      <a16:creationId xmlns:a16="http://schemas.microsoft.com/office/drawing/2014/main" id="{E4E49C70-6886-E74C-A1F4-97CD287BAF41}"/>
                    </a:ext>
                  </a:extLst>
                </p:cNvPr>
                <p:cNvCxnSpPr/>
                <p:nvPr/>
              </p:nvCxnSpPr>
              <p:spPr bwMode="auto">
                <a:xfrm>
                  <a:off x="2699792" y="3356992"/>
                  <a:ext cx="0" cy="1008112"/>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0" name="TextBox 28">
                  <a:extLst>
                    <a:ext uri="{FF2B5EF4-FFF2-40B4-BE49-F238E27FC236}">
                      <a16:creationId xmlns:a16="http://schemas.microsoft.com/office/drawing/2014/main" id="{428AD93B-18E3-F34C-822E-68629288ECC7}"/>
                    </a:ext>
                  </a:extLst>
                </p:cNvPr>
                <p:cNvSpPr txBox="1"/>
                <p:nvPr/>
              </p:nvSpPr>
              <p:spPr>
                <a:xfrm>
                  <a:off x="2627784" y="3635732"/>
                  <a:ext cx="432048" cy="369332"/>
                </a:xfrm>
                <a:prstGeom prst="rect">
                  <a:avLst/>
                </a:prstGeom>
                <a:noFill/>
              </p:spPr>
              <p:txBody>
                <a:bodyPr wrap="square" rtlCol="0">
                  <a:spAutoFit/>
                </a:bodyPr>
                <a:lstStyle/>
                <a:p>
                  <a:r>
                    <a:rPr lang="nl-NL" dirty="0">
                      <a:solidFill>
                        <a:schemeClr val="tx1"/>
                      </a:solidFill>
                    </a:rPr>
                    <a:t>σ</a:t>
                  </a:r>
                  <a:r>
                    <a:rPr lang="nl-NL" baseline="30000" dirty="0">
                      <a:solidFill>
                        <a:schemeClr val="tx1"/>
                      </a:solidFill>
                    </a:rPr>
                    <a:t>2</a:t>
                  </a:r>
                </a:p>
              </p:txBody>
            </p:sp>
          </p:grpSp>
          <p:sp>
            <p:nvSpPr>
              <p:cNvPr id="26" name="TextBox 24">
                <a:extLst>
                  <a:ext uri="{FF2B5EF4-FFF2-40B4-BE49-F238E27FC236}">
                    <a16:creationId xmlns:a16="http://schemas.microsoft.com/office/drawing/2014/main" id="{F2EFBF7E-BDD2-3541-817F-3497806CC7C2}"/>
                  </a:ext>
                </a:extLst>
              </p:cNvPr>
              <p:cNvSpPr txBox="1"/>
              <p:nvPr/>
            </p:nvSpPr>
            <p:spPr>
              <a:xfrm>
                <a:off x="2987824" y="4509120"/>
                <a:ext cx="1512168" cy="523220"/>
              </a:xfrm>
              <a:prstGeom prst="rect">
                <a:avLst/>
              </a:prstGeom>
              <a:noFill/>
            </p:spPr>
            <p:txBody>
              <a:bodyPr wrap="square" rtlCol="0">
                <a:spAutoFit/>
              </a:bodyPr>
              <a:lstStyle/>
              <a:p>
                <a:pPr algn="ctr"/>
                <a:r>
                  <a:rPr lang="nl-NL" sz="1400" dirty="0" err="1">
                    <a:solidFill>
                      <a:schemeClr val="accent3"/>
                    </a:solidFill>
                  </a:rPr>
                  <a:t>Nt</a:t>
                </a:r>
                <a:r>
                  <a:rPr lang="nl-NL" sz="1400" dirty="0">
                    <a:solidFill>
                      <a:schemeClr val="accent3"/>
                    </a:solidFill>
                  </a:rPr>
                  <a:t>-technische</a:t>
                </a:r>
              </a:p>
              <a:p>
                <a:pPr algn="ctr"/>
                <a:r>
                  <a:rPr lang="nl-NL" sz="1400" dirty="0">
                    <a:solidFill>
                      <a:schemeClr val="accent3"/>
                    </a:solidFill>
                  </a:rPr>
                  <a:t>richting</a:t>
                </a:r>
              </a:p>
            </p:txBody>
          </p:sp>
          <p:sp>
            <p:nvSpPr>
              <p:cNvPr id="27" name="TextBox 25">
                <a:extLst>
                  <a:ext uri="{FF2B5EF4-FFF2-40B4-BE49-F238E27FC236}">
                    <a16:creationId xmlns:a16="http://schemas.microsoft.com/office/drawing/2014/main" id="{5668BF23-D1A8-EA48-A671-C19050862C79}"/>
                  </a:ext>
                </a:extLst>
              </p:cNvPr>
              <p:cNvSpPr txBox="1"/>
              <p:nvPr/>
            </p:nvSpPr>
            <p:spPr>
              <a:xfrm>
                <a:off x="4473488" y="4509120"/>
                <a:ext cx="1512168" cy="523220"/>
              </a:xfrm>
              <a:prstGeom prst="rect">
                <a:avLst/>
              </a:prstGeom>
              <a:noFill/>
            </p:spPr>
            <p:txBody>
              <a:bodyPr wrap="square" rtlCol="0">
                <a:spAutoFit/>
              </a:bodyPr>
              <a:lstStyle/>
              <a:p>
                <a:pPr algn="ctr"/>
                <a:r>
                  <a:rPr lang="nl-NL" sz="1400" dirty="0">
                    <a:solidFill>
                      <a:schemeClr val="accent4"/>
                    </a:solidFill>
                  </a:rPr>
                  <a:t>Technische</a:t>
                </a:r>
              </a:p>
              <a:p>
                <a:pPr algn="ctr"/>
                <a:r>
                  <a:rPr lang="nl-NL" sz="1400" dirty="0">
                    <a:solidFill>
                      <a:schemeClr val="accent4"/>
                    </a:solidFill>
                  </a:rPr>
                  <a:t>richting</a:t>
                </a:r>
              </a:p>
            </p:txBody>
          </p:sp>
        </p:grpSp>
        <p:sp>
          <p:nvSpPr>
            <p:cNvPr id="23" name="TextBox 33">
              <a:extLst>
                <a:ext uri="{FF2B5EF4-FFF2-40B4-BE49-F238E27FC236}">
                  <a16:creationId xmlns:a16="http://schemas.microsoft.com/office/drawing/2014/main" id="{39F69AE0-735E-174E-AF9B-A0EA099FBE26}"/>
                </a:ext>
              </a:extLst>
            </p:cNvPr>
            <p:cNvSpPr txBox="1"/>
            <p:nvPr/>
          </p:nvSpPr>
          <p:spPr>
            <a:xfrm>
              <a:off x="5004048" y="3068960"/>
              <a:ext cx="2160240" cy="369332"/>
            </a:xfrm>
            <a:prstGeom prst="rect">
              <a:avLst/>
            </a:prstGeom>
            <a:noFill/>
          </p:spPr>
          <p:txBody>
            <a:bodyPr wrap="square" rtlCol="0">
              <a:spAutoFit/>
            </a:bodyPr>
            <a:lstStyle/>
            <a:p>
              <a:pPr algn="ctr"/>
              <a:r>
                <a:rPr lang="nl-NL" b="1" dirty="0">
                  <a:solidFill>
                    <a:srgbClr val="000000"/>
                  </a:solidFill>
                </a:rPr>
                <a:t>Situatie B</a:t>
              </a:r>
            </a:p>
          </p:txBody>
        </p:sp>
      </p:grpSp>
      <p:grpSp>
        <p:nvGrpSpPr>
          <p:cNvPr id="34" name="Group 38">
            <a:extLst>
              <a:ext uri="{FF2B5EF4-FFF2-40B4-BE49-F238E27FC236}">
                <a16:creationId xmlns:a16="http://schemas.microsoft.com/office/drawing/2014/main" id="{48AE32FA-65FC-5D48-B944-17F879877B6A}"/>
              </a:ext>
            </a:extLst>
          </p:cNvPr>
          <p:cNvGrpSpPr/>
          <p:nvPr/>
        </p:nvGrpSpPr>
        <p:grpSpPr>
          <a:xfrm>
            <a:off x="6921620" y="4370423"/>
            <a:ext cx="2736304" cy="307777"/>
            <a:chOff x="4788024" y="5497487"/>
            <a:chExt cx="2736304" cy="307777"/>
          </a:xfrm>
        </p:grpSpPr>
        <p:sp>
          <p:nvSpPr>
            <p:cNvPr id="35" name="TextBox 36">
              <a:extLst>
                <a:ext uri="{FF2B5EF4-FFF2-40B4-BE49-F238E27FC236}">
                  <a16:creationId xmlns:a16="http://schemas.microsoft.com/office/drawing/2014/main" id="{2682D527-AC27-0A45-B001-323638063F58}"/>
                </a:ext>
              </a:extLst>
            </p:cNvPr>
            <p:cNvSpPr txBox="1"/>
            <p:nvPr/>
          </p:nvSpPr>
          <p:spPr>
            <a:xfrm>
              <a:off x="4788024" y="5497487"/>
              <a:ext cx="1224136" cy="307777"/>
            </a:xfrm>
            <a:prstGeom prst="rect">
              <a:avLst/>
            </a:prstGeom>
            <a:noFill/>
          </p:spPr>
          <p:txBody>
            <a:bodyPr wrap="square" rtlCol="0">
              <a:spAutoFit/>
            </a:bodyPr>
            <a:lstStyle/>
            <a:p>
              <a:r>
                <a:rPr lang="nl-NL" sz="1400" b="1" i="1" dirty="0">
                  <a:solidFill>
                    <a:schemeClr val="accent3"/>
                  </a:solidFill>
                </a:rPr>
                <a:t>var = 6,67 </a:t>
              </a:r>
            </a:p>
          </p:txBody>
        </p:sp>
        <p:sp>
          <p:nvSpPr>
            <p:cNvPr id="36" name="TextBox 37">
              <a:extLst>
                <a:ext uri="{FF2B5EF4-FFF2-40B4-BE49-F238E27FC236}">
                  <a16:creationId xmlns:a16="http://schemas.microsoft.com/office/drawing/2014/main" id="{82C6E55B-C79B-7747-9484-77098D505175}"/>
                </a:ext>
              </a:extLst>
            </p:cNvPr>
            <p:cNvSpPr txBox="1"/>
            <p:nvPr/>
          </p:nvSpPr>
          <p:spPr>
            <a:xfrm>
              <a:off x="6156176" y="5497487"/>
              <a:ext cx="1368152" cy="307777"/>
            </a:xfrm>
            <a:prstGeom prst="rect">
              <a:avLst/>
            </a:prstGeom>
            <a:noFill/>
          </p:spPr>
          <p:txBody>
            <a:bodyPr wrap="square" rtlCol="0">
              <a:spAutoFit/>
            </a:bodyPr>
            <a:lstStyle/>
            <a:p>
              <a:r>
                <a:rPr lang="nl-NL" sz="1400" b="1" i="1" dirty="0">
                  <a:solidFill>
                    <a:schemeClr val="accent4"/>
                  </a:solidFill>
                </a:rPr>
                <a:t>var = 6,67 </a:t>
              </a:r>
            </a:p>
          </p:txBody>
        </p:sp>
      </p:grpSp>
      <p:sp>
        <p:nvSpPr>
          <p:cNvPr id="37" name="Rechthoek 36"/>
          <p:cNvSpPr/>
          <p:nvPr/>
        </p:nvSpPr>
        <p:spPr bwMode="auto">
          <a:xfrm>
            <a:off x="6441141" y="1577009"/>
            <a:ext cx="3216783" cy="3411850"/>
          </a:xfrm>
          <a:prstGeom prst="rect">
            <a:avLst/>
          </a:prstGeom>
          <a:noFill/>
          <a:ln>
            <a:solidFill>
              <a:schemeClr val="accent1"/>
            </a:solid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806666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hoek 7">
            <a:extLst>
              <a:ext uri="{FF2B5EF4-FFF2-40B4-BE49-F238E27FC236}">
                <a16:creationId xmlns:a16="http://schemas.microsoft.com/office/drawing/2014/main" id="{C071B7D5-9A67-0341-9F97-EAF960793D5D}"/>
              </a:ext>
            </a:extLst>
          </p:cNvPr>
          <p:cNvSpPr>
            <a:spLocks noGrp="1" noChangeArrowheads="1"/>
          </p:cNvSpPr>
          <p:nvPr>
            <p:ph idx="1"/>
          </p:nvPr>
        </p:nvSpPr>
        <p:spPr bwMode="auto">
          <a:xfrm>
            <a:off x="1516227" y="2699967"/>
            <a:ext cx="8778542" cy="3797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marL="0" indent="0" eaLnBrk="1" hangingPunct="1">
              <a:buNone/>
            </a:pPr>
            <a:r>
              <a:rPr lang="nl-BE" sz="1400" b="1" dirty="0">
                <a:solidFill>
                  <a:srgbClr val="0000FF"/>
                </a:solidFill>
                <a:latin typeface="Courier New" charset="0"/>
                <a:cs typeface="Courier New" charset="0"/>
              </a:rPr>
              <a:t>&gt; t.test(Techniek$Interest.voor ~ Techniek$Richting2cat, var.equal = FALSE)</a:t>
            </a:r>
            <a:endParaRPr lang="nl-BE" sz="1400" b="1" dirty="0">
              <a:solidFill>
                <a:schemeClr val="tx1"/>
              </a:solidFill>
              <a:latin typeface="Courier New" charset="0"/>
              <a:cs typeface="Courier New" charset="0"/>
            </a:endParaRPr>
          </a:p>
          <a:p>
            <a:pPr marL="0" indent="0" eaLnBrk="1" hangingPunct="1">
              <a:buNone/>
            </a:pPr>
            <a:r>
              <a:rPr lang="nl-BE" sz="1400" dirty="0">
                <a:solidFill>
                  <a:schemeClr val="tx1"/>
                </a:solidFill>
                <a:latin typeface="Courier New" charset="0"/>
                <a:cs typeface="Courier New" charset="0"/>
              </a:rPr>
              <a:t>	Welch Two Sample t-test</a:t>
            </a:r>
          </a:p>
          <a:p>
            <a:pPr eaLnBrk="1" hangingPunct="1"/>
            <a:endParaRPr lang="nl-BE" sz="1400" dirty="0">
              <a:solidFill>
                <a:schemeClr val="tx1"/>
              </a:solidFill>
              <a:latin typeface="Courier New" charset="0"/>
              <a:cs typeface="Courier New" charset="0"/>
            </a:endParaRPr>
          </a:p>
          <a:p>
            <a:pPr marL="0" indent="0" eaLnBrk="1" hangingPunct="1">
              <a:buNone/>
            </a:pPr>
            <a:r>
              <a:rPr lang="nl-BE" sz="1400" dirty="0">
                <a:solidFill>
                  <a:schemeClr val="tx1"/>
                </a:solidFill>
                <a:latin typeface="Courier New" charset="0"/>
                <a:cs typeface="Courier New" charset="0"/>
              </a:rPr>
              <a:t>data:  Techniek$Interest.voor by Techniek$Richting2cat </a:t>
            </a:r>
          </a:p>
          <a:p>
            <a:pPr marL="0" indent="0" eaLnBrk="1" hangingPunct="1">
              <a:buNone/>
            </a:pPr>
            <a:r>
              <a:rPr lang="nl-BE" sz="1400" dirty="0">
                <a:solidFill>
                  <a:schemeClr val="tx1"/>
                </a:solidFill>
                <a:latin typeface="Courier New" charset="0"/>
                <a:cs typeface="Courier New" charset="0"/>
              </a:rPr>
              <a:t>t = -15.6793, df = 221.149, </a:t>
            </a:r>
            <a:r>
              <a:rPr lang="nl-BE" sz="1400" b="1" dirty="0">
                <a:solidFill>
                  <a:schemeClr val="tx1"/>
                </a:solidFill>
                <a:latin typeface="Courier New" charset="0"/>
                <a:cs typeface="Courier New" charset="0"/>
              </a:rPr>
              <a:t>p-value &lt; 2.2e-16</a:t>
            </a:r>
          </a:p>
          <a:p>
            <a:pPr marL="0" indent="0" eaLnBrk="1" hangingPunct="1">
              <a:buNone/>
            </a:pPr>
            <a:r>
              <a:rPr lang="nl-BE" sz="1400" dirty="0">
                <a:solidFill>
                  <a:schemeClr val="tx1"/>
                </a:solidFill>
                <a:latin typeface="Courier New" charset="0"/>
                <a:cs typeface="Courier New" charset="0"/>
              </a:rPr>
              <a:t>alternative hypothesis: true difference in means is not equal to 0 </a:t>
            </a:r>
          </a:p>
          <a:p>
            <a:pPr marL="0" indent="0" eaLnBrk="1" hangingPunct="1">
              <a:buNone/>
            </a:pPr>
            <a:r>
              <a:rPr lang="nl-BE" sz="1400" dirty="0">
                <a:solidFill>
                  <a:schemeClr val="tx1"/>
                </a:solidFill>
                <a:latin typeface="Courier New" charset="0"/>
                <a:cs typeface="Courier New" charset="0"/>
              </a:rPr>
              <a:t>95 percent confidence interval:</a:t>
            </a:r>
          </a:p>
          <a:p>
            <a:pPr marL="0" indent="0" eaLnBrk="1" hangingPunct="1">
              <a:buNone/>
            </a:pPr>
            <a:r>
              <a:rPr lang="nl-BE" sz="1400" dirty="0">
                <a:solidFill>
                  <a:schemeClr val="tx1"/>
                </a:solidFill>
                <a:latin typeface="Courier New" charset="0"/>
                <a:cs typeface="Courier New" charset="0"/>
              </a:rPr>
              <a:t> -1.092291 -0.848367 </a:t>
            </a:r>
          </a:p>
          <a:p>
            <a:pPr marL="0" indent="0" eaLnBrk="1" hangingPunct="1">
              <a:buNone/>
            </a:pPr>
            <a:r>
              <a:rPr lang="nl-BE" sz="1400" dirty="0">
                <a:solidFill>
                  <a:schemeClr val="tx1"/>
                </a:solidFill>
                <a:latin typeface="Courier New" charset="0"/>
                <a:cs typeface="Courier New" charset="0"/>
              </a:rPr>
              <a:t>sample estimates:</a:t>
            </a:r>
          </a:p>
          <a:p>
            <a:pPr marL="0" indent="0" eaLnBrk="1" hangingPunct="1">
              <a:buNone/>
            </a:pPr>
            <a:r>
              <a:rPr lang="nl-BE" sz="1400" b="1" dirty="0">
                <a:solidFill>
                  <a:schemeClr val="tx1"/>
                </a:solidFill>
                <a:latin typeface="Courier New" charset="0"/>
                <a:cs typeface="Courier New" charset="0"/>
              </a:rPr>
              <a:t>mean in group 0 mean in group 1 </a:t>
            </a:r>
          </a:p>
          <a:p>
            <a:pPr marL="0" indent="0" eaLnBrk="1" hangingPunct="1">
              <a:buNone/>
            </a:pPr>
            <a:r>
              <a:rPr lang="nl-BE" sz="1400" b="1" dirty="0">
                <a:solidFill>
                  <a:schemeClr val="tx1"/>
                </a:solidFill>
                <a:latin typeface="Courier New" charset="0"/>
                <a:cs typeface="Courier New" charset="0"/>
              </a:rPr>
              <a:t>       2.842243        3.812571 </a:t>
            </a:r>
          </a:p>
          <a:p>
            <a:pPr eaLnBrk="1" hangingPunct="1"/>
            <a:endParaRPr lang="nl-BE" sz="1400" dirty="0">
              <a:solidFill>
                <a:schemeClr val="tx1"/>
              </a:solidFill>
              <a:latin typeface="Courier New" charset="0"/>
              <a:cs typeface="Courier New" charset="0"/>
            </a:endParaRPr>
          </a:p>
          <a:p>
            <a:pPr marL="0" indent="0" eaLnBrk="1" hangingPunct="1">
              <a:buNone/>
            </a:pPr>
            <a:r>
              <a:rPr lang="nl-BE" sz="1400" b="1" dirty="0">
                <a:solidFill>
                  <a:srgbClr val="0000FF"/>
                </a:solidFill>
                <a:latin typeface="Courier New" charset="0"/>
                <a:cs typeface="Courier New" charset="0"/>
              </a:rPr>
              <a:t>&gt; d(</a:t>
            </a:r>
            <a:r>
              <a:rPr lang="nl-BE" sz="1400" b="1" dirty="0" err="1">
                <a:solidFill>
                  <a:srgbClr val="0000FF"/>
                </a:solidFill>
                <a:latin typeface="Courier New" charset="0"/>
                <a:cs typeface="Courier New" charset="0"/>
              </a:rPr>
              <a:t>Techniek$Interest.voor</a:t>
            </a:r>
            <a:r>
              <a:rPr lang="nl-BE" sz="1400" b="1" dirty="0">
                <a:solidFill>
                  <a:srgbClr val="0000FF"/>
                </a:solidFill>
                <a:latin typeface="Courier New" charset="0"/>
                <a:cs typeface="Courier New" charset="0"/>
              </a:rPr>
              <a:t>, Techniek$Richting2cat)</a:t>
            </a:r>
          </a:p>
          <a:p>
            <a:pPr marL="0" indent="0" eaLnBrk="1" hangingPunct="1">
              <a:buNone/>
            </a:pPr>
            <a:r>
              <a:rPr lang="nl-BE" sz="1400" dirty="0">
                <a:solidFill>
                  <a:schemeClr val="tx1"/>
                </a:solidFill>
                <a:latin typeface="Courier New" charset="0"/>
                <a:cs typeface="Courier New" charset="0"/>
              </a:rPr>
              <a:t>[1] -1.1286</a:t>
            </a:r>
          </a:p>
          <a:p>
            <a:pPr eaLnBrk="1" hangingPunct="1"/>
            <a:endParaRPr lang="nl-BE" sz="1200" dirty="0">
              <a:solidFill>
                <a:schemeClr val="tx1"/>
              </a:solidFill>
              <a:latin typeface="Courier New" charset="0"/>
              <a:cs typeface="Courier New" charset="0"/>
            </a:endParaRPr>
          </a:p>
        </p:txBody>
      </p:sp>
      <p:sp>
        <p:nvSpPr>
          <p:cNvPr id="4" name="Tekstballon: rechthoek met afgeronde hoeken 3">
            <a:extLst>
              <a:ext uri="{FF2B5EF4-FFF2-40B4-BE49-F238E27FC236}">
                <a16:creationId xmlns:a16="http://schemas.microsoft.com/office/drawing/2014/main" id="{F5F1B5E2-C1D4-4737-86A3-E7D311DD2EE8}"/>
              </a:ext>
            </a:extLst>
          </p:cNvPr>
          <p:cNvSpPr/>
          <p:nvPr/>
        </p:nvSpPr>
        <p:spPr bwMode="auto">
          <a:xfrm rot="4380000">
            <a:off x="5741297" y="3965143"/>
            <a:ext cx="589837" cy="1865937"/>
          </a:xfrm>
          <a:prstGeom prst="wedgeRoundRectCallout">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NL" sz="1600" dirty="0">
              <a:latin typeface="Verdana" charset="0"/>
              <a:ea typeface="Verdana Regular" charset="0"/>
              <a:cs typeface="Verdana Regular" charset="0"/>
              <a:sym typeface="Securitas Sans Light" charset="0"/>
            </a:endParaRPr>
          </a:p>
        </p:txBody>
      </p:sp>
      <p:sp>
        <p:nvSpPr>
          <p:cNvPr id="2" name="Titel 1">
            <a:extLst>
              <a:ext uri="{FF2B5EF4-FFF2-40B4-BE49-F238E27FC236}">
                <a16:creationId xmlns:a16="http://schemas.microsoft.com/office/drawing/2014/main" id="{B787020B-8C49-D44F-A7E1-67BFDF74E1EE}"/>
              </a:ext>
            </a:extLst>
          </p:cNvPr>
          <p:cNvSpPr>
            <a:spLocks noGrp="1"/>
          </p:cNvSpPr>
          <p:nvPr>
            <p:ph type="title"/>
          </p:nvPr>
        </p:nvSpPr>
        <p:spPr/>
        <p:txBody>
          <a:bodyPr/>
          <a:lstStyle/>
          <a:p>
            <a:r>
              <a:rPr lang="nl-BE" dirty="0"/>
              <a:t>Statistische significantie (t-test) en effectgrootte?</a:t>
            </a:r>
          </a:p>
        </p:txBody>
      </p:sp>
      <p:sp>
        <p:nvSpPr>
          <p:cNvPr id="3" name="Tijdelijke aanduiding voor dianummer 2">
            <a:extLst>
              <a:ext uri="{FF2B5EF4-FFF2-40B4-BE49-F238E27FC236}">
                <a16:creationId xmlns:a16="http://schemas.microsoft.com/office/drawing/2014/main" id="{C98B645B-B565-2C43-AA0F-9C5B7346A994}"/>
              </a:ext>
            </a:extLst>
          </p:cNvPr>
          <p:cNvSpPr>
            <a:spLocks noGrp="1"/>
          </p:cNvSpPr>
          <p:nvPr>
            <p:ph type="sldNum" sz="quarter" idx="10"/>
          </p:nvPr>
        </p:nvSpPr>
        <p:spPr/>
        <p:txBody>
          <a:bodyPr/>
          <a:lstStyle/>
          <a:p>
            <a:fld id="{E038E271-308C-2E46-A3EC-56326F9084CC}" type="slidenum">
              <a:rPr lang="nl-BE" smtClean="0"/>
              <a:pPr/>
              <a:t>12</a:t>
            </a:fld>
            <a:endParaRPr lang="nl-BE" dirty="0"/>
          </a:p>
        </p:txBody>
      </p:sp>
      <p:graphicFrame>
        <p:nvGraphicFramePr>
          <p:cNvPr id="6" name="Table 1">
            <a:extLst>
              <a:ext uri="{FF2B5EF4-FFF2-40B4-BE49-F238E27FC236}">
                <a16:creationId xmlns:a16="http://schemas.microsoft.com/office/drawing/2014/main" id="{5E847D8A-6760-9849-AAB8-42572F8B137B}"/>
              </a:ext>
            </a:extLst>
          </p:cNvPr>
          <p:cNvGraphicFramePr>
            <a:graphicFrameLocks noGrp="1"/>
          </p:cNvGraphicFramePr>
          <p:nvPr/>
        </p:nvGraphicFramePr>
        <p:xfrm>
          <a:off x="7820101" y="5326622"/>
          <a:ext cx="4320480" cy="1000588"/>
        </p:xfrm>
        <a:graphic>
          <a:graphicData uri="http://schemas.openxmlformats.org/drawingml/2006/table">
            <a:tbl>
              <a:tblPr>
                <a:tableStyleId>{5940675A-B579-460E-94D1-54222C63F5DA}</a:tableStyleId>
              </a:tblPr>
              <a:tblGrid>
                <a:gridCol w="1512168">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tblGrid>
              <a:tr h="27816">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b="1" u="none" strike="noStrike" cap="none" normalizeH="0" baseline="0" dirty="0">
                          <a:ln>
                            <a:noFill/>
                          </a:ln>
                          <a:effectLst/>
                        </a:rPr>
                        <a:t>Effect </a:t>
                      </a:r>
                      <a:r>
                        <a:rPr kumimoji="0" lang="nl-BE" altLang="nl-BE" sz="1200" b="1" u="none" strike="noStrike" cap="none" normalizeH="0" baseline="0" dirty="0" err="1">
                          <a:ln>
                            <a:noFill/>
                          </a:ln>
                          <a:effectLst/>
                        </a:rPr>
                        <a:t>Size</a:t>
                      </a:r>
                      <a:r>
                        <a:rPr kumimoji="0" lang="nl-BE" altLang="nl-BE" sz="1200" b="1" u="none" strike="noStrike" cap="none" normalizeH="0" baseline="0" dirty="0">
                          <a:ln>
                            <a:noFill/>
                          </a:ln>
                          <a:effectLst/>
                        </a:rPr>
                        <a:t> (</a:t>
                      </a:r>
                      <a:r>
                        <a:rPr kumimoji="0" lang="nl-BE" altLang="nl-BE" sz="1200" b="1" i="1" u="none" strike="noStrike" cap="none" normalizeH="0" baseline="0" dirty="0">
                          <a:ln>
                            <a:noFill/>
                          </a:ln>
                          <a:effectLst/>
                        </a:rPr>
                        <a:t>d</a:t>
                      </a:r>
                      <a:r>
                        <a:rPr kumimoji="0" lang="nl-BE" altLang="nl-BE" sz="1200" b="1" u="none" strike="noStrike" cap="none" normalizeH="0" baseline="0" dirty="0">
                          <a:ln>
                            <a:noFill/>
                          </a:ln>
                          <a:effectLst/>
                        </a:rPr>
                        <a:t>)</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solidFill>
                      <a:schemeClr val="bg1">
                        <a:lumMod val="75000"/>
                      </a:schemeClr>
                    </a:solidFill>
                  </a:tcPr>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b="1" u="none" strike="noStrike" cap="none" normalizeH="0" baseline="0" dirty="0" err="1">
                          <a:ln>
                            <a:noFill/>
                          </a:ln>
                          <a:effectLst/>
                        </a:rPr>
                        <a:t>Cohen</a:t>
                      </a:r>
                      <a:r>
                        <a:rPr kumimoji="0" lang="nl-BE" altLang="en-GB" sz="1200" b="1" u="none" strike="noStrike" cap="none" normalizeH="0" baseline="0" dirty="0" err="1">
                          <a:ln>
                            <a:noFill/>
                          </a:ln>
                          <a:effectLst/>
                        </a:rPr>
                        <a:t>’</a:t>
                      </a:r>
                      <a:r>
                        <a:rPr kumimoji="0" lang="nl-BE" altLang="nl-BE" sz="1200" b="1" u="none" strike="noStrike" cap="none" normalizeH="0" baseline="0" dirty="0" err="1">
                          <a:ln>
                            <a:noFill/>
                          </a:ln>
                          <a:effectLst/>
                        </a:rPr>
                        <a:t>s</a:t>
                      </a:r>
                      <a:r>
                        <a:rPr kumimoji="0" lang="nl-BE" altLang="nl-BE" sz="1200" b="1" u="none" strike="noStrike" cap="none" normalizeH="0" baseline="0" dirty="0">
                          <a:ln>
                            <a:noFill/>
                          </a:ln>
                          <a:effectLst/>
                        </a:rPr>
                        <a:t> vuistregel</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solidFill>
                      <a:schemeClr val="bg1">
                        <a:lumMod val="75000"/>
                      </a:schemeClr>
                    </a:solidFill>
                  </a:tcPr>
                </a:tc>
                <a:extLst>
                  <a:ext uri="{0D108BD9-81ED-4DB2-BD59-A6C34878D82A}">
                    <a16:rowId xmlns:a16="http://schemas.microsoft.com/office/drawing/2014/main" val="10000"/>
                  </a:ext>
                </a:extLst>
              </a:tr>
              <a:tr h="134534">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≥0.8</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a:ln>
                            <a:noFill/>
                          </a:ln>
                          <a:effectLst/>
                        </a:rPr>
                        <a:t>Groot</a:t>
                      </a:r>
                      <a:endParaRPr kumimoji="0" lang="nl-BE" altLang="nl-BE" sz="1200" b="0" i="0" u="none" strike="noStrike" cap="none" normalizeH="0" baseline="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1"/>
                  </a:ext>
                </a:extLst>
              </a:tr>
              <a:tr h="134534">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0.5-0.79</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Medium </a:t>
                      </a:r>
                      <a:endParaRPr kumimoji="0" lang="nl-BE" altLang="nl-BE" sz="1200" b="0" i="0" u="none" strike="noStrike" cap="none" normalizeH="0" baseline="0" dirty="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2"/>
                  </a:ext>
                </a:extLst>
              </a:tr>
              <a:tr h="134534">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0.2-0.49</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Klein</a:t>
                      </a:r>
                      <a:endParaRPr kumimoji="0" lang="nl-BE" altLang="nl-BE" sz="1200" b="0" i="0" u="none" strike="noStrike" cap="none" normalizeH="0" baseline="0" dirty="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3"/>
                  </a:ext>
                </a:extLst>
              </a:tr>
              <a:tr h="269068">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≤0.29</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Verwaarloosbaar klein/geen effect</a:t>
                      </a:r>
                      <a:endParaRPr kumimoji="0" lang="nl-BE" altLang="nl-BE" sz="1200" b="0" i="0" u="none" strike="noStrike" cap="none" normalizeH="0" baseline="0" dirty="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4"/>
                  </a:ext>
                </a:extLst>
              </a:tr>
            </a:tbl>
          </a:graphicData>
        </a:graphic>
      </p:graphicFrame>
      <p:sp>
        <p:nvSpPr>
          <p:cNvPr id="13" name="Rechthoek 12">
            <a:extLst>
              <a:ext uri="{FF2B5EF4-FFF2-40B4-BE49-F238E27FC236}">
                <a16:creationId xmlns:a16="http://schemas.microsoft.com/office/drawing/2014/main" id="{A0E20F15-869E-D047-86A1-4E2FCB778B81}"/>
              </a:ext>
            </a:extLst>
          </p:cNvPr>
          <p:cNvSpPr/>
          <p:nvPr/>
        </p:nvSpPr>
        <p:spPr bwMode="auto">
          <a:xfrm>
            <a:off x="414337" y="1211599"/>
            <a:ext cx="11363326" cy="1259615"/>
          </a:xfrm>
          <a:prstGeom prst="rect">
            <a:avLst/>
          </a:prstGeom>
          <a:solidFill>
            <a:schemeClr val="bg2"/>
          </a:solidFill>
          <a:ln w="28575">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2" name="Tekstvak 11">
            <a:extLst>
              <a:ext uri="{FF2B5EF4-FFF2-40B4-BE49-F238E27FC236}">
                <a16:creationId xmlns:a16="http://schemas.microsoft.com/office/drawing/2014/main" id="{75CCCA83-7EAF-E641-8885-F42EB32DE4F1}"/>
              </a:ext>
            </a:extLst>
          </p:cNvPr>
          <p:cNvSpPr txBox="1"/>
          <p:nvPr/>
        </p:nvSpPr>
        <p:spPr>
          <a:xfrm>
            <a:off x="3159292" y="1273606"/>
            <a:ext cx="8550189" cy="1225203"/>
          </a:xfrm>
          <a:prstGeom prst="rect">
            <a:avLst/>
          </a:prstGeom>
          <a:noFill/>
        </p:spPr>
        <p:txBody>
          <a:bodyPr wrap="square" lIns="0" tIns="0" rIns="0" bIns="0" rtlCol="0" anchor="t">
            <a:noAutofit/>
          </a:bodyPr>
          <a:lstStyle/>
          <a:p>
            <a:pPr marL="342900" indent="-342900">
              <a:buFontTx/>
              <a:buAutoNum type="alphaUcParenR"/>
            </a:pPr>
            <a:r>
              <a:rPr lang="nl-BE" sz="1600" i="1" dirty="0">
                <a:latin typeface="Gotham"/>
                <a:ea typeface="Verdana"/>
                <a:cs typeface="Verdana" panose="020B0604030504040204" pitchFamily="34" charset="0"/>
              </a:rPr>
              <a:t>Leerlingen uit een niet-technische richting scoren significant hoger (groot effect).</a:t>
            </a:r>
          </a:p>
          <a:p>
            <a:pPr marL="342900" indent="-342900">
              <a:buAutoNum type="alphaUcParenR"/>
            </a:pPr>
            <a:r>
              <a:rPr lang="nl-BE" sz="1600" i="1" dirty="0">
                <a:latin typeface="Gotham"/>
                <a:ea typeface="Verdana"/>
                <a:cs typeface="Verdana" panose="020B0604030504040204" pitchFamily="34" charset="0"/>
              </a:rPr>
              <a:t>Leerlingen uit een technische richting scoren niet significant hoger (wel groot effect).</a:t>
            </a:r>
          </a:p>
          <a:p>
            <a:pPr marL="342900" indent="-342900">
              <a:buFontTx/>
              <a:buAutoNum type="alphaUcParenR"/>
            </a:pPr>
            <a:r>
              <a:rPr lang="nl-BE" sz="1600" i="1" dirty="0">
                <a:latin typeface="Gotham"/>
                <a:ea typeface="Verdana"/>
                <a:cs typeface="Verdana" panose="020B0604030504040204" pitchFamily="34" charset="0"/>
              </a:rPr>
              <a:t>Leerlingen uit een niet-technische richting scoren niet significant hoger (wel groot effect).</a:t>
            </a:r>
          </a:p>
          <a:p>
            <a:pPr marL="342900" indent="-342900">
              <a:buFontTx/>
              <a:buAutoNum type="alphaUcParenR"/>
            </a:pPr>
            <a:r>
              <a:rPr lang="nl-BE" sz="1600" i="1" dirty="0">
                <a:latin typeface="Gotham"/>
                <a:ea typeface="Verdana"/>
                <a:cs typeface="Verdana" panose="020B0604030504040204" pitchFamily="34" charset="0"/>
              </a:rPr>
              <a:t>Leerlingen uit een technische richting scoren significant hoger (groot effect)</a:t>
            </a:r>
          </a:p>
          <a:p>
            <a:pPr algn="l"/>
            <a:endParaRPr lang="nl-BE" i="1" dirty="0">
              <a:latin typeface="Gotham" panose="02000603040000020004" pitchFamily="2" charset="0"/>
              <a:ea typeface="Verdana" panose="020B0604030504040204" pitchFamily="34" charset="0"/>
              <a:cs typeface="Verdana" panose="020B0604030504040204" pitchFamily="34" charset="0"/>
            </a:endParaRPr>
          </a:p>
        </p:txBody>
      </p:sp>
      <p:sp>
        <p:nvSpPr>
          <p:cNvPr id="11" name="Tekstvak 10">
            <a:extLst>
              <a:ext uri="{FF2B5EF4-FFF2-40B4-BE49-F238E27FC236}">
                <a16:creationId xmlns:a16="http://schemas.microsoft.com/office/drawing/2014/main" id="{C9EB58FC-A90E-F64C-98A0-EEE064F66216}"/>
              </a:ext>
            </a:extLst>
          </p:cNvPr>
          <p:cNvSpPr txBox="1"/>
          <p:nvPr/>
        </p:nvSpPr>
        <p:spPr>
          <a:xfrm>
            <a:off x="754354" y="1452852"/>
            <a:ext cx="2274471" cy="1032159"/>
          </a:xfrm>
          <a:prstGeom prst="rect">
            <a:avLst/>
          </a:prstGeom>
          <a:noFill/>
        </p:spPr>
        <p:txBody>
          <a:bodyPr wrap="square" lIns="0" tIns="0" rIns="0" bIns="0" rtlCol="0" anchor="t">
            <a:noAutofit/>
          </a:bodyPr>
          <a:lstStyle/>
          <a:p>
            <a:r>
              <a:rPr lang="nl-BE" sz="2000" b="1" dirty="0">
                <a:latin typeface="Gotham"/>
                <a:ea typeface="Verdana"/>
                <a:cs typeface="Verdana" panose="020B0604030504040204" pitchFamily="34" charset="0"/>
              </a:rPr>
              <a:t>Wat kunnen we concluderen?</a:t>
            </a:r>
          </a:p>
        </p:txBody>
      </p:sp>
      <p:sp>
        <p:nvSpPr>
          <p:cNvPr id="14" name="Tekstvak 13">
            <a:extLst>
              <a:ext uri="{FF2B5EF4-FFF2-40B4-BE49-F238E27FC236}">
                <a16:creationId xmlns:a16="http://schemas.microsoft.com/office/drawing/2014/main" id="{A84D1E07-D9FF-4C4C-B70A-15E8B78EAB27}"/>
              </a:ext>
            </a:extLst>
          </p:cNvPr>
          <p:cNvSpPr txBox="1"/>
          <p:nvPr/>
        </p:nvSpPr>
        <p:spPr>
          <a:xfrm rot="-1080000">
            <a:off x="5209217" y="4701802"/>
            <a:ext cx="1653994" cy="392616"/>
          </a:xfrm>
          <a:prstGeom prst="rect">
            <a:avLst/>
          </a:prstGeom>
          <a:noFill/>
        </p:spPr>
        <p:txBody>
          <a:bodyPr wrap="square" lIns="0" tIns="0" rIns="0" bIns="0" rtlCol="0">
            <a:noAutofit/>
          </a:bodyPr>
          <a:lstStyle/>
          <a:p>
            <a:pPr algn="l"/>
            <a:r>
              <a:rPr lang="nl-BE" sz="1100" i="1" dirty="0">
                <a:solidFill>
                  <a:srgbClr val="FFFFFF"/>
                </a:solidFill>
                <a:latin typeface="Gotham" panose="02000603040000020004" pitchFamily="2" charset="0"/>
                <a:ea typeface="Verdana" panose="020B0604030504040204" pitchFamily="34" charset="0"/>
                <a:cs typeface="Verdana" panose="020B0604030504040204" pitchFamily="34" charset="0"/>
              </a:rPr>
              <a:t>0: geen technische richting</a:t>
            </a:r>
          </a:p>
          <a:p>
            <a:pPr algn="l"/>
            <a:r>
              <a:rPr lang="nl-BE" sz="1100" i="1" dirty="0">
                <a:solidFill>
                  <a:srgbClr val="FFFFFF"/>
                </a:solidFill>
                <a:latin typeface="Gotham" panose="02000603040000020004" pitchFamily="2" charset="0"/>
                <a:ea typeface="Verdana" panose="020B0604030504040204" pitchFamily="34" charset="0"/>
                <a:cs typeface="Verdana" panose="020B0604030504040204" pitchFamily="34" charset="0"/>
              </a:rPr>
              <a:t>1: technische richting</a:t>
            </a:r>
          </a:p>
          <a:p>
            <a:pPr algn="l"/>
            <a:endParaRPr lang="nl-BE" sz="1100" i="1" dirty="0">
              <a:solidFill>
                <a:srgbClr val="FFFFFF"/>
              </a:solidFill>
              <a:latin typeface="Gotham" panose="02000603040000020004" pitchFamily="2"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9306691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4DAEB-F2DD-D21D-E3EC-2CB39C62EEE5}"/>
            </a:ext>
          </a:extLst>
        </p:cNvPr>
        <p:cNvGrpSpPr/>
        <p:nvPr/>
      </p:nvGrpSpPr>
      <p:grpSpPr>
        <a:xfrm>
          <a:off x="0" y="0"/>
          <a:ext cx="0" cy="0"/>
          <a:chOff x="0" y="0"/>
          <a:chExt cx="0" cy="0"/>
        </a:xfrm>
      </p:grpSpPr>
      <p:sp>
        <p:nvSpPr>
          <p:cNvPr id="5" name="Rechthoek 7">
            <a:extLst>
              <a:ext uri="{FF2B5EF4-FFF2-40B4-BE49-F238E27FC236}">
                <a16:creationId xmlns:a16="http://schemas.microsoft.com/office/drawing/2014/main" id="{D881F55F-710F-15DF-44CB-68C8E522319E}"/>
              </a:ext>
            </a:extLst>
          </p:cNvPr>
          <p:cNvSpPr>
            <a:spLocks noGrp="1" noChangeArrowheads="1"/>
          </p:cNvSpPr>
          <p:nvPr>
            <p:ph idx="1"/>
          </p:nvPr>
        </p:nvSpPr>
        <p:spPr bwMode="auto">
          <a:xfrm>
            <a:off x="1516227" y="2699967"/>
            <a:ext cx="8778542" cy="3797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0" indent="0" eaLnBrk="1" hangingPunct="1">
              <a:buNone/>
            </a:pPr>
            <a:r>
              <a:rPr lang="nl-BE" sz="1400" b="1" dirty="0">
                <a:solidFill>
                  <a:srgbClr val="0000FF"/>
                </a:solidFill>
                <a:latin typeface="Courier New" charset="0"/>
                <a:cs typeface="Courier New" charset="0"/>
              </a:rPr>
              <a:t>&gt; t.test(Techniek$Interest.voor ~ Techniek$Richting2cat, var.equal = FALSE)</a:t>
            </a:r>
            <a:endParaRPr lang="nl-BE" sz="1400" b="1" dirty="0">
              <a:solidFill>
                <a:schemeClr val="tx1"/>
              </a:solidFill>
              <a:latin typeface="Courier New" charset="0"/>
              <a:cs typeface="Courier New" charset="0"/>
            </a:endParaRPr>
          </a:p>
          <a:p>
            <a:pPr marL="0" indent="0" eaLnBrk="1" hangingPunct="1">
              <a:buNone/>
            </a:pPr>
            <a:r>
              <a:rPr lang="nl-BE" sz="1400" dirty="0">
                <a:solidFill>
                  <a:schemeClr val="tx1"/>
                </a:solidFill>
                <a:latin typeface="Courier New" charset="0"/>
                <a:cs typeface="Courier New" charset="0"/>
              </a:rPr>
              <a:t>	Welch Two Sample t-test</a:t>
            </a:r>
          </a:p>
          <a:p>
            <a:pPr eaLnBrk="1" hangingPunct="1"/>
            <a:endParaRPr lang="nl-BE" sz="1400" dirty="0">
              <a:solidFill>
                <a:schemeClr val="tx1"/>
              </a:solidFill>
              <a:latin typeface="Courier New" charset="0"/>
              <a:cs typeface="Courier New" charset="0"/>
            </a:endParaRPr>
          </a:p>
          <a:p>
            <a:pPr marL="0" indent="0" eaLnBrk="1" hangingPunct="1">
              <a:buNone/>
            </a:pPr>
            <a:r>
              <a:rPr lang="nl-BE" sz="1400" dirty="0">
                <a:solidFill>
                  <a:schemeClr val="tx1"/>
                </a:solidFill>
                <a:latin typeface="Courier New" charset="0"/>
                <a:cs typeface="Courier New" charset="0"/>
              </a:rPr>
              <a:t>data:  Techniek$Interest.voor by Techniek$Richting2cat </a:t>
            </a:r>
          </a:p>
          <a:p>
            <a:pPr marL="0" indent="0" eaLnBrk="1" hangingPunct="1">
              <a:buNone/>
            </a:pPr>
            <a:r>
              <a:rPr lang="nl-BE" sz="1400" dirty="0">
                <a:solidFill>
                  <a:schemeClr val="tx1"/>
                </a:solidFill>
                <a:latin typeface="Courier New" charset="0"/>
                <a:cs typeface="Courier New" charset="0"/>
              </a:rPr>
              <a:t>t = -15.6793, df = 221.149, </a:t>
            </a:r>
            <a:r>
              <a:rPr lang="nl-BE" sz="1400" b="1" dirty="0">
                <a:solidFill>
                  <a:schemeClr val="tx1"/>
                </a:solidFill>
                <a:latin typeface="Courier New" charset="0"/>
                <a:cs typeface="Courier New" charset="0"/>
              </a:rPr>
              <a:t>p-value &lt; 2.2e-16</a:t>
            </a:r>
          </a:p>
          <a:p>
            <a:pPr marL="0" indent="0" eaLnBrk="1" hangingPunct="1">
              <a:buNone/>
            </a:pPr>
            <a:r>
              <a:rPr lang="nl-BE" sz="1400" dirty="0">
                <a:solidFill>
                  <a:schemeClr val="tx1"/>
                </a:solidFill>
                <a:latin typeface="Courier New" charset="0"/>
                <a:cs typeface="Courier New" charset="0"/>
              </a:rPr>
              <a:t>alternative hypothesis: true difference in means is not equal to 0 </a:t>
            </a:r>
          </a:p>
          <a:p>
            <a:pPr marL="0" indent="0" eaLnBrk="1" hangingPunct="1">
              <a:buNone/>
            </a:pPr>
            <a:r>
              <a:rPr lang="nl-BE" sz="1400" dirty="0">
                <a:solidFill>
                  <a:schemeClr val="tx1"/>
                </a:solidFill>
                <a:latin typeface="Courier New" charset="0"/>
                <a:cs typeface="Courier New" charset="0"/>
              </a:rPr>
              <a:t>95 percent confidence interval:</a:t>
            </a:r>
          </a:p>
          <a:p>
            <a:pPr marL="0" indent="0" eaLnBrk="1" hangingPunct="1">
              <a:buNone/>
            </a:pPr>
            <a:r>
              <a:rPr lang="nl-BE" sz="1400" dirty="0">
                <a:solidFill>
                  <a:schemeClr val="tx1"/>
                </a:solidFill>
                <a:latin typeface="Courier New" charset="0"/>
                <a:cs typeface="Courier New" charset="0"/>
              </a:rPr>
              <a:t> -1.092291 -0.848367 </a:t>
            </a:r>
          </a:p>
          <a:p>
            <a:pPr marL="0" indent="0" eaLnBrk="1" hangingPunct="1">
              <a:buNone/>
            </a:pPr>
            <a:r>
              <a:rPr lang="nl-BE" sz="1400" dirty="0">
                <a:solidFill>
                  <a:schemeClr val="tx1"/>
                </a:solidFill>
                <a:latin typeface="Courier New" charset="0"/>
                <a:cs typeface="Courier New" charset="0"/>
              </a:rPr>
              <a:t>sample estimates:</a:t>
            </a:r>
          </a:p>
          <a:p>
            <a:pPr marL="0" indent="0" eaLnBrk="1" hangingPunct="1">
              <a:buNone/>
            </a:pPr>
            <a:r>
              <a:rPr lang="nl-BE" sz="1400" b="1" dirty="0">
                <a:solidFill>
                  <a:schemeClr val="tx1"/>
                </a:solidFill>
                <a:latin typeface="Courier New" charset="0"/>
                <a:cs typeface="Courier New" charset="0"/>
              </a:rPr>
              <a:t>mean in group 0 mean in group 1 </a:t>
            </a:r>
          </a:p>
          <a:p>
            <a:pPr marL="0" indent="0" eaLnBrk="1" hangingPunct="1">
              <a:buNone/>
            </a:pPr>
            <a:r>
              <a:rPr lang="nl-BE" sz="1400" b="1" dirty="0">
                <a:solidFill>
                  <a:schemeClr val="tx1"/>
                </a:solidFill>
                <a:latin typeface="Courier New" charset="0"/>
                <a:cs typeface="Courier New" charset="0"/>
              </a:rPr>
              <a:t>       2.842243        3.812571 </a:t>
            </a:r>
          </a:p>
          <a:p>
            <a:pPr eaLnBrk="1" hangingPunct="1"/>
            <a:endParaRPr lang="nl-BE" sz="1400" dirty="0">
              <a:solidFill>
                <a:schemeClr val="tx1"/>
              </a:solidFill>
              <a:latin typeface="Courier New" charset="0"/>
              <a:cs typeface="Courier New" charset="0"/>
            </a:endParaRPr>
          </a:p>
          <a:p>
            <a:pPr marL="0" indent="0" eaLnBrk="1" hangingPunct="1">
              <a:buNone/>
            </a:pPr>
            <a:r>
              <a:rPr lang="nl-BE" sz="1400" b="1" dirty="0">
                <a:solidFill>
                  <a:srgbClr val="0000FF"/>
                </a:solidFill>
                <a:latin typeface="Courier New" charset="0"/>
                <a:cs typeface="Courier New" charset="0"/>
              </a:rPr>
              <a:t>&gt; d(</a:t>
            </a:r>
            <a:r>
              <a:rPr lang="nl-BE" sz="1400" b="1" dirty="0" err="1">
                <a:solidFill>
                  <a:srgbClr val="0000FF"/>
                </a:solidFill>
                <a:latin typeface="Courier New" charset="0"/>
                <a:cs typeface="Courier New" charset="0"/>
              </a:rPr>
              <a:t>Techniek$Interest.voor</a:t>
            </a:r>
            <a:r>
              <a:rPr lang="nl-BE" sz="1400" b="1" dirty="0">
                <a:solidFill>
                  <a:srgbClr val="0000FF"/>
                </a:solidFill>
                <a:latin typeface="Courier New" charset="0"/>
                <a:cs typeface="Courier New" charset="0"/>
              </a:rPr>
              <a:t>, Techniek$Richting2cat)</a:t>
            </a:r>
          </a:p>
          <a:p>
            <a:pPr marL="0" indent="0" eaLnBrk="1" hangingPunct="1">
              <a:buNone/>
            </a:pPr>
            <a:r>
              <a:rPr lang="nl-BE" sz="1400" dirty="0">
                <a:solidFill>
                  <a:schemeClr val="tx1"/>
                </a:solidFill>
                <a:latin typeface="Courier New" charset="0"/>
                <a:cs typeface="Courier New" charset="0"/>
              </a:rPr>
              <a:t>[1] -1.1286</a:t>
            </a:r>
          </a:p>
          <a:p>
            <a:pPr eaLnBrk="1" hangingPunct="1"/>
            <a:endParaRPr lang="nl-BE" sz="1200" dirty="0">
              <a:solidFill>
                <a:schemeClr val="tx1"/>
              </a:solidFill>
              <a:latin typeface="Courier New" charset="0"/>
              <a:cs typeface="Courier New" charset="0"/>
            </a:endParaRPr>
          </a:p>
        </p:txBody>
      </p:sp>
      <p:sp>
        <p:nvSpPr>
          <p:cNvPr id="4" name="Tekstballon: rechthoek met afgeronde hoeken 3">
            <a:extLst>
              <a:ext uri="{FF2B5EF4-FFF2-40B4-BE49-F238E27FC236}">
                <a16:creationId xmlns:a16="http://schemas.microsoft.com/office/drawing/2014/main" id="{08B024FC-FCD6-6B41-B1F3-EC037823FACD}"/>
              </a:ext>
            </a:extLst>
          </p:cNvPr>
          <p:cNvSpPr/>
          <p:nvPr/>
        </p:nvSpPr>
        <p:spPr bwMode="auto">
          <a:xfrm rot="4380000">
            <a:off x="5741297" y="3965143"/>
            <a:ext cx="589837" cy="1865937"/>
          </a:xfrm>
          <a:prstGeom prst="wedgeRoundRectCallout">
            <a:avLst/>
          </a:prstGeom>
          <a:solidFill>
            <a:schemeClr val="accent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NL" sz="1600" dirty="0">
              <a:latin typeface="Verdana" charset="0"/>
              <a:ea typeface="Verdana Regular" charset="0"/>
              <a:cs typeface="Verdana Regular" charset="0"/>
              <a:sym typeface="Securitas Sans Light" charset="0"/>
            </a:endParaRPr>
          </a:p>
        </p:txBody>
      </p:sp>
      <p:sp>
        <p:nvSpPr>
          <p:cNvPr id="2" name="Titel 1">
            <a:extLst>
              <a:ext uri="{FF2B5EF4-FFF2-40B4-BE49-F238E27FC236}">
                <a16:creationId xmlns:a16="http://schemas.microsoft.com/office/drawing/2014/main" id="{6DFE0319-F719-8D5C-D916-84F2EF086FA9}"/>
              </a:ext>
            </a:extLst>
          </p:cNvPr>
          <p:cNvSpPr>
            <a:spLocks noGrp="1"/>
          </p:cNvSpPr>
          <p:nvPr>
            <p:ph type="title"/>
          </p:nvPr>
        </p:nvSpPr>
        <p:spPr/>
        <p:txBody>
          <a:bodyPr/>
          <a:lstStyle/>
          <a:p>
            <a:r>
              <a:rPr lang="nl-BE" dirty="0"/>
              <a:t>Statistische significantie (t-test) en effectgrootte?</a:t>
            </a:r>
          </a:p>
        </p:txBody>
      </p:sp>
      <p:sp>
        <p:nvSpPr>
          <p:cNvPr id="3" name="Tijdelijke aanduiding voor dianummer 2">
            <a:extLst>
              <a:ext uri="{FF2B5EF4-FFF2-40B4-BE49-F238E27FC236}">
                <a16:creationId xmlns:a16="http://schemas.microsoft.com/office/drawing/2014/main" id="{CC4E5C58-4650-0E8B-A10C-BA3A1B681A61}"/>
              </a:ext>
            </a:extLst>
          </p:cNvPr>
          <p:cNvSpPr>
            <a:spLocks noGrp="1"/>
          </p:cNvSpPr>
          <p:nvPr>
            <p:ph type="sldNum" sz="quarter" idx="10"/>
          </p:nvPr>
        </p:nvSpPr>
        <p:spPr/>
        <p:txBody>
          <a:bodyPr/>
          <a:lstStyle/>
          <a:p>
            <a:fld id="{E038E271-308C-2E46-A3EC-56326F9084CC}" type="slidenum">
              <a:rPr lang="nl-BE" smtClean="0"/>
              <a:pPr/>
              <a:t>13</a:t>
            </a:fld>
            <a:endParaRPr lang="nl-BE" dirty="0"/>
          </a:p>
        </p:txBody>
      </p:sp>
      <p:graphicFrame>
        <p:nvGraphicFramePr>
          <p:cNvPr id="6" name="Table 1">
            <a:extLst>
              <a:ext uri="{FF2B5EF4-FFF2-40B4-BE49-F238E27FC236}">
                <a16:creationId xmlns:a16="http://schemas.microsoft.com/office/drawing/2014/main" id="{FDD7D8F6-08A3-E528-583D-42394920B84B}"/>
              </a:ext>
            </a:extLst>
          </p:cNvPr>
          <p:cNvGraphicFramePr>
            <a:graphicFrameLocks noGrp="1"/>
          </p:cNvGraphicFramePr>
          <p:nvPr/>
        </p:nvGraphicFramePr>
        <p:xfrm>
          <a:off x="7820101" y="5326622"/>
          <a:ext cx="4320480" cy="1000588"/>
        </p:xfrm>
        <a:graphic>
          <a:graphicData uri="http://schemas.openxmlformats.org/drawingml/2006/table">
            <a:tbl>
              <a:tblPr>
                <a:tableStyleId>{5940675A-B579-460E-94D1-54222C63F5DA}</a:tableStyleId>
              </a:tblPr>
              <a:tblGrid>
                <a:gridCol w="1512168">
                  <a:extLst>
                    <a:ext uri="{9D8B030D-6E8A-4147-A177-3AD203B41FA5}">
                      <a16:colId xmlns:a16="http://schemas.microsoft.com/office/drawing/2014/main" val="20000"/>
                    </a:ext>
                  </a:extLst>
                </a:gridCol>
                <a:gridCol w="2808312">
                  <a:extLst>
                    <a:ext uri="{9D8B030D-6E8A-4147-A177-3AD203B41FA5}">
                      <a16:colId xmlns:a16="http://schemas.microsoft.com/office/drawing/2014/main" val="20001"/>
                    </a:ext>
                  </a:extLst>
                </a:gridCol>
              </a:tblGrid>
              <a:tr h="27816">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b="1" u="none" strike="noStrike" cap="none" normalizeH="0" baseline="0" dirty="0">
                          <a:ln>
                            <a:noFill/>
                          </a:ln>
                          <a:effectLst/>
                        </a:rPr>
                        <a:t>Effect </a:t>
                      </a:r>
                      <a:r>
                        <a:rPr kumimoji="0" lang="nl-BE" altLang="nl-BE" sz="1200" b="1" u="none" strike="noStrike" cap="none" normalizeH="0" baseline="0" dirty="0" err="1">
                          <a:ln>
                            <a:noFill/>
                          </a:ln>
                          <a:effectLst/>
                        </a:rPr>
                        <a:t>Size</a:t>
                      </a:r>
                      <a:r>
                        <a:rPr kumimoji="0" lang="nl-BE" altLang="nl-BE" sz="1200" b="1" u="none" strike="noStrike" cap="none" normalizeH="0" baseline="0" dirty="0">
                          <a:ln>
                            <a:noFill/>
                          </a:ln>
                          <a:effectLst/>
                        </a:rPr>
                        <a:t> (</a:t>
                      </a:r>
                      <a:r>
                        <a:rPr kumimoji="0" lang="nl-BE" altLang="nl-BE" sz="1200" b="1" i="1" u="none" strike="noStrike" cap="none" normalizeH="0" baseline="0" dirty="0">
                          <a:ln>
                            <a:noFill/>
                          </a:ln>
                          <a:effectLst/>
                        </a:rPr>
                        <a:t>d</a:t>
                      </a:r>
                      <a:r>
                        <a:rPr kumimoji="0" lang="nl-BE" altLang="nl-BE" sz="1200" b="1" u="none" strike="noStrike" cap="none" normalizeH="0" baseline="0" dirty="0">
                          <a:ln>
                            <a:noFill/>
                          </a:ln>
                          <a:effectLst/>
                        </a:rPr>
                        <a:t>)</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solidFill>
                      <a:schemeClr val="bg1">
                        <a:lumMod val="75000"/>
                      </a:schemeClr>
                    </a:solidFill>
                  </a:tcPr>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b="1" u="none" strike="noStrike" cap="none" normalizeH="0" baseline="0" dirty="0" err="1">
                          <a:ln>
                            <a:noFill/>
                          </a:ln>
                          <a:effectLst/>
                        </a:rPr>
                        <a:t>Cohen</a:t>
                      </a:r>
                      <a:r>
                        <a:rPr kumimoji="0" lang="nl-BE" altLang="en-GB" sz="1200" b="1" u="none" strike="noStrike" cap="none" normalizeH="0" baseline="0" dirty="0" err="1">
                          <a:ln>
                            <a:noFill/>
                          </a:ln>
                          <a:effectLst/>
                        </a:rPr>
                        <a:t>’</a:t>
                      </a:r>
                      <a:r>
                        <a:rPr kumimoji="0" lang="nl-BE" altLang="nl-BE" sz="1200" b="1" u="none" strike="noStrike" cap="none" normalizeH="0" baseline="0" dirty="0" err="1">
                          <a:ln>
                            <a:noFill/>
                          </a:ln>
                          <a:effectLst/>
                        </a:rPr>
                        <a:t>s</a:t>
                      </a:r>
                      <a:r>
                        <a:rPr kumimoji="0" lang="nl-BE" altLang="nl-BE" sz="1200" b="1" u="none" strike="noStrike" cap="none" normalizeH="0" baseline="0" dirty="0">
                          <a:ln>
                            <a:noFill/>
                          </a:ln>
                          <a:effectLst/>
                        </a:rPr>
                        <a:t> vuistregel</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solidFill>
                      <a:schemeClr val="bg1">
                        <a:lumMod val="75000"/>
                      </a:schemeClr>
                    </a:solidFill>
                  </a:tcPr>
                </a:tc>
                <a:extLst>
                  <a:ext uri="{0D108BD9-81ED-4DB2-BD59-A6C34878D82A}">
                    <a16:rowId xmlns:a16="http://schemas.microsoft.com/office/drawing/2014/main" val="10000"/>
                  </a:ext>
                </a:extLst>
              </a:tr>
              <a:tr h="134534">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≥0.8</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a:ln>
                            <a:noFill/>
                          </a:ln>
                          <a:effectLst/>
                        </a:rPr>
                        <a:t>Groot</a:t>
                      </a:r>
                      <a:endParaRPr kumimoji="0" lang="nl-BE" altLang="nl-BE" sz="1200" b="0" i="0" u="none" strike="noStrike" cap="none" normalizeH="0" baseline="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1"/>
                  </a:ext>
                </a:extLst>
              </a:tr>
              <a:tr h="134534">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0.5-0.79</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Medium </a:t>
                      </a:r>
                      <a:endParaRPr kumimoji="0" lang="nl-BE" altLang="nl-BE" sz="1200" b="0" i="0" u="none" strike="noStrike" cap="none" normalizeH="0" baseline="0" dirty="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2"/>
                  </a:ext>
                </a:extLst>
              </a:tr>
              <a:tr h="134534">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0.2-0.49</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Klein</a:t>
                      </a:r>
                      <a:endParaRPr kumimoji="0" lang="nl-BE" altLang="nl-BE" sz="1200" b="0" i="0" u="none" strike="noStrike" cap="none" normalizeH="0" baseline="0" dirty="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3"/>
                  </a:ext>
                </a:extLst>
              </a:tr>
              <a:tr h="269068">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≤0.29</a:t>
                      </a:r>
                      <a:endParaRPr kumimoji="0" lang="nl-BE" altLang="nl-BE" sz="1200" b="1" i="0" u="none" strike="noStrike" cap="none" normalizeH="0" baseline="0" dirty="0">
                        <a:ln>
                          <a:noFill/>
                        </a:ln>
                        <a:solidFill>
                          <a:srgbClr val="FFFFFF"/>
                        </a:solidFill>
                        <a:effectLst/>
                        <a:latin typeface="Cambria" panose="02040503050406030204" pitchFamily="18" charset="0"/>
                        <a:ea typeface="MS PGothic" panose="020B0600070205080204" pitchFamily="34" charset="-128"/>
                      </a:endParaRPr>
                    </a:p>
                  </a:txBody>
                  <a:tcPr marL="68586" marR="68586" marT="0" marB="0" horzOverflow="overflow"/>
                </a:tc>
                <a:tc>
                  <a:txBody>
                    <a:bodyPr/>
                    <a:lstStyle>
                      <a:lvl1pPr defTabSz="457200">
                        <a:spcBef>
                          <a:spcPct val="20000"/>
                        </a:spcBef>
                        <a:defRPr sz="2100">
                          <a:solidFill>
                            <a:srgbClr val="003D62"/>
                          </a:solidFill>
                          <a:latin typeface="Verdana" panose="020B0604030504040204" pitchFamily="34" charset="0"/>
                          <a:ea typeface="MS PGothic" panose="020B0600070205080204" pitchFamily="34" charset="-128"/>
                        </a:defRPr>
                      </a:lvl1pPr>
                      <a:lvl2pPr marL="742950" indent="-285750" defTabSz="457200">
                        <a:spcBef>
                          <a:spcPct val="20000"/>
                        </a:spcBef>
                        <a:defRPr sz="2000">
                          <a:solidFill>
                            <a:srgbClr val="003D62"/>
                          </a:solidFill>
                          <a:latin typeface="Verdana" panose="020B0604030504040204" pitchFamily="34" charset="0"/>
                          <a:ea typeface="MS PGothic" panose="020B0600070205080204" pitchFamily="34" charset="-128"/>
                        </a:defRPr>
                      </a:lvl2pPr>
                      <a:lvl3pPr marL="1143000" indent="-228600" defTabSz="457200">
                        <a:spcBef>
                          <a:spcPct val="20000"/>
                        </a:spcBef>
                        <a:defRPr sz="1600">
                          <a:solidFill>
                            <a:srgbClr val="003D62"/>
                          </a:solidFill>
                          <a:latin typeface="Verdana" panose="020B0604030504040204" pitchFamily="34" charset="0"/>
                          <a:ea typeface="MS PGothic" panose="020B0600070205080204" pitchFamily="34" charset="-128"/>
                        </a:defRPr>
                      </a:lvl3pPr>
                      <a:lvl4pPr marL="16002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4pPr>
                      <a:lvl5pPr marL="2057400" indent="-228600" defTabSz="457200">
                        <a:spcBef>
                          <a:spcPct val="20000"/>
                        </a:spcBef>
                        <a:defRPr sz="1400">
                          <a:solidFill>
                            <a:srgbClr val="003D62"/>
                          </a:solidFill>
                          <a:latin typeface="Verdana" panose="020B0604030504040204" pitchFamily="34" charset="0"/>
                          <a:ea typeface="MS PGothic" panose="020B0600070205080204" pitchFamily="34" charset="-128"/>
                        </a:defRPr>
                      </a:lvl5pPr>
                      <a:lvl6pPr marL="25146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6pPr>
                      <a:lvl7pPr marL="29718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7pPr>
                      <a:lvl8pPr marL="34290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8pPr>
                      <a:lvl9pPr marL="3886200" indent="-228600" defTabSz="457200" eaLnBrk="0" fontAlgn="base" hangingPunct="0">
                        <a:spcBef>
                          <a:spcPct val="20000"/>
                        </a:spcBef>
                        <a:spcAft>
                          <a:spcPct val="0"/>
                        </a:spcAft>
                        <a:defRPr sz="1400">
                          <a:solidFill>
                            <a:srgbClr val="003D62"/>
                          </a:solidFill>
                          <a:latin typeface="Verdana" panose="020B0604030504040204" pitchFamily="34" charset="0"/>
                          <a:ea typeface="MS PGothic" panose="020B0600070205080204" pitchFamily="34" charset="-128"/>
                        </a:defRPr>
                      </a:lvl9p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altLang="nl-BE" sz="1200" u="none" strike="noStrike" cap="none" normalizeH="0" baseline="0" dirty="0">
                          <a:ln>
                            <a:noFill/>
                          </a:ln>
                          <a:effectLst/>
                        </a:rPr>
                        <a:t>Verwaarloosbaar klein/geen effect</a:t>
                      </a:r>
                      <a:endParaRPr kumimoji="0" lang="nl-BE" altLang="nl-BE" sz="1200" b="0" i="0" u="none" strike="noStrike" cap="none" normalizeH="0" baseline="0" dirty="0">
                        <a:ln>
                          <a:noFill/>
                        </a:ln>
                        <a:solidFill>
                          <a:srgbClr val="000000"/>
                        </a:solidFill>
                        <a:effectLst/>
                        <a:latin typeface="Cambria" panose="02040503050406030204" pitchFamily="18" charset="0"/>
                        <a:ea typeface="MS PGothic" panose="020B0600070205080204" pitchFamily="34" charset="-128"/>
                      </a:endParaRPr>
                    </a:p>
                  </a:txBody>
                  <a:tcPr marL="68586" marR="68586" marT="0" marB="0" horzOverflow="overflow"/>
                </a:tc>
                <a:extLst>
                  <a:ext uri="{0D108BD9-81ED-4DB2-BD59-A6C34878D82A}">
                    <a16:rowId xmlns:a16="http://schemas.microsoft.com/office/drawing/2014/main" val="10004"/>
                  </a:ext>
                </a:extLst>
              </a:tr>
            </a:tbl>
          </a:graphicData>
        </a:graphic>
      </p:graphicFrame>
      <p:sp>
        <p:nvSpPr>
          <p:cNvPr id="13" name="Rechthoek 12">
            <a:extLst>
              <a:ext uri="{FF2B5EF4-FFF2-40B4-BE49-F238E27FC236}">
                <a16:creationId xmlns:a16="http://schemas.microsoft.com/office/drawing/2014/main" id="{A11DC838-1BFD-3E6D-4DBF-9B2A7D9BAB8D}"/>
              </a:ext>
            </a:extLst>
          </p:cNvPr>
          <p:cNvSpPr/>
          <p:nvPr/>
        </p:nvSpPr>
        <p:spPr bwMode="auto">
          <a:xfrm>
            <a:off x="414337" y="1211599"/>
            <a:ext cx="11363326" cy="1259615"/>
          </a:xfrm>
          <a:prstGeom prst="rect">
            <a:avLst/>
          </a:prstGeom>
          <a:solidFill>
            <a:schemeClr val="bg2"/>
          </a:solidFill>
          <a:ln w="28575">
            <a:solidFill>
              <a:schemeClr val="tx1"/>
            </a:solidFill>
          </a:ln>
          <a:extLst>
            <a:ext uri="{91240B29-F687-4f45-9708-019B960494DF}">
              <a14:hiddenLine xmlns:a14="http://schemas.microsoft.com/office/drawing/2010/main" xmlns="" w="9525">
                <a:solidFill>
                  <a:srgbClr val="000000"/>
                </a:solidFill>
                <a:miter lim="800000"/>
                <a:headEnd/>
                <a:tailEnd/>
              </a14:hiddenLine>
            </a:ext>
          </a:extLst>
        </p:spPr>
        <p:style>
          <a:lnRef idx="2">
            <a:schemeClr val="dk1"/>
          </a:lnRef>
          <a:fillRef idx="1">
            <a:schemeClr val="lt1"/>
          </a:fillRef>
          <a:effectRef idx="0">
            <a:schemeClr val="dk1"/>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2" name="Tekstvak 11">
            <a:extLst>
              <a:ext uri="{FF2B5EF4-FFF2-40B4-BE49-F238E27FC236}">
                <a16:creationId xmlns:a16="http://schemas.microsoft.com/office/drawing/2014/main" id="{317AE6B7-1614-0C2D-0944-CC79F2AA0474}"/>
              </a:ext>
            </a:extLst>
          </p:cNvPr>
          <p:cNvSpPr txBox="1"/>
          <p:nvPr/>
        </p:nvSpPr>
        <p:spPr>
          <a:xfrm>
            <a:off x="3159292" y="1273606"/>
            <a:ext cx="8550189" cy="1225203"/>
          </a:xfrm>
          <a:prstGeom prst="rect">
            <a:avLst/>
          </a:prstGeom>
          <a:noFill/>
        </p:spPr>
        <p:txBody>
          <a:bodyPr wrap="square" lIns="0" tIns="0" rIns="0" bIns="0" rtlCol="0" anchor="t">
            <a:noAutofit/>
          </a:bodyPr>
          <a:lstStyle/>
          <a:p>
            <a:pPr marL="342900" indent="-342900">
              <a:buFontTx/>
              <a:buAutoNum type="alphaUcParenR"/>
            </a:pPr>
            <a:r>
              <a:rPr lang="nl-BE" sz="1600" i="1" dirty="0">
                <a:latin typeface="Gotham"/>
                <a:ea typeface="Verdana"/>
                <a:cs typeface="Verdana" panose="020B0604030504040204" pitchFamily="34" charset="0"/>
              </a:rPr>
              <a:t>Leerlingen uit een niet-technische richting scoren significant hoger (groot effect).</a:t>
            </a:r>
          </a:p>
          <a:p>
            <a:pPr marL="342900" indent="-342900">
              <a:buAutoNum type="alphaUcParenR"/>
            </a:pPr>
            <a:r>
              <a:rPr lang="nl-BE" sz="1600" i="1" dirty="0">
                <a:latin typeface="Gotham"/>
                <a:ea typeface="Verdana"/>
                <a:cs typeface="Verdana" panose="020B0604030504040204" pitchFamily="34" charset="0"/>
              </a:rPr>
              <a:t>Leerlingen uit een technische richting scoren niet significant hoger (wel groot effect).</a:t>
            </a:r>
          </a:p>
          <a:p>
            <a:pPr marL="342900" indent="-342900">
              <a:buFontTx/>
              <a:buAutoNum type="alphaUcParenR"/>
            </a:pPr>
            <a:r>
              <a:rPr lang="nl-BE" sz="1600" i="1" dirty="0">
                <a:latin typeface="Gotham"/>
                <a:ea typeface="Verdana"/>
                <a:cs typeface="Verdana" panose="020B0604030504040204" pitchFamily="34" charset="0"/>
              </a:rPr>
              <a:t>Leerlingen uit een niet-technische richting scoren niet significant hoger (wel groot effect).</a:t>
            </a:r>
          </a:p>
          <a:p>
            <a:pPr marL="342900" indent="-342900">
              <a:buFontTx/>
              <a:buAutoNum type="alphaUcParenR"/>
            </a:pPr>
            <a:r>
              <a:rPr lang="nl-BE" sz="1600" b="1" i="1" dirty="0">
                <a:solidFill>
                  <a:srgbClr val="FF0000"/>
                </a:solidFill>
                <a:latin typeface="Gotham"/>
                <a:ea typeface="Verdana"/>
                <a:cs typeface="Verdana" panose="020B0604030504040204" pitchFamily="34" charset="0"/>
              </a:rPr>
              <a:t>Leerlingen uit een technische richting scoren significant hoger (groot effect)</a:t>
            </a:r>
          </a:p>
          <a:p>
            <a:pPr algn="l"/>
            <a:endParaRPr lang="nl-BE" i="1" dirty="0">
              <a:latin typeface="Gotham" panose="02000603040000020004" pitchFamily="2" charset="0"/>
              <a:ea typeface="Verdana" panose="020B0604030504040204" pitchFamily="34" charset="0"/>
              <a:cs typeface="Verdana" panose="020B0604030504040204" pitchFamily="34" charset="0"/>
            </a:endParaRPr>
          </a:p>
        </p:txBody>
      </p:sp>
      <p:sp>
        <p:nvSpPr>
          <p:cNvPr id="11" name="Tekstvak 10">
            <a:extLst>
              <a:ext uri="{FF2B5EF4-FFF2-40B4-BE49-F238E27FC236}">
                <a16:creationId xmlns:a16="http://schemas.microsoft.com/office/drawing/2014/main" id="{5AA36F3D-3883-E93B-572A-DEC8CA925421}"/>
              </a:ext>
            </a:extLst>
          </p:cNvPr>
          <p:cNvSpPr txBox="1"/>
          <p:nvPr/>
        </p:nvSpPr>
        <p:spPr>
          <a:xfrm>
            <a:off x="754354" y="1452852"/>
            <a:ext cx="2274471" cy="1032159"/>
          </a:xfrm>
          <a:prstGeom prst="rect">
            <a:avLst/>
          </a:prstGeom>
          <a:noFill/>
        </p:spPr>
        <p:txBody>
          <a:bodyPr wrap="square" lIns="0" tIns="0" rIns="0" bIns="0" rtlCol="0" anchor="t">
            <a:noAutofit/>
          </a:bodyPr>
          <a:lstStyle/>
          <a:p>
            <a:r>
              <a:rPr lang="nl-BE" sz="2000" b="1" dirty="0">
                <a:latin typeface="Gotham"/>
                <a:ea typeface="Verdana"/>
                <a:cs typeface="Verdana" panose="020B0604030504040204" pitchFamily="34" charset="0"/>
              </a:rPr>
              <a:t>Wat kunnen we concluderen?</a:t>
            </a:r>
          </a:p>
        </p:txBody>
      </p:sp>
      <p:sp>
        <p:nvSpPr>
          <p:cNvPr id="14" name="Tekstvak 13">
            <a:extLst>
              <a:ext uri="{FF2B5EF4-FFF2-40B4-BE49-F238E27FC236}">
                <a16:creationId xmlns:a16="http://schemas.microsoft.com/office/drawing/2014/main" id="{798F76C7-2459-172E-82DC-3671FDCA205E}"/>
              </a:ext>
            </a:extLst>
          </p:cNvPr>
          <p:cNvSpPr txBox="1"/>
          <p:nvPr/>
        </p:nvSpPr>
        <p:spPr>
          <a:xfrm rot="-1080000">
            <a:off x="5209217" y="4701802"/>
            <a:ext cx="1653994" cy="392616"/>
          </a:xfrm>
          <a:prstGeom prst="rect">
            <a:avLst/>
          </a:prstGeom>
          <a:noFill/>
        </p:spPr>
        <p:txBody>
          <a:bodyPr wrap="square" lIns="0" tIns="0" rIns="0" bIns="0" rtlCol="0">
            <a:noAutofit/>
          </a:bodyPr>
          <a:lstStyle/>
          <a:p>
            <a:pPr algn="l"/>
            <a:r>
              <a:rPr lang="nl-BE" sz="1100" i="1" dirty="0">
                <a:solidFill>
                  <a:srgbClr val="FFFFFF"/>
                </a:solidFill>
                <a:latin typeface="Gotham" panose="02000603040000020004" pitchFamily="2" charset="0"/>
                <a:ea typeface="Verdana" panose="020B0604030504040204" pitchFamily="34" charset="0"/>
                <a:cs typeface="Verdana" panose="020B0604030504040204" pitchFamily="34" charset="0"/>
              </a:rPr>
              <a:t>0: geen technische richting</a:t>
            </a:r>
          </a:p>
          <a:p>
            <a:pPr algn="l"/>
            <a:r>
              <a:rPr lang="nl-BE" sz="1100" i="1" dirty="0">
                <a:solidFill>
                  <a:srgbClr val="FFFFFF"/>
                </a:solidFill>
                <a:latin typeface="Gotham" panose="02000603040000020004" pitchFamily="2" charset="0"/>
                <a:ea typeface="Verdana" panose="020B0604030504040204" pitchFamily="34" charset="0"/>
                <a:cs typeface="Verdana" panose="020B0604030504040204" pitchFamily="34" charset="0"/>
              </a:rPr>
              <a:t>1: technische richting</a:t>
            </a:r>
          </a:p>
          <a:p>
            <a:pPr algn="l"/>
            <a:endParaRPr lang="nl-BE" sz="1100" i="1" dirty="0">
              <a:solidFill>
                <a:srgbClr val="FFFFFF"/>
              </a:solidFill>
              <a:latin typeface="Gotham" panose="02000603040000020004" pitchFamily="2"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593689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33F23-676B-8130-483F-57DDBD3D32A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4E4E9B-54D5-E109-B4F8-F3F1D797CE24}"/>
              </a:ext>
            </a:extLst>
          </p:cNvPr>
          <p:cNvSpPr>
            <a:spLocks noGrp="1"/>
          </p:cNvSpPr>
          <p:nvPr>
            <p:ph type="title"/>
          </p:nvPr>
        </p:nvSpPr>
        <p:spPr/>
        <p:txBody>
          <a:bodyPr/>
          <a:lstStyle/>
          <a:p>
            <a:r>
              <a:rPr lang="nl-BE" dirty="0"/>
              <a:t>T-test in de actualiteit?</a:t>
            </a:r>
          </a:p>
        </p:txBody>
      </p:sp>
      <p:sp>
        <p:nvSpPr>
          <p:cNvPr id="3" name="Tijdelijke aanduiding voor dianummer 2">
            <a:extLst>
              <a:ext uri="{FF2B5EF4-FFF2-40B4-BE49-F238E27FC236}">
                <a16:creationId xmlns:a16="http://schemas.microsoft.com/office/drawing/2014/main" id="{01060CC6-472A-0D12-56E7-72440091761F}"/>
              </a:ext>
            </a:extLst>
          </p:cNvPr>
          <p:cNvSpPr>
            <a:spLocks noGrp="1"/>
          </p:cNvSpPr>
          <p:nvPr>
            <p:ph type="sldNum" sz="quarter" idx="10"/>
          </p:nvPr>
        </p:nvSpPr>
        <p:spPr/>
        <p:txBody>
          <a:bodyPr/>
          <a:lstStyle/>
          <a:p>
            <a:fld id="{E038E271-308C-2E46-A3EC-56326F9084CC}" type="slidenum">
              <a:rPr lang="nl-BE" smtClean="0"/>
              <a:pPr/>
              <a:t>14</a:t>
            </a:fld>
            <a:endParaRPr lang="nl-BE" dirty="0"/>
          </a:p>
        </p:txBody>
      </p:sp>
      <p:sp>
        <p:nvSpPr>
          <p:cNvPr id="4" name="Tijdelijke aanduiding voor inhoud 3">
            <a:extLst>
              <a:ext uri="{FF2B5EF4-FFF2-40B4-BE49-F238E27FC236}">
                <a16:creationId xmlns:a16="http://schemas.microsoft.com/office/drawing/2014/main" id="{340325E5-5115-578B-6B25-8486FA2C5AF4}"/>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pic>
        <p:nvPicPr>
          <p:cNvPr id="39" name="Afbeelding 38" descr="Afbeelding met logo, Lettertype, Graphics, symbool&#10;&#10;Door AI gegenereerde inhoud is mogelijk onjuist.">
            <a:extLst>
              <a:ext uri="{FF2B5EF4-FFF2-40B4-BE49-F238E27FC236}">
                <a16:creationId xmlns:a16="http://schemas.microsoft.com/office/drawing/2014/main" id="{0E4E7BC5-7A7F-CF90-BDCB-11CBAC64D45F}"/>
              </a:ext>
            </a:extLst>
          </p:cNvPr>
          <p:cNvPicPr>
            <a:picLocks noChangeAspect="1"/>
          </p:cNvPicPr>
          <p:nvPr/>
        </p:nvPicPr>
        <p:blipFill>
          <a:blip r:embed="rId3"/>
          <a:stretch>
            <a:fillRect/>
          </a:stretch>
        </p:blipFill>
        <p:spPr>
          <a:xfrm>
            <a:off x="9017808" y="114961"/>
            <a:ext cx="2887573" cy="1132626"/>
          </a:xfrm>
          <a:prstGeom prst="rect">
            <a:avLst/>
          </a:prstGeom>
        </p:spPr>
      </p:pic>
      <p:pic>
        <p:nvPicPr>
          <p:cNvPr id="41" name="Afbeelding 40" descr="Afbeelding met vogel, zangvogel, tyranide, zittend&#10;&#10;Door AI gegenereerde inhoud is mogelijk onjuist.">
            <a:extLst>
              <a:ext uri="{FF2B5EF4-FFF2-40B4-BE49-F238E27FC236}">
                <a16:creationId xmlns:a16="http://schemas.microsoft.com/office/drawing/2014/main" id="{E7AC3BA5-5C60-E4F2-5D32-B6BD3F5451D6}"/>
              </a:ext>
            </a:extLst>
          </p:cNvPr>
          <p:cNvPicPr>
            <a:picLocks noChangeAspect="1"/>
          </p:cNvPicPr>
          <p:nvPr/>
        </p:nvPicPr>
        <p:blipFill>
          <a:blip r:embed="rId4"/>
          <a:stretch>
            <a:fillRect/>
          </a:stretch>
        </p:blipFill>
        <p:spPr>
          <a:xfrm>
            <a:off x="515029" y="1412508"/>
            <a:ext cx="7910514" cy="1955014"/>
          </a:xfrm>
          <a:prstGeom prst="rect">
            <a:avLst/>
          </a:prstGeom>
        </p:spPr>
      </p:pic>
      <p:sp>
        <p:nvSpPr>
          <p:cNvPr id="45" name="Tekstvak 44">
            <a:extLst>
              <a:ext uri="{FF2B5EF4-FFF2-40B4-BE49-F238E27FC236}">
                <a16:creationId xmlns:a16="http://schemas.microsoft.com/office/drawing/2014/main" id="{D8F0E3D3-CB4C-E89F-D0C5-938F83F74920}"/>
              </a:ext>
            </a:extLst>
          </p:cNvPr>
          <p:cNvSpPr txBox="1"/>
          <p:nvPr/>
        </p:nvSpPr>
        <p:spPr>
          <a:xfrm>
            <a:off x="3352800" y="2234287"/>
            <a:ext cx="4539343" cy="523220"/>
          </a:xfrm>
          <a:prstGeom prst="rect">
            <a:avLst/>
          </a:prstGeom>
          <a:noFill/>
        </p:spPr>
        <p:txBody>
          <a:bodyPr wrap="square">
            <a:spAutoFit/>
          </a:bodyPr>
          <a:lstStyle/>
          <a:p>
            <a:r>
              <a:rPr lang="nl-BE" sz="1400" b="1" dirty="0">
                <a:hlinkClick r:id="rId5">
                  <a:extLst>
                    <a:ext uri="{A12FA001-AC4F-418D-AE19-62706E023703}">
                      <ahyp:hlinkClr xmlns:ahyp="http://schemas.microsoft.com/office/drawing/2018/hyperlinkcolor" val="tx"/>
                    </a:ext>
                  </a:extLst>
                </a:hlinkClick>
              </a:rPr>
              <a:t>https://www.vrt.be/vrtnws/nl/2026/02/05/vogel-geluiden-natuur-wandeling-welzijn-stress/</a:t>
            </a:r>
            <a:endParaRPr lang="nl-BE" sz="1400" b="1" dirty="0"/>
          </a:p>
        </p:txBody>
      </p:sp>
      <p:sp>
        <p:nvSpPr>
          <p:cNvPr id="47" name="Tekstvak 46">
            <a:extLst>
              <a:ext uri="{FF2B5EF4-FFF2-40B4-BE49-F238E27FC236}">
                <a16:creationId xmlns:a16="http://schemas.microsoft.com/office/drawing/2014/main" id="{51DA6954-009E-4192-F14B-2152809E47F5}"/>
              </a:ext>
            </a:extLst>
          </p:cNvPr>
          <p:cNvSpPr txBox="1"/>
          <p:nvPr/>
        </p:nvSpPr>
        <p:spPr>
          <a:xfrm>
            <a:off x="3352800" y="2818175"/>
            <a:ext cx="4158343" cy="738664"/>
          </a:xfrm>
          <a:prstGeom prst="rect">
            <a:avLst/>
          </a:prstGeom>
          <a:noFill/>
        </p:spPr>
        <p:txBody>
          <a:bodyPr wrap="square">
            <a:spAutoFit/>
          </a:bodyPr>
          <a:lstStyle/>
          <a:p>
            <a:r>
              <a:rPr lang="nl-BE" sz="1400" b="1" dirty="0">
                <a:hlinkClick r:id="rId6">
                  <a:extLst>
                    <a:ext uri="{A12FA001-AC4F-418D-AE19-62706E023703}">
                      <ahyp:hlinkClr xmlns:ahyp="http://schemas.microsoft.com/office/drawing/2018/hyperlinkcolor" val="tx"/>
                    </a:ext>
                  </a:extLst>
                </a:hlinkClick>
              </a:rPr>
              <a:t>https://www.sciencedirect.com/science/article/pii/S016920462500163X?ref=cra_js_challenge&amp;fr=RR-1</a:t>
            </a:r>
            <a:endParaRPr lang="nl-BE" sz="1400" b="1" dirty="0"/>
          </a:p>
        </p:txBody>
      </p:sp>
      <p:sp>
        <p:nvSpPr>
          <p:cNvPr id="49" name="Tekstvak 48">
            <a:extLst>
              <a:ext uri="{FF2B5EF4-FFF2-40B4-BE49-F238E27FC236}">
                <a16:creationId xmlns:a16="http://schemas.microsoft.com/office/drawing/2014/main" id="{CE46AFDE-83B7-7924-6E39-FC394E857F1C}"/>
              </a:ext>
            </a:extLst>
          </p:cNvPr>
          <p:cNvSpPr txBox="1"/>
          <p:nvPr/>
        </p:nvSpPr>
        <p:spPr>
          <a:xfrm>
            <a:off x="515029" y="3734112"/>
            <a:ext cx="6767514" cy="923330"/>
          </a:xfrm>
          <a:prstGeom prst="rect">
            <a:avLst/>
          </a:prstGeom>
          <a:noFill/>
        </p:spPr>
        <p:txBody>
          <a:bodyPr wrap="square">
            <a:spAutoFit/>
          </a:bodyPr>
          <a:lstStyle/>
          <a:p>
            <a:r>
              <a:rPr lang="en-US" dirty="0"/>
              <a:t>“we first looked at </a:t>
            </a:r>
            <a:br>
              <a:rPr lang="en-US" dirty="0"/>
            </a:br>
            <a:r>
              <a:rPr lang="en-US" dirty="0"/>
              <a:t>the effects of the unguided bird walk 1) on mental well-being and 2) on physiological stress markers.”</a:t>
            </a:r>
            <a:endParaRPr lang="nl-BE" dirty="0"/>
          </a:p>
        </p:txBody>
      </p:sp>
      <p:pic>
        <p:nvPicPr>
          <p:cNvPr id="55" name="Afbeelding 54" descr="Afbeelding met tekst, schermopname, Lettertype, document&#10;&#10;Door AI gegenereerde inhoud is mogelijk onjuist.">
            <a:extLst>
              <a:ext uri="{FF2B5EF4-FFF2-40B4-BE49-F238E27FC236}">
                <a16:creationId xmlns:a16="http://schemas.microsoft.com/office/drawing/2014/main" id="{3B7EDCD6-A543-301D-DD06-E2DB231659BF}"/>
              </a:ext>
            </a:extLst>
          </p:cNvPr>
          <p:cNvPicPr>
            <a:picLocks noChangeAspect="1"/>
          </p:cNvPicPr>
          <p:nvPr/>
        </p:nvPicPr>
        <p:blipFill>
          <a:blip r:embed="rId7"/>
          <a:stretch>
            <a:fillRect/>
          </a:stretch>
        </p:blipFill>
        <p:spPr>
          <a:xfrm>
            <a:off x="7713663" y="2147455"/>
            <a:ext cx="4191718" cy="4191718"/>
          </a:xfrm>
          <a:prstGeom prst="rect">
            <a:avLst/>
          </a:prstGeom>
        </p:spPr>
      </p:pic>
      <p:pic>
        <p:nvPicPr>
          <p:cNvPr id="57" name="Afbeelding 56" descr="Afbeelding met tekst, schermopname, Lettertype, lijn&#10;&#10;Door AI gegenereerde inhoud is mogelijk onjuist.">
            <a:extLst>
              <a:ext uri="{FF2B5EF4-FFF2-40B4-BE49-F238E27FC236}">
                <a16:creationId xmlns:a16="http://schemas.microsoft.com/office/drawing/2014/main" id="{09B41B28-5CBE-22A7-0A6E-3EBE63B7AE5D}"/>
              </a:ext>
            </a:extLst>
          </p:cNvPr>
          <p:cNvPicPr>
            <a:picLocks noChangeAspect="1"/>
          </p:cNvPicPr>
          <p:nvPr/>
        </p:nvPicPr>
        <p:blipFill>
          <a:blip r:embed="rId8"/>
          <a:stretch>
            <a:fillRect/>
          </a:stretch>
        </p:blipFill>
        <p:spPr>
          <a:xfrm>
            <a:off x="623886" y="4846759"/>
            <a:ext cx="4648113" cy="1390528"/>
          </a:xfrm>
          <a:prstGeom prst="rect">
            <a:avLst/>
          </a:prstGeom>
        </p:spPr>
      </p:pic>
      <p:sp>
        <p:nvSpPr>
          <p:cNvPr id="58" name="Rechthoek 57">
            <a:extLst>
              <a:ext uri="{FF2B5EF4-FFF2-40B4-BE49-F238E27FC236}">
                <a16:creationId xmlns:a16="http://schemas.microsoft.com/office/drawing/2014/main" id="{6876444C-A27C-ED60-600C-49DEF676F312}"/>
              </a:ext>
            </a:extLst>
          </p:cNvPr>
          <p:cNvSpPr/>
          <p:nvPr/>
        </p:nvSpPr>
        <p:spPr bwMode="auto">
          <a:xfrm>
            <a:off x="1110343" y="5671457"/>
            <a:ext cx="1262743" cy="195943"/>
          </a:xfrm>
          <a:prstGeom prst="rect">
            <a:avLst/>
          </a:prstGeom>
          <a:noFill/>
          <a:ln>
            <a:solidFill>
              <a:srgbClr val="C0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59" name="Rechthoek 58">
            <a:extLst>
              <a:ext uri="{FF2B5EF4-FFF2-40B4-BE49-F238E27FC236}">
                <a16:creationId xmlns:a16="http://schemas.microsoft.com/office/drawing/2014/main" id="{6AA8EA98-6021-D9FE-3080-A6C004697634}"/>
              </a:ext>
            </a:extLst>
          </p:cNvPr>
          <p:cNvSpPr/>
          <p:nvPr/>
        </p:nvSpPr>
        <p:spPr bwMode="auto">
          <a:xfrm>
            <a:off x="7746319" y="2911122"/>
            <a:ext cx="4191717" cy="746253"/>
          </a:xfrm>
          <a:prstGeom prst="rect">
            <a:avLst/>
          </a:prstGeom>
          <a:noFill/>
          <a:ln>
            <a:solidFill>
              <a:srgbClr val="C0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60" name="Rechthoek 59">
            <a:extLst>
              <a:ext uri="{FF2B5EF4-FFF2-40B4-BE49-F238E27FC236}">
                <a16:creationId xmlns:a16="http://schemas.microsoft.com/office/drawing/2014/main" id="{A236678C-6EA7-0AAC-3AF5-6001AEF087D2}"/>
              </a:ext>
            </a:extLst>
          </p:cNvPr>
          <p:cNvSpPr/>
          <p:nvPr/>
        </p:nvSpPr>
        <p:spPr bwMode="auto">
          <a:xfrm>
            <a:off x="515029" y="3721340"/>
            <a:ext cx="6560685" cy="936102"/>
          </a:xfrm>
          <a:prstGeom prst="rect">
            <a:avLst/>
          </a:prstGeom>
          <a:noFill/>
          <a:ln>
            <a:solidFill>
              <a:srgbClr val="C0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14293182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F9EBF-6603-DAD3-47E8-EE22CFE85B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C8AC4AD-21A3-727D-5349-6D6910E416E5}"/>
              </a:ext>
            </a:extLst>
          </p:cNvPr>
          <p:cNvSpPr>
            <a:spLocks noGrp="1"/>
          </p:cNvSpPr>
          <p:nvPr>
            <p:ph type="title"/>
          </p:nvPr>
        </p:nvSpPr>
        <p:spPr/>
        <p:txBody>
          <a:bodyPr/>
          <a:lstStyle/>
          <a:p>
            <a:r>
              <a:rPr lang="nl-BE" dirty="0"/>
              <a:t>T-test in de actualiteit?</a:t>
            </a:r>
          </a:p>
        </p:txBody>
      </p:sp>
      <p:sp>
        <p:nvSpPr>
          <p:cNvPr id="3" name="Tijdelijke aanduiding voor dianummer 2">
            <a:extLst>
              <a:ext uri="{FF2B5EF4-FFF2-40B4-BE49-F238E27FC236}">
                <a16:creationId xmlns:a16="http://schemas.microsoft.com/office/drawing/2014/main" id="{CC38FE04-4007-E128-1C5E-5F04167A2F75}"/>
              </a:ext>
            </a:extLst>
          </p:cNvPr>
          <p:cNvSpPr>
            <a:spLocks noGrp="1"/>
          </p:cNvSpPr>
          <p:nvPr>
            <p:ph type="sldNum" sz="quarter" idx="10"/>
          </p:nvPr>
        </p:nvSpPr>
        <p:spPr/>
        <p:txBody>
          <a:bodyPr/>
          <a:lstStyle/>
          <a:p>
            <a:fld id="{E038E271-308C-2E46-A3EC-56326F9084CC}" type="slidenum">
              <a:rPr lang="nl-BE" smtClean="0"/>
              <a:pPr/>
              <a:t>15</a:t>
            </a:fld>
            <a:endParaRPr lang="nl-BE" dirty="0"/>
          </a:p>
        </p:txBody>
      </p:sp>
      <p:sp>
        <p:nvSpPr>
          <p:cNvPr id="4" name="Tijdelijke aanduiding voor inhoud 3">
            <a:extLst>
              <a:ext uri="{FF2B5EF4-FFF2-40B4-BE49-F238E27FC236}">
                <a16:creationId xmlns:a16="http://schemas.microsoft.com/office/drawing/2014/main" id="{8734C7DE-A855-CE56-6D5F-3843229F30FF}"/>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pic>
        <p:nvPicPr>
          <p:cNvPr id="39" name="Afbeelding 38" descr="Afbeelding met logo, Lettertype, Graphics, symbool&#10;&#10;Door AI gegenereerde inhoud is mogelijk onjuist.">
            <a:extLst>
              <a:ext uri="{FF2B5EF4-FFF2-40B4-BE49-F238E27FC236}">
                <a16:creationId xmlns:a16="http://schemas.microsoft.com/office/drawing/2014/main" id="{F2F5457A-C94F-9BBE-63F4-179A2445BB9D}"/>
              </a:ext>
            </a:extLst>
          </p:cNvPr>
          <p:cNvPicPr>
            <a:picLocks noChangeAspect="1"/>
          </p:cNvPicPr>
          <p:nvPr/>
        </p:nvPicPr>
        <p:blipFill>
          <a:blip r:embed="rId3"/>
          <a:stretch>
            <a:fillRect/>
          </a:stretch>
        </p:blipFill>
        <p:spPr>
          <a:xfrm>
            <a:off x="9017808" y="114961"/>
            <a:ext cx="2887573" cy="1132626"/>
          </a:xfrm>
          <a:prstGeom prst="rect">
            <a:avLst/>
          </a:prstGeom>
        </p:spPr>
      </p:pic>
      <p:pic>
        <p:nvPicPr>
          <p:cNvPr id="43" name="Afbeelding 42" descr="Afbeelding met schermopname, Menselijk gezicht, tekst&#10;&#10;Door AI gegenereerde inhoud is mogelijk onjuist.">
            <a:extLst>
              <a:ext uri="{FF2B5EF4-FFF2-40B4-BE49-F238E27FC236}">
                <a16:creationId xmlns:a16="http://schemas.microsoft.com/office/drawing/2014/main" id="{0B4DACD5-6AE9-BB6D-2417-635174965FF2}"/>
              </a:ext>
            </a:extLst>
          </p:cNvPr>
          <p:cNvPicPr>
            <a:picLocks noChangeAspect="1"/>
          </p:cNvPicPr>
          <p:nvPr/>
        </p:nvPicPr>
        <p:blipFill>
          <a:blip r:embed="rId4"/>
          <a:stretch>
            <a:fillRect/>
          </a:stretch>
        </p:blipFill>
        <p:spPr>
          <a:xfrm>
            <a:off x="623887" y="1349472"/>
            <a:ext cx="9182572" cy="1911448"/>
          </a:xfrm>
          <a:prstGeom prst="rect">
            <a:avLst/>
          </a:prstGeom>
        </p:spPr>
      </p:pic>
      <p:sp>
        <p:nvSpPr>
          <p:cNvPr id="6" name="Tekstvak 5">
            <a:extLst>
              <a:ext uri="{FF2B5EF4-FFF2-40B4-BE49-F238E27FC236}">
                <a16:creationId xmlns:a16="http://schemas.microsoft.com/office/drawing/2014/main" id="{BDA3FBED-C372-9203-A38D-9D7633CCE0E6}"/>
              </a:ext>
            </a:extLst>
          </p:cNvPr>
          <p:cNvSpPr txBox="1"/>
          <p:nvPr/>
        </p:nvSpPr>
        <p:spPr>
          <a:xfrm>
            <a:off x="3537857" y="2259882"/>
            <a:ext cx="2873829" cy="738664"/>
          </a:xfrm>
          <a:prstGeom prst="rect">
            <a:avLst/>
          </a:prstGeom>
          <a:noFill/>
        </p:spPr>
        <p:txBody>
          <a:bodyPr wrap="square">
            <a:spAutoFit/>
          </a:bodyPr>
          <a:lstStyle/>
          <a:p>
            <a:r>
              <a:rPr lang="nl-BE" sz="1400" b="1" dirty="0">
                <a:hlinkClick r:id="rId5">
                  <a:extLst>
                    <a:ext uri="{A12FA001-AC4F-418D-AE19-62706E023703}">
                      <ahyp:hlinkClr xmlns:ahyp="http://schemas.microsoft.com/office/drawing/2018/hyperlinkcolor" val="tx"/>
                    </a:ext>
                  </a:extLst>
                </a:hlinkClick>
              </a:rPr>
              <a:t>https://www.vrt.be/vrtnws/nl/2026/02/17/liefde-passie-verliefd-onderzoek/</a:t>
            </a:r>
            <a:endParaRPr lang="nl-BE" sz="1400" b="1" dirty="0"/>
          </a:p>
        </p:txBody>
      </p:sp>
      <p:sp>
        <p:nvSpPr>
          <p:cNvPr id="8" name="Tekstvak 7">
            <a:extLst>
              <a:ext uri="{FF2B5EF4-FFF2-40B4-BE49-F238E27FC236}">
                <a16:creationId xmlns:a16="http://schemas.microsoft.com/office/drawing/2014/main" id="{70DC53E2-D2B2-2A2B-89F5-BAE56BD98696}"/>
              </a:ext>
            </a:extLst>
          </p:cNvPr>
          <p:cNvSpPr txBox="1"/>
          <p:nvPr/>
        </p:nvSpPr>
        <p:spPr>
          <a:xfrm>
            <a:off x="535100" y="3305579"/>
            <a:ext cx="5497286" cy="523220"/>
          </a:xfrm>
          <a:prstGeom prst="rect">
            <a:avLst/>
          </a:prstGeom>
          <a:noFill/>
        </p:spPr>
        <p:txBody>
          <a:bodyPr wrap="square">
            <a:spAutoFit/>
          </a:bodyPr>
          <a:lstStyle/>
          <a:p>
            <a:r>
              <a:rPr lang="nl-BE" sz="1400" b="1" dirty="0">
                <a:hlinkClick r:id="rId6">
                  <a:extLst>
                    <a:ext uri="{A12FA001-AC4F-418D-AE19-62706E023703}">
                      <ahyp:hlinkClr xmlns:ahyp="http://schemas.microsoft.com/office/drawing/2018/hyperlinkcolor" val="tx"/>
                    </a:ext>
                  </a:extLst>
                </a:hlinkClick>
              </a:rPr>
              <a:t>https://ojs.interpersonajournal.com/index.php/ojs/article/view/733/1271</a:t>
            </a:r>
            <a:endParaRPr lang="nl-BE" sz="1400" b="1" dirty="0"/>
          </a:p>
        </p:txBody>
      </p:sp>
      <p:sp>
        <p:nvSpPr>
          <p:cNvPr id="10" name="Tekstvak 9">
            <a:extLst>
              <a:ext uri="{FF2B5EF4-FFF2-40B4-BE49-F238E27FC236}">
                <a16:creationId xmlns:a16="http://schemas.microsoft.com/office/drawing/2014/main" id="{BA0BFC71-DE71-1C2B-35DA-E4408D43F5F3}"/>
              </a:ext>
            </a:extLst>
          </p:cNvPr>
          <p:cNvSpPr txBox="1"/>
          <p:nvPr/>
        </p:nvSpPr>
        <p:spPr>
          <a:xfrm>
            <a:off x="499252" y="3937285"/>
            <a:ext cx="6096000" cy="646331"/>
          </a:xfrm>
          <a:prstGeom prst="rect">
            <a:avLst/>
          </a:prstGeom>
          <a:noFill/>
        </p:spPr>
        <p:txBody>
          <a:bodyPr wrap="square">
            <a:spAutoFit/>
          </a:bodyPr>
          <a:lstStyle/>
          <a:p>
            <a:r>
              <a:rPr lang="en-US" dirty="0"/>
              <a:t>“How are age, gender, and sexual orientation associated with the number of passionate love experiences?”</a:t>
            </a:r>
            <a:endParaRPr lang="nl-BE" dirty="0"/>
          </a:p>
        </p:txBody>
      </p:sp>
      <p:sp>
        <p:nvSpPr>
          <p:cNvPr id="12" name="Rechthoek 11">
            <a:extLst>
              <a:ext uri="{FF2B5EF4-FFF2-40B4-BE49-F238E27FC236}">
                <a16:creationId xmlns:a16="http://schemas.microsoft.com/office/drawing/2014/main" id="{9EF3E9FA-1563-3268-D620-5F30E39F1AF0}"/>
              </a:ext>
            </a:extLst>
          </p:cNvPr>
          <p:cNvSpPr/>
          <p:nvPr/>
        </p:nvSpPr>
        <p:spPr bwMode="auto">
          <a:xfrm>
            <a:off x="499252" y="3954823"/>
            <a:ext cx="6005513" cy="646331"/>
          </a:xfrm>
          <a:prstGeom prst="rect">
            <a:avLst/>
          </a:prstGeom>
          <a:noFill/>
          <a:ln>
            <a:solidFill>
              <a:srgbClr val="C0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4" name="Tekstvak 13">
            <a:extLst>
              <a:ext uri="{FF2B5EF4-FFF2-40B4-BE49-F238E27FC236}">
                <a16:creationId xmlns:a16="http://schemas.microsoft.com/office/drawing/2014/main" id="{6563F789-D47D-E3DA-FCD3-B8B7E0E727E5}"/>
              </a:ext>
            </a:extLst>
          </p:cNvPr>
          <p:cNvSpPr txBox="1"/>
          <p:nvPr/>
        </p:nvSpPr>
        <p:spPr>
          <a:xfrm>
            <a:off x="535100" y="4777992"/>
            <a:ext cx="6005513" cy="1477328"/>
          </a:xfrm>
          <a:prstGeom prst="rect">
            <a:avLst/>
          </a:prstGeom>
          <a:noFill/>
        </p:spPr>
        <p:txBody>
          <a:bodyPr wrap="square">
            <a:spAutoFit/>
          </a:bodyPr>
          <a:lstStyle/>
          <a:p>
            <a:r>
              <a:rPr lang="en-US" dirty="0"/>
              <a:t>“We conducted a bivariate correlation between age and number of passionate love experiences, followed by </a:t>
            </a:r>
            <a:r>
              <a:rPr lang="en-US" b="1" dirty="0">
                <a:solidFill>
                  <a:srgbClr val="C00000"/>
                </a:solidFill>
              </a:rPr>
              <a:t>independent samples t-tests </a:t>
            </a:r>
            <a:r>
              <a:rPr lang="en-US" dirty="0"/>
              <a:t>to  assess  differences  based  on  gender  (women  vs.  men) and sexual orientation (heterosexual vs. gay/lesbian/bisexual)”</a:t>
            </a:r>
            <a:endParaRPr lang="nl-BE" dirty="0"/>
          </a:p>
        </p:txBody>
      </p:sp>
      <p:sp>
        <p:nvSpPr>
          <p:cNvPr id="17" name="Tekstvak 16">
            <a:extLst>
              <a:ext uri="{FF2B5EF4-FFF2-40B4-BE49-F238E27FC236}">
                <a16:creationId xmlns:a16="http://schemas.microsoft.com/office/drawing/2014/main" id="{36F00A84-8064-C4E6-2E2A-495BC2BCE31B}"/>
              </a:ext>
            </a:extLst>
          </p:cNvPr>
          <p:cNvSpPr txBox="1"/>
          <p:nvPr/>
        </p:nvSpPr>
        <p:spPr>
          <a:xfrm>
            <a:off x="6838179" y="2430050"/>
            <a:ext cx="5097066" cy="3785652"/>
          </a:xfrm>
          <a:prstGeom prst="rect">
            <a:avLst/>
          </a:prstGeom>
          <a:noFill/>
        </p:spPr>
        <p:txBody>
          <a:bodyPr wrap="square">
            <a:spAutoFit/>
          </a:bodyPr>
          <a:lstStyle/>
          <a:p>
            <a:r>
              <a:rPr lang="en-US" sz="1600" dirty="0"/>
              <a:t>“Age  was  positively  associated  with  participants’  number  of passionate love experiences, albeit with a very small effect (r= 0.14, p&lt; .001).   Older   participants   reported   slightly   more   passionate   love experiences  than  younger  participants.  </a:t>
            </a:r>
            <a:r>
              <a:rPr lang="en-US" sz="1600" b="1" dirty="0">
                <a:solidFill>
                  <a:srgbClr val="C00000"/>
                </a:solidFill>
              </a:rPr>
              <a:t>Gender  differences  were  also significant but small (t(8511.18) = -6.33, p&lt; .001, d= -0.13): men (M= 2.01, SD= 1.47) reported more experiences than women (M= 1.83, SD= 1.31). No significant differences were found between heterosexual (M=1.92, SD= 1.38) and gay/lesbian/bisexual (M= 1.83, SD= 1.39; t(9690) = 1.10, p= .27, d= 0.03) participants, or between gay/lesbian (M= 1.91, SD= 1.44) and bisexual participants (M= 1.84, SD= 1.34; t(1194) = 0.82, p= .41, d= 0.05)”</a:t>
            </a:r>
            <a:endParaRPr lang="nl-BE" sz="1600" b="1" dirty="0">
              <a:solidFill>
                <a:srgbClr val="C00000"/>
              </a:solidFill>
            </a:endParaRPr>
          </a:p>
        </p:txBody>
      </p:sp>
    </p:spTree>
    <p:extLst>
      <p:ext uri="{BB962C8B-B14F-4D97-AF65-F5344CB8AC3E}">
        <p14:creationId xmlns:p14="http://schemas.microsoft.com/office/powerpoint/2010/main" val="304360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16</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lstStyle/>
          <a:p>
            <a:r>
              <a:rPr lang="nl-BE" dirty="0"/>
              <a:t>ANOVA</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9" name="Tijdelijke aanduiding voor afbeelding 8">
            <a:extLst>
              <a:ext uri="{FF2B5EF4-FFF2-40B4-BE49-F238E27FC236}">
                <a16:creationId xmlns:a16="http://schemas.microsoft.com/office/drawing/2014/main" id="{04BFA3DA-DFC8-E74A-BE29-3A9BE645EEE9}"/>
              </a:ext>
            </a:extLst>
          </p:cNvPr>
          <p:cNvPicPr>
            <a:picLocks noGrp="1" noChangeAspect="1"/>
          </p:cNvPicPr>
          <p:nvPr>
            <p:ph type="pic" idx="1"/>
          </p:nvPr>
        </p:nvPicPr>
        <p:blipFill rotWithShape="1">
          <a:blip r:embed="rId3"/>
          <a:srcRect t="-58465" b="-58465"/>
          <a:stretch/>
        </p:blipFill>
        <p:spPr/>
      </p:pic>
    </p:spTree>
    <p:extLst>
      <p:ext uri="{BB962C8B-B14F-4D97-AF65-F5344CB8AC3E}">
        <p14:creationId xmlns:p14="http://schemas.microsoft.com/office/powerpoint/2010/main" val="1472862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0FB61-251B-914A-9486-F8A70A48FD6D}"/>
              </a:ext>
            </a:extLst>
          </p:cNvPr>
          <p:cNvSpPr>
            <a:spLocks noGrp="1"/>
          </p:cNvSpPr>
          <p:nvPr>
            <p:ph type="title"/>
          </p:nvPr>
        </p:nvSpPr>
        <p:spPr/>
        <p:txBody>
          <a:bodyPr>
            <a:normAutofit fontScale="90000"/>
          </a:bodyPr>
          <a:lstStyle/>
          <a:p>
            <a:r>
              <a:rPr lang="nl-BE" dirty="0"/>
              <a:t>Wat als de onafhankelijke variabelen meer dan 2 categorieën heeft?</a:t>
            </a:r>
          </a:p>
        </p:txBody>
      </p:sp>
      <p:sp>
        <p:nvSpPr>
          <p:cNvPr id="3" name="Tijdelijke aanduiding voor dianummer 2">
            <a:extLst>
              <a:ext uri="{FF2B5EF4-FFF2-40B4-BE49-F238E27FC236}">
                <a16:creationId xmlns:a16="http://schemas.microsoft.com/office/drawing/2014/main" id="{70238EEF-1323-F24A-A56D-C1A5CDB7A4AB}"/>
              </a:ext>
            </a:extLst>
          </p:cNvPr>
          <p:cNvSpPr>
            <a:spLocks noGrp="1"/>
          </p:cNvSpPr>
          <p:nvPr>
            <p:ph type="sldNum" sz="quarter" idx="10"/>
          </p:nvPr>
        </p:nvSpPr>
        <p:spPr/>
        <p:txBody>
          <a:bodyPr/>
          <a:lstStyle/>
          <a:p>
            <a:fld id="{E038E271-308C-2E46-A3EC-56326F9084CC}" type="slidenum">
              <a:rPr lang="nl-BE" smtClean="0"/>
              <a:pPr/>
              <a:t>17</a:t>
            </a:fld>
            <a:endParaRPr lang="nl-BE" dirty="0"/>
          </a:p>
        </p:txBody>
      </p:sp>
      <p:sp>
        <p:nvSpPr>
          <p:cNvPr id="4" name="Tijdelijke aanduiding voor inhoud 3">
            <a:extLst>
              <a:ext uri="{FF2B5EF4-FFF2-40B4-BE49-F238E27FC236}">
                <a16:creationId xmlns:a16="http://schemas.microsoft.com/office/drawing/2014/main" id="{6B4F1E21-319E-9546-AC97-01BAFCC56015}"/>
              </a:ext>
            </a:extLst>
          </p:cNvPr>
          <p:cNvSpPr>
            <a:spLocks noGrp="1"/>
          </p:cNvSpPr>
          <p:nvPr>
            <p:ph idx="1"/>
          </p:nvPr>
        </p:nvSpPr>
        <p:spPr>
          <a:xfrm>
            <a:off x="623887" y="1819900"/>
            <a:ext cx="10944226" cy="4660279"/>
          </a:xfrm>
        </p:spPr>
        <p:txBody>
          <a:bodyPr vert="horz" wrap="square" lIns="0" tIns="0" rIns="0" bIns="0" rtlCol="0" anchor="t">
            <a:noAutofit/>
          </a:bodyPr>
          <a:lstStyle/>
          <a:p>
            <a:pPr marL="0" indent="0">
              <a:buNone/>
            </a:pPr>
            <a:r>
              <a:rPr lang="nl-BE" dirty="0">
                <a:latin typeface="Calibri"/>
                <a:ea typeface="Verdana"/>
                <a:cs typeface="Calibri"/>
              </a:rPr>
              <a:t>Is er een verschil in interesse voor techniek tussen leerlingen uit vijf verschillende studierichtingen (technische (1), kunst (2), Latijn (3), moderne wetenschappen (4) en STV/Handel (5))? </a:t>
            </a:r>
            <a:r>
              <a:rPr lang="nl-BE" sz="2000" b="0" dirty="0">
                <a:latin typeface="Calibri"/>
                <a:ea typeface="Verdana"/>
                <a:cs typeface="Calibri"/>
              </a:rPr>
              <a:t>(Interest.voor2 &amp; Richting5cat)</a:t>
            </a:r>
            <a:endParaRPr lang="nl-BE" b="0" dirty="0">
              <a:latin typeface="Calibri"/>
              <a:ea typeface="Verdana"/>
              <a:cs typeface="Calibri"/>
            </a:endParaRPr>
          </a:p>
          <a:p>
            <a:pPr marL="274320" indent="-274320"/>
            <a:endParaRPr lang="nl-BE" dirty="0"/>
          </a:p>
          <a:p>
            <a:pPr marL="740410" lvl="1" indent="-378460"/>
            <a:r>
              <a:rPr lang="nl-BE" dirty="0"/>
              <a:t>Formuleer de hypotheses</a:t>
            </a:r>
          </a:p>
          <a:p>
            <a:pPr marL="740410" lvl="1" indent="-378460"/>
            <a:r>
              <a:rPr lang="nl-BE" dirty="0"/>
              <a:t>Teken het onderzoeksmodel</a:t>
            </a:r>
          </a:p>
          <a:p>
            <a:pPr marL="274320" indent="-274320"/>
            <a:endParaRPr lang="nl-BE" dirty="0"/>
          </a:p>
          <a:p>
            <a:pPr marL="274320" indent="-274320"/>
            <a:endParaRPr lang="nl-BE" dirty="0"/>
          </a:p>
        </p:txBody>
      </p:sp>
    </p:spTree>
    <p:extLst>
      <p:ext uri="{BB962C8B-B14F-4D97-AF65-F5344CB8AC3E}">
        <p14:creationId xmlns:p14="http://schemas.microsoft.com/office/powerpoint/2010/main" val="3017363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A0FB61-251B-914A-9486-F8A70A48FD6D}"/>
              </a:ext>
            </a:extLst>
          </p:cNvPr>
          <p:cNvSpPr>
            <a:spLocks noGrp="1"/>
          </p:cNvSpPr>
          <p:nvPr>
            <p:ph type="title"/>
          </p:nvPr>
        </p:nvSpPr>
        <p:spPr/>
        <p:txBody>
          <a:bodyPr>
            <a:normAutofit/>
          </a:bodyPr>
          <a:lstStyle/>
          <a:p>
            <a:r>
              <a:rPr lang="nl-BE" dirty="0"/>
              <a:t>Hypotheses en onderzoeksmodel</a:t>
            </a:r>
          </a:p>
        </p:txBody>
      </p:sp>
      <p:sp>
        <p:nvSpPr>
          <p:cNvPr id="3" name="Tijdelijke aanduiding voor dianummer 2">
            <a:extLst>
              <a:ext uri="{FF2B5EF4-FFF2-40B4-BE49-F238E27FC236}">
                <a16:creationId xmlns:a16="http://schemas.microsoft.com/office/drawing/2014/main" id="{70238EEF-1323-F24A-A56D-C1A5CDB7A4AB}"/>
              </a:ext>
            </a:extLst>
          </p:cNvPr>
          <p:cNvSpPr>
            <a:spLocks noGrp="1"/>
          </p:cNvSpPr>
          <p:nvPr>
            <p:ph type="sldNum" sz="quarter" idx="10"/>
          </p:nvPr>
        </p:nvSpPr>
        <p:spPr/>
        <p:txBody>
          <a:bodyPr/>
          <a:lstStyle/>
          <a:p>
            <a:fld id="{E038E271-308C-2E46-A3EC-56326F9084CC}" type="slidenum">
              <a:rPr lang="nl-BE" smtClean="0"/>
              <a:pPr/>
              <a:t>18</a:t>
            </a:fld>
            <a:endParaRPr lang="nl-BE" dirty="0"/>
          </a:p>
        </p:txBody>
      </p:sp>
      <p:sp>
        <p:nvSpPr>
          <p:cNvPr id="4" name="Tijdelijke aanduiding voor inhoud 3">
            <a:extLst>
              <a:ext uri="{FF2B5EF4-FFF2-40B4-BE49-F238E27FC236}">
                <a16:creationId xmlns:a16="http://schemas.microsoft.com/office/drawing/2014/main" id="{6B4F1E21-319E-9546-AC97-01BAFCC56015}"/>
              </a:ext>
            </a:extLst>
          </p:cNvPr>
          <p:cNvSpPr>
            <a:spLocks noGrp="1"/>
          </p:cNvSpPr>
          <p:nvPr>
            <p:ph idx="1"/>
          </p:nvPr>
        </p:nvSpPr>
        <p:spPr>
          <a:xfrm>
            <a:off x="623887" y="1819900"/>
            <a:ext cx="10944226" cy="4660279"/>
          </a:xfrm>
        </p:spPr>
        <p:txBody>
          <a:bodyPr wrap="square"/>
          <a:lstStyle/>
          <a:p>
            <a:r>
              <a:rPr lang="nl-BE" dirty="0"/>
              <a:t>Hypotheses</a:t>
            </a:r>
          </a:p>
          <a:p>
            <a:endParaRPr lang="nl-BE" dirty="0"/>
          </a:p>
          <a:p>
            <a:endParaRPr lang="nl-BE" dirty="0"/>
          </a:p>
          <a:p>
            <a:endParaRPr lang="nl-BE" dirty="0"/>
          </a:p>
          <a:p>
            <a:r>
              <a:rPr lang="nl-BE" dirty="0"/>
              <a:t>Onderzoeksmodel</a:t>
            </a:r>
          </a:p>
          <a:p>
            <a:endParaRPr lang="nl-BE" dirty="0"/>
          </a:p>
        </p:txBody>
      </p:sp>
      <p:graphicFrame>
        <p:nvGraphicFramePr>
          <p:cNvPr id="5" name="Table 1">
            <a:extLst>
              <a:ext uri="{FF2B5EF4-FFF2-40B4-BE49-F238E27FC236}">
                <a16:creationId xmlns:a16="http://schemas.microsoft.com/office/drawing/2014/main" id="{C46B69C0-C25B-3F47-89B5-741BCE7EB6FB}"/>
              </a:ext>
            </a:extLst>
          </p:cNvPr>
          <p:cNvGraphicFramePr>
            <a:graphicFrameLocks noGrp="1"/>
          </p:cNvGraphicFramePr>
          <p:nvPr>
            <p:extLst>
              <p:ext uri="{D42A27DB-BD31-4B8C-83A1-F6EECF244321}">
                <p14:modId xmlns:p14="http://schemas.microsoft.com/office/powerpoint/2010/main" val="636137105"/>
              </p:ext>
            </p:extLst>
          </p:nvPr>
        </p:nvGraphicFramePr>
        <p:xfrm>
          <a:off x="3009900" y="1960563"/>
          <a:ext cx="8424863" cy="1468437"/>
        </p:xfrm>
        <a:graphic>
          <a:graphicData uri="http://schemas.openxmlformats.org/drawingml/2006/table">
            <a:tbl>
              <a:tblPr firstRow="1" bandRow="1">
                <a:tableStyleId>{22838BEF-8BB2-4498-84A7-C5851F593DF1}</a:tableStyleId>
              </a:tblPr>
              <a:tblGrid>
                <a:gridCol w="2952302">
                  <a:extLst>
                    <a:ext uri="{9D8B030D-6E8A-4147-A177-3AD203B41FA5}">
                      <a16:colId xmlns:a16="http://schemas.microsoft.com/office/drawing/2014/main" val="20000"/>
                    </a:ext>
                  </a:extLst>
                </a:gridCol>
                <a:gridCol w="5472561">
                  <a:extLst>
                    <a:ext uri="{9D8B030D-6E8A-4147-A177-3AD203B41FA5}">
                      <a16:colId xmlns:a16="http://schemas.microsoft.com/office/drawing/2014/main" val="20001"/>
                    </a:ext>
                  </a:extLst>
                </a:gridCol>
              </a:tblGrid>
              <a:tr h="782816">
                <a:tc>
                  <a:txBody>
                    <a:bodyPr/>
                    <a:lstStyle/>
                    <a:p>
                      <a:r>
                        <a:rPr lang="nl-NL" sz="1800" b="0" dirty="0"/>
                        <a:t>Nulhypothese:</a:t>
                      </a:r>
                    </a:p>
                  </a:txBody>
                  <a:tcPr marL="91439" marR="91439" marT="45727" marB="45727" anchor="ctr"/>
                </a:tc>
                <a:tc>
                  <a:txBody>
                    <a:bodyPr/>
                    <a:lstStyle/>
                    <a:p>
                      <a:r>
                        <a:rPr lang="nl-NL" sz="1800" b="1" i="1" dirty="0">
                          <a:solidFill>
                            <a:srgbClr val="C00000"/>
                          </a:solidFill>
                        </a:rPr>
                        <a:t>In de populatie </a:t>
                      </a:r>
                      <a:r>
                        <a:rPr lang="nl-NL" sz="1800" b="0" dirty="0"/>
                        <a:t>is het </a:t>
                      </a:r>
                      <a:r>
                        <a:rPr lang="nl-NL" sz="1800" b="0" u="sng" dirty="0"/>
                        <a:t>verschil in interesse</a:t>
                      </a:r>
                      <a:r>
                        <a:rPr lang="nl-NL" sz="1800" b="0" u="sng" baseline="0" dirty="0"/>
                        <a:t> voor techniek niet afhankelijk van de richting </a:t>
                      </a:r>
                      <a:r>
                        <a:rPr lang="nl-NL" sz="1800" b="0" baseline="0" dirty="0"/>
                        <a:t>waarin de leerling zit</a:t>
                      </a:r>
                      <a:r>
                        <a:rPr lang="nl-NL" sz="1800" b="0" dirty="0"/>
                        <a:t>.</a:t>
                      </a:r>
                    </a:p>
                  </a:txBody>
                  <a:tcPr marL="91439" marR="91439" marT="45727" marB="45727" anchor="ctr"/>
                </a:tc>
                <a:extLst>
                  <a:ext uri="{0D108BD9-81ED-4DB2-BD59-A6C34878D82A}">
                    <a16:rowId xmlns:a16="http://schemas.microsoft.com/office/drawing/2014/main" val="10000"/>
                  </a:ext>
                </a:extLst>
              </a:tr>
              <a:tr h="685621">
                <a:tc>
                  <a:txBody>
                    <a:bodyPr/>
                    <a:lstStyle/>
                    <a:p>
                      <a:r>
                        <a:rPr lang="nl-NL" sz="1800" dirty="0"/>
                        <a:t>Alternatieve hypothese:</a:t>
                      </a:r>
                    </a:p>
                  </a:txBody>
                  <a:tcPr marL="91439" marR="91439" marT="45727" marB="45727" anchor="ctr"/>
                </a:tc>
                <a:tc>
                  <a:txBody>
                    <a:bodyPr/>
                    <a:lstStyle/>
                    <a:p>
                      <a:r>
                        <a:rPr lang="nl-NL" sz="1800" b="1" i="1" dirty="0">
                          <a:solidFill>
                            <a:srgbClr val="C00000"/>
                          </a:solidFill>
                        </a:rPr>
                        <a:t>In de populatie </a:t>
                      </a:r>
                      <a:r>
                        <a:rPr lang="nl-NL" sz="1800" b="0" dirty="0"/>
                        <a:t>is het </a:t>
                      </a:r>
                      <a:r>
                        <a:rPr lang="nl-NL" sz="1800" b="0" u="sng" dirty="0"/>
                        <a:t>verschil in interesse</a:t>
                      </a:r>
                      <a:r>
                        <a:rPr lang="nl-NL" sz="1800" b="0" u="sng" baseline="0" dirty="0"/>
                        <a:t> voor techniek wel afhankelijk van de richting </a:t>
                      </a:r>
                      <a:r>
                        <a:rPr lang="nl-NL" sz="1800" b="0" baseline="0" dirty="0"/>
                        <a:t>waarin de leerling zit</a:t>
                      </a:r>
                      <a:r>
                        <a:rPr lang="nl-NL" sz="1800" b="0" dirty="0"/>
                        <a:t>.</a:t>
                      </a:r>
                    </a:p>
                  </a:txBody>
                  <a:tcPr marL="91439" marR="91439" marT="45727" marB="45727" anchor="ctr"/>
                </a:tc>
                <a:extLst>
                  <a:ext uri="{0D108BD9-81ED-4DB2-BD59-A6C34878D82A}">
                    <a16:rowId xmlns:a16="http://schemas.microsoft.com/office/drawing/2014/main" val="10001"/>
                  </a:ext>
                </a:extLst>
              </a:tr>
            </a:tbl>
          </a:graphicData>
        </a:graphic>
      </p:graphicFrame>
      <p:sp>
        <p:nvSpPr>
          <p:cNvPr id="6" name="TextBox 2">
            <a:extLst>
              <a:ext uri="{FF2B5EF4-FFF2-40B4-BE49-F238E27FC236}">
                <a16:creationId xmlns:a16="http://schemas.microsoft.com/office/drawing/2014/main" id="{4B68DCB0-CC30-7A46-99EA-155835709A4B}"/>
              </a:ext>
            </a:extLst>
          </p:cNvPr>
          <p:cNvSpPr txBox="1"/>
          <p:nvPr/>
        </p:nvSpPr>
        <p:spPr>
          <a:xfrm>
            <a:off x="3009900" y="4996574"/>
            <a:ext cx="2089150" cy="369887"/>
          </a:xfrm>
          <a:prstGeom prst="rect">
            <a:avLst/>
          </a:prstGeom>
          <a:effectLst/>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endParaRPr lang="nl-NL" dirty="0"/>
          </a:p>
        </p:txBody>
      </p:sp>
      <p:sp>
        <p:nvSpPr>
          <p:cNvPr id="7" name="TextBox 5">
            <a:extLst>
              <a:ext uri="{FF2B5EF4-FFF2-40B4-BE49-F238E27FC236}">
                <a16:creationId xmlns:a16="http://schemas.microsoft.com/office/drawing/2014/main" id="{8BD30EDD-AE7B-EC4E-A014-C5E17F995565}"/>
              </a:ext>
            </a:extLst>
          </p:cNvPr>
          <p:cNvSpPr txBox="1"/>
          <p:nvPr/>
        </p:nvSpPr>
        <p:spPr>
          <a:xfrm>
            <a:off x="3009900" y="5347411"/>
            <a:ext cx="2089150" cy="369888"/>
          </a:xfrm>
          <a:prstGeom prst="rect">
            <a:avLst/>
          </a:prstGeom>
          <a:effectLst/>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endParaRPr lang="nl-NL" dirty="0"/>
          </a:p>
        </p:txBody>
      </p:sp>
      <p:sp>
        <p:nvSpPr>
          <p:cNvPr id="8" name="TextBox 6">
            <a:extLst>
              <a:ext uri="{FF2B5EF4-FFF2-40B4-BE49-F238E27FC236}">
                <a16:creationId xmlns:a16="http://schemas.microsoft.com/office/drawing/2014/main" id="{2054DA8A-D46F-BD4F-AECE-0B22FD423059}"/>
              </a:ext>
            </a:extLst>
          </p:cNvPr>
          <p:cNvSpPr txBox="1"/>
          <p:nvPr/>
        </p:nvSpPr>
        <p:spPr>
          <a:xfrm>
            <a:off x="6467475" y="4977523"/>
            <a:ext cx="3087687" cy="369888"/>
          </a:xfrm>
          <a:prstGeom prst="rect">
            <a:avLst/>
          </a:prstGeom>
          <a:effectLst/>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r>
              <a:rPr lang="nl-NL" dirty="0"/>
              <a:t>Interesse voor techniek</a:t>
            </a:r>
          </a:p>
        </p:txBody>
      </p:sp>
      <p:cxnSp>
        <p:nvCxnSpPr>
          <p:cNvPr id="9" name="Straight Arrow Connector 13">
            <a:extLst>
              <a:ext uri="{FF2B5EF4-FFF2-40B4-BE49-F238E27FC236}">
                <a16:creationId xmlns:a16="http://schemas.microsoft.com/office/drawing/2014/main" id="{E46662A4-68BC-4C46-968A-BF75C6BD3BAC}"/>
              </a:ext>
            </a:extLst>
          </p:cNvPr>
          <p:cNvCxnSpPr>
            <a:cxnSpLocks noChangeShapeType="1"/>
          </p:cNvCxnSpPr>
          <p:nvPr/>
        </p:nvCxnSpPr>
        <p:spPr bwMode="auto">
          <a:xfrm>
            <a:off x="5099050" y="5184692"/>
            <a:ext cx="1368425" cy="0"/>
          </a:xfrm>
          <a:prstGeom prst="straightConnector1">
            <a:avLst/>
          </a:prstGeom>
          <a:noFill/>
          <a:ln w="57150">
            <a:solidFill>
              <a:schemeClr val="tx1"/>
            </a:solidFill>
            <a:round/>
            <a:headEnd/>
            <a:tailEnd type="arrow" w="med" len="med"/>
          </a:ln>
          <a:extLst>
            <a:ext uri="{909E8E84-426E-40dd-AFC4-6F175D3DCCD1}">
              <a14:hiddenFill xmlns:a14="http://schemas.microsoft.com/office/drawing/2010/main" xmlns="">
                <a:noFill/>
              </a14:hiddenFill>
            </a:ext>
          </a:extLst>
        </p:spPr>
      </p:cxnSp>
      <p:sp>
        <p:nvSpPr>
          <p:cNvPr id="10" name="TextBox 2">
            <a:extLst>
              <a:ext uri="{FF2B5EF4-FFF2-40B4-BE49-F238E27FC236}">
                <a16:creationId xmlns:a16="http://schemas.microsoft.com/office/drawing/2014/main" id="{AD62C498-8DEB-7648-A654-8F9C2F341E91}"/>
              </a:ext>
            </a:extLst>
          </p:cNvPr>
          <p:cNvSpPr txBox="1"/>
          <p:nvPr/>
        </p:nvSpPr>
        <p:spPr>
          <a:xfrm>
            <a:off x="3009900" y="4645736"/>
            <a:ext cx="2089150" cy="369887"/>
          </a:xfrm>
          <a:prstGeom prst="rect">
            <a:avLst/>
          </a:prstGeom>
          <a:effectLst/>
        </p:spPr>
        <p:style>
          <a:lnRef idx="2">
            <a:schemeClr val="dk1"/>
          </a:lnRef>
          <a:fillRef idx="1">
            <a:schemeClr val="lt1"/>
          </a:fillRef>
          <a:effectRef idx="0">
            <a:schemeClr val="dk1"/>
          </a:effectRef>
          <a:fontRef idx="minor">
            <a:schemeClr val="dk1"/>
          </a:fontRef>
        </p:style>
        <p:txBody>
          <a:bodyPr>
            <a:spAutoFit/>
          </a:bodyPr>
          <a:lstStyle/>
          <a:p>
            <a:pPr algn="ctr" eaLnBrk="1" hangingPunct="1">
              <a:defRPr/>
            </a:pPr>
            <a:endParaRPr lang="nl-NL" dirty="0"/>
          </a:p>
        </p:txBody>
      </p:sp>
      <p:sp>
        <p:nvSpPr>
          <p:cNvPr id="11" name="Tekstvak 10">
            <a:extLst>
              <a:ext uri="{FF2B5EF4-FFF2-40B4-BE49-F238E27FC236}">
                <a16:creationId xmlns:a16="http://schemas.microsoft.com/office/drawing/2014/main" id="{CC090DBE-B6BB-5E44-8F8D-AB559E5F8BB0}"/>
              </a:ext>
            </a:extLst>
          </p:cNvPr>
          <p:cNvSpPr txBox="1"/>
          <p:nvPr/>
        </p:nvSpPr>
        <p:spPr>
          <a:xfrm>
            <a:off x="3226544" y="4322680"/>
            <a:ext cx="1798890" cy="369332"/>
          </a:xfrm>
          <a:prstGeom prst="rect">
            <a:avLst/>
          </a:prstGeom>
          <a:noFill/>
        </p:spPr>
        <p:txBody>
          <a:bodyPr wrap="none" rtlCol="0">
            <a:spAutoFit/>
          </a:bodyPr>
          <a:lstStyle/>
          <a:p>
            <a:r>
              <a:rPr lang="nl-BE" dirty="0">
                <a:solidFill>
                  <a:schemeClr val="tx1"/>
                </a:solidFill>
              </a:rPr>
              <a:t>Studierichting</a:t>
            </a:r>
          </a:p>
        </p:txBody>
      </p:sp>
      <p:sp>
        <p:nvSpPr>
          <p:cNvPr id="12" name="Tekstvak 11">
            <a:extLst>
              <a:ext uri="{FF2B5EF4-FFF2-40B4-BE49-F238E27FC236}">
                <a16:creationId xmlns:a16="http://schemas.microsoft.com/office/drawing/2014/main" id="{001AD755-2939-1249-A829-37028105A201}"/>
              </a:ext>
            </a:extLst>
          </p:cNvPr>
          <p:cNvSpPr txBox="1"/>
          <p:nvPr/>
        </p:nvSpPr>
        <p:spPr>
          <a:xfrm>
            <a:off x="2131027" y="5815582"/>
            <a:ext cx="3810598" cy="467010"/>
          </a:xfrm>
          <a:prstGeom prst="rect">
            <a:avLst/>
          </a:prstGeom>
          <a:noFill/>
        </p:spPr>
        <p:txBody>
          <a:bodyPr wrap="square" lIns="0" tIns="0" rIns="0" bIns="0" rtlCol="0">
            <a:noAutofit/>
          </a:bodyPr>
          <a:lstStyle/>
          <a:p>
            <a:pPr algn="l"/>
            <a:r>
              <a:rPr lang="nl-BE" sz="1600" i="1" dirty="0">
                <a:latin typeface="Gotham" panose="02000603040000020004" pitchFamily="2" charset="0"/>
                <a:ea typeface="Verdana" panose="020B0604030504040204" pitchFamily="34" charset="0"/>
                <a:cs typeface="Verdana" panose="020B0604030504040204" pitchFamily="34" charset="0"/>
              </a:rPr>
              <a:t>Onafhankelijke kwalitatieve variabele (5 cat)</a:t>
            </a:r>
          </a:p>
          <a:p>
            <a:pPr algn="ctr"/>
            <a:r>
              <a:rPr lang="nl-BE" sz="2000" i="1" dirty="0">
                <a:solidFill>
                  <a:schemeClr val="accent3"/>
                </a:solidFill>
                <a:latin typeface="Gotham" panose="02000603040000020004" pitchFamily="2" charset="0"/>
                <a:ea typeface="Verdana" panose="020B0604030504040204" pitchFamily="34" charset="0"/>
                <a:cs typeface="Verdana" panose="020B0604030504040204" pitchFamily="34" charset="0"/>
              </a:rPr>
              <a:t>X</a:t>
            </a:r>
          </a:p>
        </p:txBody>
      </p:sp>
      <p:sp>
        <p:nvSpPr>
          <p:cNvPr id="13" name="Tekstvak 12">
            <a:extLst>
              <a:ext uri="{FF2B5EF4-FFF2-40B4-BE49-F238E27FC236}">
                <a16:creationId xmlns:a16="http://schemas.microsoft.com/office/drawing/2014/main" id="{99A8E3C6-1E34-7E46-B981-79FA85AB0D5F}"/>
              </a:ext>
            </a:extLst>
          </p:cNvPr>
          <p:cNvSpPr txBox="1"/>
          <p:nvPr/>
        </p:nvSpPr>
        <p:spPr>
          <a:xfrm>
            <a:off x="6312696" y="5815582"/>
            <a:ext cx="3242466" cy="467010"/>
          </a:xfrm>
          <a:prstGeom prst="rect">
            <a:avLst/>
          </a:prstGeom>
          <a:noFill/>
        </p:spPr>
        <p:txBody>
          <a:bodyPr wrap="square" lIns="0" tIns="0" rIns="0" bIns="0" rtlCol="0">
            <a:noAutofit/>
          </a:bodyPr>
          <a:lstStyle/>
          <a:p>
            <a:pPr algn="ctr"/>
            <a:r>
              <a:rPr lang="nl-BE" sz="1600" i="1" dirty="0">
                <a:latin typeface="Gotham" panose="02000603040000020004" pitchFamily="2" charset="0"/>
                <a:ea typeface="Verdana" panose="020B0604030504040204" pitchFamily="34" charset="0"/>
                <a:cs typeface="Verdana" panose="020B0604030504040204" pitchFamily="34" charset="0"/>
              </a:rPr>
              <a:t>Afhankelijke kwantitatieve variabele</a:t>
            </a:r>
          </a:p>
          <a:p>
            <a:pPr algn="ctr"/>
            <a:r>
              <a:rPr lang="nl-BE" sz="2000" i="1" dirty="0">
                <a:solidFill>
                  <a:schemeClr val="accent3"/>
                </a:solidFill>
                <a:latin typeface="Gotham" panose="02000603040000020004" pitchFamily="2" charset="0"/>
                <a:ea typeface="Verdana" panose="020B0604030504040204" pitchFamily="34" charset="0"/>
                <a:cs typeface="Verdana" panose="020B0604030504040204" pitchFamily="34" charset="0"/>
              </a:rPr>
              <a:t>Y</a:t>
            </a:r>
          </a:p>
        </p:txBody>
      </p:sp>
    </p:spTree>
    <p:extLst>
      <p:ext uri="{BB962C8B-B14F-4D97-AF65-F5344CB8AC3E}">
        <p14:creationId xmlns:p14="http://schemas.microsoft.com/office/powerpoint/2010/main" val="17913802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C5CE7F-C09E-D14D-8932-7E8283E644BE}"/>
              </a:ext>
            </a:extLst>
          </p:cNvPr>
          <p:cNvSpPr>
            <a:spLocks noGrp="1"/>
          </p:cNvSpPr>
          <p:nvPr>
            <p:ph type="title"/>
          </p:nvPr>
        </p:nvSpPr>
        <p:spPr/>
        <p:txBody>
          <a:bodyPr/>
          <a:lstStyle/>
          <a:p>
            <a:r>
              <a:rPr lang="nl-BE" dirty="0"/>
              <a:t>Gemiddeldes verschillen </a:t>
            </a:r>
            <a:r>
              <a:rPr lang="nl-BE" i="1" dirty="0"/>
              <a:t>in steekproef</a:t>
            </a:r>
            <a:r>
              <a:rPr lang="nl-BE" dirty="0"/>
              <a:t>?</a:t>
            </a:r>
          </a:p>
        </p:txBody>
      </p:sp>
      <p:sp>
        <p:nvSpPr>
          <p:cNvPr id="3" name="Tijdelijke aanduiding voor dianummer 2">
            <a:extLst>
              <a:ext uri="{FF2B5EF4-FFF2-40B4-BE49-F238E27FC236}">
                <a16:creationId xmlns:a16="http://schemas.microsoft.com/office/drawing/2014/main" id="{18053945-9432-CC45-9E83-34F701F6BAE7}"/>
              </a:ext>
            </a:extLst>
          </p:cNvPr>
          <p:cNvSpPr>
            <a:spLocks noGrp="1"/>
          </p:cNvSpPr>
          <p:nvPr>
            <p:ph type="sldNum" sz="quarter" idx="10"/>
          </p:nvPr>
        </p:nvSpPr>
        <p:spPr/>
        <p:txBody>
          <a:bodyPr/>
          <a:lstStyle/>
          <a:p>
            <a:fld id="{E038E271-308C-2E46-A3EC-56326F9084CC}" type="slidenum">
              <a:rPr lang="nl-BE" smtClean="0"/>
              <a:pPr/>
              <a:t>19</a:t>
            </a:fld>
            <a:endParaRPr lang="nl-BE" dirty="0"/>
          </a:p>
        </p:txBody>
      </p:sp>
      <p:sp>
        <p:nvSpPr>
          <p:cNvPr id="5" name="Rectangle 2">
            <a:extLst>
              <a:ext uri="{FF2B5EF4-FFF2-40B4-BE49-F238E27FC236}">
                <a16:creationId xmlns:a16="http://schemas.microsoft.com/office/drawing/2014/main" id="{BEF43273-4EE8-C344-8544-3D9BFC06C485}"/>
              </a:ext>
            </a:extLst>
          </p:cNvPr>
          <p:cNvSpPr>
            <a:spLocks noGrp="1" noChangeArrowheads="1"/>
          </p:cNvSpPr>
          <p:nvPr>
            <p:ph idx="1"/>
          </p:nvPr>
        </p:nvSpPr>
        <p:spPr bwMode="auto">
          <a:xfrm>
            <a:off x="623887" y="1642144"/>
            <a:ext cx="10944226" cy="1505027"/>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lvl="0" indent="0">
              <a:spcAft>
                <a:spcPts val="600"/>
              </a:spcAft>
              <a:buNone/>
            </a:pPr>
            <a:r>
              <a:rPr lang="nl-BE" altLang="nl-BE" sz="1600" b="1" dirty="0">
                <a:solidFill>
                  <a:srgbClr val="0000FF"/>
                </a:solidFill>
                <a:latin typeface="Courier New" charset="0"/>
                <a:cs typeface="Courier New" charset="0"/>
              </a:rPr>
              <a:t>&gt; tapply(Techniek$Interest.voor, Techniek$Richting5cat, mean, na.rm = TRUE)</a:t>
            </a:r>
          </a:p>
          <a:p>
            <a:pPr marL="0" lvl="0" indent="0">
              <a:buNone/>
            </a:pPr>
            <a:r>
              <a:rPr lang="nl-BE" altLang="nl-BE" sz="1600" b="1" dirty="0">
                <a:solidFill>
                  <a:schemeClr val="tx1"/>
                </a:solidFill>
                <a:latin typeface="Courier New" charset="0"/>
                <a:cs typeface="Courier New" charset="0"/>
              </a:rPr>
              <a:t>       1        2        3        4        5 </a:t>
            </a:r>
          </a:p>
          <a:p>
            <a:pPr marL="0" lvl="0" indent="0">
              <a:buNone/>
            </a:pPr>
            <a:r>
              <a:rPr lang="nl-BE" altLang="nl-BE" sz="1600" b="1" dirty="0">
                <a:solidFill>
                  <a:schemeClr val="tx1"/>
                </a:solidFill>
                <a:latin typeface="Courier New" charset="0"/>
                <a:cs typeface="Courier New" charset="0"/>
              </a:rPr>
              <a:t>3.812571 2.875000 2.772385 2.914511 2.760403 </a:t>
            </a:r>
          </a:p>
          <a:p>
            <a:pPr marL="0" lvl="0" indent="0">
              <a:buNone/>
            </a:pPr>
            <a:endParaRPr lang="nl-BE" altLang="nl-BE" sz="1600" b="1" dirty="0">
              <a:solidFill>
                <a:srgbClr val="0000FF"/>
              </a:solidFill>
              <a:latin typeface="Courier New" charset="0"/>
              <a:cs typeface="Courier New" charset="0"/>
            </a:endParaRPr>
          </a:p>
          <a:p>
            <a:pPr marL="0" lvl="0" indent="0">
              <a:buNone/>
            </a:pPr>
            <a:endParaRPr lang="nl-BE" altLang="nl-BE" sz="1600" b="1" dirty="0">
              <a:solidFill>
                <a:srgbClr val="0000FF"/>
              </a:solidFill>
              <a:latin typeface="Courier New" charset="0"/>
              <a:cs typeface="Courier New" charset="0"/>
            </a:endParaRPr>
          </a:p>
        </p:txBody>
      </p:sp>
      <p:sp>
        <p:nvSpPr>
          <p:cNvPr id="4" name="Gedachtewolkje: wolk 3">
            <a:extLst>
              <a:ext uri="{FF2B5EF4-FFF2-40B4-BE49-F238E27FC236}">
                <a16:creationId xmlns:a16="http://schemas.microsoft.com/office/drawing/2014/main" id="{7B22989D-2FD5-9DF0-5C4C-104AD1FDDF25}"/>
              </a:ext>
            </a:extLst>
          </p:cNvPr>
          <p:cNvSpPr/>
          <p:nvPr/>
        </p:nvSpPr>
        <p:spPr bwMode="auto">
          <a:xfrm>
            <a:off x="6240164" y="4083335"/>
            <a:ext cx="5327949" cy="2438400"/>
          </a:xfrm>
          <a:prstGeom prst="cloudCallout">
            <a:avLst>
              <a:gd name="adj1" fmla="val -40515"/>
              <a:gd name="adj2" fmla="val -73214"/>
            </a:avLst>
          </a:prstGeom>
          <a:noFill/>
          <a:ln>
            <a:solidFill>
              <a:srgbClr val="C00000"/>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algn="ctr">
              <a:spcAft>
                <a:spcPts val="450"/>
              </a:spcAft>
            </a:pPr>
            <a:r>
              <a:rPr lang="nl-BE" sz="1600" dirty="0">
                <a:latin typeface="Verdana" charset="0"/>
                <a:ea typeface="Verdana Regular" charset="0"/>
                <a:cs typeface="Verdana Regular" charset="0"/>
                <a:sym typeface="Securitas Sans Light" charset="0"/>
              </a:rPr>
              <a:t>technische (1), </a:t>
            </a:r>
            <a:br>
              <a:rPr lang="nl-BE" sz="1600" dirty="0">
                <a:latin typeface="Verdana" charset="0"/>
                <a:ea typeface="Verdana Regular" charset="0"/>
                <a:cs typeface="Verdana Regular" charset="0"/>
                <a:sym typeface="Securitas Sans Light" charset="0"/>
              </a:rPr>
            </a:br>
            <a:r>
              <a:rPr lang="nl-BE" sz="1600" dirty="0">
                <a:latin typeface="Verdana" charset="0"/>
                <a:ea typeface="Verdana Regular" charset="0"/>
                <a:cs typeface="Verdana Regular" charset="0"/>
                <a:sym typeface="Securitas Sans Light" charset="0"/>
              </a:rPr>
              <a:t>kunst (2), </a:t>
            </a:r>
            <a:br>
              <a:rPr lang="nl-BE" sz="1600" dirty="0">
                <a:latin typeface="Verdana" charset="0"/>
                <a:ea typeface="Verdana Regular" charset="0"/>
                <a:cs typeface="Verdana Regular" charset="0"/>
                <a:sym typeface="Securitas Sans Light" charset="0"/>
              </a:rPr>
            </a:br>
            <a:r>
              <a:rPr lang="nl-BE" sz="1600" dirty="0">
                <a:latin typeface="Verdana" charset="0"/>
                <a:ea typeface="Verdana Regular" charset="0"/>
                <a:cs typeface="Verdana Regular" charset="0"/>
                <a:sym typeface="Securitas Sans Light" charset="0"/>
              </a:rPr>
              <a:t>Latijn (3), </a:t>
            </a:r>
            <a:br>
              <a:rPr lang="nl-BE" sz="1600" dirty="0">
                <a:latin typeface="Verdana" charset="0"/>
                <a:ea typeface="Verdana Regular" charset="0"/>
                <a:cs typeface="Verdana Regular" charset="0"/>
                <a:sym typeface="Securitas Sans Light" charset="0"/>
              </a:rPr>
            </a:br>
            <a:r>
              <a:rPr lang="nl-BE" sz="1600" dirty="0">
                <a:latin typeface="Verdana" charset="0"/>
                <a:ea typeface="Verdana Regular" charset="0"/>
                <a:cs typeface="Verdana Regular" charset="0"/>
                <a:sym typeface="Securitas Sans Light" charset="0"/>
              </a:rPr>
              <a:t>moderne wetenschappen (4), STV/Handel (5)</a:t>
            </a:r>
          </a:p>
        </p:txBody>
      </p:sp>
    </p:spTree>
    <p:extLst>
      <p:ext uri="{BB962C8B-B14F-4D97-AF65-F5344CB8AC3E}">
        <p14:creationId xmlns:p14="http://schemas.microsoft.com/office/powerpoint/2010/main" val="40459346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CD495D-3CFC-EA43-9324-D0FFDC4BF381}"/>
              </a:ext>
            </a:extLst>
          </p:cNvPr>
          <p:cNvSpPr>
            <a:spLocks noGrp="1"/>
          </p:cNvSpPr>
          <p:nvPr>
            <p:ph type="title"/>
          </p:nvPr>
        </p:nvSpPr>
        <p:spPr/>
        <p:txBody>
          <a:bodyPr/>
          <a:lstStyle/>
          <a:p>
            <a:r>
              <a:rPr lang="nl-BE" dirty="0">
                <a:latin typeface="Calibri"/>
                <a:ea typeface="Verdana"/>
                <a:cs typeface="Calibri"/>
              </a:rPr>
              <a:t>Betrouwbaarheidsintervallen</a:t>
            </a:r>
            <a:endParaRPr lang="nl-BE" dirty="0"/>
          </a:p>
        </p:txBody>
      </p:sp>
      <p:sp>
        <p:nvSpPr>
          <p:cNvPr id="3" name="Tijdelijke aanduiding voor dianummer 2">
            <a:extLst>
              <a:ext uri="{FF2B5EF4-FFF2-40B4-BE49-F238E27FC236}">
                <a16:creationId xmlns:a16="http://schemas.microsoft.com/office/drawing/2014/main" id="{5E470E6A-432E-6042-BD80-71E6ED1A37CB}"/>
              </a:ext>
            </a:extLst>
          </p:cNvPr>
          <p:cNvSpPr>
            <a:spLocks noGrp="1"/>
          </p:cNvSpPr>
          <p:nvPr>
            <p:ph type="sldNum" sz="quarter" idx="10"/>
          </p:nvPr>
        </p:nvSpPr>
        <p:spPr/>
        <p:txBody>
          <a:bodyPr/>
          <a:lstStyle/>
          <a:p>
            <a:fld id="{E038E271-308C-2E46-A3EC-56326F9084CC}" type="slidenum">
              <a:rPr lang="nl-BE" smtClean="0"/>
              <a:pPr/>
              <a:t>20</a:t>
            </a:fld>
            <a:endParaRPr lang="nl-BE" dirty="0"/>
          </a:p>
        </p:txBody>
      </p:sp>
      <p:sp>
        <p:nvSpPr>
          <p:cNvPr id="4" name="Tijdelijke aanduiding voor inhoud 3">
            <a:extLst>
              <a:ext uri="{FF2B5EF4-FFF2-40B4-BE49-F238E27FC236}">
                <a16:creationId xmlns:a16="http://schemas.microsoft.com/office/drawing/2014/main" id="{887E2D45-4CDE-B44A-A6AC-515E53FB9AC8}"/>
              </a:ext>
            </a:extLst>
          </p:cNvPr>
          <p:cNvSpPr>
            <a:spLocks noGrp="1"/>
          </p:cNvSpPr>
          <p:nvPr>
            <p:ph idx="1"/>
          </p:nvPr>
        </p:nvSpPr>
        <p:spPr>
          <a:xfrm>
            <a:off x="623887" y="1577009"/>
            <a:ext cx="10763752" cy="4660279"/>
          </a:xfrm>
        </p:spPr>
        <p:txBody>
          <a:bodyPr vert="horz" wrap="none" lIns="0" tIns="0" rIns="0" bIns="0" rtlCol="0" anchor="t">
            <a:noAutofit/>
          </a:bodyPr>
          <a:lstStyle/>
          <a:p>
            <a:pPr marL="0" indent="0">
              <a:buNone/>
            </a:pPr>
            <a:r>
              <a:rPr lang="nl-BE" sz="1600" dirty="0">
                <a:solidFill>
                  <a:srgbClr val="0000FF"/>
                </a:solidFill>
                <a:latin typeface="Courier New"/>
                <a:ea typeface="+mn-ea"/>
                <a:cs typeface="Courier New"/>
              </a:rPr>
              <a:t>&gt; </a:t>
            </a:r>
            <a:r>
              <a:rPr lang="nl-BE" sz="1600" dirty="0" err="1">
                <a:solidFill>
                  <a:srgbClr val="0000FF"/>
                </a:solidFill>
                <a:latin typeface="Courier New"/>
                <a:ea typeface="+mn-ea"/>
                <a:cs typeface="Courier New"/>
              </a:rPr>
              <a:t>tapply</a:t>
            </a:r>
            <a:r>
              <a:rPr lang="nl-BE" sz="1600" dirty="0">
                <a:solidFill>
                  <a:srgbClr val="0000FF"/>
                </a:solidFill>
                <a:latin typeface="Courier New"/>
                <a:ea typeface="+mn-ea"/>
                <a:cs typeface="Courier New"/>
              </a:rPr>
              <a:t>(</a:t>
            </a:r>
            <a:r>
              <a:rPr lang="nl-BE" sz="1600" dirty="0" err="1">
                <a:solidFill>
                  <a:srgbClr val="0000FF"/>
                </a:solidFill>
                <a:latin typeface="Courier New"/>
                <a:ea typeface="+mn-ea"/>
                <a:cs typeface="Courier New"/>
              </a:rPr>
              <a:t>Techniek$Interest.voor</a:t>
            </a:r>
            <a:r>
              <a:rPr lang="nl-BE" sz="1600" dirty="0">
                <a:solidFill>
                  <a:srgbClr val="0000FF"/>
                </a:solidFill>
                <a:latin typeface="Courier New"/>
                <a:ea typeface="+mn-ea"/>
                <a:cs typeface="Courier New"/>
              </a:rPr>
              <a:t>, Techniek$Richting5cat, </a:t>
            </a:r>
            <a:r>
              <a:rPr lang="nl-BE" sz="1600" dirty="0" err="1">
                <a:solidFill>
                  <a:srgbClr val="0000FF"/>
                </a:solidFill>
                <a:latin typeface="Courier New"/>
                <a:ea typeface="+mn-ea"/>
                <a:cs typeface="Courier New"/>
              </a:rPr>
              <a:t>betr.interval</a:t>
            </a:r>
            <a:r>
              <a:rPr lang="nl-BE" sz="1600" dirty="0">
                <a:solidFill>
                  <a:srgbClr val="0000FF"/>
                </a:solidFill>
                <a:latin typeface="Courier New"/>
                <a:ea typeface="+mn-ea"/>
                <a:cs typeface="Courier New"/>
              </a:rPr>
              <a:t>)</a:t>
            </a:r>
            <a:endParaRPr lang="en-US" sz="1600" dirty="0">
              <a:solidFill>
                <a:srgbClr val="0000FF"/>
              </a:solidFill>
              <a:latin typeface="Courier New"/>
              <a:ea typeface="+mn-ea"/>
              <a:cs typeface="Courier New"/>
            </a:endParaRPr>
          </a:p>
          <a:p>
            <a:pPr marL="0" indent="0">
              <a:buNone/>
            </a:pPr>
            <a:r>
              <a:rPr lang="nl-BE" sz="1600" dirty="0">
                <a:latin typeface="Courier New"/>
                <a:ea typeface="Verdana"/>
                <a:cs typeface="Courier New"/>
              </a:rPr>
              <a:t>$`1`</a:t>
            </a:r>
            <a:endParaRPr lang="en-US" sz="1600" b="0" dirty="0">
              <a:ea typeface="Verdana"/>
            </a:endParaRPr>
          </a:p>
          <a:p>
            <a:pPr marL="0" indent="0">
              <a:buNone/>
            </a:pPr>
            <a:r>
              <a:rPr lang="nl-BE" sz="1600" dirty="0">
                <a:latin typeface="Courier New"/>
                <a:ea typeface="Verdana"/>
                <a:cs typeface="Courier New"/>
              </a:rPr>
              <a:t>[1] 3.700283 3.924860</a:t>
            </a:r>
            <a:endParaRPr lang="en-US" sz="1600" b="0" dirty="0">
              <a:ea typeface="Verdana"/>
            </a:endParaRPr>
          </a:p>
          <a:p>
            <a:pPr marL="0" indent="0">
              <a:buNone/>
            </a:pPr>
            <a:r>
              <a:rPr lang="nl-BE" sz="1600" dirty="0">
                <a:latin typeface="Courier New"/>
                <a:ea typeface="Verdana"/>
                <a:cs typeface="Courier New"/>
              </a:rPr>
              <a:t>$`2`</a:t>
            </a:r>
            <a:endParaRPr lang="en-US" sz="1600" b="0" dirty="0">
              <a:ea typeface="Verdana"/>
            </a:endParaRPr>
          </a:p>
          <a:p>
            <a:pPr marL="0" indent="0">
              <a:buNone/>
            </a:pPr>
            <a:r>
              <a:rPr lang="nl-BE" sz="1600" dirty="0">
                <a:latin typeface="Courier New"/>
                <a:ea typeface="Verdana"/>
                <a:cs typeface="Courier New"/>
              </a:rPr>
              <a:t>[1] 2.622091 3.127909</a:t>
            </a:r>
            <a:endParaRPr lang="en-US" sz="1600" b="0" dirty="0">
              <a:ea typeface="Verdana"/>
            </a:endParaRPr>
          </a:p>
          <a:p>
            <a:pPr marL="0" indent="0">
              <a:buNone/>
            </a:pPr>
            <a:r>
              <a:rPr lang="nl-BE" sz="1600" dirty="0">
                <a:latin typeface="Courier New"/>
                <a:ea typeface="Verdana"/>
                <a:cs typeface="Courier New"/>
              </a:rPr>
              <a:t>$`3`</a:t>
            </a:r>
            <a:endParaRPr lang="en-US" sz="1600" b="0" dirty="0">
              <a:ea typeface="Verdana"/>
            </a:endParaRPr>
          </a:p>
          <a:p>
            <a:pPr marL="0" indent="0">
              <a:buNone/>
            </a:pPr>
            <a:r>
              <a:rPr lang="nl-BE" sz="1600" dirty="0">
                <a:latin typeface="Courier New"/>
                <a:ea typeface="Verdana"/>
                <a:cs typeface="Courier New"/>
              </a:rPr>
              <a:t>[1] 2.703628 2.841142</a:t>
            </a:r>
            <a:endParaRPr lang="en-US" sz="1600" b="0" dirty="0">
              <a:ea typeface="Verdana"/>
            </a:endParaRPr>
          </a:p>
          <a:p>
            <a:pPr marL="0" indent="0">
              <a:buNone/>
            </a:pPr>
            <a:r>
              <a:rPr lang="nl-BE" sz="1600" dirty="0">
                <a:latin typeface="Courier New"/>
                <a:ea typeface="Verdana"/>
                <a:cs typeface="Courier New"/>
              </a:rPr>
              <a:t>$`4`</a:t>
            </a:r>
            <a:endParaRPr lang="en-US" sz="1600" b="0" dirty="0">
              <a:ea typeface="Verdana"/>
            </a:endParaRPr>
          </a:p>
          <a:p>
            <a:pPr marL="0" indent="0">
              <a:buNone/>
            </a:pPr>
            <a:r>
              <a:rPr lang="nl-BE" sz="1600" dirty="0">
                <a:latin typeface="Courier New"/>
                <a:ea typeface="Verdana"/>
                <a:cs typeface="Courier New"/>
              </a:rPr>
              <a:t>[1] 2.855743 2.973279</a:t>
            </a:r>
            <a:endParaRPr lang="en-US" sz="1600" b="0" dirty="0">
              <a:ea typeface="Verdana"/>
            </a:endParaRPr>
          </a:p>
          <a:p>
            <a:pPr marL="0" indent="0">
              <a:buNone/>
            </a:pPr>
            <a:r>
              <a:rPr lang="nl-BE" sz="1600" dirty="0">
                <a:latin typeface="Courier New"/>
                <a:ea typeface="Verdana"/>
                <a:cs typeface="Courier New"/>
              </a:rPr>
              <a:t>$`5`</a:t>
            </a:r>
            <a:endParaRPr lang="en-US" sz="1600" b="0" dirty="0">
              <a:ea typeface="Verdana"/>
            </a:endParaRPr>
          </a:p>
          <a:p>
            <a:pPr marL="0" indent="0">
              <a:buNone/>
            </a:pPr>
            <a:r>
              <a:rPr lang="nl-BE" sz="1600" dirty="0">
                <a:latin typeface="Courier New"/>
                <a:ea typeface="Verdana"/>
                <a:cs typeface="Courier New"/>
              </a:rPr>
              <a:t>[1] 2.664519 2.856286</a:t>
            </a:r>
            <a:endParaRPr lang="nl-BE" sz="1600" dirty="0">
              <a:ea typeface="Verdana"/>
            </a:endParaRPr>
          </a:p>
        </p:txBody>
      </p:sp>
      <p:pic>
        <p:nvPicPr>
          <p:cNvPr id="8" name="Afbeelding 7">
            <a:extLst>
              <a:ext uri="{FF2B5EF4-FFF2-40B4-BE49-F238E27FC236}">
                <a16:creationId xmlns:a16="http://schemas.microsoft.com/office/drawing/2014/main" id="{BE90172F-957A-F24D-A462-364670CAB781}"/>
              </a:ext>
            </a:extLst>
          </p:cNvPr>
          <p:cNvPicPr>
            <a:picLocks noChangeAspect="1"/>
          </p:cNvPicPr>
          <p:nvPr/>
        </p:nvPicPr>
        <p:blipFill rotWithShape="1">
          <a:blip r:embed="rId3"/>
          <a:srcRect t="12937"/>
          <a:stretch/>
        </p:blipFill>
        <p:spPr>
          <a:xfrm>
            <a:off x="6323607" y="3107641"/>
            <a:ext cx="4842774" cy="3645070"/>
          </a:xfrm>
          <a:prstGeom prst="rect">
            <a:avLst/>
          </a:prstGeom>
        </p:spPr>
      </p:pic>
      <p:sp>
        <p:nvSpPr>
          <p:cNvPr id="9" name="Rectangle 2">
            <a:extLst>
              <a:ext uri="{FF2B5EF4-FFF2-40B4-BE49-F238E27FC236}">
                <a16:creationId xmlns:a16="http://schemas.microsoft.com/office/drawing/2014/main" id="{2736BF2D-81D6-431A-95DC-27FCA1B183D7}"/>
              </a:ext>
            </a:extLst>
          </p:cNvPr>
          <p:cNvSpPr>
            <a:spLocks noChangeArrowheads="1"/>
          </p:cNvSpPr>
          <p:nvPr/>
        </p:nvSpPr>
        <p:spPr bwMode="auto">
          <a:xfrm>
            <a:off x="3611253" y="2610772"/>
            <a:ext cx="8460432" cy="492443"/>
          </a:xfrm>
          <a:prstGeom prst="rect">
            <a:avLst/>
          </a:prstGeom>
          <a:solidFill>
            <a:srgbClr val="FFFFFF"/>
          </a:solidFill>
          <a:ln>
            <a:noFill/>
          </a:ln>
          <a:effectLst/>
          <a:extLst>
            <a:ext uri="{91240B29-F687-4f45-9708-019B960494DF}">
              <a14:hiddenLine xmlns:lc="http://schemas.openxmlformats.org/drawingml/2006/lockedCanvas" xmlns:a14="http://schemas.microsoft.com/office/drawing/2010/main" xmlns="" w="9525">
                <a:solidFill>
                  <a:schemeClr val="tx1"/>
                </a:solidFill>
                <a:miter lim="800000"/>
                <a:headEnd/>
                <a:tailEnd/>
              </a14:hiddenLine>
            </a:ext>
            <a:ext uri="{AF507438-7753-43e0-B8FC-AC1667EBCBE1}">
              <a14:hiddenEffects xmlns:lc="http://schemas.openxmlformats.org/drawingml/2006/lockedCanvas" xmlns:a14="http://schemas.microsoft.com/office/drawing/2010/main" xmlns="">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defPPr>
              <a:defRPr lang="nl-BE"/>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a:lstStyle>
          <a:p>
            <a:pPr marL="1341438" marR="0" lvl="0" indent="-1341438" algn="l" defTabSz="914400" rtl="0" eaLnBrk="0" fontAlgn="base" latinLnBrk="0" hangingPunct="0">
              <a:lnSpc>
                <a:spcPct val="100000"/>
              </a:lnSpc>
              <a:spcBef>
                <a:spcPct val="0"/>
              </a:spcBef>
              <a:spcAft>
                <a:spcPct val="0"/>
              </a:spcAft>
              <a:buClrTx/>
              <a:buSzTx/>
              <a:buFontTx/>
              <a:buNone/>
              <a:tabLst/>
            </a:pPr>
            <a:r>
              <a:rPr lang="nl-BE" altLang="nl-BE" sz="1600" b="1" dirty="0">
                <a:solidFill>
                  <a:srgbClr val="0000FF"/>
                </a:solidFill>
                <a:latin typeface="Courier New" charset="0"/>
                <a:cs typeface="Courier New" charset="0"/>
              </a:rPr>
              <a:t>&gt; errorbar(Techniek$Interest.voor ~ Techniek$Richting5cat,</a:t>
            </a:r>
          </a:p>
          <a:p>
            <a:pPr marL="1341438" marR="0" lvl="0" indent="-1341438" algn="l" defTabSz="914400" rtl="0" eaLnBrk="0" fontAlgn="base" latinLnBrk="0" hangingPunct="0">
              <a:lnSpc>
                <a:spcPct val="100000"/>
              </a:lnSpc>
              <a:spcBef>
                <a:spcPct val="0"/>
              </a:spcBef>
              <a:spcAft>
                <a:spcPct val="0"/>
              </a:spcAft>
              <a:buClrTx/>
              <a:buSzTx/>
              <a:buFontTx/>
              <a:buNone/>
              <a:tabLst/>
            </a:pPr>
            <a:r>
              <a:rPr lang="nl-BE" altLang="nl-BE" sz="1600" b="1" dirty="0">
                <a:solidFill>
                  <a:srgbClr val="0000FF"/>
                </a:solidFill>
                <a:latin typeface="Courier New" charset="0"/>
                <a:cs typeface="Courier New" charset="0"/>
              </a:rPr>
              <a:t>+          xlab = ‘Studierichting’, ylab = ‘Interesse voor techniek’)</a:t>
            </a:r>
          </a:p>
        </p:txBody>
      </p:sp>
      <p:sp>
        <p:nvSpPr>
          <p:cNvPr id="7" name="Tekstvak 6">
            <a:extLst>
              <a:ext uri="{FF2B5EF4-FFF2-40B4-BE49-F238E27FC236}">
                <a16:creationId xmlns:a16="http://schemas.microsoft.com/office/drawing/2014/main" id="{391601F7-135C-4870-E740-9D1A60AB45D1}"/>
              </a:ext>
            </a:extLst>
          </p:cNvPr>
          <p:cNvSpPr txBox="1"/>
          <p:nvPr/>
        </p:nvSpPr>
        <p:spPr>
          <a:xfrm>
            <a:off x="2122714" y="5221624"/>
            <a:ext cx="3341914" cy="1169551"/>
          </a:xfrm>
          <a:prstGeom prst="rect">
            <a:avLst/>
          </a:prstGeom>
          <a:noFill/>
          <a:ln>
            <a:solidFill>
              <a:srgbClr val="C00000"/>
            </a:solidFill>
          </a:ln>
        </p:spPr>
        <p:txBody>
          <a:bodyPr wrap="square">
            <a:spAutoFit/>
          </a:bodyPr>
          <a:lstStyle/>
          <a:p>
            <a:r>
              <a:rPr lang="nl-BE" sz="1400" dirty="0"/>
              <a:t>technische (1), </a:t>
            </a:r>
            <a:br>
              <a:rPr lang="nl-BE" sz="1400" dirty="0"/>
            </a:br>
            <a:r>
              <a:rPr lang="nl-BE" sz="1400" dirty="0"/>
              <a:t>kunst (2), </a:t>
            </a:r>
            <a:br>
              <a:rPr lang="nl-BE" sz="1400" dirty="0"/>
            </a:br>
            <a:r>
              <a:rPr lang="nl-BE" sz="1400" dirty="0"/>
              <a:t>Latijn (3), </a:t>
            </a:r>
            <a:br>
              <a:rPr lang="nl-BE" sz="1400" dirty="0"/>
            </a:br>
            <a:r>
              <a:rPr lang="nl-BE" sz="1400" dirty="0"/>
              <a:t>moderne wetenschappen (4), </a:t>
            </a:r>
            <a:br>
              <a:rPr lang="nl-BE" sz="1400" dirty="0"/>
            </a:br>
            <a:r>
              <a:rPr lang="nl-BE" sz="1400" dirty="0"/>
              <a:t>STV/Handel (5)</a:t>
            </a:r>
          </a:p>
        </p:txBody>
      </p:sp>
    </p:spTree>
    <p:extLst>
      <p:ext uri="{BB962C8B-B14F-4D97-AF65-F5344CB8AC3E}">
        <p14:creationId xmlns:p14="http://schemas.microsoft.com/office/powerpoint/2010/main" val="24450146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E26DE9-34C9-3248-B9CF-DCD2806E001B}"/>
              </a:ext>
            </a:extLst>
          </p:cNvPr>
          <p:cNvSpPr>
            <a:spLocks noGrp="1"/>
          </p:cNvSpPr>
          <p:nvPr>
            <p:ph type="title"/>
          </p:nvPr>
        </p:nvSpPr>
        <p:spPr/>
        <p:txBody>
          <a:bodyPr/>
          <a:lstStyle/>
          <a:p>
            <a:r>
              <a:rPr lang="nl-BE" dirty="0"/>
              <a:t>Gemiddeldes verschillen </a:t>
            </a:r>
            <a:r>
              <a:rPr lang="nl-BE" i="1" dirty="0"/>
              <a:t>in de populatie</a:t>
            </a:r>
            <a:r>
              <a:rPr lang="nl-BE" dirty="0"/>
              <a:t>?</a:t>
            </a:r>
          </a:p>
        </p:txBody>
      </p:sp>
      <p:sp>
        <p:nvSpPr>
          <p:cNvPr id="3" name="Tijdelijke aanduiding voor dianummer 2">
            <a:extLst>
              <a:ext uri="{FF2B5EF4-FFF2-40B4-BE49-F238E27FC236}">
                <a16:creationId xmlns:a16="http://schemas.microsoft.com/office/drawing/2014/main" id="{9E4FF83E-221F-4942-A3C5-02D9982D0FBC}"/>
              </a:ext>
            </a:extLst>
          </p:cNvPr>
          <p:cNvSpPr>
            <a:spLocks noGrp="1"/>
          </p:cNvSpPr>
          <p:nvPr>
            <p:ph type="sldNum" sz="quarter" idx="10"/>
          </p:nvPr>
        </p:nvSpPr>
        <p:spPr/>
        <p:txBody>
          <a:bodyPr/>
          <a:lstStyle/>
          <a:p>
            <a:fld id="{E038E271-308C-2E46-A3EC-56326F9084CC}" type="slidenum">
              <a:rPr lang="nl-BE" smtClean="0"/>
              <a:pPr/>
              <a:t>21</a:t>
            </a:fld>
            <a:endParaRPr lang="nl-BE" dirty="0"/>
          </a:p>
        </p:txBody>
      </p:sp>
      <mc:AlternateContent xmlns:mc="http://schemas.openxmlformats.org/markup-compatibility/2006" xmlns:a14="http://schemas.microsoft.com/office/drawing/2010/main">
        <mc:Choice Requires="a14">
          <p:sp>
            <p:nvSpPr>
              <p:cNvPr id="4" name="Tijdelijke aanduiding voor inhoud 3">
                <a:extLst>
                  <a:ext uri="{FF2B5EF4-FFF2-40B4-BE49-F238E27FC236}">
                    <a16:creationId xmlns:a16="http://schemas.microsoft.com/office/drawing/2014/main" id="{0A6A7883-C16D-4042-B23B-67D5204C5A99}"/>
                  </a:ext>
                </a:extLst>
              </p:cNvPr>
              <p:cNvSpPr>
                <a:spLocks noGrp="1"/>
              </p:cNvSpPr>
              <p:nvPr>
                <p:ph idx="1"/>
              </p:nvPr>
            </p:nvSpPr>
            <p:spPr/>
            <p:txBody>
              <a:bodyPr wrap="square"/>
              <a:lstStyle/>
              <a:p>
                <a:r>
                  <a:rPr lang="nl-BE" dirty="0">
                    <a:latin typeface="+mn-lt"/>
                    <a:ea typeface="MS PGothic" charset="0"/>
                    <a:sym typeface="Wingdings" charset="0"/>
                  </a:rPr>
                  <a:t>Wat is de kans dat interesse voor techniek </a:t>
                </a:r>
                <a:r>
                  <a:rPr lang="nl-BE" i="1" dirty="0">
                    <a:latin typeface="+mn-lt"/>
                    <a:ea typeface="MS PGothic" charset="0"/>
                    <a:sym typeface="Wingdings" charset="0"/>
                  </a:rPr>
                  <a:t>in de populatie </a:t>
                </a:r>
                <a:r>
                  <a:rPr lang="nl-BE" dirty="0">
                    <a:latin typeface="+mn-lt"/>
                    <a:ea typeface="MS PGothic" charset="0"/>
                    <a:sym typeface="Wingdings" charset="0"/>
                  </a:rPr>
                  <a:t>verschilt naargelang de studierichting waarin de leerling zit?</a:t>
                </a:r>
              </a:p>
              <a:p>
                <a:pPr marL="2420938" indent="-2420938">
                  <a:buFontTx/>
                  <a:buNone/>
                </a:pPr>
                <a:endParaRPr lang="nl-BE" sz="1600" dirty="0">
                  <a:latin typeface="+mn-lt"/>
                  <a:ea typeface="MS PGothic" charset="0"/>
                  <a:sym typeface="Wingdings" charset="0"/>
                </a:endParaRPr>
              </a:p>
              <a:p>
                <a:pPr lvl="1"/>
                <a:r>
                  <a:rPr lang="nl-BE" b="1" i="1" dirty="0">
                    <a:latin typeface="+mn-lt"/>
                    <a:ea typeface="MS PGothic" charset="0"/>
                  </a:rPr>
                  <a:t>p</a:t>
                </a:r>
                <a:r>
                  <a:rPr lang="nl-BE" b="1" dirty="0">
                    <a:latin typeface="+mn-lt"/>
                    <a:ea typeface="MS PGothic" charset="0"/>
                  </a:rPr>
                  <a:t>-waarde</a:t>
                </a:r>
                <a:r>
                  <a:rPr lang="nl-BE" dirty="0">
                    <a:latin typeface="+mn-lt"/>
                    <a:ea typeface="MS PGothic" charset="0"/>
                  </a:rPr>
                  <a:t>:	K</a:t>
                </a:r>
                <a:r>
                  <a:rPr lang="nl-BE" b="0" dirty="0">
                    <a:latin typeface="+mn-lt"/>
                    <a:ea typeface="MS PGothic" charset="0"/>
                  </a:rPr>
                  <a:t>ans dat we verschil tussen de richtingen vaststellen in de 			steekproef indien er in de populatie geen verschil is tussen de 		richtingen (</a:t>
                </a:r>
                <a14:m>
                  <m:oMath xmlns:m="http://schemas.openxmlformats.org/officeDocument/2006/math">
                    <m:sSub>
                      <m:sSubPr>
                        <m:ctrlPr>
                          <a:rPr lang="nl-BE" sz="2000" i="1">
                            <a:latin typeface="Cambria Math" panose="02040503050406030204" pitchFamily="18" charset="0"/>
                            <a:ea typeface="MS PGothic" charset="0"/>
                          </a:rPr>
                        </m:ctrlPr>
                      </m:sSubPr>
                      <m:e>
                        <m:r>
                          <m:rPr>
                            <m:nor/>
                          </m:rPr>
                          <a:rPr lang="nl-BE" sz="2000" b="0">
                            <a:latin typeface="+mn-lt"/>
                            <a:ea typeface="MS PGothic" charset="0"/>
                          </a:rPr>
                          <m:t>H</m:t>
                        </m:r>
                      </m:e>
                      <m:sub>
                        <m:r>
                          <m:rPr>
                            <m:nor/>
                          </m:rPr>
                          <a:rPr lang="nl-BE" sz="2000" b="0">
                            <a:latin typeface="+mn-lt"/>
                            <a:ea typeface="MS PGothic" charset="0"/>
                          </a:rPr>
                          <m:t>0</m:t>
                        </m:r>
                      </m:sub>
                    </m:sSub>
                    <m:r>
                      <m:rPr>
                        <m:nor/>
                      </m:rPr>
                      <a:rPr lang="nl-BE" sz="2000" b="0">
                        <a:latin typeface="+mn-lt"/>
                        <a:ea typeface="MS PGothic" charset="0"/>
                      </a:rPr>
                      <m:t>=</m:t>
                    </m:r>
                    <m:r>
                      <m:rPr>
                        <m:nor/>
                      </m:rPr>
                      <a:rPr lang="nl-BE" sz="2000" b="0">
                        <a:latin typeface="+mn-lt"/>
                        <a:ea typeface="MS PGothic" charset="0"/>
                      </a:rPr>
                      <m:t>juist</m:t>
                    </m:r>
                    <m:r>
                      <a:rPr lang="nl-BE" sz="2000" b="0" i="1">
                        <a:latin typeface="Cambria Math" panose="02040503050406030204" pitchFamily="18" charset="0"/>
                        <a:ea typeface="MS PGothic" charset="0"/>
                      </a:rPr>
                      <m:t>)</m:t>
                    </m:r>
                  </m:oMath>
                </a14:m>
                <a:endParaRPr lang="nl-BE" dirty="0">
                  <a:latin typeface="+mn-lt"/>
                  <a:ea typeface="MS PGothic" charset="0"/>
                  <a:sym typeface="Wingdings" charset="0"/>
                </a:endParaRPr>
              </a:p>
              <a:p>
                <a:pPr marL="2420938" indent="-2420938">
                  <a:buFontTx/>
                  <a:buNone/>
                </a:pPr>
                <a:endParaRPr lang="nl-BE" sz="1600" dirty="0">
                  <a:latin typeface="Verdana" charset="0"/>
                  <a:ea typeface="MS PGothic" charset="0"/>
                  <a:sym typeface="Wingdings" charset="0"/>
                </a:endParaRPr>
              </a:p>
              <a:p>
                <a:pPr lvl="1"/>
                <a:r>
                  <a:rPr lang="nl-BE" dirty="0">
                    <a:latin typeface="+mn-lt"/>
                    <a:ea typeface="MS PGothic" charset="0"/>
                  </a:rPr>
                  <a:t>ANalysis Of VAriance (ANOVA) </a:t>
                </a:r>
                <a:endParaRPr lang="nl-BE" dirty="0">
                  <a:latin typeface="+mn-lt"/>
                </a:endParaRPr>
              </a:p>
            </p:txBody>
          </p:sp>
        </mc:Choice>
        <mc:Fallback xmlns="">
          <p:sp>
            <p:nvSpPr>
              <p:cNvPr id="4" name="Tijdelijke aanduiding voor inhoud 3">
                <a:extLst>
                  <a:ext uri="{FF2B5EF4-FFF2-40B4-BE49-F238E27FC236}">
                    <a16:creationId xmlns:a16="http://schemas.microsoft.com/office/drawing/2014/main" id="{0A6A7883-C16D-4042-B23B-67D5204C5A99}"/>
                  </a:ext>
                </a:extLst>
              </p:cNvPr>
              <p:cNvSpPr>
                <a:spLocks noGrp="1" noRot="1" noChangeAspect="1" noMove="1" noResize="1" noEditPoints="1" noAdjustHandles="1" noChangeArrowheads="1" noChangeShapeType="1" noTextEdit="1"/>
              </p:cNvSpPr>
              <p:nvPr>
                <p:ph idx="1"/>
              </p:nvPr>
            </p:nvSpPr>
            <p:spPr>
              <a:blipFill>
                <a:blip r:embed="rId3"/>
                <a:stretch>
                  <a:fillRect l="-1273" t="-2446"/>
                </a:stretch>
              </a:blipFill>
            </p:spPr>
            <p:txBody>
              <a:bodyPr/>
              <a:lstStyle/>
              <a:p>
                <a:r>
                  <a:rPr lang="nl-BE">
                    <a:noFill/>
                  </a:rPr>
                  <a:t> </a:t>
                </a:r>
              </a:p>
            </p:txBody>
          </p:sp>
        </mc:Fallback>
      </mc:AlternateContent>
    </p:spTree>
    <p:extLst>
      <p:ext uri="{BB962C8B-B14F-4D97-AF65-F5344CB8AC3E}">
        <p14:creationId xmlns:p14="http://schemas.microsoft.com/office/powerpoint/2010/main" val="31490078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02F8E5-9F2F-E147-9CC8-659A19A1E2FE}"/>
              </a:ext>
            </a:extLst>
          </p:cNvPr>
          <p:cNvSpPr>
            <a:spLocks noGrp="1"/>
          </p:cNvSpPr>
          <p:nvPr>
            <p:ph type="title"/>
          </p:nvPr>
        </p:nvSpPr>
        <p:spPr/>
        <p:txBody>
          <a:bodyPr/>
          <a:lstStyle/>
          <a:p>
            <a:r>
              <a:rPr lang="nl-BE" dirty="0"/>
              <a:t>Assumpties?</a:t>
            </a:r>
          </a:p>
        </p:txBody>
      </p:sp>
      <p:sp>
        <p:nvSpPr>
          <p:cNvPr id="3" name="Tijdelijke aanduiding voor dianummer 2">
            <a:extLst>
              <a:ext uri="{FF2B5EF4-FFF2-40B4-BE49-F238E27FC236}">
                <a16:creationId xmlns:a16="http://schemas.microsoft.com/office/drawing/2014/main" id="{8EFB108C-F9CB-7149-95C2-A3B88D3572C4}"/>
              </a:ext>
            </a:extLst>
          </p:cNvPr>
          <p:cNvSpPr>
            <a:spLocks noGrp="1"/>
          </p:cNvSpPr>
          <p:nvPr>
            <p:ph type="sldNum" sz="quarter" idx="10"/>
          </p:nvPr>
        </p:nvSpPr>
        <p:spPr/>
        <p:txBody>
          <a:bodyPr/>
          <a:lstStyle/>
          <a:p>
            <a:fld id="{E038E271-308C-2E46-A3EC-56326F9084CC}" type="slidenum">
              <a:rPr lang="nl-BE" smtClean="0"/>
              <a:pPr/>
              <a:t>22</a:t>
            </a:fld>
            <a:endParaRPr lang="nl-BE" dirty="0"/>
          </a:p>
        </p:txBody>
      </p:sp>
      <p:sp>
        <p:nvSpPr>
          <p:cNvPr id="4" name="Tijdelijke aanduiding voor inhoud 3">
            <a:extLst>
              <a:ext uri="{FF2B5EF4-FFF2-40B4-BE49-F238E27FC236}">
                <a16:creationId xmlns:a16="http://schemas.microsoft.com/office/drawing/2014/main" id="{436BF05F-63CD-914C-B6D8-8F3FC3C4C035}"/>
              </a:ext>
            </a:extLst>
          </p:cNvPr>
          <p:cNvSpPr>
            <a:spLocks noGrp="1"/>
          </p:cNvSpPr>
          <p:nvPr>
            <p:ph idx="1"/>
          </p:nvPr>
        </p:nvSpPr>
        <p:spPr/>
        <p:txBody>
          <a:bodyPr vert="horz" wrap="none" lIns="0" tIns="0" rIns="0" bIns="0" rtlCol="0" anchor="t">
            <a:noAutofit/>
          </a:bodyPr>
          <a:lstStyle/>
          <a:p>
            <a:pPr marL="274320" indent="-274320">
              <a:lnSpc>
                <a:spcPct val="90000"/>
              </a:lnSpc>
              <a:defRPr/>
            </a:pPr>
            <a:r>
              <a:rPr lang="nl-BE" dirty="0">
                <a:ea typeface="ＭＳ Ｐゴシック" pitchFamily="-111" charset="-128"/>
                <a:cs typeface="ＭＳ Ｐゴシック" pitchFamily="-111" charset="-128"/>
              </a:rPr>
              <a:t>Voorwaarden om ANOVA te mogen gebruiken?</a:t>
            </a:r>
            <a:endParaRPr lang="nl-NL"/>
          </a:p>
          <a:p>
            <a:pPr marL="740410" lvl="1" indent="-378460">
              <a:lnSpc>
                <a:spcPct val="90000"/>
              </a:lnSpc>
              <a:defRPr/>
            </a:pPr>
            <a:r>
              <a:rPr lang="nl-BE" dirty="0">
                <a:ea typeface="ＭＳ Ｐゴシック" pitchFamily="-111" charset="-128"/>
                <a:cs typeface="ＭＳ Ｐゴシック" pitchFamily="-111" charset="-128"/>
              </a:rPr>
              <a:t>Afhankelijke variabele is normaal verdeeld</a:t>
            </a:r>
          </a:p>
          <a:p>
            <a:pPr marL="740410" lvl="1" indent="-378460">
              <a:lnSpc>
                <a:spcPct val="90000"/>
              </a:lnSpc>
              <a:defRPr/>
            </a:pPr>
            <a:r>
              <a:rPr lang="nl-BE" dirty="0">
                <a:latin typeface="Calibri Light"/>
                <a:ea typeface="ＭＳ Ｐゴシック"/>
                <a:cs typeface="ＭＳ Ｐゴシック" pitchFamily="-111" charset="-128"/>
              </a:rPr>
              <a:t>Binnen-groep-varianties zijn gelijk</a:t>
            </a:r>
          </a:p>
          <a:p>
            <a:pPr marL="274320" indent="-274320">
              <a:lnSpc>
                <a:spcPct val="90000"/>
              </a:lnSpc>
              <a:defRPr/>
            </a:pPr>
            <a:endParaRPr lang="nl-BE" dirty="0">
              <a:ea typeface="ＭＳ Ｐゴシック" pitchFamily="-111" charset="-128"/>
              <a:cs typeface="ＭＳ Ｐゴシック" pitchFamily="-111" charset="-128"/>
            </a:endParaRPr>
          </a:p>
          <a:p>
            <a:pPr marL="274320" indent="-274320">
              <a:lnSpc>
                <a:spcPct val="90000"/>
              </a:lnSpc>
              <a:defRPr/>
            </a:pPr>
            <a:r>
              <a:rPr lang="nl-BE" dirty="0">
                <a:ea typeface="ＭＳ Ｐゴシック" pitchFamily="-111" charset="-128"/>
                <a:cs typeface="ＭＳ Ｐゴシック" pitchFamily="-111" charset="-128"/>
              </a:rPr>
              <a:t>In R</a:t>
            </a:r>
          </a:p>
          <a:p>
            <a:pPr marL="274320" indent="-274320">
              <a:lnSpc>
                <a:spcPct val="90000"/>
              </a:lnSpc>
              <a:defRPr/>
            </a:pPr>
            <a:endParaRPr lang="nl-BE" dirty="0">
              <a:ea typeface="ＭＳ Ｐゴシック" pitchFamily="-111" charset="-128"/>
              <a:cs typeface="ＭＳ Ｐゴシック" pitchFamily="-111" charset="-128"/>
            </a:endParaRPr>
          </a:p>
          <a:p>
            <a:pPr marL="0" indent="0">
              <a:lnSpc>
                <a:spcPct val="90000"/>
              </a:lnSpc>
              <a:buFontTx/>
              <a:buNone/>
              <a:defRPr/>
            </a:pPr>
            <a:endParaRPr lang="nl-BE" dirty="0">
              <a:ea typeface="ＭＳ Ｐゴシック" pitchFamily="-111" charset="-128"/>
              <a:cs typeface="ＭＳ Ｐゴシック" pitchFamily="-111" charset="-128"/>
            </a:endParaRPr>
          </a:p>
          <a:p>
            <a:pPr marL="274320" indent="-274320"/>
            <a:endParaRPr lang="nl-BE" dirty="0"/>
          </a:p>
        </p:txBody>
      </p:sp>
      <p:sp>
        <p:nvSpPr>
          <p:cNvPr id="5" name="Rechthoek 4">
            <a:extLst>
              <a:ext uri="{FF2B5EF4-FFF2-40B4-BE49-F238E27FC236}">
                <a16:creationId xmlns:a16="http://schemas.microsoft.com/office/drawing/2014/main" id="{4525EFDD-E646-914E-8F0F-D17A755DE73E}"/>
              </a:ext>
            </a:extLst>
          </p:cNvPr>
          <p:cNvSpPr/>
          <p:nvPr/>
        </p:nvSpPr>
        <p:spPr>
          <a:xfrm>
            <a:off x="858597" y="3697647"/>
            <a:ext cx="8064896" cy="1815882"/>
          </a:xfrm>
          <a:prstGeom prst="rect">
            <a:avLst/>
          </a:prstGeom>
        </p:spPr>
        <p:txBody>
          <a:bodyPr wrap="square" lIns="91440" tIns="45720" rIns="91440" bIns="45720" anchor="t">
            <a:spAutoFit/>
          </a:bodyPr>
          <a:lstStyle/>
          <a:p>
            <a:r>
              <a:rPr lang="nl-BE" sz="1600" b="1" dirty="0">
                <a:solidFill>
                  <a:srgbClr val="0000FF"/>
                </a:solidFill>
                <a:latin typeface="Courier New" charset="0"/>
                <a:cs typeface="Courier New" charset="0"/>
              </a:rPr>
              <a:t>&gt; </a:t>
            </a:r>
            <a:r>
              <a:rPr lang="nl-BE" sz="1600" b="1" dirty="0" err="1">
                <a:solidFill>
                  <a:srgbClr val="0000FF"/>
                </a:solidFill>
                <a:latin typeface="Courier New" charset="0"/>
                <a:cs typeface="Courier New" charset="0"/>
              </a:rPr>
              <a:t>leveneTest</a:t>
            </a:r>
            <a:r>
              <a:rPr lang="nl-BE" sz="1600" b="1" dirty="0">
                <a:solidFill>
                  <a:srgbClr val="0000FF"/>
                </a:solidFill>
                <a:latin typeface="Courier New" charset="0"/>
                <a:cs typeface="Courier New" charset="0"/>
              </a:rPr>
              <a:t>(</a:t>
            </a:r>
            <a:r>
              <a:rPr lang="nl-BE" sz="1600" b="1" dirty="0" err="1">
                <a:solidFill>
                  <a:srgbClr val="0000FF"/>
                </a:solidFill>
                <a:latin typeface="Courier New" charset="0"/>
                <a:cs typeface="Courier New" charset="0"/>
              </a:rPr>
              <a:t>Techniek$Interest.voor</a:t>
            </a:r>
            <a:r>
              <a:rPr lang="nl-BE" sz="1600" b="1" dirty="0">
                <a:solidFill>
                  <a:srgbClr val="0000FF"/>
                </a:solidFill>
                <a:latin typeface="Courier New" charset="0"/>
                <a:cs typeface="Courier New" charset="0"/>
              </a:rPr>
              <a:t>, Techniek$Richting5cat)</a:t>
            </a:r>
          </a:p>
          <a:p>
            <a:r>
              <a:rPr lang="nl-BE" sz="1600" dirty="0" err="1">
                <a:solidFill>
                  <a:srgbClr val="000000"/>
                </a:solidFill>
                <a:latin typeface="Courier New" charset="0"/>
                <a:cs typeface="Courier New" charset="0"/>
              </a:rPr>
              <a:t>Levene's</a:t>
            </a:r>
            <a:r>
              <a:rPr lang="nl-BE" sz="1600" dirty="0">
                <a:solidFill>
                  <a:srgbClr val="000000"/>
                </a:solidFill>
                <a:latin typeface="Courier New" charset="0"/>
                <a:cs typeface="Courier New" charset="0"/>
              </a:rPr>
              <a:t> Test </a:t>
            </a:r>
            <a:r>
              <a:rPr lang="nl-BE" sz="1600" dirty="0" err="1">
                <a:solidFill>
                  <a:srgbClr val="000000"/>
                </a:solidFill>
                <a:latin typeface="Courier New" charset="0"/>
                <a:cs typeface="Courier New" charset="0"/>
              </a:rPr>
              <a:t>for</a:t>
            </a:r>
            <a:r>
              <a:rPr lang="nl-BE" sz="1600" dirty="0">
                <a:solidFill>
                  <a:srgbClr val="000000"/>
                </a:solidFill>
                <a:latin typeface="Courier New" charset="0"/>
                <a:cs typeface="Courier New" charset="0"/>
              </a:rPr>
              <a:t> </a:t>
            </a:r>
            <a:r>
              <a:rPr lang="nl-BE" sz="1600" dirty="0" err="1">
                <a:solidFill>
                  <a:srgbClr val="000000"/>
                </a:solidFill>
                <a:latin typeface="Courier New" charset="0"/>
                <a:cs typeface="Courier New" charset="0"/>
              </a:rPr>
              <a:t>Homogeneity</a:t>
            </a:r>
            <a:r>
              <a:rPr lang="nl-BE" sz="1600" dirty="0">
                <a:solidFill>
                  <a:srgbClr val="000000"/>
                </a:solidFill>
                <a:latin typeface="Courier New" charset="0"/>
                <a:cs typeface="Courier New" charset="0"/>
              </a:rPr>
              <a:t> of </a:t>
            </a:r>
            <a:r>
              <a:rPr lang="nl-BE" sz="1600" dirty="0" err="1">
                <a:solidFill>
                  <a:srgbClr val="000000"/>
                </a:solidFill>
                <a:latin typeface="Courier New" charset="0"/>
                <a:cs typeface="Courier New" charset="0"/>
              </a:rPr>
              <a:t>Variance</a:t>
            </a:r>
            <a:r>
              <a:rPr lang="nl-BE" sz="1600" dirty="0">
                <a:solidFill>
                  <a:srgbClr val="000000"/>
                </a:solidFill>
                <a:latin typeface="Courier New" charset="0"/>
                <a:cs typeface="Courier New" charset="0"/>
              </a:rPr>
              <a:t> (center = </a:t>
            </a:r>
            <a:r>
              <a:rPr lang="nl-BE" sz="1600" dirty="0" err="1">
                <a:solidFill>
                  <a:srgbClr val="000000"/>
                </a:solidFill>
                <a:latin typeface="Courier New" charset="0"/>
                <a:cs typeface="Courier New" charset="0"/>
              </a:rPr>
              <a:t>median</a:t>
            </a:r>
            <a:r>
              <a:rPr lang="nl-BE" sz="1600" dirty="0">
                <a:solidFill>
                  <a:srgbClr val="000000"/>
                </a:solidFill>
                <a:latin typeface="Courier New" charset="0"/>
                <a:cs typeface="Courier New" charset="0"/>
              </a:rPr>
              <a:t>)</a:t>
            </a:r>
          </a:p>
          <a:p>
            <a:r>
              <a:rPr lang="nl-BE" sz="1600" dirty="0">
                <a:solidFill>
                  <a:srgbClr val="000000"/>
                </a:solidFill>
                <a:latin typeface="Courier New"/>
                <a:cs typeface="Courier New"/>
              </a:rPr>
              <a:t>        </a:t>
            </a:r>
            <a:r>
              <a:rPr lang="nl-BE" sz="1600" dirty="0" err="1">
                <a:solidFill>
                  <a:srgbClr val="000000"/>
                </a:solidFill>
                <a:latin typeface="Courier New"/>
                <a:cs typeface="Courier New"/>
              </a:rPr>
              <a:t>Df</a:t>
            </a:r>
            <a:r>
              <a:rPr lang="nl-BE" sz="1600" dirty="0">
                <a:solidFill>
                  <a:srgbClr val="000000"/>
                </a:solidFill>
                <a:latin typeface="Courier New"/>
                <a:cs typeface="Courier New"/>
              </a:rPr>
              <a:t> F</a:t>
            </a:r>
            <a:r>
              <a:rPr lang="nl-BE" sz="1600" b="1" dirty="0">
                <a:solidFill>
                  <a:srgbClr val="000000"/>
                </a:solidFill>
                <a:latin typeface="Courier New"/>
                <a:cs typeface="Courier New"/>
              </a:rPr>
              <a:t> </a:t>
            </a:r>
            <a:r>
              <a:rPr lang="nl-BE" sz="1600" dirty="0" err="1">
                <a:solidFill>
                  <a:srgbClr val="000000"/>
                </a:solidFill>
                <a:latin typeface="Courier New"/>
                <a:cs typeface="Courier New"/>
              </a:rPr>
              <a:t>value</a:t>
            </a:r>
            <a:r>
              <a:rPr lang="nl-BE" sz="1600" b="1" dirty="0">
                <a:solidFill>
                  <a:srgbClr val="000000"/>
                </a:solidFill>
                <a:latin typeface="Courier New"/>
                <a:cs typeface="Courier New"/>
              </a:rPr>
              <a:t>    </a:t>
            </a:r>
            <a:r>
              <a:rPr lang="nl-BE" sz="1600" dirty="0">
                <a:solidFill>
                  <a:srgbClr val="000000"/>
                </a:solidFill>
                <a:latin typeface="Courier New"/>
                <a:cs typeface="Courier New"/>
              </a:rPr>
              <a:t>Pr(&gt;F)    </a:t>
            </a:r>
            <a:endParaRPr lang="nl-BE" sz="1600" dirty="0">
              <a:solidFill>
                <a:srgbClr val="000000"/>
              </a:solidFill>
              <a:latin typeface="Courier New" charset="0"/>
              <a:cs typeface="Courier New" charset="0"/>
            </a:endParaRPr>
          </a:p>
          <a:p>
            <a:r>
              <a:rPr lang="nl-BE" sz="1600" dirty="0" err="1">
                <a:solidFill>
                  <a:srgbClr val="000000"/>
                </a:solidFill>
                <a:latin typeface="Courier New" charset="0"/>
                <a:cs typeface="Courier New" charset="0"/>
              </a:rPr>
              <a:t>group</a:t>
            </a:r>
            <a:r>
              <a:rPr lang="nl-BE" sz="1600" dirty="0">
                <a:solidFill>
                  <a:srgbClr val="000000"/>
                </a:solidFill>
                <a:latin typeface="Courier New" charset="0"/>
                <a:cs typeface="Courier New" charset="0"/>
              </a:rPr>
              <a:t>    4  6.2782 </a:t>
            </a:r>
            <a:r>
              <a:rPr lang="nl-BE" sz="1600" b="1" dirty="0">
                <a:solidFill>
                  <a:srgbClr val="000000"/>
                </a:solidFill>
                <a:latin typeface="Courier New" charset="0"/>
                <a:cs typeface="Courier New" charset="0"/>
              </a:rPr>
              <a:t>5.068e-05 ***</a:t>
            </a:r>
          </a:p>
          <a:p>
            <a:r>
              <a:rPr lang="nl-BE" sz="1600" dirty="0">
                <a:solidFill>
                  <a:srgbClr val="000000"/>
                </a:solidFill>
                <a:latin typeface="Courier New" charset="0"/>
                <a:cs typeface="Courier New" charset="0"/>
              </a:rPr>
              <a:t>      2238                      </a:t>
            </a:r>
          </a:p>
          <a:p>
            <a:r>
              <a:rPr lang="nl-BE" sz="1600" dirty="0">
                <a:solidFill>
                  <a:srgbClr val="000000"/>
                </a:solidFill>
                <a:latin typeface="Courier New" charset="0"/>
                <a:cs typeface="Courier New" charset="0"/>
              </a:rPr>
              <a:t>---</a:t>
            </a:r>
          </a:p>
          <a:p>
            <a:r>
              <a:rPr lang="nl-BE" sz="1600" dirty="0" err="1">
                <a:solidFill>
                  <a:srgbClr val="000000"/>
                </a:solidFill>
                <a:latin typeface="Courier New" charset="0"/>
                <a:cs typeface="Courier New" charset="0"/>
              </a:rPr>
              <a:t>Signif</a:t>
            </a:r>
            <a:r>
              <a:rPr lang="nl-BE" sz="1600" dirty="0">
                <a:solidFill>
                  <a:srgbClr val="000000"/>
                </a:solidFill>
                <a:latin typeface="Courier New" charset="0"/>
                <a:cs typeface="Courier New" charset="0"/>
              </a:rPr>
              <a:t>. codes:  0 ‘***’ 0.001 ‘**’ 0.01 ‘*’ 0.05 ‘.’ 0.1 ‘ ’ 1 </a:t>
            </a:r>
          </a:p>
        </p:txBody>
      </p:sp>
    </p:spTree>
    <p:extLst>
      <p:ext uri="{BB962C8B-B14F-4D97-AF65-F5344CB8AC3E}">
        <p14:creationId xmlns:p14="http://schemas.microsoft.com/office/powerpoint/2010/main" val="11264347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3067C-7396-DBDB-648F-7BF86494DFC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054A1CC-F39A-5B27-2BBA-E8CE16442F10}"/>
              </a:ext>
            </a:extLst>
          </p:cNvPr>
          <p:cNvSpPr>
            <a:spLocks noGrp="1"/>
          </p:cNvSpPr>
          <p:nvPr>
            <p:ph type="title"/>
          </p:nvPr>
        </p:nvSpPr>
        <p:spPr/>
        <p:txBody>
          <a:bodyPr/>
          <a:lstStyle/>
          <a:p>
            <a:r>
              <a:rPr lang="nl-BE" dirty="0"/>
              <a:t>Assumpties?</a:t>
            </a:r>
          </a:p>
        </p:txBody>
      </p:sp>
      <p:sp>
        <p:nvSpPr>
          <p:cNvPr id="3" name="Tijdelijke aanduiding voor dianummer 2">
            <a:extLst>
              <a:ext uri="{FF2B5EF4-FFF2-40B4-BE49-F238E27FC236}">
                <a16:creationId xmlns:a16="http://schemas.microsoft.com/office/drawing/2014/main" id="{30F46518-1E9D-42FA-CB55-EDBB664B0386}"/>
              </a:ext>
            </a:extLst>
          </p:cNvPr>
          <p:cNvSpPr>
            <a:spLocks noGrp="1"/>
          </p:cNvSpPr>
          <p:nvPr>
            <p:ph type="sldNum" sz="quarter" idx="10"/>
          </p:nvPr>
        </p:nvSpPr>
        <p:spPr/>
        <p:txBody>
          <a:bodyPr/>
          <a:lstStyle/>
          <a:p>
            <a:fld id="{E038E271-308C-2E46-A3EC-56326F9084CC}" type="slidenum">
              <a:rPr lang="nl-BE" smtClean="0"/>
              <a:pPr/>
              <a:t>23</a:t>
            </a:fld>
            <a:endParaRPr lang="nl-BE" dirty="0"/>
          </a:p>
        </p:txBody>
      </p:sp>
      <p:sp>
        <p:nvSpPr>
          <p:cNvPr id="4" name="Tijdelijke aanduiding voor inhoud 3">
            <a:extLst>
              <a:ext uri="{FF2B5EF4-FFF2-40B4-BE49-F238E27FC236}">
                <a16:creationId xmlns:a16="http://schemas.microsoft.com/office/drawing/2014/main" id="{4D85D9B0-EA28-B8BB-2F05-EF1D1FDD00AF}"/>
              </a:ext>
            </a:extLst>
          </p:cNvPr>
          <p:cNvSpPr>
            <a:spLocks noGrp="1"/>
          </p:cNvSpPr>
          <p:nvPr>
            <p:ph idx="1"/>
          </p:nvPr>
        </p:nvSpPr>
        <p:spPr/>
        <p:txBody>
          <a:bodyPr vert="horz" wrap="none" lIns="0" tIns="0" rIns="0" bIns="0" rtlCol="0" anchor="t">
            <a:noAutofit/>
          </a:bodyPr>
          <a:lstStyle/>
          <a:p>
            <a:pPr marL="274320" indent="-274320">
              <a:lnSpc>
                <a:spcPct val="90000"/>
              </a:lnSpc>
              <a:defRPr/>
            </a:pPr>
            <a:r>
              <a:rPr lang="nl-BE" dirty="0">
                <a:ea typeface="ＭＳ Ｐゴシック" pitchFamily="-111" charset="-128"/>
                <a:cs typeface="ＭＳ Ｐゴシック" pitchFamily="-111" charset="-128"/>
              </a:rPr>
              <a:t>Voorwaarden om ANOVA te mogen gebruiken?</a:t>
            </a:r>
            <a:endParaRPr lang="nl-NL"/>
          </a:p>
          <a:p>
            <a:pPr marL="740410" lvl="1" indent="-378460">
              <a:lnSpc>
                <a:spcPct val="90000"/>
              </a:lnSpc>
              <a:defRPr/>
            </a:pPr>
            <a:r>
              <a:rPr lang="nl-BE" dirty="0">
                <a:ea typeface="ＭＳ Ｐゴシック" pitchFamily="-111" charset="-128"/>
                <a:cs typeface="ＭＳ Ｐゴシック" pitchFamily="-111" charset="-128"/>
              </a:rPr>
              <a:t>Afhankelijke variabele is normaal verdeeld</a:t>
            </a:r>
          </a:p>
          <a:p>
            <a:pPr marL="740410" lvl="1" indent="-378460">
              <a:lnSpc>
                <a:spcPct val="90000"/>
              </a:lnSpc>
              <a:defRPr/>
            </a:pPr>
            <a:r>
              <a:rPr lang="nl-BE" dirty="0">
                <a:latin typeface="Calibri Light"/>
                <a:ea typeface="ＭＳ Ｐゴシック"/>
                <a:cs typeface="ＭＳ Ｐゴシック" pitchFamily="-111" charset="-128"/>
              </a:rPr>
              <a:t>Binnen-groep-varianties zijn gelijk</a:t>
            </a:r>
          </a:p>
          <a:p>
            <a:pPr marL="274320" indent="-274320">
              <a:lnSpc>
                <a:spcPct val="90000"/>
              </a:lnSpc>
              <a:defRPr/>
            </a:pPr>
            <a:endParaRPr lang="nl-BE" dirty="0">
              <a:ea typeface="ＭＳ Ｐゴシック" pitchFamily="-111" charset="-128"/>
              <a:cs typeface="ＭＳ Ｐゴシック" pitchFamily="-111" charset="-128"/>
            </a:endParaRPr>
          </a:p>
          <a:p>
            <a:pPr marL="274320" indent="-274320">
              <a:lnSpc>
                <a:spcPct val="90000"/>
              </a:lnSpc>
              <a:defRPr/>
            </a:pPr>
            <a:r>
              <a:rPr lang="nl-BE" dirty="0">
                <a:ea typeface="ＭＳ Ｐゴシック" pitchFamily="-111" charset="-128"/>
                <a:cs typeface="ＭＳ Ｐゴシック" pitchFamily="-111" charset="-128"/>
              </a:rPr>
              <a:t>In R</a:t>
            </a:r>
          </a:p>
          <a:p>
            <a:pPr marL="274320" indent="-274320">
              <a:lnSpc>
                <a:spcPct val="90000"/>
              </a:lnSpc>
              <a:defRPr/>
            </a:pPr>
            <a:endParaRPr lang="nl-BE" dirty="0">
              <a:ea typeface="ＭＳ Ｐゴシック" pitchFamily="-111" charset="-128"/>
              <a:cs typeface="ＭＳ Ｐゴシック" pitchFamily="-111" charset="-128"/>
            </a:endParaRPr>
          </a:p>
          <a:p>
            <a:pPr marL="0" indent="0">
              <a:lnSpc>
                <a:spcPct val="90000"/>
              </a:lnSpc>
              <a:buFontTx/>
              <a:buNone/>
              <a:defRPr/>
            </a:pPr>
            <a:endParaRPr lang="nl-BE" dirty="0">
              <a:ea typeface="ＭＳ Ｐゴシック" pitchFamily="-111" charset="-128"/>
              <a:cs typeface="ＭＳ Ｐゴシック" pitchFamily="-111" charset="-128"/>
            </a:endParaRPr>
          </a:p>
          <a:p>
            <a:pPr marL="274320" indent="-274320"/>
            <a:endParaRPr lang="nl-BE" dirty="0"/>
          </a:p>
        </p:txBody>
      </p:sp>
      <p:sp>
        <p:nvSpPr>
          <p:cNvPr id="5" name="Rechthoek 4">
            <a:extLst>
              <a:ext uri="{FF2B5EF4-FFF2-40B4-BE49-F238E27FC236}">
                <a16:creationId xmlns:a16="http://schemas.microsoft.com/office/drawing/2014/main" id="{A93272BC-DCA6-ED8E-2E57-DB6274565411}"/>
              </a:ext>
            </a:extLst>
          </p:cNvPr>
          <p:cNvSpPr/>
          <p:nvPr/>
        </p:nvSpPr>
        <p:spPr>
          <a:xfrm>
            <a:off x="858597" y="3697647"/>
            <a:ext cx="8064896" cy="1815882"/>
          </a:xfrm>
          <a:prstGeom prst="rect">
            <a:avLst/>
          </a:prstGeom>
        </p:spPr>
        <p:txBody>
          <a:bodyPr wrap="square" lIns="91440" tIns="45720" rIns="91440" bIns="45720" anchor="t">
            <a:spAutoFit/>
          </a:bodyPr>
          <a:lstStyle/>
          <a:p>
            <a:r>
              <a:rPr lang="nl-BE" sz="1600" b="1" dirty="0">
                <a:solidFill>
                  <a:srgbClr val="0000FF"/>
                </a:solidFill>
                <a:latin typeface="Courier New" charset="0"/>
                <a:cs typeface="Courier New" charset="0"/>
              </a:rPr>
              <a:t>&gt; </a:t>
            </a:r>
            <a:r>
              <a:rPr lang="nl-BE" sz="1600" b="1" dirty="0" err="1">
                <a:solidFill>
                  <a:srgbClr val="0000FF"/>
                </a:solidFill>
                <a:latin typeface="Courier New" charset="0"/>
                <a:cs typeface="Courier New" charset="0"/>
              </a:rPr>
              <a:t>leveneTest</a:t>
            </a:r>
            <a:r>
              <a:rPr lang="nl-BE" sz="1600" b="1" dirty="0">
                <a:solidFill>
                  <a:srgbClr val="0000FF"/>
                </a:solidFill>
                <a:latin typeface="Courier New" charset="0"/>
                <a:cs typeface="Courier New" charset="0"/>
              </a:rPr>
              <a:t>(</a:t>
            </a:r>
            <a:r>
              <a:rPr lang="nl-BE" sz="1600" b="1" dirty="0" err="1">
                <a:solidFill>
                  <a:srgbClr val="0000FF"/>
                </a:solidFill>
                <a:latin typeface="Courier New" charset="0"/>
                <a:cs typeface="Courier New" charset="0"/>
              </a:rPr>
              <a:t>Techniek$Interest.voor</a:t>
            </a:r>
            <a:r>
              <a:rPr lang="nl-BE" sz="1600" b="1" dirty="0">
                <a:solidFill>
                  <a:srgbClr val="0000FF"/>
                </a:solidFill>
                <a:latin typeface="Courier New" charset="0"/>
                <a:cs typeface="Courier New" charset="0"/>
              </a:rPr>
              <a:t>, Techniek$Richting5cat)</a:t>
            </a:r>
          </a:p>
          <a:p>
            <a:r>
              <a:rPr lang="nl-BE" sz="1600" dirty="0" err="1">
                <a:solidFill>
                  <a:srgbClr val="000000"/>
                </a:solidFill>
                <a:latin typeface="Courier New" charset="0"/>
                <a:cs typeface="Courier New" charset="0"/>
              </a:rPr>
              <a:t>Levene's</a:t>
            </a:r>
            <a:r>
              <a:rPr lang="nl-BE" sz="1600" dirty="0">
                <a:solidFill>
                  <a:srgbClr val="000000"/>
                </a:solidFill>
                <a:latin typeface="Courier New" charset="0"/>
                <a:cs typeface="Courier New" charset="0"/>
              </a:rPr>
              <a:t> Test </a:t>
            </a:r>
            <a:r>
              <a:rPr lang="nl-BE" sz="1600" dirty="0" err="1">
                <a:solidFill>
                  <a:srgbClr val="000000"/>
                </a:solidFill>
                <a:latin typeface="Courier New" charset="0"/>
                <a:cs typeface="Courier New" charset="0"/>
              </a:rPr>
              <a:t>for</a:t>
            </a:r>
            <a:r>
              <a:rPr lang="nl-BE" sz="1600" dirty="0">
                <a:solidFill>
                  <a:srgbClr val="000000"/>
                </a:solidFill>
                <a:latin typeface="Courier New" charset="0"/>
                <a:cs typeface="Courier New" charset="0"/>
              </a:rPr>
              <a:t> </a:t>
            </a:r>
            <a:r>
              <a:rPr lang="nl-BE" sz="1600" dirty="0" err="1">
                <a:solidFill>
                  <a:srgbClr val="000000"/>
                </a:solidFill>
                <a:latin typeface="Courier New" charset="0"/>
                <a:cs typeface="Courier New" charset="0"/>
              </a:rPr>
              <a:t>Homogeneity</a:t>
            </a:r>
            <a:r>
              <a:rPr lang="nl-BE" sz="1600" dirty="0">
                <a:solidFill>
                  <a:srgbClr val="000000"/>
                </a:solidFill>
                <a:latin typeface="Courier New" charset="0"/>
                <a:cs typeface="Courier New" charset="0"/>
              </a:rPr>
              <a:t> of </a:t>
            </a:r>
            <a:r>
              <a:rPr lang="nl-BE" sz="1600" dirty="0" err="1">
                <a:solidFill>
                  <a:srgbClr val="000000"/>
                </a:solidFill>
                <a:latin typeface="Courier New" charset="0"/>
                <a:cs typeface="Courier New" charset="0"/>
              </a:rPr>
              <a:t>Variance</a:t>
            </a:r>
            <a:r>
              <a:rPr lang="nl-BE" sz="1600" dirty="0">
                <a:solidFill>
                  <a:srgbClr val="000000"/>
                </a:solidFill>
                <a:latin typeface="Courier New" charset="0"/>
                <a:cs typeface="Courier New" charset="0"/>
              </a:rPr>
              <a:t> (center = </a:t>
            </a:r>
            <a:r>
              <a:rPr lang="nl-BE" sz="1600" dirty="0" err="1">
                <a:solidFill>
                  <a:srgbClr val="000000"/>
                </a:solidFill>
                <a:latin typeface="Courier New" charset="0"/>
                <a:cs typeface="Courier New" charset="0"/>
              </a:rPr>
              <a:t>median</a:t>
            </a:r>
            <a:r>
              <a:rPr lang="nl-BE" sz="1600" dirty="0">
                <a:solidFill>
                  <a:srgbClr val="000000"/>
                </a:solidFill>
                <a:latin typeface="Courier New" charset="0"/>
                <a:cs typeface="Courier New" charset="0"/>
              </a:rPr>
              <a:t>)</a:t>
            </a:r>
          </a:p>
          <a:p>
            <a:r>
              <a:rPr lang="nl-BE" sz="1600" dirty="0">
                <a:solidFill>
                  <a:srgbClr val="000000"/>
                </a:solidFill>
                <a:latin typeface="Courier New"/>
                <a:cs typeface="Courier New"/>
              </a:rPr>
              <a:t>        </a:t>
            </a:r>
            <a:r>
              <a:rPr lang="nl-BE" sz="1600" dirty="0" err="1">
                <a:solidFill>
                  <a:srgbClr val="000000"/>
                </a:solidFill>
                <a:latin typeface="Courier New"/>
                <a:cs typeface="Courier New"/>
              </a:rPr>
              <a:t>Df</a:t>
            </a:r>
            <a:r>
              <a:rPr lang="nl-BE" sz="1600" dirty="0">
                <a:solidFill>
                  <a:srgbClr val="000000"/>
                </a:solidFill>
                <a:latin typeface="Courier New"/>
                <a:cs typeface="Courier New"/>
              </a:rPr>
              <a:t> F</a:t>
            </a:r>
            <a:r>
              <a:rPr lang="nl-BE" sz="1600" b="1" dirty="0">
                <a:solidFill>
                  <a:srgbClr val="000000"/>
                </a:solidFill>
                <a:latin typeface="Courier New"/>
                <a:cs typeface="Courier New"/>
              </a:rPr>
              <a:t> </a:t>
            </a:r>
            <a:r>
              <a:rPr lang="nl-BE" sz="1600" dirty="0" err="1">
                <a:solidFill>
                  <a:srgbClr val="000000"/>
                </a:solidFill>
                <a:latin typeface="Courier New"/>
                <a:cs typeface="Courier New"/>
              </a:rPr>
              <a:t>value</a:t>
            </a:r>
            <a:r>
              <a:rPr lang="nl-BE" sz="1600" b="1" dirty="0">
                <a:solidFill>
                  <a:srgbClr val="000000"/>
                </a:solidFill>
                <a:latin typeface="Courier New"/>
                <a:cs typeface="Courier New"/>
              </a:rPr>
              <a:t>    </a:t>
            </a:r>
            <a:r>
              <a:rPr lang="nl-BE" sz="1600" dirty="0">
                <a:solidFill>
                  <a:srgbClr val="000000"/>
                </a:solidFill>
                <a:latin typeface="Courier New"/>
                <a:cs typeface="Courier New"/>
              </a:rPr>
              <a:t>Pr(&gt;F)    </a:t>
            </a:r>
            <a:endParaRPr lang="nl-BE" sz="1600" dirty="0">
              <a:solidFill>
                <a:srgbClr val="000000"/>
              </a:solidFill>
              <a:latin typeface="Courier New" charset="0"/>
              <a:cs typeface="Courier New" charset="0"/>
            </a:endParaRPr>
          </a:p>
          <a:p>
            <a:r>
              <a:rPr lang="nl-BE" sz="1600" dirty="0" err="1">
                <a:solidFill>
                  <a:srgbClr val="000000"/>
                </a:solidFill>
                <a:latin typeface="Courier New" charset="0"/>
                <a:cs typeface="Courier New" charset="0"/>
              </a:rPr>
              <a:t>group</a:t>
            </a:r>
            <a:r>
              <a:rPr lang="nl-BE" sz="1600" dirty="0">
                <a:solidFill>
                  <a:srgbClr val="000000"/>
                </a:solidFill>
                <a:latin typeface="Courier New" charset="0"/>
                <a:cs typeface="Courier New" charset="0"/>
              </a:rPr>
              <a:t>    4  6.2782 </a:t>
            </a:r>
            <a:r>
              <a:rPr lang="nl-BE" sz="1600" b="1" dirty="0">
                <a:solidFill>
                  <a:srgbClr val="000000"/>
                </a:solidFill>
                <a:latin typeface="Courier New" charset="0"/>
                <a:cs typeface="Courier New" charset="0"/>
              </a:rPr>
              <a:t>5.068e-05 ***</a:t>
            </a:r>
          </a:p>
          <a:p>
            <a:r>
              <a:rPr lang="nl-BE" sz="1600" dirty="0">
                <a:solidFill>
                  <a:srgbClr val="000000"/>
                </a:solidFill>
                <a:latin typeface="Courier New" charset="0"/>
                <a:cs typeface="Courier New" charset="0"/>
              </a:rPr>
              <a:t>      2238                      </a:t>
            </a:r>
          </a:p>
          <a:p>
            <a:r>
              <a:rPr lang="nl-BE" sz="1600" dirty="0">
                <a:solidFill>
                  <a:srgbClr val="000000"/>
                </a:solidFill>
                <a:latin typeface="Courier New" charset="0"/>
                <a:cs typeface="Courier New" charset="0"/>
              </a:rPr>
              <a:t>---</a:t>
            </a:r>
          </a:p>
          <a:p>
            <a:r>
              <a:rPr lang="nl-BE" sz="1600" dirty="0" err="1">
                <a:solidFill>
                  <a:srgbClr val="000000"/>
                </a:solidFill>
                <a:latin typeface="Courier New" charset="0"/>
                <a:cs typeface="Courier New" charset="0"/>
              </a:rPr>
              <a:t>Signif</a:t>
            </a:r>
            <a:r>
              <a:rPr lang="nl-BE" sz="1600" dirty="0">
                <a:solidFill>
                  <a:srgbClr val="000000"/>
                </a:solidFill>
                <a:latin typeface="Courier New" charset="0"/>
                <a:cs typeface="Courier New" charset="0"/>
              </a:rPr>
              <a:t>. codes:  0 ‘***’ 0.001 ‘**’ 0.01 ‘*’ 0.05 ‘.’ 0.1 ‘ ’ 1 </a:t>
            </a:r>
          </a:p>
        </p:txBody>
      </p:sp>
      <p:sp>
        <p:nvSpPr>
          <p:cNvPr id="6" name="Tekstvak 5">
            <a:extLst>
              <a:ext uri="{FF2B5EF4-FFF2-40B4-BE49-F238E27FC236}">
                <a16:creationId xmlns:a16="http://schemas.microsoft.com/office/drawing/2014/main" id="{E4DA1C1C-8208-EEF4-3C12-68622BDBA94D}"/>
              </a:ext>
            </a:extLst>
          </p:cNvPr>
          <p:cNvSpPr txBox="1"/>
          <p:nvPr/>
        </p:nvSpPr>
        <p:spPr>
          <a:xfrm>
            <a:off x="8624136" y="3538406"/>
            <a:ext cx="3341914" cy="2800767"/>
          </a:xfrm>
          <a:prstGeom prst="rect">
            <a:avLst/>
          </a:prstGeom>
          <a:noFill/>
          <a:ln>
            <a:solidFill>
              <a:srgbClr val="C00000"/>
            </a:solidFill>
          </a:ln>
        </p:spPr>
        <p:txBody>
          <a:bodyPr wrap="square">
            <a:spAutoFit/>
          </a:bodyPr>
          <a:lstStyle/>
          <a:p>
            <a:r>
              <a:rPr lang="nl-BE" dirty="0"/>
              <a:t>H</a:t>
            </a:r>
            <a:r>
              <a:rPr lang="nl-BE" sz="1400" dirty="0"/>
              <a:t>0</a:t>
            </a:r>
            <a:r>
              <a:rPr lang="nl-BE" dirty="0"/>
              <a:t> : er is </a:t>
            </a:r>
            <a:r>
              <a:rPr lang="nl-BE" b="1" dirty="0"/>
              <a:t>geen</a:t>
            </a:r>
            <a:r>
              <a:rPr lang="nl-BE" dirty="0"/>
              <a:t> verschil in binnen-groep-variantie (m.a.w. de binnen-groep-variantie is gelijk)</a:t>
            </a:r>
          </a:p>
          <a:p>
            <a:endParaRPr lang="nl-BE" dirty="0"/>
          </a:p>
          <a:p>
            <a:r>
              <a:rPr lang="nl-BE" dirty="0"/>
              <a:t>H</a:t>
            </a:r>
            <a:r>
              <a:rPr lang="nl-BE" sz="1400" dirty="0"/>
              <a:t>1</a:t>
            </a:r>
            <a:r>
              <a:rPr lang="nl-BE" dirty="0"/>
              <a:t> : er is </a:t>
            </a:r>
            <a:r>
              <a:rPr lang="nl-BE" b="1" dirty="0"/>
              <a:t>WEL</a:t>
            </a:r>
            <a:r>
              <a:rPr lang="nl-BE" dirty="0"/>
              <a:t> verschil in binnen-groep-variantie (m.a.w. de binnen-groep-variantie is NIET gelijk)</a:t>
            </a:r>
          </a:p>
          <a:p>
            <a:endParaRPr lang="nl-BE" sz="1400" dirty="0"/>
          </a:p>
        </p:txBody>
      </p:sp>
    </p:spTree>
    <p:extLst>
      <p:ext uri="{BB962C8B-B14F-4D97-AF65-F5344CB8AC3E}">
        <p14:creationId xmlns:p14="http://schemas.microsoft.com/office/powerpoint/2010/main" val="2889146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602653-2D3D-D140-B97A-34407AF79B2F}"/>
              </a:ext>
            </a:extLst>
          </p:cNvPr>
          <p:cNvSpPr>
            <a:spLocks noGrp="1"/>
          </p:cNvSpPr>
          <p:nvPr>
            <p:ph type="title"/>
          </p:nvPr>
        </p:nvSpPr>
        <p:spPr/>
        <p:txBody>
          <a:bodyPr/>
          <a:lstStyle/>
          <a:p>
            <a:r>
              <a:rPr lang="nl-BE" dirty="0"/>
              <a:t>Statististische significant   (</a:t>
            </a:r>
            <a:r>
              <a:rPr lang="nl-BE" i="1" dirty="0"/>
              <a:t>F</a:t>
            </a:r>
            <a:r>
              <a:rPr lang="nl-BE" dirty="0"/>
              <a:t>-test)</a:t>
            </a:r>
          </a:p>
        </p:txBody>
      </p:sp>
      <p:sp>
        <p:nvSpPr>
          <p:cNvPr id="3" name="Tijdelijke aanduiding voor dianummer 2">
            <a:extLst>
              <a:ext uri="{FF2B5EF4-FFF2-40B4-BE49-F238E27FC236}">
                <a16:creationId xmlns:a16="http://schemas.microsoft.com/office/drawing/2014/main" id="{5FF10213-5600-B243-B874-05FF5BBB9199}"/>
              </a:ext>
            </a:extLst>
          </p:cNvPr>
          <p:cNvSpPr>
            <a:spLocks noGrp="1"/>
          </p:cNvSpPr>
          <p:nvPr>
            <p:ph type="sldNum" sz="quarter" idx="10"/>
          </p:nvPr>
        </p:nvSpPr>
        <p:spPr/>
        <p:txBody>
          <a:bodyPr/>
          <a:lstStyle/>
          <a:p>
            <a:fld id="{E038E271-308C-2E46-A3EC-56326F9084CC}" type="slidenum">
              <a:rPr lang="nl-BE" smtClean="0"/>
              <a:pPr/>
              <a:t>24</a:t>
            </a:fld>
            <a:endParaRPr lang="nl-BE" dirty="0"/>
          </a:p>
        </p:txBody>
      </p:sp>
      <mc:AlternateContent xmlns:mc="http://schemas.openxmlformats.org/markup-compatibility/2006" xmlns:a14="http://schemas.microsoft.com/office/drawing/2010/main">
        <mc:Choice Requires="a14">
          <p:sp>
            <p:nvSpPr>
              <p:cNvPr id="4" name="Tijdelijke aanduiding voor inhoud 3">
                <a:extLst>
                  <a:ext uri="{FF2B5EF4-FFF2-40B4-BE49-F238E27FC236}">
                    <a16:creationId xmlns:a16="http://schemas.microsoft.com/office/drawing/2014/main" id="{FC0C73D5-D828-9E4E-98CD-DDEC9556238F}"/>
                  </a:ext>
                </a:extLst>
              </p:cNvPr>
              <p:cNvSpPr>
                <a:spLocks noGrp="1"/>
              </p:cNvSpPr>
              <p:nvPr>
                <p:ph idx="1"/>
              </p:nvPr>
            </p:nvSpPr>
            <p:spPr/>
            <p:txBody>
              <a:bodyPr wrap="square"/>
              <a:lstStyle/>
              <a:p>
                <a:r>
                  <a:rPr lang="nl-BE" i="1" dirty="0">
                    <a:latin typeface="+mn-lt"/>
                    <a:ea typeface="MS PGothic" charset="0"/>
                  </a:rPr>
                  <a:t>F</a:t>
                </a:r>
                <a:r>
                  <a:rPr lang="nl-BE" dirty="0">
                    <a:latin typeface="+mn-lt"/>
                    <a:ea typeface="MS PGothic" charset="0"/>
                  </a:rPr>
                  <a:t> = Verhouding ‘</a:t>
                </a:r>
                <a:r>
                  <a:rPr lang="nl-BE" dirty="0">
                    <a:solidFill>
                      <a:srgbClr val="983466"/>
                    </a:solidFill>
                    <a:latin typeface="+mn-lt"/>
                    <a:ea typeface="MS PGothic" charset="0"/>
                  </a:rPr>
                  <a:t>tussen-groepen-variantie</a:t>
                </a:r>
                <a:r>
                  <a:rPr lang="nl-BE" dirty="0">
                    <a:latin typeface="+mn-lt"/>
                    <a:ea typeface="MS PGothic" charset="0"/>
                  </a:rPr>
                  <a:t>’ t.o.v. ‘</a:t>
                </a:r>
                <a:r>
                  <a:rPr lang="nl-BE" dirty="0">
                    <a:solidFill>
                      <a:srgbClr val="9A99FF"/>
                    </a:solidFill>
                    <a:latin typeface="+mn-lt"/>
                    <a:ea typeface="MS PGothic" charset="0"/>
                  </a:rPr>
                  <a:t>binnen-groepen-variantie</a:t>
                </a:r>
                <a:r>
                  <a:rPr lang="nl-BE" dirty="0">
                    <a:latin typeface="+mn-lt"/>
                    <a:ea typeface="MS PGothic" charset="0"/>
                  </a:rPr>
                  <a:t>’</a:t>
                </a:r>
              </a:p>
              <a:p>
                <a:pPr>
                  <a:buFontTx/>
                  <a:buNone/>
                </a:pPr>
                <a14:m>
                  <m:oMathPara xmlns:m="http://schemas.openxmlformats.org/officeDocument/2006/math">
                    <m:oMathParaPr>
                      <m:jc m:val="centerGroup"/>
                    </m:oMathParaPr>
                    <m:oMath xmlns:m="http://schemas.openxmlformats.org/officeDocument/2006/math">
                      <m:r>
                        <m:rPr>
                          <m:nor/>
                        </m:rPr>
                        <a:rPr lang="nl-BE" b="0" i="1">
                          <a:latin typeface="+mn-lt"/>
                          <a:ea typeface="MS PGothic" charset="0"/>
                        </a:rPr>
                        <m:t>F</m:t>
                      </m:r>
                      <m:r>
                        <m:rPr>
                          <m:nor/>
                        </m:rPr>
                        <a:rPr lang="nl-BE" b="0">
                          <a:latin typeface="+mn-lt"/>
                          <a:ea typeface="MS PGothic" charset="0"/>
                        </a:rPr>
                        <m:t> = </m:t>
                      </m:r>
                      <m:f>
                        <m:fPr>
                          <m:ctrlPr>
                            <a:rPr lang="nl-BE" b="0" i="1">
                              <a:latin typeface="Cambria Math" panose="02040503050406030204" pitchFamily="18" charset="0"/>
                              <a:ea typeface="MS PGothic" charset="0"/>
                            </a:rPr>
                          </m:ctrlPr>
                        </m:fPr>
                        <m:num>
                          <m:r>
                            <m:rPr>
                              <m:nor/>
                            </m:rPr>
                            <a:rPr lang="nl-BE" b="0" smtClean="0">
                              <a:solidFill>
                                <a:srgbClr val="983466"/>
                              </a:solidFill>
                              <a:latin typeface="+mn-lt"/>
                              <a:ea typeface="MS PGothic" charset="0"/>
                            </a:rPr>
                            <m:t>tussen</m:t>
                          </m:r>
                          <m:r>
                            <m:rPr>
                              <m:nor/>
                            </m:rPr>
                            <a:rPr lang="nl-BE" b="0" i="0" smtClean="0">
                              <a:solidFill>
                                <a:srgbClr val="983466"/>
                              </a:solidFill>
                              <a:latin typeface="+mn-lt"/>
                              <a:ea typeface="MS PGothic" charset="0"/>
                            </a:rPr>
                            <m:t>−</m:t>
                          </m:r>
                          <m:r>
                            <m:rPr>
                              <m:nor/>
                            </m:rPr>
                            <a:rPr lang="nl-BE" b="0" smtClean="0">
                              <a:solidFill>
                                <a:srgbClr val="983466"/>
                              </a:solidFill>
                              <a:latin typeface="+mn-lt"/>
                              <a:ea typeface="MS PGothic" charset="0"/>
                            </a:rPr>
                            <m:t>groep</m:t>
                          </m:r>
                          <m:r>
                            <m:rPr>
                              <m:nor/>
                            </m:rPr>
                            <a:rPr lang="nl-BE" b="0" i="0" smtClean="0">
                              <a:solidFill>
                                <a:srgbClr val="983466"/>
                              </a:solidFill>
                              <a:latin typeface="+mn-lt"/>
                              <a:ea typeface="MS PGothic" charset="0"/>
                            </a:rPr>
                            <m:t>en</m:t>
                          </m:r>
                          <m:r>
                            <m:rPr>
                              <m:nor/>
                            </m:rPr>
                            <a:rPr lang="nl-BE" b="0" i="0" smtClean="0">
                              <a:solidFill>
                                <a:srgbClr val="983466"/>
                              </a:solidFill>
                              <a:latin typeface="+mn-lt"/>
                              <a:ea typeface="MS PGothic" charset="0"/>
                            </a:rPr>
                            <m:t>−</m:t>
                          </m:r>
                          <m:r>
                            <m:rPr>
                              <m:nor/>
                            </m:rPr>
                            <a:rPr lang="nl-BE" b="0" smtClean="0">
                              <a:solidFill>
                                <a:srgbClr val="983466"/>
                              </a:solidFill>
                              <a:latin typeface="+mn-lt"/>
                              <a:ea typeface="MS PGothic" charset="0"/>
                            </a:rPr>
                            <m:t>variantie</m:t>
                          </m:r>
                          <m:r>
                            <m:rPr>
                              <m:nor/>
                            </m:rPr>
                            <a:rPr lang="nl-BE" b="0">
                              <a:latin typeface="+mn-lt"/>
                              <a:ea typeface="MS PGothic" charset="0"/>
                            </a:rPr>
                            <m:t> / (</m:t>
                          </m:r>
                          <m:r>
                            <m:rPr>
                              <m:nor/>
                            </m:rPr>
                            <a:rPr lang="nl-BE" b="0">
                              <a:latin typeface="+mn-lt"/>
                              <a:ea typeface="MS PGothic" charset="0"/>
                            </a:rPr>
                            <m:t>k</m:t>
                          </m:r>
                          <m:r>
                            <m:rPr>
                              <m:nor/>
                            </m:rPr>
                            <a:rPr lang="nl-BE" b="0">
                              <a:latin typeface="+mn-lt"/>
                              <a:ea typeface="MS PGothic" charset="0"/>
                            </a:rPr>
                            <m:t> − 1)</m:t>
                          </m:r>
                        </m:num>
                        <m:den>
                          <m:r>
                            <m:rPr>
                              <m:nor/>
                            </m:rPr>
                            <a:rPr lang="nl-BE" b="0" smtClean="0">
                              <a:solidFill>
                                <a:srgbClr val="9A99FF"/>
                              </a:solidFill>
                              <a:latin typeface="+mn-lt"/>
                              <a:ea typeface="MS PGothic" charset="0"/>
                            </a:rPr>
                            <m:t>binnen</m:t>
                          </m:r>
                          <m:r>
                            <m:rPr>
                              <m:nor/>
                            </m:rPr>
                            <a:rPr lang="nl-BE" b="0" i="0" smtClean="0">
                              <a:solidFill>
                                <a:srgbClr val="9A99FF"/>
                              </a:solidFill>
                              <a:latin typeface="+mn-lt"/>
                              <a:ea typeface="MS PGothic" charset="0"/>
                            </a:rPr>
                            <m:t>−</m:t>
                          </m:r>
                          <m:r>
                            <m:rPr>
                              <m:nor/>
                            </m:rPr>
                            <a:rPr lang="nl-BE" b="0" smtClean="0">
                              <a:solidFill>
                                <a:srgbClr val="9A99FF"/>
                              </a:solidFill>
                              <a:latin typeface="+mn-lt"/>
                              <a:ea typeface="MS PGothic" charset="0"/>
                            </a:rPr>
                            <m:t>groep</m:t>
                          </m:r>
                          <m:r>
                            <m:rPr>
                              <m:nor/>
                            </m:rPr>
                            <a:rPr lang="nl-BE" b="0" i="0" smtClean="0">
                              <a:solidFill>
                                <a:srgbClr val="9A99FF"/>
                              </a:solidFill>
                              <a:latin typeface="+mn-lt"/>
                              <a:ea typeface="MS PGothic" charset="0"/>
                            </a:rPr>
                            <m:t>en</m:t>
                          </m:r>
                          <m:r>
                            <m:rPr>
                              <m:nor/>
                            </m:rPr>
                            <a:rPr lang="nl-BE" b="0" i="0" smtClean="0">
                              <a:solidFill>
                                <a:srgbClr val="9A99FF"/>
                              </a:solidFill>
                              <a:latin typeface="+mn-lt"/>
                              <a:ea typeface="MS PGothic" charset="0"/>
                            </a:rPr>
                            <m:t>−</m:t>
                          </m:r>
                          <m:r>
                            <m:rPr>
                              <m:nor/>
                            </m:rPr>
                            <a:rPr lang="nl-BE" b="0" smtClean="0">
                              <a:solidFill>
                                <a:srgbClr val="9A99FF"/>
                              </a:solidFill>
                              <a:latin typeface="+mn-lt"/>
                              <a:ea typeface="MS PGothic" charset="0"/>
                            </a:rPr>
                            <m:t>variantie</m:t>
                          </m:r>
                          <m:r>
                            <m:rPr>
                              <m:nor/>
                            </m:rPr>
                            <a:rPr lang="nl-BE" b="0">
                              <a:latin typeface="+mn-lt"/>
                              <a:ea typeface="MS PGothic" charset="0"/>
                            </a:rPr>
                            <m:t> / (</m:t>
                          </m:r>
                          <m:r>
                            <m:rPr>
                              <m:nor/>
                            </m:rPr>
                            <a:rPr lang="nl-BE" b="0">
                              <a:latin typeface="+mn-lt"/>
                              <a:ea typeface="MS PGothic" charset="0"/>
                            </a:rPr>
                            <m:t>n</m:t>
                          </m:r>
                          <m:r>
                            <m:rPr>
                              <m:nor/>
                            </m:rPr>
                            <a:rPr lang="nl-BE" b="0">
                              <a:latin typeface="+mn-lt"/>
                              <a:ea typeface="MS PGothic" charset="0"/>
                            </a:rPr>
                            <m:t> − </m:t>
                          </m:r>
                          <m:r>
                            <m:rPr>
                              <m:nor/>
                            </m:rPr>
                            <a:rPr lang="nl-BE" b="0">
                              <a:latin typeface="+mn-lt"/>
                              <a:ea typeface="MS PGothic" charset="0"/>
                            </a:rPr>
                            <m:t>k</m:t>
                          </m:r>
                          <m:r>
                            <m:rPr>
                              <m:nor/>
                            </m:rPr>
                            <a:rPr lang="nl-BE" b="0">
                              <a:latin typeface="+mn-lt"/>
                              <a:ea typeface="MS PGothic" charset="0"/>
                            </a:rPr>
                            <m:t>) </m:t>
                          </m:r>
                        </m:den>
                      </m:f>
                    </m:oMath>
                  </m:oMathPara>
                </a14:m>
                <a:endParaRPr lang="nl-BE" b="0" dirty="0">
                  <a:latin typeface="+mn-lt"/>
                  <a:ea typeface="MS PGothic" charset="0"/>
                </a:endParaRPr>
              </a:p>
              <a:p>
                <a:pPr>
                  <a:buFontTx/>
                  <a:buNone/>
                </a:pPr>
                <a:endParaRPr lang="nl-BE" b="0" dirty="0">
                  <a:latin typeface="+mn-lt"/>
                  <a:ea typeface="MS PGothic" charset="0"/>
                  <a:sym typeface="Wingdings" charset="0"/>
                </a:endParaRPr>
              </a:p>
              <a:p>
                <a:pPr>
                  <a:buFontTx/>
                  <a:buNone/>
                </a:pPr>
                <a:endParaRPr lang="nl-BE" b="0" dirty="0">
                  <a:latin typeface="+mn-lt"/>
                  <a:ea typeface="MS PGothic" charset="0"/>
                  <a:sym typeface="Wingdings" charset="0"/>
                </a:endParaRPr>
              </a:p>
              <a:p>
                <a:pPr>
                  <a:buFontTx/>
                  <a:buNone/>
                </a:pPr>
                <a:endParaRPr lang="nl-BE" sz="1600" dirty="0">
                  <a:latin typeface="+mn-lt"/>
                  <a:ea typeface="MS PGothic" charset="0"/>
                  <a:sym typeface="Wingdings" charset="0"/>
                </a:endParaRPr>
              </a:p>
              <a:p>
                <a:endParaRPr lang="nl-BE" dirty="0">
                  <a:latin typeface="+mn-lt"/>
                  <a:ea typeface="MS PGothic" charset="0"/>
                </a:endParaRPr>
              </a:p>
              <a:p>
                <a:r>
                  <a:rPr lang="nl-BE" dirty="0">
                    <a:latin typeface="+mn-lt"/>
                    <a:ea typeface="MS PGothic" charset="0"/>
                  </a:rPr>
                  <a:t>Hoe groter de verschillen </a:t>
                </a:r>
                <a:r>
                  <a:rPr lang="nl-BE" dirty="0">
                    <a:solidFill>
                      <a:srgbClr val="983466"/>
                    </a:solidFill>
                    <a:latin typeface="+mn-lt"/>
                    <a:ea typeface="MS PGothic" charset="0"/>
                  </a:rPr>
                  <a:t>tussen de categorieën</a:t>
                </a:r>
                <a:r>
                  <a:rPr lang="nl-BE" dirty="0">
                    <a:latin typeface="+mn-lt"/>
                    <a:ea typeface="MS PGothic" charset="0"/>
                  </a:rPr>
                  <a:t>, hoe hoger de F-waarde</a:t>
                </a:r>
              </a:p>
              <a:p>
                <a:pPr marL="0" indent="0">
                  <a:buNone/>
                </a:pPr>
                <a:endParaRPr lang="nl-BE" dirty="0">
                  <a:latin typeface="+mn-lt"/>
                </a:endParaRPr>
              </a:p>
            </p:txBody>
          </p:sp>
        </mc:Choice>
        <mc:Fallback xmlns="">
          <p:sp>
            <p:nvSpPr>
              <p:cNvPr id="4" name="Tijdelijke aanduiding voor inhoud 3">
                <a:extLst>
                  <a:ext uri="{FF2B5EF4-FFF2-40B4-BE49-F238E27FC236}">
                    <a16:creationId xmlns:a16="http://schemas.microsoft.com/office/drawing/2014/main" id="{FC0C73D5-D828-9E4E-98CD-DDEC9556238F}"/>
                  </a:ext>
                </a:extLst>
              </p:cNvPr>
              <p:cNvSpPr>
                <a:spLocks noGrp="1" noRot="1" noChangeAspect="1" noMove="1" noResize="1" noEditPoints="1" noAdjustHandles="1" noChangeArrowheads="1" noChangeShapeType="1" noTextEdit="1"/>
              </p:cNvSpPr>
              <p:nvPr>
                <p:ph idx="1"/>
              </p:nvPr>
            </p:nvSpPr>
            <p:spPr>
              <a:blipFill>
                <a:blip r:embed="rId3"/>
                <a:stretch>
                  <a:fillRect l="-1273" t="-2446" r="-1157"/>
                </a:stretch>
              </a:blipFill>
            </p:spPr>
            <p:txBody>
              <a:bodyPr/>
              <a:lstStyle/>
              <a:p>
                <a:r>
                  <a:rPr lang="nl-BE">
                    <a:noFill/>
                  </a:rPr>
                  <a:t> </a:t>
                </a:r>
              </a:p>
            </p:txBody>
          </p:sp>
        </mc:Fallback>
      </mc:AlternateContent>
      <p:pic>
        <p:nvPicPr>
          <p:cNvPr id="5" name="Picture 5">
            <a:extLst>
              <a:ext uri="{FF2B5EF4-FFF2-40B4-BE49-F238E27FC236}">
                <a16:creationId xmlns:a16="http://schemas.microsoft.com/office/drawing/2014/main" id="{95A21E95-7BFF-7A41-9465-92F21FCB08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25096" y="2422525"/>
            <a:ext cx="2241597" cy="1017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Pijl links 5">
            <a:extLst>
              <a:ext uri="{FF2B5EF4-FFF2-40B4-BE49-F238E27FC236}">
                <a16:creationId xmlns:a16="http://schemas.microsoft.com/office/drawing/2014/main" id="{7D0A177F-1B9E-C94F-81EC-9EAAF426EE86}"/>
              </a:ext>
            </a:extLst>
          </p:cNvPr>
          <p:cNvSpPr/>
          <p:nvPr/>
        </p:nvSpPr>
        <p:spPr bwMode="auto">
          <a:xfrm rot="5400000">
            <a:off x="5429599" y="3619972"/>
            <a:ext cx="428263" cy="347240"/>
          </a:xfrm>
          <a:prstGeom prst="rightArrow">
            <a:avLst/>
          </a:prstGeom>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7" name="Tekstvak 6">
            <a:extLst>
              <a:ext uri="{FF2B5EF4-FFF2-40B4-BE49-F238E27FC236}">
                <a16:creationId xmlns:a16="http://schemas.microsoft.com/office/drawing/2014/main" id="{7FC84950-51B1-8F41-92ED-34289E49A074}"/>
              </a:ext>
            </a:extLst>
          </p:cNvPr>
          <p:cNvSpPr txBox="1"/>
          <p:nvPr/>
        </p:nvSpPr>
        <p:spPr>
          <a:xfrm>
            <a:off x="5108120" y="4311383"/>
            <a:ext cx="3910150" cy="365125"/>
          </a:xfrm>
          <a:prstGeom prst="rect">
            <a:avLst/>
          </a:prstGeom>
          <a:noFill/>
        </p:spPr>
        <p:txBody>
          <a:bodyPr wrap="square" lIns="0" tIns="0" rIns="0" bIns="0" rtlCol="0">
            <a:noAutofit/>
          </a:bodyPr>
          <a:lstStyle/>
          <a:p>
            <a:pPr algn="l"/>
            <a:r>
              <a:rPr lang="nl-BE" sz="2400" b="1" i="1" dirty="0">
                <a:latin typeface="+mn-lt"/>
                <a:ea typeface="Verdana" panose="020B0604030504040204" pitchFamily="34" charset="0"/>
                <a:cs typeface="Verdana" panose="020B0604030504040204" pitchFamily="34" charset="0"/>
              </a:rPr>
              <a:t>F</a:t>
            </a:r>
            <a:r>
              <a:rPr lang="nl-BE" sz="2400" b="1" dirty="0">
                <a:latin typeface="+mn-lt"/>
                <a:ea typeface="Verdana" panose="020B0604030504040204" pitchFamily="34" charset="0"/>
                <a:cs typeface="Verdana" panose="020B0604030504040204" pitchFamily="34" charset="0"/>
              </a:rPr>
              <a:t>-waarde   -&gt;    </a:t>
            </a:r>
            <a:r>
              <a:rPr lang="nl-BE" sz="2400" b="1" i="1" dirty="0">
                <a:latin typeface="+mn-lt"/>
                <a:ea typeface="Verdana" panose="020B0604030504040204" pitchFamily="34" charset="0"/>
                <a:cs typeface="Verdana" panose="020B0604030504040204" pitchFamily="34" charset="0"/>
              </a:rPr>
              <a:t>p</a:t>
            </a:r>
            <a:r>
              <a:rPr lang="nl-BE" sz="2400" b="1" dirty="0">
                <a:latin typeface="+mn-lt"/>
                <a:ea typeface="Verdana" panose="020B0604030504040204" pitchFamily="34" charset="0"/>
                <a:cs typeface="Verdana" panose="020B0604030504040204" pitchFamily="34" charset="0"/>
              </a:rPr>
              <a:t>-waarde</a:t>
            </a:r>
          </a:p>
        </p:txBody>
      </p:sp>
    </p:spTree>
    <p:extLst>
      <p:ext uri="{BB962C8B-B14F-4D97-AF65-F5344CB8AC3E}">
        <p14:creationId xmlns:p14="http://schemas.microsoft.com/office/powerpoint/2010/main" val="1178804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0E85DF-3161-0641-BE06-204E0850CB62}"/>
              </a:ext>
            </a:extLst>
          </p:cNvPr>
          <p:cNvSpPr>
            <a:spLocks noGrp="1"/>
          </p:cNvSpPr>
          <p:nvPr>
            <p:ph type="title"/>
          </p:nvPr>
        </p:nvSpPr>
        <p:spPr/>
        <p:txBody>
          <a:bodyPr/>
          <a:lstStyle/>
          <a:p>
            <a:r>
              <a:rPr lang="nl-BE" dirty="0"/>
              <a:t>ANOVA in R</a:t>
            </a:r>
          </a:p>
        </p:txBody>
      </p:sp>
      <p:sp>
        <p:nvSpPr>
          <p:cNvPr id="3" name="Tijdelijke aanduiding voor dianummer 2">
            <a:extLst>
              <a:ext uri="{FF2B5EF4-FFF2-40B4-BE49-F238E27FC236}">
                <a16:creationId xmlns:a16="http://schemas.microsoft.com/office/drawing/2014/main" id="{43EF60B7-8E2E-8B4B-BC97-539AF75B0026}"/>
              </a:ext>
            </a:extLst>
          </p:cNvPr>
          <p:cNvSpPr>
            <a:spLocks noGrp="1"/>
          </p:cNvSpPr>
          <p:nvPr>
            <p:ph type="sldNum" sz="quarter" idx="10"/>
          </p:nvPr>
        </p:nvSpPr>
        <p:spPr/>
        <p:txBody>
          <a:bodyPr/>
          <a:lstStyle/>
          <a:p>
            <a:fld id="{E038E271-308C-2E46-A3EC-56326F9084CC}" type="slidenum">
              <a:rPr lang="nl-BE" smtClean="0"/>
              <a:pPr/>
              <a:t>25</a:t>
            </a:fld>
            <a:endParaRPr lang="nl-BE" dirty="0"/>
          </a:p>
        </p:txBody>
      </p:sp>
      <p:sp>
        <p:nvSpPr>
          <p:cNvPr id="4" name="Tijdelijke aanduiding voor inhoud 3">
            <a:extLst>
              <a:ext uri="{FF2B5EF4-FFF2-40B4-BE49-F238E27FC236}">
                <a16:creationId xmlns:a16="http://schemas.microsoft.com/office/drawing/2014/main" id="{4B107574-8A09-F048-BEE4-A597AE1DD447}"/>
              </a:ext>
            </a:extLst>
          </p:cNvPr>
          <p:cNvSpPr>
            <a:spLocks noGrp="1"/>
          </p:cNvSpPr>
          <p:nvPr>
            <p:ph idx="1"/>
          </p:nvPr>
        </p:nvSpPr>
        <p:spPr>
          <a:xfrm>
            <a:off x="4399347" y="2138482"/>
            <a:ext cx="7842383" cy="2634964"/>
          </a:xfrm>
          <a:ln>
            <a:noFill/>
          </a:ln>
        </p:spPr>
        <p:txBody>
          <a:bodyPr wrap="square"/>
          <a:lstStyle/>
          <a:p>
            <a:pPr marL="0" indent="0">
              <a:buNone/>
            </a:pPr>
            <a:r>
              <a:rPr lang="nl-BE" sz="1400" dirty="0">
                <a:solidFill>
                  <a:srgbClr val="0000FF"/>
                </a:solidFill>
                <a:latin typeface="Courier New" charset="0"/>
                <a:cs typeface="Courier New" charset="0"/>
              </a:rPr>
              <a:t>&gt; is.factor(Techniek$Richting5cat)</a:t>
            </a:r>
          </a:p>
          <a:p>
            <a:pPr marL="0" indent="0">
              <a:buNone/>
            </a:pPr>
            <a:r>
              <a:rPr lang="nl-BE" sz="1400" b="0" dirty="0">
                <a:solidFill>
                  <a:srgbClr val="000000"/>
                </a:solidFill>
                <a:latin typeface="Courier New" charset="0"/>
                <a:cs typeface="Courier New" charset="0"/>
              </a:rPr>
              <a:t>[1] TRUE</a:t>
            </a:r>
          </a:p>
          <a:p>
            <a:pPr marL="0" indent="0">
              <a:buNone/>
            </a:pPr>
            <a:r>
              <a:rPr lang="nl-BE" sz="1400" dirty="0">
                <a:solidFill>
                  <a:srgbClr val="0000FF"/>
                </a:solidFill>
                <a:latin typeface="Courier New" charset="0"/>
                <a:cs typeface="Courier New" charset="0"/>
              </a:rPr>
              <a:t>&gt; Model.Interest &lt;- oneway.test(Techniek$Interest.voor ~ Techniek$Richting5cat)</a:t>
            </a:r>
          </a:p>
          <a:p>
            <a:pPr marL="0" indent="0">
              <a:buNone/>
            </a:pPr>
            <a:r>
              <a:rPr lang="nl-BE" sz="1400" dirty="0">
                <a:solidFill>
                  <a:srgbClr val="0000FF"/>
                </a:solidFill>
                <a:latin typeface="Courier New" charset="0"/>
                <a:cs typeface="Courier New" charset="0"/>
              </a:rPr>
              <a:t>&gt; Model.Interest</a:t>
            </a:r>
          </a:p>
          <a:p>
            <a:endParaRPr lang="nl-BE" sz="1400" dirty="0">
              <a:solidFill>
                <a:srgbClr val="000000"/>
              </a:solidFill>
              <a:latin typeface="Courier New" charset="0"/>
              <a:cs typeface="Courier New" charset="0"/>
            </a:endParaRPr>
          </a:p>
          <a:p>
            <a:pPr marL="0" indent="0">
              <a:buNone/>
            </a:pPr>
            <a:r>
              <a:rPr lang="nl-BE" sz="1400" b="0" dirty="0">
                <a:solidFill>
                  <a:srgbClr val="000000"/>
                </a:solidFill>
                <a:latin typeface="Courier New" charset="0"/>
                <a:cs typeface="Courier New" charset="0"/>
              </a:rPr>
              <a:t>One-way analysis of means (not assuming equal variances)</a:t>
            </a:r>
          </a:p>
          <a:p>
            <a:endParaRPr lang="nl-BE" sz="1400" b="0" dirty="0">
              <a:solidFill>
                <a:srgbClr val="000000"/>
              </a:solidFill>
              <a:latin typeface="Courier New" charset="0"/>
              <a:cs typeface="Courier New" charset="0"/>
            </a:endParaRPr>
          </a:p>
          <a:p>
            <a:pPr marL="0" indent="0">
              <a:buNone/>
            </a:pPr>
            <a:r>
              <a:rPr lang="nl-BE" sz="1400" b="0" dirty="0">
                <a:solidFill>
                  <a:srgbClr val="000000"/>
                </a:solidFill>
                <a:latin typeface="Courier New" charset="0"/>
                <a:cs typeface="Courier New" charset="0"/>
              </a:rPr>
              <a:t>data:  Techniek$Interest.voor and Techniek$Richting5cat </a:t>
            </a:r>
          </a:p>
          <a:p>
            <a:pPr marL="0" indent="0">
              <a:buNone/>
            </a:pPr>
            <a:r>
              <a:rPr lang="nl-BE" sz="1400" b="0" dirty="0">
                <a:solidFill>
                  <a:srgbClr val="000000"/>
                </a:solidFill>
                <a:latin typeface="Courier New" charset="0"/>
                <a:cs typeface="Courier New" charset="0"/>
              </a:rPr>
              <a:t>F = 64.4272, num df = 4.000, denom df = 246.478, p-value &lt; 2.2e-16</a:t>
            </a:r>
          </a:p>
          <a:p>
            <a:pPr marL="0" indent="0">
              <a:buNone/>
            </a:pPr>
            <a:endParaRPr lang="nl-BE" sz="1400" dirty="0"/>
          </a:p>
        </p:txBody>
      </p:sp>
      <p:pic>
        <p:nvPicPr>
          <p:cNvPr id="7" name="Afbeelding 6">
            <a:extLst>
              <a:ext uri="{FF2B5EF4-FFF2-40B4-BE49-F238E27FC236}">
                <a16:creationId xmlns:a16="http://schemas.microsoft.com/office/drawing/2014/main" id="{FDF40DC2-0C96-3E4A-AD00-52EE61340CF2}"/>
              </a:ext>
            </a:extLst>
          </p:cNvPr>
          <p:cNvPicPr>
            <a:picLocks noChangeAspect="1"/>
          </p:cNvPicPr>
          <p:nvPr/>
        </p:nvPicPr>
        <p:blipFill rotWithShape="1">
          <a:blip r:embed="rId3"/>
          <a:srcRect t="20299"/>
          <a:stretch/>
        </p:blipFill>
        <p:spPr>
          <a:xfrm>
            <a:off x="35053" y="1577008"/>
            <a:ext cx="3510570" cy="4327493"/>
          </a:xfrm>
          <a:prstGeom prst="rect">
            <a:avLst/>
          </a:prstGeom>
        </p:spPr>
      </p:pic>
      <p:sp>
        <p:nvSpPr>
          <p:cNvPr id="6" name="Rechthoek 5">
            <a:extLst>
              <a:ext uri="{FF2B5EF4-FFF2-40B4-BE49-F238E27FC236}">
                <a16:creationId xmlns:a16="http://schemas.microsoft.com/office/drawing/2014/main" id="{78A0DC67-0D00-5B44-AFAD-39FCF7017599}"/>
              </a:ext>
            </a:extLst>
          </p:cNvPr>
          <p:cNvSpPr/>
          <p:nvPr/>
        </p:nvSpPr>
        <p:spPr bwMode="auto">
          <a:xfrm>
            <a:off x="2427732" y="3604252"/>
            <a:ext cx="1127760" cy="441968"/>
          </a:xfrm>
          <a:prstGeom prst="rect">
            <a:avLst/>
          </a:prstGeom>
          <a:noFill/>
          <a:ln w="19050">
            <a:solidFill>
              <a:srgbClr val="FF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8" name="Tekstvak 7">
            <a:extLst>
              <a:ext uri="{FF2B5EF4-FFF2-40B4-BE49-F238E27FC236}">
                <a16:creationId xmlns:a16="http://schemas.microsoft.com/office/drawing/2014/main" id="{98DB8436-E266-F04E-A094-871C4A07F48B}"/>
              </a:ext>
            </a:extLst>
          </p:cNvPr>
          <p:cNvSpPr txBox="1"/>
          <p:nvPr/>
        </p:nvSpPr>
        <p:spPr>
          <a:xfrm>
            <a:off x="2378643" y="5232133"/>
            <a:ext cx="182880" cy="274652"/>
          </a:xfrm>
          <a:prstGeom prst="rect">
            <a:avLst/>
          </a:prstGeom>
          <a:solidFill>
            <a:schemeClr val="bg1"/>
          </a:solidFill>
        </p:spPr>
        <p:txBody>
          <a:bodyPr wrap="square" lIns="0" tIns="0" rIns="0" bIns="0" rtlCol="0" anchor="t">
            <a:noAutofit/>
          </a:bodyPr>
          <a:lstStyle/>
          <a:p>
            <a:pPr algn="r"/>
            <a:r>
              <a:rPr lang="nl-BE" sz="1600" b="1" dirty="0">
                <a:solidFill>
                  <a:srgbClr val="000000"/>
                </a:solidFill>
                <a:latin typeface="Courier New"/>
                <a:ea typeface="Verdana"/>
                <a:cs typeface="Courier New"/>
              </a:rPr>
              <a:t>B</a:t>
            </a:r>
            <a:endParaRPr lang="nl-BE" sz="2800" b="1" dirty="0">
              <a:solidFill>
                <a:srgbClr val="000000"/>
              </a:solidFill>
              <a:latin typeface="Courier New"/>
              <a:ea typeface="Verdana"/>
              <a:cs typeface="Courier New"/>
            </a:endParaRPr>
          </a:p>
        </p:txBody>
      </p:sp>
    </p:spTree>
    <p:extLst>
      <p:ext uri="{BB962C8B-B14F-4D97-AF65-F5344CB8AC3E}">
        <p14:creationId xmlns:p14="http://schemas.microsoft.com/office/powerpoint/2010/main" val="3176422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280C2B-DE03-3047-988C-7900D58B7FB0}"/>
              </a:ext>
            </a:extLst>
          </p:cNvPr>
          <p:cNvSpPr>
            <a:spLocks noGrp="1"/>
          </p:cNvSpPr>
          <p:nvPr>
            <p:ph type="title"/>
          </p:nvPr>
        </p:nvSpPr>
        <p:spPr/>
        <p:txBody>
          <a:bodyPr/>
          <a:lstStyle/>
          <a:p>
            <a:r>
              <a:rPr lang="nl-BE" dirty="0"/>
              <a:t>Effectgrootte?</a:t>
            </a:r>
          </a:p>
        </p:txBody>
      </p:sp>
      <p:sp>
        <p:nvSpPr>
          <p:cNvPr id="3" name="Tijdelijke aanduiding voor dianummer 2">
            <a:extLst>
              <a:ext uri="{FF2B5EF4-FFF2-40B4-BE49-F238E27FC236}">
                <a16:creationId xmlns:a16="http://schemas.microsoft.com/office/drawing/2014/main" id="{FB2BE51B-3BC0-194E-8779-38599BA65928}"/>
              </a:ext>
            </a:extLst>
          </p:cNvPr>
          <p:cNvSpPr>
            <a:spLocks noGrp="1"/>
          </p:cNvSpPr>
          <p:nvPr>
            <p:ph type="sldNum" sz="quarter" idx="10"/>
          </p:nvPr>
        </p:nvSpPr>
        <p:spPr/>
        <p:txBody>
          <a:bodyPr/>
          <a:lstStyle/>
          <a:p>
            <a:fld id="{E038E271-308C-2E46-A3EC-56326F9084CC}" type="slidenum">
              <a:rPr lang="nl-BE" smtClean="0"/>
              <a:pPr/>
              <a:t>26</a:t>
            </a:fld>
            <a:endParaRPr lang="nl-BE" dirty="0"/>
          </a:p>
        </p:txBody>
      </p:sp>
      <p:sp>
        <p:nvSpPr>
          <p:cNvPr id="8" name="Tijdelijke aanduiding voor inhoud 7">
            <a:extLst>
              <a:ext uri="{FF2B5EF4-FFF2-40B4-BE49-F238E27FC236}">
                <a16:creationId xmlns:a16="http://schemas.microsoft.com/office/drawing/2014/main" id="{3FB9CDAE-0E28-B04A-8A58-95FD7E213E0B}"/>
              </a:ext>
            </a:extLst>
          </p:cNvPr>
          <p:cNvSpPr>
            <a:spLocks noGrp="1"/>
          </p:cNvSpPr>
          <p:nvPr>
            <p:ph idx="1"/>
          </p:nvPr>
        </p:nvSpPr>
        <p:spPr/>
        <p:txBody>
          <a:bodyPr vert="horz" wrap="none" lIns="0" tIns="0" rIns="0" bIns="0" rtlCol="0" anchor="t">
            <a:noAutofit/>
          </a:bodyPr>
          <a:lstStyle/>
          <a:p>
            <a:pPr marL="274320" indent="-274320"/>
            <a:endParaRPr lang="nl-BE" dirty="0"/>
          </a:p>
          <a:p>
            <a:pPr marL="274320" indent="-274320"/>
            <a:endParaRPr lang="nl-BE" dirty="0"/>
          </a:p>
          <a:p>
            <a:pPr marL="274320" indent="-274320"/>
            <a:endParaRPr lang="nl-BE" dirty="0"/>
          </a:p>
          <a:p>
            <a:pPr marL="274320" indent="-274320"/>
            <a:endParaRPr lang="nl-BE" dirty="0"/>
          </a:p>
          <a:p>
            <a:pPr marL="274320" indent="-274320"/>
            <a:endParaRPr lang="nl-BE" dirty="0"/>
          </a:p>
          <a:p>
            <a:pPr marL="274320" indent="-274320"/>
            <a:endParaRPr lang="nl-BE" dirty="0"/>
          </a:p>
          <a:p>
            <a:pPr marL="274320" indent="-274320"/>
            <a:endParaRPr lang="nl-BE" dirty="0"/>
          </a:p>
          <a:p>
            <a:pPr marL="274320" indent="-274320"/>
            <a:endParaRPr lang="nl-BE" dirty="0"/>
          </a:p>
          <a:p>
            <a:pPr marL="274320" indent="-274320"/>
            <a:r>
              <a:rPr lang="nl-BE" dirty="0">
                <a:latin typeface="Calibri"/>
                <a:ea typeface="Verdana"/>
                <a:cs typeface="Calibri"/>
              </a:rPr>
              <a:t>Eta</a:t>
            </a:r>
            <a:r>
              <a:rPr lang="nl-BE" baseline="30000" dirty="0">
                <a:latin typeface="Calibri"/>
                <a:ea typeface="Verdana"/>
                <a:cs typeface="Calibri"/>
              </a:rPr>
              <a:t>2</a:t>
            </a:r>
            <a:r>
              <a:rPr lang="nl-BE" dirty="0">
                <a:latin typeface="Calibri"/>
                <a:ea typeface="Verdana"/>
                <a:cs typeface="Calibri"/>
              </a:rPr>
              <a:t> = aandeel van totale variantie toe te schrijven aan invloed x</a:t>
            </a:r>
          </a:p>
        </p:txBody>
      </p:sp>
      <p:pic>
        <p:nvPicPr>
          <p:cNvPr id="9" name="Picture 2">
            <a:extLst>
              <a:ext uri="{FF2B5EF4-FFF2-40B4-BE49-F238E27FC236}">
                <a16:creationId xmlns:a16="http://schemas.microsoft.com/office/drawing/2014/main" id="{9D069FA9-CF36-E743-839A-B84DAB4169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7128" y="1663065"/>
            <a:ext cx="7146925" cy="29527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651524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0E85DF-3161-0641-BE06-204E0850CB62}"/>
              </a:ext>
            </a:extLst>
          </p:cNvPr>
          <p:cNvSpPr>
            <a:spLocks noGrp="1"/>
          </p:cNvSpPr>
          <p:nvPr>
            <p:ph type="title"/>
          </p:nvPr>
        </p:nvSpPr>
        <p:spPr/>
        <p:txBody>
          <a:bodyPr/>
          <a:lstStyle/>
          <a:p>
            <a:r>
              <a:rPr lang="nl-BE" dirty="0"/>
              <a:t>Eta</a:t>
            </a:r>
            <a:r>
              <a:rPr lang="nl-BE" baseline="30000" dirty="0"/>
              <a:t>2</a:t>
            </a:r>
            <a:r>
              <a:rPr lang="nl-BE" dirty="0"/>
              <a:t> in R</a:t>
            </a:r>
          </a:p>
        </p:txBody>
      </p:sp>
      <p:sp>
        <p:nvSpPr>
          <p:cNvPr id="3" name="Tijdelijke aanduiding voor dianummer 2">
            <a:extLst>
              <a:ext uri="{FF2B5EF4-FFF2-40B4-BE49-F238E27FC236}">
                <a16:creationId xmlns:a16="http://schemas.microsoft.com/office/drawing/2014/main" id="{43EF60B7-8E2E-8B4B-BC97-539AF75B0026}"/>
              </a:ext>
            </a:extLst>
          </p:cNvPr>
          <p:cNvSpPr>
            <a:spLocks noGrp="1"/>
          </p:cNvSpPr>
          <p:nvPr>
            <p:ph type="sldNum" sz="quarter" idx="10"/>
          </p:nvPr>
        </p:nvSpPr>
        <p:spPr/>
        <p:txBody>
          <a:bodyPr/>
          <a:lstStyle/>
          <a:p>
            <a:fld id="{E038E271-308C-2E46-A3EC-56326F9084CC}" type="slidenum">
              <a:rPr lang="nl-BE" smtClean="0"/>
              <a:pPr/>
              <a:t>27</a:t>
            </a:fld>
            <a:endParaRPr lang="nl-BE" dirty="0"/>
          </a:p>
        </p:txBody>
      </p:sp>
      <p:sp>
        <p:nvSpPr>
          <p:cNvPr id="4" name="Tijdelijke aanduiding voor inhoud 3">
            <a:extLst>
              <a:ext uri="{FF2B5EF4-FFF2-40B4-BE49-F238E27FC236}">
                <a16:creationId xmlns:a16="http://schemas.microsoft.com/office/drawing/2014/main" id="{4B107574-8A09-F048-BEE4-A597AE1DD447}"/>
              </a:ext>
            </a:extLst>
          </p:cNvPr>
          <p:cNvSpPr>
            <a:spLocks noGrp="1"/>
          </p:cNvSpPr>
          <p:nvPr>
            <p:ph idx="1"/>
          </p:nvPr>
        </p:nvSpPr>
        <p:spPr>
          <a:xfrm>
            <a:off x="4297680" y="1577009"/>
            <a:ext cx="8995409" cy="4660279"/>
          </a:xfrm>
          <a:ln>
            <a:noFill/>
          </a:ln>
        </p:spPr>
        <p:txBody>
          <a:bodyPr wrap="square"/>
          <a:lstStyle/>
          <a:p>
            <a:pPr marL="0" indent="0">
              <a:buNone/>
            </a:pPr>
            <a:r>
              <a:rPr lang="nl-BE" sz="1400" dirty="0">
                <a:solidFill>
                  <a:srgbClr val="0000FF"/>
                </a:solidFill>
                <a:latin typeface="Courier New" charset="0"/>
                <a:cs typeface="Courier New" charset="0"/>
              </a:rPr>
              <a:t>&gt; etasq(aov(Techniek$Interest.voor ~ Techniek$Richting5cat))</a:t>
            </a:r>
          </a:p>
          <a:p>
            <a:pPr marL="0" indent="0">
              <a:buNone/>
            </a:pPr>
            <a:endParaRPr lang="nl-BE" sz="1400" dirty="0">
              <a:solidFill>
                <a:srgbClr val="0000FF"/>
              </a:solidFill>
              <a:latin typeface="Courier New" charset="0"/>
              <a:cs typeface="Courier New" charset="0"/>
            </a:endParaRPr>
          </a:p>
          <a:p>
            <a:pPr marL="0" indent="0">
              <a:buNone/>
            </a:pPr>
            <a:r>
              <a:rPr lang="nl-BE" sz="1400" dirty="0">
                <a:solidFill>
                  <a:srgbClr val="0000FF"/>
                </a:solidFill>
                <a:latin typeface="Courier New" charset="0"/>
                <a:cs typeface="Courier New" charset="0"/>
              </a:rPr>
              <a:t>		</a:t>
            </a:r>
            <a:r>
              <a:rPr lang="nl-BE" sz="2400" dirty="0">
                <a:solidFill>
                  <a:schemeClr val="accent5"/>
                </a:solidFill>
                <a:latin typeface="+mn-lt"/>
                <a:cs typeface="Courier New" charset="0"/>
              </a:rPr>
              <a:t>OF</a:t>
            </a:r>
          </a:p>
          <a:p>
            <a:pPr marL="0" indent="0">
              <a:buNone/>
            </a:pPr>
            <a:endParaRPr lang="nl-BE" sz="1400" dirty="0">
              <a:solidFill>
                <a:schemeClr val="accent5"/>
              </a:solidFill>
              <a:latin typeface="+mn-lt"/>
              <a:cs typeface="Courier New" charset="0"/>
            </a:endParaRPr>
          </a:p>
          <a:p>
            <a:pPr marL="0" indent="0">
              <a:buNone/>
            </a:pPr>
            <a:r>
              <a:rPr lang="nl-BE" sz="1400" dirty="0">
                <a:solidFill>
                  <a:srgbClr val="0000FF"/>
                </a:solidFill>
                <a:latin typeface="Courier New" charset="0"/>
                <a:cs typeface="Courier New" charset="0"/>
              </a:rPr>
              <a:t>&gt; Model.Interest.1 &lt;- aov (Techniek$Interest.voor ~ Techniek$Richting5cat)</a:t>
            </a:r>
          </a:p>
          <a:p>
            <a:pPr marL="0" indent="0">
              <a:buNone/>
            </a:pPr>
            <a:r>
              <a:rPr lang="nl-BE" sz="1400" dirty="0">
                <a:solidFill>
                  <a:srgbClr val="0000FF"/>
                </a:solidFill>
                <a:latin typeface="Courier New" charset="0"/>
                <a:cs typeface="Courier New" charset="0"/>
              </a:rPr>
              <a:t>&gt; etasq(Model.Interest.1)</a:t>
            </a:r>
          </a:p>
          <a:p>
            <a:pPr marL="0" indent="0">
              <a:buNone/>
            </a:pPr>
            <a:r>
              <a:rPr lang="nl-BE" sz="1400" b="0" dirty="0">
                <a:solidFill>
                  <a:srgbClr val="000000"/>
                </a:solidFill>
                <a:latin typeface="Courier New" charset="0"/>
                <a:cs typeface="Courier New" charset="0"/>
              </a:rPr>
              <a:t>Partial eta^2</a:t>
            </a:r>
          </a:p>
          <a:p>
            <a:pPr marL="0" indent="0">
              <a:buNone/>
            </a:pPr>
            <a:r>
              <a:rPr lang="nl-BE" sz="1400" b="0" dirty="0">
                <a:solidFill>
                  <a:srgbClr val="000000"/>
                </a:solidFill>
                <a:latin typeface="Courier New" charset="0"/>
                <a:cs typeface="Courier New" charset="0"/>
              </a:rPr>
              <a:t>Techniek$Richting5cat    0.07688024</a:t>
            </a:r>
          </a:p>
          <a:p>
            <a:pPr marL="0" indent="0">
              <a:buNone/>
            </a:pPr>
            <a:r>
              <a:rPr lang="nl-BE" sz="1400" b="0" dirty="0">
                <a:solidFill>
                  <a:srgbClr val="000000"/>
                </a:solidFill>
                <a:latin typeface="Courier New" charset="0"/>
                <a:cs typeface="Courier New" charset="0"/>
              </a:rPr>
              <a:t>Residuals                        NA</a:t>
            </a:r>
          </a:p>
          <a:p>
            <a:pPr marL="0" indent="0">
              <a:buNone/>
            </a:pPr>
            <a:endParaRPr lang="nl-BE" sz="1400" b="0" dirty="0">
              <a:solidFill>
                <a:srgbClr val="000000"/>
              </a:solidFill>
              <a:latin typeface="Courier New" charset="0"/>
              <a:cs typeface="Courier New" charset="0"/>
            </a:endParaRPr>
          </a:p>
          <a:p>
            <a:pPr marL="0" indent="0">
              <a:buNone/>
            </a:pPr>
            <a:endParaRPr lang="nl-BE" sz="1400" b="0" dirty="0">
              <a:solidFill>
                <a:srgbClr val="000000"/>
              </a:solidFill>
              <a:latin typeface="Courier New" charset="0"/>
              <a:cs typeface="Courier New" charset="0"/>
            </a:endParaRPr>
          </a:p>
          <a:p>
            <a:pPr marL="0" indent="0">
              <a:buNone/>
            </a:pPr>
            <a:endParaRPr lang="nl-BE" sz="1400" dirty="0"/>
          </a:p>
        </p:txBody>
      </p:sp>
      <p:graphicFrame>
        <p:nvGraphicFramePr>
          <p:cNvPr id="7" name="Table 1">
            <a:extLst>
              <a:ext uri="{FF2B5EF4-FFF2-40B4-BE49-F238E27FC236}">
                <a16:creationId xmlns:a16="http://schemas.microsoft.com/office/drawing/2014/main" id="{CB292313-6B65-8749-AEAA-FA3D9BC60A13}"/>
              </a:ext>
            </a:extLst>
          </p:cNvPr>
          <p:cNvGraphicFramePr>
            <a:graphicFrameLocks noGrp="1"/>
          </p:cNvGraphicFramePr>
          <p:nvPr/>
        </p:nvGraphicFramePr>
        <p:xfrm>
          <a:off x="4297680" y="4497690"/>
          <a:ext cx="6048375" cy="1344096"/>
        </p:xfrm>
        <a:graphic>
          <a:graphicData uri="http://schemas.openxmlformats.org/drawingml/2006/table">
            <a:tbl>
              <a:tblPr>
                <a:tableStyleId>{5940675A-B579-460E-94D1-54222C63F5DA}</a:tableStyleId>
              </a:tblPr>
              <a:tblGrid>
                <a:gridCol w="1584325">
                  <a:extLst>
                    <a:ext uri="{9D8B030D-6E8A-4147-A177-3AD203B41FA5}">
                      <a16:colId xmlns:a16="http://schemas.microsoft.com/office/drawing/2014/main" val="20000"/>
                    </a:ext>
                  </a:extLst>
                </a:gridCol>
                <a:gridCol w="4464050">
                  <a:extLst>
                    <a:ext uri="{9D8B030D-6E8A-4147-A177-3AD203B41FA5}">
                      <a16:colId xmlns:a16="http://schemas.microsoft.com/office/drawing/2014/main" val="20001"/>
                    </a:ext>
                  </a:extLst>
                </a:gridCol>
              </a:tblGrid>
              <a:tr h="204925">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i="1" u="none" strike="noStrike" kern="1200" cap="none" normalizeH="0" baseline="0" dirty="0">
                          <a:ln>
                            <a:noFill/>
                          </a:ln>
                          <a:solidFill>
                            <a:srgbClr val="003D62"/>
                          </a:solidFill>
                          <a:effectLst/>
                          <a:latin typeface="Verdana" panose="020B0604030504040204" pitchFamily="34" charset="0"/>
                          <a:ea typeface="MS PGothic" panose="020B0600070205080204" pitchFamily="34" charset="-128"/>
                          <a:cs typeface="+mn-cs"/>
                        </a:rPr>
                        <a:t>Eta²</a:t>
                      </a:r>
                    </a:p>
                  </a:txBody>
                  <a:tcPr marL="68574" marR="68574" marT="0" marB="0" horzOverflow="overflow">
                    <a:solidFill>
                      <a:schemeClr val="bg1">
                        <a:lumMod val="75000"/>
                      </a:schemeClr>
                    </a:solidFill>
                  </a:tcPr>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dirty="0" err="1">
                          <a:ln>
                            <a:noFill/>
                          </a:ln>
                          <a:solidFill>
                            <a:srgbClr val="003D62"/>
                          </a:solidFill>
                          <a:effectLst/>
                          <a:latin typeface="Verdana" panose="020B0604030504040204" pitchFamily="34" charset="0"/>
                          <a:ea typeface="MS PGothic" panose="020B0600070205080204" pitchFamily="34" charset="-128"/>
                          <a:cs typeface="+mn-cs"/>
                        </a:rPr>
                        <a:t>Cohen’s</a:t>
                      </a:r>
                      <a:r>
                        <a:rPr kumimoji="0" lang="nl-BE" sz="1600" u="none" strike="noStrike" kern="1200" cap="none" normalizeH="0" baseline="0" dirty="0">
                          <a:ln>
                            <a:noFill/>
                          </a:ln>
                          <a:solidFill>
                            <a:srgbClr val="003D62"/>
                          </a:solidFill>
                          <a:effectLst/>
                          <a:latin typeface="Verdana" panose="020B0604030504040204" pitchFamily="34" charset="0"/>
                          <a:ea typeface="MS PGothic" panose="020B0600070205080204" pitchFamily="34" charset="-128"/>
                          <a:cs typeface="+mn-cs"/>
                        </a:rPr>
                        <a:t> vuistregel</a:t>
                      </a:r>
                    </a:p>
                  </a:txBody>
                  <a:tcPr marL="68574" marR="68574" marT="0" marB="0" horzOverflow="overflow">
                    <a:solidFill>
                      <a:schemeClr val="bg1">
                        <a:lumMod val="75000"/>
                      </a:schemeClr>
                    </a:solidFill>
                  </a:tcPr>
                </a:tc>
                <a:extLst>
                  <a:ext uri="{0D108BD9-81ED-4DB2-BD59-A6C34878D82A}">
                    <a16:rowId xmlns:a16="http://schemas.microsoft.com/office/drawing/2014/main" val="10000"/>
                  </a:ext>
                </a:extLst>
              </a:tr>
              <a:tr h="28547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a:ln>
                            <a:noFill/>
                          </a:ln>
                          <a:solidFill>
                            <a:srgbClr val="003D62"/>
                          </a:solidFill>
                          <a:effectLst/>
                          <a:latin typeface="Verdana" panose="020B0604030504040204" pitchFamily="34" charset="0"/>
                          <a:ea typeface="MS PGothic" panose="020B0600070205080204" pitchFamily="34" charset="-128"/>
                          <a:cs typeface="+mn-cs"/>
                        </a:rPr>
                        <a:t>≥0.14</a:t>
                      </a:r>
                    </a:p>
                  </a:txBody>
                  <a:tcPr marL="68574" marR="68574" marT="0" marB="0"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dirty="0">
                          <a:ln>
                            <a:noFill/>
                          </a:ln>
                          <a:solidFill>
                            <a:srgbClr val="003D62"/>
                          </a:solidFill>
                          <a:effectLst/>
                          <a:latin typeface="Verdana" panose="020B0604030504040204" pitchFamily="34" charset="0"/>
                          <a:ea typeface="MS PGothic" panose="020B0600070205080204" pitchFamily="34" charset="-128"/>
                          <a:cs typeface="+mn-cs"/>
                        </a:rPr>
                        <a:t>Groot</a:t>
                      </a:r>
                    </a:p>
                  </a:txBody>
                  <a:tcPr marL="68574" marR="68574" marT="0" marB="0" horzOverflow="overflow"/>
                </a:tc>
                <a:extLst>
                  <a:ext uri="{0D108BD9-81ED-4DB2-BD59-A6C34878D82A}">
                    <a16:rowId xmlns:a16="http://schemas.microsoft.com/office/drawing/2014/main" val="10001"/>
                  </a:ext>
                </a:extLst>
              </a:tr>
              <a:tr h="28547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a:ln>
                            <a:noFill/>
                          </a:ln>
                          <a:solidFill>
                            <a:srgbClr val="003D62"/>
                          </a:solidFill>
                          <a:effectLst/>
                          <a:latin typeface="Verdana" panose="020B0604030504040204" pitchFamily="34" charset="0"/>
                          <a:ea typeface="MS PGothic" panose="020B0600070205080204" pitchFamily="34" charset="-128"/>
                          <a:cs typeface="+mn-cs"/>
                        </a:rPr>
                        <a:t>0.06-0.14</a:t>
                      </a:r>
                    </a:p>
                  </a:txBody>
                  <a:tcPr marL="68574" marR="68574" marT="0" marB="0"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a:ln>
                            <a:noFill/>
                          </a:ln>
                          <a:solidFill>
                            <a:srgbClr val="003D62"/>
                          </a:solidFill>
                          <a:effectLst/>
                          <a:latin typeface="Verdana" panose="020B0604030504040204" pitchFamily="34" charset="0"/>
                          <a:ea typeface="MS PGothic" panose="020B0600070205080204" pitchFamily="34" charset="-128"/>
                          <a:cs typeface="+mn-cs"/>
                        </a:rPr>
                        <a:t>Medium </a:t>
                      </a:r>
                    </a:p>
                  </a:txBody>
                  <a:tcPr marL="68574" marR="68574" marT="0" marB="0" horzOverflow="overflow"/>
                </a:tc>
                <a:extLst>
                  <a:ext uri="{0D108BD9-81ED-4DB2-BD59-A6C34878D82A}">
                    <a16:rowId xmlns:a16="http://schemas.microsoft.com/office/drawing/2014/main" val="10002"/>
                  </a:ext>
                </a:extLst>
              </a:tr>
              <a:tr h="285472">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a:ln>
                            <a:noFill/>
                          </a:ln>
                          <a:solidFill>
                            <a:srgbClr val="003D62"/>
                          </a:solidFill>
                          <a:effectLst/>
                          <a:latin typeface="Verdana" panose="020B0604030504040204" pitchFamily="34" charset="0"/>
                          <a:ea typeface="MS PGothic" panose="020B0600070205080204" pitchFamily="34" charset="-128"/>
                          <a:cs typeface="+mn-cs"/>
                        </a:rPr>
                        <a:t>0.01-0.05</a:t>
                      </a:r>
                    </a:p>
                  </a:txBody>
                  <a:tcPr marL="68574" marR="68574" marT="0" marB="0"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a:ln>
                            <a:noFill/>
                          </a:ln>
                          <a:solidFill>
                            <a:srgbClr val="003D62"/>
                          </a:solidFill>
                          <a:effectLst/>
                          <a:latin typeface="Verdana" panose="020B0604030504040204" pitchFamily="34" charset="0"/>
                          <a:ea typeface="MS PGothic" panose="020B0600070205080204" pitchFamily="34" charset="-128"/>
                          <a:cs typeface="+mn-cs"/>
                        </a:rPr>
                        <a:t>Klein</a:t>
                      </a:r>
                    </a:p>
                  </a:txBody>
                  <a:tcPr marL="68574" marR="68574" marT="0" marB="0" horzOverflow="overflow"/>
                </a:tc>
                <a:extLst>
                  <a:ext uri="{0D108BD9-81ED-4DB2-BD59-A6C34878D82A}">
                    <a16:rowId xmlns:a16="http://schemas.microsoft.com/office/drawing/2014/main" val="10003"/>
                  </a:ext>
                </a:extLst>
              </a:tr>
              <a:tr h="160391">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a:ln>
                            <a:noFill/>
                          </a:ln>
                          <a:solidFill>
                            <a:srgbClr val="003D62"/>
                          </a:solidFill>
                          <a:effectLst/>
                          <a:latin typeface="Verdana" panose="020B0604030504040204" pitchFamily="34" charset="0"/>
                          <a:ea typeface="MS PGothic" panose="020B0600070205080204" pitchFamily="34" charset="-128"/>
                          <a:cs typeface="+mn-cs"/>
                        </a:rPr>
                        <a:t>≤0.01</a:t>
                      </a:r>
                    </a:p>
                  </a:txBody>
                  <a:tcPr marL="68574" marR="68574" marT="0" marB="0" horzOverflow="overflow"/>
                </a:tc>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nl-BE" sz="1600" u="none" strike="noStrike" kern="1200" cap="none" normalizeH="0" baseline="0" dirty="0">
                          <a:ln>
                            <a:noFill/>
                          </a:ln>
                          <a:solidFill>
                            <a:srgbClr val="003D62"/>
                          </a:solidFill>
                          <a:effectLst/>
                          <a:latin typeface="Verdana" panose="020B0604030504040204" pitchFamily="34" charset="0"/>
                          <a:ea typeface="MS PGothic" panose="020B0600070205080204" pitchFamily="34" charset="-128"/>
                          <a:cs typeface="+mn-cs"/>
                        </a:rPr>
                        <a:t>Verwaarloosbaar klein/Geen effect</a:t>
                      </a:r>
                    </a:p>
                  </a:txBody>
                  <a:tcPr marL="68574" marR="68574" marT="0" marB="0" horzOverflow="overflow"/>
                </a:tc>
                <a:extLst>
                  <a:ext uri="{0D108BD9-81ED-4DB2-BD59-A6C34878D82A}">
                    <a16:rowId xmlns:a16="http://schemas.microsoft.com/office/drawing/2014/main" val="10004"/>
                  </a:ext>
                </a:extLst>
              </a:tr>
            </a:tbl>
          </a:graphicData>
        </a:graphic>
      </p:graphicFrame>
      <p:pic>
        <p:nvPicPr>
          <p:cNvPr id="8" name="Afbeelding 7">
            <a:extLst>
              <a:ext uri="{FF2B5EF4-FFF2-40B4-BE49-F238E27FC236}">
                <a16:creationId xmlns:a16="http://schemas.microsoft.com/office/drawing/2014/main" id="{FA918710-E0DD-824A-8717-0BDF204CE5F6}"/>
              </a:ext>
            </a:extLst>
          </p:cNvPr>
          <p:cNvPicPr>
            <a:picLocks noChangeAspect="1"/>
          </p:cNvPicPr>
          <p:nvPr/>
        </p:nvPicPr>
        <p:blipFill rotWithShape="1">
          <a:blip r:embed="rId3"/>
          <a:srcRect t="20299"/>
          <a:stretch/>
        </p:blipFill>
        <p:spPr>
          <a:xfrm>
            <a:off x="47245" y="1577008"/>
            <a:ext cx="3510570" cy="4327493"/>
          </a:xfrm>
          <a:prstGeom prst="rect">
            <a:avLst/>
          </a:prstGeom>
        </p:spPr>
      </p:pic>
      <p:sp>
        <p:nvSpPr>
          <p:cNvPr id="9" name="Rechthoek 8">
            <a:extLst>
              <a:ext uri="{FF2B5EF4-FFF2-40B4-BE49-F238E27FC236}">
                <a16:creationId xmlns:a16="http://schemas.microsoft.com/office/drawing/2014/main" id="{F6DC909A-5DCE-824B-8156-7675DD1808F6}"/>
              </a:ext>
            </a:extLst>
          </p:cNvPr>
          <p:cNvSpPr/>
          <p:nvPr/>
        </p:nvSpPr>
        <p:spPr bwMode="auto">
          <a:xfrm>
            <a:off x="2439924" y="4335772"/>
            <a:ext cx="1127760" cy="247658"/>
          </a:xfrm>
          <a:prstGeom prst="rect">
            <a:avLst/>
          </a:prstGeom>
          <a:noFill/>
          <a:ln w="19050">
            <a:solidFill>
              <a:srgbClr val="FF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10" name="Tekstvak 9">
            <a:extLst>
              <a:ext uri="{FF2B5EF4-FFF2-40B4-BE49-F238E27FC236}">
                <a16:creationId xmlns:a16="http://schemas.microsoft.com/office/drawing/2014/main" id="{2EE725F4-592A-784C-BC82-E4BA9755B106}"/>
              </a:ext>
            </a:extLst>
          </p:cNvPr>
          <p:cNvSpPr txBox="1"/>
          <p:nvPr/>
        </p:nvSpPr>
        <p:spPr>
          <a:xfrm>
            <a:off x="2382774" y="5222106"/>
            <a:ext cx="182880" cy="274652"/>
          </a:xfrm>
          <a:prstGeom prst="rect">
            <a:avLst/>
          </a:prstGeom>
          <a:solidFill>
            <a:schemeClr val="bg1"/>
          </a:solidFill>
        </p:spPr>
        <p:txBody>
          <a:bodyPr wrap="square" lIns="0" tIns="0" rIns="0" bIns="0" rtlCol="0" anchor="t">
            <a:noAutofit/>
          </a:bodyPr>
          <a:lstStyle/>
          <a:p>
            <a:pPr algn="r"/>
            <a:r>
              <a:rPr lang="nl-BE" sz="1600" b="1" dirty="0">
                <a:solidFill>
                  <a:srgbClr val="000000"/>
                </a:solidFill>
                <a:latin typeface="Courier New"/>
                <a:ea typeface="Verdana"/>
                <a:cs typeface="Courier New"/>
              </a:rPr>
              <a:t>B</a:t>
            </a:r>
            <a:endParaRPr lang="nl-BE" sz="2800" b="1" dirty="0">
              <a:solidFill>
                <a:srgbClr val="000000"/>
              </a:solidFill>
              <a:latin typeface="Courier New"/>
              <a:ea typeface="Verdana"/>
              <a:cs typeface="Courier New"/>
            </a:endParaRPr>
          </a:p>
        </p:txBody>
      </p:sp>
    </p:spTree>
    <p:extLst>
      <p:ext uri="{BB962C8B-B14F-4D97-AF65-F5344CB8AC3E}">
        <p14:creationId xmlns:p14="http://schemas.microsoft.com/office/powerpoint/2010/main" val="608962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63956-FA2A-614C-B5D8-F99E177EFCC0}"/>
              </a:ext>
            </a:extLst>
          </p:cNvPr>
          <p:cNvSpPr>
            <a:spLocks noGrp="1"/>
          </p:cNvSpPr>
          <p:nvPr>
            <p:ph type="title"/>
          </p:nvPr>
        </p:nvSpPr>
        <p:spPr/>
        <p:txBody>
          <a:bodyPr/>
          <a:lstStyle/>
          <a:p>
            <a:r>
              <a:rPr lang="nl-BE" dirty="0"/>
              <a:t>Welke categorieën verschillen van elkaar?</a:t>
            </a:r>
          </a:p>
        </p:txBody>
      </p:sp>
      <p:sp>
        <p:nvSpPr>
          <p:cNvPr id="3" name="Tijdelijke aanduiding voor dianummer 2">
            <a:extLst>
              <a:ext uri="{FF2B5EF4-FFF2-40B4-BE49-F238E27FC236}">
                <a16:creationId xmlns:a16="http://schemas.microsoft.com/office/drawing/2014/main" id="{A2C9305D-D086-8D4A-ACA5-52512FA06C44}"/>
              </a:ext>
            </a:extLst>
          </p:cNvPr>
          <p:cNvSpPr>
            <a:spLocks noGrp="1"/>
          </p:cNvSpPr>
          <p:nvPr>
            <p:ph type="sldNum" sz="quarter" idx="10"/>
          </p:nvPr>
        </p:nvSpPr>
        <p:spPr/>
        <p:txBody>
          <a:bodyPr/>
          <a:lstStyle/>
          <a:p>
            <a:fld id="{E038E271-308C-2E46-A3EC-56326F9084CC}" type="slidenum">
              <a:rPr lang="nl-BE" smtClean="0"/>
              <a:pPr/>
              <a:t>28</a:t>
            </a:fld>
            <a:endParaRPr lang="nl-BE" dirty="0"/>
          </a:p>
        </p:txBody>
      </p:sp>
      <p:sp>
        <p:nvSpPr>
          <p:cNvPr id="5" name="Tijdelijke aanduiding voor inhoud 3">
            <a:extLst>
              <a:ext uri="{FF2B5EF4-FFF2-40B4-BE49-F238E27FC236}">
                <a16:creationId xmlns:a16="http://schemas.microsoft.com/office/drawing/2014/main" id="{5F8D9782-FECA-3645-8FA2-B886B3174BD9}"/>
              </a:ext>
            </a:extLst>
          </p:cNvPr>
          <p:cNvSpPr txBox="1">
            <a:spLocks/>
          </p:cNvSpPr>
          <p:nvPr/>
        </p:nvSpPr>
        <p:spPr>
          <a:xfrm>
            <a:off x="4297680" y="1577009"/>
            <a:ext cx="8995409" cy="4660279"/>
          </a:xfrm>
          <a:prstGeom prst="rect">
            <a:avLst/>
          </a:prstGeom>
          <a:ln>
            <a:noFill/>
          </a:ln>
        </p:spPr>
        <p:txBody>
          <a:bodyPr vert="horz" wrap="square" lIns="0" tIns="0" rIns="0" bIns="0" rtlCol="0">
            <a:noAutofit/>
          </a:bodyPr>
          <a:lstStyle>
            <a:lvl1pPr marL="274638" indent="-274638" algn="l" defTabSz="1217054" rtl="0" eaLnBrk="1" fontAlgn="base" hangingPunct="1">
              <a:spcBef>
                <a:spcPct val="20000"/>
              </a:spcBef>
              <a:spcAft>
                <a:spcPct val="0"/>
              </a:spcAft>
              <a:buClr>
                <a:schemeClr val="accent2"/>
              </a:buClr>
              <a:buSzPct val="75000"/>
              <a:buFont typeface="Wingdings" pitchFamily="2" charset="2"/>
              <a:buChar char="§"/>
              <a:tabLst/>
              <a:defRPr sz="2800" b="1" i="0" kern="1200">
                <a:solidFill>
                  <a:schemeClr val="tx1"/>
                </a:solidFill>
                <a:latin typeface="Calibri" panose="020F0502020204030204" pitchFamily="34" charset="0"/>
                <a:ea typeface="Verdana" charset="0"/>
                <a:cs typeface="Calibri" panose="020F0502020204030204" pitchFamily="34" charset="0"/>
              </a:defRPr>
            </a:lvl1pPr>
            <a:lvl2pPr marL="740815" indent="-378875" algn="l" defTabSz="1217054" rtl="0" eaLnBrk="1" fontAlgn="base" hangingPunct="1">
              <a:spcBef>
                <a:spcPct val="20000"/>
              </a:spcBef>
              <a:spcAft>
                <a:spcPct val="0"/>
              </a:spcAft>
              <a:buClr>
                <a:schemeClr val="accent1"/>
              </a:buClr>
              <a:buSzPct val="75000"/>
              <a:buFont typeface="Wingdings" pitchFamily="2" charset="2"/>
              <a:buChar char="§"/>
              <a:defRPr sz="2400" b="0" i="0" kern="1200">
                <a:solidFill>
                  <a:schemeClr val="tx1"/>
                </a:solidFill>
                <a:latin typeface="Calibri Light" panose="020F0302020204030204" pitchFamily="34" charset="0"/>
                <a:ea typeface="Verdana" charset="0"/>
                <a:cs typeface="Calibri Light" panose="020F0302020204030204" pitchFamily="34" charset="0"/>
              </a:defRPr>
            </a:lvl2pPr>
            <a:lvl3pPr marL="1090057"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tx1"/>
                </a:solidFill>
                <a:latin typeface="Verdana" charset="0"/>
                <a:ea typeface="Verdana" charset="0"/>
                <a:cs typeface="Verdana" charset="0"/>
              </a:defRPr>
            </a:lvl3pPr>
            <a:lvl4pPr marL="1454114" indent="-378875"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4pPr>
            <a:lvl5pPr marL="1663658" indent="-226478"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nl-BE" sz="1350" dirty="0">
                <a:solidFill>
                  <a:srgbClr val="0000FF"/>
                </a:solidFill>
                <a:latin typeface="Courier New" charset="0"/>
                <a:cs typeface="Courier New" charset="0"/>
              </a:rPr>
              <a:t>&gt; Model.Int.bonf &lt;- bonferroni(Techniek$Interest.voor,Techniek$Richting5cat)</a:t>
            </a:r>
          </a:p>
          <a:p>
            <a:endParaRPr lang="nl-BE" sz="1350" dirty="0">
              <a:solidFill>
                <a:srgbClr val="0000FF"/>
              </a:solidFill>
              <a:latin typeface="Courier New" charset="0"/>
              <a:cs typeface="Courier New" charset="0"/>
            </a:endParaRPr>
          </a:p>
          <a:p>
            <a:pPr marL="0" indent="0">
              <a:buNone/>
            </a:pPr>
            <a:r>
              <a:rPr lang="nl-BE" sz="1350" dirty="0">
                <a:solidFill>
                  <a:srgbClr val="0000FF"/>
                </a:solidFill>
                <a:latin typeface="Courier New" charset="0"/>
                <a:cs typeface="Courier New" charset="0"/>
              </a:rPr>
              <a:t>&gt; Model.Int.bonf</a:t>
            </a:r>
          </a:p>
          <a:p>
            <a:endParaRPr lang="nl-BE" sz="135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	Pairwise comparisons using t tests with non-pooled SD </a:t>
            </a:r>
          </a:p>
          <a:p>
            <a:endParaRPr lang="nl-BE" sz="1350" b="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data:  Techniek$Interest.voor and Techniek$Richting5cat </a:t>
            </a:r>
          </a:p>
          <a:p>
            <a:endParaRPr lang="nl-BE" sz="1350" b="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  1       2     3     4    </a:t>
            </a:r>
          </a:p>
          <a:p>
            <a:pPr marL="0" indent="0">
              <a:buNone/>
            </a:pPr>
            <a:r>
              <a:rPr lang="nl-BE" sz="1350" b="0" dirty="0">
                <a:solidFill>
                  <a:srgbClr val="000000"/>
                </a:solidFill>
                <a:latin typeface="Courier New" charset="0"/>
                <a:cs typeface="Courier New" charset="0"/>
              </a:rPr>
              <a:t>2 1.5e-07 -     -     -    </a:t>
            </a:r>
          </a:p>
          <a:p>
            <a:pPr marL="0" indent="0">
              <a:buNone/>
            </a:pPr>
            <a:r>
              <a:rPr lang="nl-BE" sz="1350" b="0" dirty="0">
                <a:solidFill>
                  <a:srgbClr val="000000"/>
                </a:solidFill>
                <a:latin typeface="Courier New" charset="0"/>
                <a:cs typeface="Courier New" charset="0"/>
              </a:rPr>
              <a:t>3 &lt; 2e-16 1.000 -     -    </a:t>
            </a:r>
          </a:p>
          <a:p>
            <a:pPr marL="0" indent="0">
              <a:buNone/>
            </a:pPr>
            <a:r>
              <a:rPr lang="nl-BE" sz="1350" b="0" dirty="0">
                <a:solidFill>
                  <a:srgbClr val="000000"/>
                </a:solidFill>
                <a:latin typeface="Courier New" charset="0"/>
                <a:cs typeface="Courier New" charset="0"/>
              </a:rPr>
              <a:t>4 &lt; 2e-16 1.000 0.025 -    </a:t>
            </a:r>
          </a:p>
          <a:p>
            <a:pPr marL="0" indent="0">
              <a:buNone/>
            </a:pPr>
            <a:r>
              <a:rPr lang="nl-BE" sz="1350" b="0" dirty="0">
                <a:solidFill>
                  <a:srgbClr val="000000"/>
                </a:solidFill>
                <a:latin typeface="Courier New" charset="0"/>
                <a:cs typeface="Courier New" charset="0"/>
              </a:rPr>
              <a:t>5 &lt; 2e-16 1.000 1.000 0.091</a:t>
            </a:r>
          </a:p>
          <a:p>
            <a:pPr marL="0" indent="0">
              <a:buNone/>
            </a:pPr>
            <a:endParaRPr lang="nl-BE" sz="1350" b="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P value adjustment method: bonferroni</a:t>
            </a:r>
          </a:p>
          <a:p>
            <a:pPr marL="0" indent="0">
              <a:buFont typeface="Wingdings" pitchFamily="2" charset="2"/>
              <a:buNone/>
            </a:pPr>
            <a:endParaRPr lang="nl-BE" sz="1350" b="0" dirty="0">
              <a:solidFill>
                <a:srgbClr val="000000"/>
              </a:solidFill>
              <a:latin typeface="Courier New" charset="0"/>
              <a:cs typeface="Courier New" charset="0"/>
            </a:endParaRPr>
          </a:p>
          <a:p>
            <a:pPr marL="0" indent="0">
              <a:buFont typeface="Wingdings" pitchFamily="2" charset="2"/>
              <a:buNone/>
            </a:pPr>
            <a:endParaRPr lang="nl-BE" sz="1350" b="0" dirty="0">
              <a:solidFill>
                <a:srgbClr val="000000"/>
              </a:solidFill>
              <a:latin typeface="Courier New" charset="0"/>
              <a:cs typeface="Courier New" charset="0"/>
            </a:endParaRPr>
          </a:p>
          <a:p>
            <a:pPr marL="0" indent="0">
              <a:buFont typeface="Wingdings" pitchFamily="2" charset="2"/>
              <a:buNone/>
            </a:pPr>
            <a:endParaRPr lang="nl-BE" sz="1350" dirty="0"/>
          </a:p>
        </p:txBody>
      </p:sp>
      <p:pic>
        <p:nvPicPr>
          <p:cNvPr id="6" name="Afbeelding 5">
            <a:extLst>
              <a:ext uri="{FF2B5EF4-FFF2-40B4-BE49-F238E27FC236}">
                <a16:creationId xmlns:a16="http://schemas.microsoft.com/office/drawing/2014/main" id="{09E9BB22-4D64-294C-9FC0-2DF670273CFC}"/>
              </a:ext>
            </a:extLst>
          </p:cNvPr>
          <p:cNvPicPr>
            <a:picLocks noChangeAspect="1"/>
          </p:cNvPicPr>
          <p:nvPr/>
        </p:nvPicPr>
        <p:blipFill rotWithShape="1">
          <a:blip r:embed="rId3"/>
          <a:srcRect t="20299"/>
          <a:stretch/>
        </p:blipFill>
        <p:spPr>
          <a:xfrm>
            <a:off x="59437" y="1577008"/>
            <a:ext cx="3510570" cy="4327493"/>
          </a:xfrm>
          <a:prstGeom prst="rect">
            <a:avLst/>
          </a:prstGeom>
        </p:spPr>
      </p:pic>
      <p:sp>
        <p:nvSpPr>
          <p:cNvPr id="7" name="Rechthoek 6">
            <a:extLst>
              <a:ext uri="{FF2B5EF4-FFF2-40B4-BE49-F238E27FC236}">
                <a16:creationId xmlns:a16="http://schemas.microsoft.com/office/drawing/2014/main" id="{73D44ED3-AD2C-1140-94A7-6B255446CFC3}"/>
              </a:ext>
            </a:extLst>
          </p:cNvPr>
          <p:cNvSpPr/>
          <p:nvPr/>
        </p:nvSpPr>
        <p:spPr bwMode="auto">
          <a:xfrm>
            <a:off x="2452116" y="5238742"/>
            <a:ext cx="1127760" cy="247658"/>
          </a:xfrm>
          <a:prstGeom prst="rect">
            <a:avLst/>
          </a:prstGeom>
          <a:noFill/>
          <a:ln w="19050">
            <a:solidFill>
              <a:srgbClr val="FF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8" name="Tekstvak 7">
            <a:extLst>
              <a:ext uri="{FF2B5EF4-FFF2-40B4-BE49-F238E27FC236}">
                <a16:creationId xmlns:a16="http://schemas.microsoft.com/office/drawing/2014/main" id="{48E4D3B8-51A7-C341-86DC-4C87A5F56EC8}"/>
              </a:ext>
            </a:extLst>
          </p:cNvPr>
          <p:cNvSpPr txBox="1"/>
          <p:nvPr/>
        </p:nvSpPr>
        <p:spPr>
          <a:xfrm>
            <a:off x="2451394" y="5224272"/>
            <a:ext cx="78486" cy="262128"/>
          </a:xfrm>
          <a:prstGeom prst="rect">
            <a:avLst/>
          </a:prstGeom>
          <a:solidFill>
            <a:schemeClr val="bg1"/>
          </a:solidFill>
        </p:spPr>
        <p:txBody>
          <a:bodyPr wrap="square" lIns="0" tIns="0" rIns="0" bIns="0" rtlCol="0" anchor="t">
            <a:noAutofit/>
          </a:bodyPr>
          <a:lstStyle/>
          <a:p>
            <a:pPr algn="r"/>
            <a:r>
              <a:rPr lang="nl-BE" sz="1600" b="1" dirty="0">
                <a:solidFill>
                  <a:srgbClr val="000000"/>
                </a:solidFill>
                <a:latin typeface="Courier New"/>
                <a:ea typeface="Verdana"/>
                <a:cs typeface="Courier New"/>
              </a:rPr>
              <a:t>B</a:t>
            </a:r>
            <a:endParaRPr lang="nl-BE" sz="2800" b="1" dirty="0">
              <a:solidFill>
                <a:srgbClr val="000000"/>
              </a:solidFill>
              <a:latin typeface="Courier New"/>
              <a:ea typeface="Verdana"/>
              <a:cs typeface="Courier New"/>
            </a:endParaRPr>
          </a:p>
        </p:txBody>
      </p:sp>
    </p:spTree>
    <p:extLst>
      <p:ext uri="{BB962C8B-B14F-4D97-AF65-F5344CB8AC3E}">
        <p14:creationId xmlns:p14="http://schemas.microsoft.com/office/powerpoint/2010/main" val="951889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B63956-FA2A-614C-B5D8-F99E177EFCC0}"/>
              </a:ext>
            </a:extLst>
          </p:cNvPr>
          <p:cNvSpPr>
            <a:spLocks noGrp="1"/>
          </p:cNvSpPr>
          <p:nvPr>
            <p:ph type="title"/>
          </p:nvPr>
        </p:nvSpPr>
        <p:spPr/>
        <p:txBody>
          <a:bodyPr/>
          <a:lstStyle/>
          <a:p>
            <a:r>
              <a:rPr lang="nl-BE" dirty="0"/>
              <a:t>Welke categorieën verschillen van elkaar?</a:t>
            </a:r>
          </a:p>
        </p:txBody>
      </p:sp>
      <p:sp>
        <p:nvSpPr>
          <p:cNvPr id="3" name="Tijdelijke aanduiding voor dianummer 2">
            <a:extLst>
              <a:ext uri="{FF2B5EF4-FFF2-40B4-BE49-F238E27FC236}">
                <a16:creationId xmlns:a16="http://schemas.microsoft.com/office/drawing/2014/main" id="{A2C9305D-D086-8D4A-ACA5-52512FA06C44}"/>
              </a:ext>
            </a:extLst>
          </p:cNvPr>
          <p:cNvSpPr>
            <a:spLocks noGrp="1"/>
          </p:cNvSpPr>
          <p:nvPr>
            <p:ph type="sldNum" sz="quarter" idx="10"/>
          </p:nvPr>
        </p:nvSpPr>
        <p:spPr/>
        <p:txBody>
          <a:bodyPr/>
          <a:lstStyle/>
          <a:p>
            <a:fld id="{E038E271-308C-2E46-A3EC-56326F9084CC}" type="slidenum">
              <a:rPr lang="nl-BE" smtClean="0"/>
              <a:pPr/>
              <a:t>29</a:t>
            </a:fld>
            <a:endParaRPr lang="nl-BE" dirty="0"/>
          </a:p>
        </p:txBody>
      </p:sp>
      <p:sp>
        <p:nvSpPr>
          <p:cNvPr id="5" name="Tijdelijke aanduiding voor inhoud 3">
            <a:extLst>
              <a:ext uri="{FF2B5EF4-FFF2-40B4-BE49-F238E27FC236}">
                <a16:creationId xmlns:a16="http://schemas.microsoft.com/office/drawing/2014/main" id="{5F8D9782-FECA-3645-8FA2-B886B3174BD9}"/>
              </a:ext>
            </a:extLst>
          </p:cNvPr>
          <p:cNvSpPr txBox="1">
            <a:spLocks/>
          </p:cNvSpPr>
          <p:nvPr/>
        </p:nvSpPr>
        <p:spPr>
          <a:xfrm>
            <a:off x="4297680" y="1577009"/>
            <a:ext cx="8995409" cy="4660279"/>
          </a:xfrm>
          <a:prstGeom prst="rect">
            <a:avLst/>
          </a:prstGeom>
          <a:ln>
            <a:noFill/>
          </a:ln>
        </p:spPr>
        <p:txBody>
          <a:bodyPr vert="horz" wrap="square" lIns="0" tIns="0" rIns="0" bIns="0" rtlCol="0">
            <a:noAutofit/>
          </a:bodyPr>
          <a:lstStyle>
            <a:lvl1pPr marL="274638" indent="-274638" algn="l" defTabSz="1217054" rtl="0" eaLnBrk="1" fontAlgn="base" hangingPunct="1">
              <a:spcBef>
                <a:spcPct val="20000"/>
              </a:spcBef>
              <a:spcAft>
                <a:spcPct val="0"/>
              </a:spcAft>
              <a:buClr>
                <a:schemeClr val="accent2"/>
              </a:buClr>
              <a:buSzPct val="75000"/>
              <a:buFont typeface="Wingdings" pitchFamily="2" charset="2"/>
              <a:buChar char="§"/>
              <a:tabLst/>
              <a:defRPr sz="2800" b="1" i="0" kern="1200">
                <a:solidFill>
                  <a:schemeClr val="tx1"/>
                </a:solidFill>
                <a:latin typeface="Calibri" panose="020F0502020204030204" pitchFamily="34" charset="0"/>
                <a:ea typeface="Verdana" charset="0"/>
                <a:cs typeface="Calibri" panose="020F0502020204030204" pitchFamily="34" charset="0"/>
              </a:defRPr>
            </a:lvl1pPr>
            <a:lvl2pPr marL="740815" indent="-378875" algn="l" defTabSz="1217054" rtl="0" eaLnBrk="1" fontAlgn="base" hangingPunct="1">
              <a:spcBef>
                <a:spcPct val="20000"/>
              </a:spcBef>
              <a:spcAft>
                <a:spcPct val="0"/>
              </a:spcAft>
              <a:buClr>
                <a:schemeClr val="accent1"/>
              </a:buClr>
              <a:buSzPct val="75000"/>
              <a:buFont typeface="Wingdings" pitchFamily="2" charset="2"/>
              <a:buChar char="§"/>
              <a:defRPr sz="2400" b="0" i="0" kern="1200">
                <a:solidFill>
                  <a:schemeClr val="tx1"/>
                </a:solidFill>
                <a:latin typeface="Calibri Light" panose="020F0302020204030204" pitchFamily="34" charset="0"/>
                <a:ea typeface="Verdana" charset="0"/>
                <a:cs typeface="Calibri Light" panose="020F0302020204030204" pitchFamily="34" charset="0"/>
              </a:defRPr>
            </a:lvl2pPr>
            <a:lvl3pPr marL="1090057" indent="-378875" algn="l" defTabSz="1217054" rtl="0" eaLnBrk="1" fontAlgn="base" hangingPunct="1">
              <a:spcBef>
                <a:spcPct val="20000"/>
              </a:spcBef>
              <a:spcAft>
                <a:spcPct val="0"/>
              </a:spcAft>
              <a:buClr>
                <a:schemeClr val="accent1"/>
              </a:buClr>
              <a:buFont typeface="Arial" panose="020B0604020202020204" pitchFamily="34" charset="0"/>
              <a:buChar char="•"/>
              <a:defRPr sz="1733" kern="1200">
                <a:solidFill>
                  <a:schemeClr val="tx1"/>
                </a:solidFill>
                <a:latin typeface="Verdana" charset="0"/>
                <a:ea typeface="Verdana" charset="0"/>
                <a:cs typeface="Verdana" charset="0"/>
              </a:defRPr>
            </a:lvl3pPr>
            <a:lvl4pPr marL="1454114" indent="-378875"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4pPr>
            <a:lvl5pPr marL="1663658" indent="-226478" algn="l" defTabSz="1217054" rtl="0" eaLnBrk="1" fontAlgn="base" hangingPunct="1">
              <a:spcBef>
                <a:spcPct val="20000"/>
              </a:spcBef>
              <a:spcAft>
                <a:spcPct val="0"/>
              </a:spcAft>
              <a:buClr>
                <a:schemeClr val="accent1"/>
              </a:buClr>
              <a:buFont typeface="Arial" panose="020B0604020202020204" pitchFamily="34" charset="0"/>
              <a:buChar char="•"/>
              <a:defRPr sz="1600" kern="1200">
                <a:solidFill>
                  <a:schemeClr val="bg1"/>
                </a:solidFill>
                <a:latin typeface="Verdana" charset="0"/>
                <a:ea typeface="Verdana" charset="0"/>
                <a:cs typeface="Verdana" charset="0"/>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a:lstStyle>
          <a:p>
            <a:pPr marL="0" indent="0">
              <a:buNone/>
            </a:pPr>
            <a:r>
              <a:rPr lang="nl-BE" sz="1350" dirty="0">
                <a:solidFill>
                  <a:srgbClr val="0000FF"/>
                </a:solidFill>
                <a:latin typeface="Courier New" charset="0"/>
                <a:cs typeface="Courier New" charset="0"/>
              </a:rPr>
              <a:t>&gt; Model.Int.bonf &lt;- bonferroni(Techniek$Interest.voor,Techniek$Richting5cat)</a:t>
            </a:r>
          </a:p>
          <a:p>
            <a:endParaRPr lang="nl-BE" sz="1350" dirty="0">
              <a:solidFill>
                <a:srgbClr val="0000FF"/>
              </a:solidFill>
              <a:latin typeface="Courier New" charset="0"/>
              <a:cs typeface="Courier New" charset="0"/>
            </a:endParaRPr>
          </a:p>
          <a:p>
            <a:pPr marL="0" indent="0">
              <a:buNone/>
            </a:pPr>
            <a:r>
              <a:rPr lang="nl-BE" sz="1350" dirty="0">
                <a:solidFill>
                  <a:srgbClr val="0000FF"/>
                </a:solidFill>
                <a:latin typeface="Courier New" charset="0"/>
                <a:cs typeface="Courier New" charset="0"/>
              </a:rPr>
              <a:t>&gt; Model.Int.bonf</a:t>
            </a:r>
          </a:p>
          <a:p>
            <a:endParaRPr lang="nl-BE" sz="135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	Pairwise comparisons using t tests with non-pooled SD </a:t>
            </a:r>
          </a:p>
          <a:p>
            <a:endParaRPr lang="nl-BE" sz="1350" b="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data:  Techniek$Interest.voor and Techniek$Richting5cat </a:t>
            </a:r>
          </a:p>
          <a:p>
            <a:endParaRPr lang="nl-BE" sz="1350" b="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  1       2     3     4    </a:t>
            </a:r>
          </a:p>
          <a:p>
            <a:pPr marL="0" indent="0">
              <a:buNone/>
            </a:pPr>
            <a:r>
              <a:rPr lang="nl-BE" sz="1350" b="0" dirty="0">
                <a:solidFill>
                  <a:srgbClr val="000000"/>
                </a:solidFill>
                <a:latin typeface="Courier New" charset="0"/>
                <a:cs typeface="Courier New" charset="0"/>
              </a:rPr>
              <a:t>2 1.5e-07 -     -     -    </a:t>
            </a:r>
          </a:p>
          <a:p>
            <a:pPr marL="0" indent="0">
              <a:buNone/>
            </a:pPr>
            <a:r>
              <a:rPr lang="nl-BE" sz="1350" b="0" dirty="0">
                <a:solidFill>
                  <a:srgbClr val="000000"/>
                </a:solidFill>
                <a:latin typeface="Courier New" charset="0"/>
                <a:cs typeface="Courier New" charset="0"/>
              </a:rPr>
              <a:t>3 &lt; 2e-16 1.000 -     -    </a:t>
            </a:r>
          </a:p>
          <a:p>
            <a:pPr marL="0" indent="0">
              <a:buNone/>
            </a:pPr>
            <a:r>
              <a:rPr lang="nl-BE" sz="1350" b="0" dirty="0">
                <a:solidFill>
                  <a:srgbClr val="000000"/>
                </a:solidFill>
                <a:latin typeface="Courier New" charset="0"/>
                <a:cs typeface="Courier New" charset="0"/>
              </a:rPr>
              <a:t>4 &lt; 2e-16 1.000 0.025 -    </a:t>
            </a:r>
          </a:p>
          <a:p>
            <a:pPr marL="0" indent="0">
              <a:buNone/>
            </a:pPr>
            <a:r>
              <a:rPr lang="nl-BE" sz="1350" b="0" dirty="0">
                <a:solidFill>
                  <a:srgbClr val="000000"/>
                </a:solidFill>
                <a:latin typeface="Courier New" charset="0"/>
                <a:cs typeface="Courier New" charset="0"/>
              </a:rPr>
              <a:t>5 &lt; 2e-16 1.000 1.000 0.091</a:t>
            </a:r>
          </a:p>
          <a:p>
            <a:pPr marL="0" indent="0">
              <a:buNone/>
            </a:pPr>
            <a:endParaRPr lang="nl-BE" sz="1350" b="0" dirty="0">
              <a:solidFill>
                <a:srgbClr val="000000"/>
              </a:solidFill>
              <a:latin typeface="Courier New" charset="0"/>
              <a:cs typeface="Courier New" charset="0"/>
            </a:endParaRPr>
          </a:p>
          <a:p>
            <a:pPr marL="0" indent="0">
              <a:buNone/>
            </a:pPr>
            <a:r>
              <a:rPr lang="nl-BE" sz="1350" b="0" dirty="0">
                <a:solidFill>
                  <a:srgbClr val="000000"/>
                </a:solidFill>
                <a:latin typeface="Courier New" charset="0"/>
                <a:cs typeface="Courier New" charset="0"/>
              </a:rPr>
              <a:t>P value adjustment method: bonferroni</a:t>
            </a:r>
          </a:p>
          <a:p>
            <a:pPr marL="0" indent="0">
              <a:buFont typeface="Wingdings" pitchFamily="2" charset="2"/>
              <a:buNone/>
            </a:pPr>
            <a:endParaRPr lang="nl-BE" sz="1350" b="0" dirty="0">
              <a:solidFill>
                <a:srgbClr val="000000"/>
              </a:solidFill>
              <a:latin typeface="Courier New" charset="0"/>
              <a:cs typeface="Courier New" charset="0"/>
            </a:endParaRPr>
          </a:p>
          <a:p>
            <a:pPr marL="0" indent="0">
              <a:buFont typeface="Wingdings" pitchFamily="2" charset="2"/>
              <a:buNone/>
            </a:pPr>
            <a:endParaRPr lang="nl-BE" sz="1350" b="0" dirty="0">
              <a:solidFill>
                <a:srgbClr val="000000"/>
              </a:solidFill>
              <a:latin typeface="Courier New" charset="0"/>
              <a:cs typeface="Courier New" charset="0"/>
            </a:endParaRPr>
          </a:p>
          <a:p>
            <a:pPr marL="0" indent="0">
              <a:buFont typeface="Wingdings" pitchFamily="2" charset="2"/>
              <a:buNone/>
            </a:pPr>
            <a:endParaRPr lang="nl-BE" sz="1350" dirty="0"/>
          </a:p>
        </p:txBody>
      </p:sp>
      <p:pic>
        <p:nvPicPr>
          <p:cNvPr id="6" name="Afbeelding 5">
            <a:extLst>
              <a:ext uri="{FF2B5EF4-FFF2-40B4-BE49-F238E27FC236}">
                <a16:creationId xmlns:a16="http://schemas.microsoft.com/office/drawing/2014/main" id="{09E9BB22-4D64-294C-9FC0-2DF670273CFC}"/>
              </a:ext>
            </a:extLst>
          </p:cNvPr>
          <p:cNvPicPr>
            <a:picLocks noChangeAspect="1"/>
          </p:cNvPicPr>
          <p:nvPr/>
        </p:nvPicPr>
        <p:blipFill rotWithShape="1">
          <a:blip r:embed="rId3"/>
          <a:srcRect t="20299"/>
          <a:stretch/>
        </p:blipFill>
        <p:spPr>
          <a:xfrm>
            <a:off x="59437" y="1577008"/>
            <a:ext cx="3510570" cy="4327493"/>
          </a:xfrm>
          <a:prstGeom prst="rect">
            <a:avLst/>
          </a:prstGeom>
        </p:spPr>
      </p:pic>
      <p:sp>
        <p:nvSpPr>
          <p:cNvPr id="7" name="Rechthoek 6">
            <a:extLst>
              <a:ext uri="{FF2B5EF4-FFF2-40B4-BE49-F238E27FC236}">
                <a16:creationId xmlns:a16="http://schemas.microsoft.com/office/drawing/2014/main" id="{73D44ED3-AD2C-1140-94A7-6B255446CFC3}"/>
              </a:ext>
            </a:extLst>
          </p:cNvPr>
          <p:cNvSpPr/>
          <p:nvPr/>
        </p:nvSpPr>
        <p:spPr bwMode="auto">
          <a:xfrm>
            <a:off x="2452116" y="5238742"/>
            <a:ext cx="1127760" cy="247658"/>
          </a:xfrm>
          <a:prstGeom prst="rect">
            <a:avLst/>
          </a:prstGeom>
          <a:noFill/>
          <a:ln w="19050">
            <a:solidFill>
              <a:srgbClr val="FF0000"/>
            </a:solid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8" name="Tekstvak 7">
            <a:extLst>
              <a:ext uri="{FF2B5EF4-FFF2-40B4-BE49-F238E27FC236}">
                <a16:creationId xmlns:a16="http://schemas.microsoft.com/office/drawing/2014/main" id="{48E4D3B8-51A7-C341-86DC-4C87A5F56EC8}"/>
              </a:ext>
            </a:extLst>
          </p:cNvPr>
          <p:cNvSpPr txBox="1"/>
          <p:nvPr/>
        </p:nvSpPr>
        <p:spPr>
          <a:xfrm>
            <a:off x="2451394" y="5224272"/>
            <a:ext cx="78486" cy="262128"/>
          </a:xfrm>
          <a:prstGeom prst="rect">
            <a:avLst/>
          </a:prstGeom>
          <a:solidFill>
            <a:schemeClr val="bg1"/>
          </a:solidFill>
        </p:spPr>
        <p:txBody>
          <a:bodyPr wrap="square" lIns="0" tIns="0" rIns="0" bIns="0" rtlCol="0" anchor="t">
            <a:noAutofit/>
          </a:bodyPr>
          <a:lstStyle/>
          <a:p>
            <a:pPr algn="r"/>
            <a:r>
              <a:rPr lang="nl-BE" sz="1600" b="1" dirty="0">
                <a:solidFill>
                  <a:srgbClr val="000000"/>
                </a:solidFill>
                <a:latin typeface="Courier New"/>
                <a:ea typeface="Verdana"/>
                <a:cs typeface="Courier New"/>
              </a:rPr>
              <a:t>B</a:t>
            </a:r>
            <a:endParaRPr lang="nl-BE" sz="2800" b="1" dirty="0">
              <a:solidFill>
                <a:srgbClr val="000000"/>
              </a:solidFill>
              <a:latin typeface="Courier New"/>
              <a:ea typeface="Verdana"/>
              <a:cs typeface="Courier New"/>
            </a:endParaRPr>
          </a:p>
        </p:txBody>
      </p:sp>
      <p:pic>
        <p:nvPicPr>
          <p:cNvPr id="4" name="Afbeelding 3">
            <a:extLst>
              <a:ext uri="{FF2B5EF4-FFF2-40B4-BE49-F238E27FC236}">
                <a16:creationId xmlns:a16="http://schemas.microsoft.com/office/drawing/2014/main" id="{1DCC9A11-1AE2-1936-8F9C-F8673422436C}"/>
              </a:ext>
            </a:extLst>
          </p:cNvPr>
          <p:cNvPicPr>
            <a:picLocks noChangeAspect="1"/>
          </p:cNvPicPr>
          <p:nvPr/>
        </p:nvPicPr>
        <p:blipFill rotWithShape="1">
          <a:blip r:embed="rId4"/>
          <a:srcRect t="12937"/>
          <a:stretch/>
        </p:blipFill>
        <p:spPr>
          <a:xfrm>
            <a:off x="7131745" y="2876665"/>
            <a:ext cx="4842774" cy="3645070"/>
          </a:xfrm>
          <a:prstGeom prst="rect">
            <a:avLst/>
          </a:prstGeom>
        </p:spPr>
      </p:pic>
    </p:spTree>
    <p:extLst>
      <p:ext uri="{BB962C8B-B14F-4D97-AF65-F5344CB8AC3E}">
        <p14:creationId xmlns:p14="http://schemas.microsoft.com/office/powerpoint/2010/main" val="2204348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459AE-A927-B1BF-7039-11AFFA84AB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6FEF146-A466-9996-4792-428C8A66C01F}"/>
              </a:ext>
            </a:extLst>
          </p:cNvPr>
          <p:cNvSpPr>
            <a:spLocks noGrp="1"/>
          </p:cNvSpPr>
          <p:nvPr>
            <p:ph type="title"/>
          </p:nvPr>
        </p:nvSpPr>
        <p:spPr/>
        <p:txBody>
          <a:bodyPr/>
          <a:lstStyle/>
          <a:p>
            <a:r>
              <a:rPr lang="nl-BE" dirty="0"/>
              <a:t>ANOVA in de actualiteit?</a:t>
            </a:r>
          </a:p>
        </p:txBody>
      </p:sp>
      <p:sp>
        <p:nvSpPr>
          <p:cNvPr id="3" name="Tijdelijke aanduiding voor dianummer 2">
            <a:extLst>
              <a:ext uri="{FF2B5EF4-FFF2-40B4-BE49-F238E27FC236}">
                <a16:creationId xmlns:a16="http://schemas.microsoft.com/office/drawing/2014/main" id="{55240873-EB29-C237-42CC-5449C5A85A56}"/>
              </a:ext>
            </a:extLst>
          </p:cNvPr>
          <p:cNvSpPr>
            <a:spLocks noGrp="1"/>
          </p:cNvSpPr>
          <p:nvPr>
            <p:ph type="sldNum" sz="quarter" idx="10"/>
          </p:nvPr>
        </p:nvSpPr>
        <p:spPr/>
        <p:txBody>
          <a:bodyPr/>
          <a:lstStyle/>
          <a:p>
            <a:fld id="{E038E271-308C-2E46-A3EC-56326F9084CC}" type="slidenum">
              <a:rPr lang="nl-BE" smtClean="0"/>
              <a:pPr/>
              <a:t>30</a:t>
            </a:fld>
            <a:endParaRPr lang="nl-BE" dirty="0"/>
          </a:p>
        </p:txBody>
      </p:sp>
      <p:sp>
        <p:nvSpPr>
          <p:cNvPr id="4" name="Tijdelijke aanduiding voor inhoud 3">
            <a:extLst>
              <a:ext uri="{FF2B5EF4-FFF2-40B4-BE49-F238E27FC236}">
                <a16:creationId xmlns:a16="http://schemas.microsoft.com/office/drawing/2014/main" id="{B7332026-22CA-11BA-C512-D08726D03227}"/>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pic>
        <p:nvPicPr>
          <p:cNvPr id="39" name="Afbeelding 38" descr="Afbeelding met logo, Lettertype, Graphics, symbool&#10;&#10;Door AI gegenereerde inhoud is mogelijk onjuist.">
            <a:extLst>
              <a:ext uri="{FF2B5EF4-FFF2-40B4-BE49-F238E27FC236}">
                <a16:creationId xmlns:a16="http://schemas.microsoft.com/office/drawing/2014/main" id="{919A0C08-E828-35EA-A917-DD96B609CB79}"/>
              </a:ext>
            </a:extLst>
          </p:cNvPr>
          <p:cNvPicPr>
            <a:picLocks noChangeAspect="1"/>
          </p:cNvPicPr>
          <p:nvPr/>
        </p:nvPicPr>
        <p:blipFill>
          <a:blip r:embed="rId3"/>
          <a:stretch>
            <a:fillRect/>
          </a:stretch>
        </p:blipFill>
        <p:spPr>
          <a:xfrm>
            <a:off x="9017808" y="114961"/>
            <a:ext cx="2887573" cy="1132626"/>
          </a:xfrm>
          <a:prstGeom prst="rect">
            <a:avLst/>
          </a:prstGeom>
        </p:spPr>
      </p:pic>
      <p:pic>
        <p:nvPicPr>
          <p:cNvPr id="41" name="Afbeelding 40" descr="Afbeelding met vogel, zangvogel, tyranide, zittend&#10;&#10;Door AI gegenereerde inhoud is mogelijk onjuist.">
            <a:extLst>
              <a:ext uri="{FF2B5EF4-FFF2-40B4-BE49-F238E27FC236}">
                <a16:creationId xmlns:a16="http://schemas.microsoft.com/office/drawing/2014/main" id="{3DA47849-9FDA-3F24-8E6E-E730441A356E}"/>
              </a:ext>
            </a:extLst>
          </p:cNvPr>
          <p:cNvPicPr>
            <a:picLocks noChangeAspect="1"/>
          </p:cNvPicPr>
          <p:nvPr/>
        </p:nvPicPr>
        <p:blipFill>
          <a:blip r:embed="rId4"/>
          <a:stretch>
            <a:fillRect/>
          </a:stretch>
        </p:blipFill>
        <p:spPr>
          <a:xfrm>
            <a:off x="515029" y="1412508"/>
            <a:ext cx="7910514" cy="1955014"/>
          </a:xfrm>
          <a:prstGeom prst="rect">
            <a:avLst/>
          </a:prstGeom>
        </p:spPr>
      </p:pic>
      <p:sp>
        <p:nvSpPr>
          <p:cNvPr id="45" name="Tekstvak 44">
            <a:extLst>
              <a:ext uri="{FF2B5EF4-FFF2-40B4-BE49-F238E27FC236}">
                <a16:creationId xmlns:a16="http://schemas.microsoft.com/office/drawing/2014/main" id="{020E2F07-4D61-F983-934F-38076E4E398D}"/>
              </a:ext>
            </a:extLst>
          </p:cNvPr>
          <p:cNvSpPr txBox="1"/>
          <p:nvPr/>
        </p:nvSpPr>
        <p:spPr>
          <a:xfrm>
            <a:off x="3352800" y="2234287"/>
            <a:ext cx="4539343" cy="523220"/>
          </a:xfrm>
          <a:prstGeom prst="rect">
            <a:avLst/>
          </a:prstGeom>
          <a:noFill/>
        </p:spPr>
        <p:txBody>
          <a:bodyPr wrap="square">
            <a:spAutoFit/>
          </a:bodyPr>
          <a:lstStyle/>
          <a:p>
            <a:r>
              <a:rPr lang="nl-BE" sz="1400" b="1" dirty="0">
                <a:hlinkClick r:id="rId5">
                  <a:extLst>
                    <a:ext uri="{A12FA001-AC4F-418D-AE19-62706E023703}">
                      <ahyp:hlinkClr xmlns:ahyp="http://schemas.microsoft.com/office/drawing/2018/hyperlinkcolor" val="tx"/>
                    </a:ext>
                  </a:extLst>
                </a:hlinkClick>
              </a:rPr>
              <a:t>https://www.vrt.be/vrtnws/nl/2026/02/05/vogel-geluiden-natuur-wandeling-welzijn-stress/</a:t>
            </a:r>
            <a:endParaRPr lang="nl-BE" sz="1400" b="1" dirty="0"/>
          </a:p>
        </p:txBody>
      </p:sp>
      <p:sp>
        <p:nvSpPr>
          <p:cNvPr id="47" name="Tekstvak 46">
            <a:extLst>
              <a:ext uri="{FF2B5EF4-FFF2-40B4-BE49-F238E27FC236}">
                <a16:creationId xmlns:a16="http://schemas.microsoft.com/office/drawing/2014/main" id="{1FDDD2B5-AFBA-A378-009C-8D6A5D14CABF}"/>
              </a:ext>
            </a:extLst>
          </p:cNvPr>
          <p:cNvSpPr txBox="1"/>
          <p:nvPr/>
        </p:nvSpPr>
        <p:spPr>
          <a:xfrm>
            <a:off x="3352800" y="2818175"/>
            <a:ext cx="4158343" cy="738664"/>
          </a:xfrm>
          <a:prstGeom prst="rect">
            <a:avLst/>
          </a:prstGeom>
          <a:noFill/>
        </p:spPr>
        <p:txBody>
          <a:bodyPr wrap="square">
            <a:spAutoFit/>
          </a:bodyPr>
          <a:lstStyle/>
          <a:p>
            <a:r>
              <a:rPr lang="nl-BE" sz="1400" b="1" dirty="0">
                <a:hlinkClick r:id="rId6">
                  <a:extLst>
                    <a:ext uri="{A12FA001-AC4F-418D-AE19-62706E023703}">
                      <ahyp:hlinkClr xmlns:ahyp="http://schemas.microsoft.com/office/drawing/2018/hyperlinkcolor" val="tx"/>
                    </a:ext>
                  </a:extLst>
                </a:hlinkClick>
              </a:rPr>
              <a:t>https://www.sciencedirect.com/science/article/pii/S016920462500163X?ref=cra_js_challenge&amp;fr=RR-1</a:t>
            </a:r>
            <a:endParaRPr lang="nl-BE" sz="1400" b="1" dirty="0"/>
          </a:p>
        </p:txBody>
      </p:sp>
      <p:sp>
        <p:nvSpPr>
          <p:cNvPr id="49" name="Tekstvak 48">
            <a:extLst>
              <a:ext uri="{FF2B5EF4-FFF2-40B4-BE49-F238E27FC236}">
                <a16:creationId xmlns:a16="http://schemas.microsoft.com/office/drawing/2014/main" id="{82F30C0C-EBD3-EC17-5D46-775C1BB6FE43}"/>
              </a:ext>
            </a:extLst>
          </p:cNvPr>
          <p:cNvSpPr txBox="1"/>
          <p:nvPr/>
        </p:nvSpPr>
        <p:spPr>
          <a:xfrm>
            <a:off x="528182" y="3910807"/>
            <a:ext cx="6767514" cy="1200329"/>
          </a:xfrm>
          <a:prstGeom prst="rect">
            <a:avLst/>
          </a:prstGeom>
          <a:noFill/>
        </p:spPr>
        <p:txBody>
          <a:bodyPr wrap="square">
            <a:spAutoFit/>
          </a:bodyPr>
          <a:lstStyle/>
          <a:p>
            <a:r>
              <a:rPr lang="en-US" dirty="0"/>
              <a:t>“Secondly, we </a:t>
            </a:r>
            <a:r>
              <a:rPr lang="en-US" dirty="0" err="1"/>
              <a:t>analysed</a:t>
            </a:r>
            <a:r>
              <a:rPr lang="en-US" dirty="0"/>
              <a:t> the question if </a:t>
            </a:r>
            <a:r>
              <a:rPr lang="en-US" b="1" dirty="0">
                <a:solidFill>
                  <a:srgbClr val="C00000"/>
                </a:solidFill>
              </a:rPr>
              <a:t>enhanced bird sound </a:t>
            </a:r>
            <a:r>
              <a:rPr lang="en-US" dirty="0"/>
              <a:t>during the walk influences 1) mental well-being, 2) physiological stress markers or 3) subjective nature experience.”</a:t>
            </a:r>
            <a:endParaRPr lang="nl-BE" dirty="0"/>
          </a:p>
        </p:txBody>
      </p:sp>
      <p:sp>
        <p:nvSpPr>
          <p:cNvPr id="59" name="Rechthoek 58">
            <a:extLst>
              <a:ext uri="{FF2B5EF4-FFF2-40B4-BE49-F238E27FC236}">
                <a16:creationId xmlns:a16="http://schemas.microsoft.com/office/drawing/2014/main" id="{94C0BA2B-CE28-17CA-BBD2-490AF10F90AF}"/>
              </a:ext>
            </a:extLst>
          </p:cNvPr>
          <p:cNvSpPr/>
          <p:nvPr/>
        </p:nvSpPr>
        <p:spPr bwMode="auto">
          <a:xfrm>
            <a:off x="7606394" y="1971619"/>
            <a:ext cx="4231595" cy="4367554"/>
          </a:xfrm>
          <a:prstGeom prst="rect">
            <a:avLst/>
          </a:prstGeom>
          <a:noFill/>
          <a:ln>
            <a:solidFill>
              <a:srgbClr val="C00000"/>
            </a:solid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60" name="Rechthoek 59">
            <a:extLst>
              <a:ext uri="{FF2B5EF4-FFF2-40B4-BE49-F238E27FC236}">
                <a16:creationId xmlns:a16="http://schemas.microsoft.com/office/drawing/2014/main" id="{B43DD38C-A70C-9E9E-EA2D-DB1B644F627D}"/>
              </a:ext>
            </a:extLst>
          </p:cNvPr>
          <p:cNvSpPr/>
          <p:nvPr/>
        </p:nvSpPr>
        <p:spPr bwMode="auto">
          <a:xfrm>
            <a:off x="528182" y="3824197"/>
            <a:ext cx="6767514" cy="1286939"/>
          </a:xfrm>
          <a:prstGeom prst="rect">
            <a:avLst/>
          </a:prstGeom>
          <a:noFill/>
          <a:ln>
            <a:solidFill>
              <a:srgbClr val="C00000"/>
            </a:solidFill>
          </a:ln>
          <a:extLst>
            <a:ext uri="{91240B29-F687-4f45-9708-019B960494DF}">
              <a14:hiddenLine xmlns:a14="http://schemas.microsoft.com/office/drawing/2010/main" xmlns=""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6" name="Tekstvak 5">
            <a:extLst>
              <a:ext uri="{FF2B5EF4-FFF2-40B4-BE49-F238E27FC236}">
                <a16:creationId xmlns:a16="http://schemas.microsoft.com/office/drawing/2014/main" id="{D79E5E16-4EF5-1C68-2A27-92D1A5C63EB9}"/>
              </a:ext>
            </a:extLst>
          </p:cNvPr>
          <p:cNvSpPr txBox="1"/>
          <p:nvPr/>
        </p:nvSpPr>
        <p:spPr>
          <a:xfrm>
            <a:off x="7715026" y="2034102"/>
            <a:ext cx="4080100" cy="2246769"/>
          </a:xfrm>
          <a:prstGeom prst="rect">
            <a:avLst/>
          </a:prstGeom>
          <a:solidFill>
            <a:schemeClr val="bg1"/>
          </a:solidFill>
        </p:spPr>
        <p:txBody>
          <a:bodyPr wrap="square">
            <a:spAutoFit/>
          </a:bodyPr>
          <a:lstStyle/>
          <a:p>
            <a:r>
              <a:rPr lang="en-US" sz="1400" dirty="0"/>
              <a:t>“For two groups, bird sound richness (species richness) was manipulated through the placement of speakers (Ferraro et al.,2020). Two groups were manipulated by raising awareness and asking participants to “please pay attention to the beautiful bird calls”. The control groups were not subject to either form of manipulation. For an additional negative control, participants wore noise-cancelling headphones (Philips TAPH805)”.</a:t>
            </a:r>
            <a:endParaRPr lang="nl-BE" sz="1400" dirty="0"/>
          </a:p>
        </p:txBody>
      </p:sp>
      <p:pic>
        <p:nvPicPr>
          <p:cNvPr id="10" name="Afbeelding 9" descr="Afbeelding met tekst, schermopname, Lettertype, nummer&#10;&#10;Door AI gegenereerde inhoud is mogelijk onjuist.">
            <a:extLst>
              <a:ext uri="{FF2B5EF4-FFF2-40B4-BE49-F238E27FC236}">
                <a16:creationId xmlns:a16="http://schemas.microsoft.com/office/drawing/2014/main" id="{A598F813-D9A4-95BE-919E-647AAB6360AB}"/>
              </a:ext>
            </a:extLst>
          </p:cNvPr>
          <p:cNvPicPr>
            <a:picLocks noChangeAspect="1"/>
          </p:cNvPicPr>
          <p:nvPr/>
        </p:nvPicPr>
        <p:blipFill>
          <a:blip r:embed="rId7"/>
          <a:stretch>
            <a:fillRect/>
          </a:stretch>
        </p:blipFill>
        <p:spPr>
          <a:xfrm>
            <a:off x="7715712" y="4439627"/>
            <a:ext cx="4012958" cy="1638905"/>
          </a:xfrm>
          <a:prstGeom prst="rect">
            <a:avLst/>
          </a:prstGeom>
        </p:spPr>
      </p:pic>
    </p:spTree>
    <p:extLst>
      <p:ext uri="{BB962C8B-B14F-4D97-AF65-F5344CB8AC3E}">
        <p14:creationId xmlns:p14="http://schemas.microsoft.com/office/powerpoint/2010/main" val="104006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A4608-F4CE-9E59-771F-E21A4C8142C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0D4BEE9-2D52-10B5-3A49-2EF1A5FE486B}"/>
              </a:ext>
            </a:extLst>
          </p:cNvPr>
          <p:cNvSpPr>
            <a:spLocks noGrp="1"/>
          </p:cNvSpPr>
          <p:nvPr>
            <p:ph type="title"/>
          </p:nvPr>
        </p:nvSpPr>
        <p:spPr/>
        <p:txBody>
          <a:bodyPr/>
          <a:lstStyle/>
          <a:p>
            <a:r>
              <a:rPr lang="nl-BE" dirty="0"/>
              <a:t>ANOVA in de actualiteit?</a:t>
            </a:r>
          </a:p>
        </p:txBody>
      </p:sp>
      <p:sp>
        <p:nvSpPr>
          <p:cNvPr id="3" name="Tijdelijke aanduiding voor dianummer 2">
            <a:extLst>
              <a:ext uri="{FF2B5EF4-FFF2-40B4-BE49-F238E27FC236}">
                <a16:creationId xmlns:a16="http://schemas.microsoft.com/office/drawing/2014/main" id="{BF677738-0F63-23F4-D287-F49B5160F4D8}"/>
              </a:ext>
            </a:extLst>
          </p:cNvPr>
          <p:cNvSpPr>
            <a:spLocks noGrp="1"/>
          </p:cNvSpPr>
          <p:nvPr>
            <p:ph type="sldNum" sz="quarter" idx="10"/>
          </p:nvPr>
        </p:nvSpPr>
        <p:spPr/>
        <p:txBody>
          <a:bodyPr/>
          <a:lstStyle/>
          <a:p>
            <a:fld id="{E038E271-308C-2E46-A3EC-56326F9084CC}" type="slidenum">
              <a:rPr lang="nl-BE" smtClean="0"/>
              <a:pPr/>
              <a:t>31</a:t>
            </a:fld>
            <a:endParaRPr lang="nl-BE" dirty="0"/>
          </a:p>
        </p:txBody>
      </p:sp>
      <p:sp>
        <p:nvSpPr>
          <p:cNvPr id="4" name="Tijdelijke aanduiding voor inhoud 3">
            <a:extLst>
              <a:ext uri="{FF2B5EF4-FFF2-40B4-BE49-F238E27FC236}">
                <a16:creationId xmlns:a16="http://schemas.microsoft.com/office/drawing/2014/main" id="{77C627D5-680C-21B4-A190-A80145C96611}"/>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pic>
        <p:nvPicPr>
          <p:cNvPr id="39" name="Afbeelding 38" descr="Afbeelding met logo, Lettertype, Graphics, symbool&#10;&#10;Door AI gegenereerde inhoud is mogelijk onjuist.">
            <a:extLst>
              <a:ext uri="{FF2B5EF4-FFF2-40B4-BE49-F238E27FC236}">
                <a16:creationId xmlns:a16="http://schemas.microsoft.com/office/drawing/2014/main" id="{BF8DBBC6-9028-D7B0-5BDD-FB554CD792EE}"/>
              </a:ext>
            </a:extLst>
          </p:cNvPr>
          <p:cNvPicPr>
            <a:picLocks noChangeAspect="1"/>
          </p:cNvPicPr>
          <p:nvPr/>
        </p:nvPicPr>
        <p:blipFill>
          <a:blip r:embed="rId3"/>
          <a:stretch>
            <a:fillRect/>
          </a:stretch>
        </p:blipFill>
        <p:spPr>
          <a:xfrm>
            <a:off x="9017808" y="114961"/>
            <a:ext cx="2887573" cy="1132626"/>
          </a:xfrm>
          <a:prstGeom prst="rect">
            <a:avLst/>
          </a:prstGeom>
        </p:spPr>
      </p:pic>
      <p:sp>
        <p:nvSpPr>
          <p:cNvPr id="49" name="Tekstvak 48">
            <a:extLst>
              <a:ext uri="{FF2B5EF4-FFF2-40B4-BE49-F238E27FC236}">
                <a16:creationId xmlns:a16="http://schemas.microsoft.com/office/drawing/2014/main" id="{B3152657-3156-5C43-9ED4-2D202ECC930A}"/>
              </a:ext>
            </a:extLst>
          </p:cNvPr>
          <p:cNvSpPr txBox="1"/>
          <p:nvPr/>
        </p:nvSpPr>
        <p:spPr>
          <a:xfrm>
            <a:off x="515029" y="1654629"/>
            <a:ext cx="6767514" cy="1200329"/>
          </a:xfrm>
          <a:prstGeom prst="rect">
            <a:avLst/>
          </a:prstGeom>
          <a:noFill/>
        </p:spPr>
        <p:txBody>
          <a:bodyPr wrap="square">
            <a:spAutoFit/>
          </a:bodyPr>
          <a:lstStyle/>
          <a:p>
            <a:r>
              <a:rPr lang="en-US" dirty="0"/>
              <a:t>“To see the effects of the experimental manipulation, we did an </a:t>
            </a:r>
            <a:r>
              <a:rPr lang="en-US" b="1" dirty="0">
                <a:solidFill>
                  <a:srgbClr val="C00000"/>
                </a:solidFill>
              </a:rPr>
              <a:t>ANOVA</a:t>
            </a:r>
            <a:r>
              <a:rPr lang="en-US" dirty="0"/>
              <a:t> to compare the experimental groups with each other. The significant results were further </a:t>
            </a:r>
            <a:r>
              <a:rPr lang="en-US" dirty="0" err="1"/>
              <a:t>analysed</a:t>
            </a:r>
            <a:r>
              <a:rPr lang="en-US" dirty="0"/>
              <a:t> with a </a:t>
            </a:r>
            <a:r>
              <a:rPr lang="en-US" b="1" dirty="0" err="1">
                <a:solidFill>
                  <a:srgbClr val="C00000"/>
                </a:solidFill>
              </a:rPr>
              <a:t>Tukeýs</a:t>
            </a:r>
            <a:r>
              <a:rPr lang="en-US" b="1" dirty="0">
                <a:solidFill>
                  <a:srgbClr val="C00000"/>
                </a:solidFill>
              </a:rPr>
              <a:t> HSD </a:t>
            </a:r>
            <a:r>
              <a:rPr lang="en-US" b="1" dirty="0" err="1">
                <a:solidFill>
                  <a:srgbClr val="C00000"/>
                </a:solidFill>
              </a:rPr>
              <a:t>posthoc</a:t>
            </a:r>
            <a:r>
              <a:rPr lang="en-US" b="1" dirty="0">
                <a:solidFill>
                  <a:srgbClr val="C00000"/>
                </a:solidFill>
              </a:rPr>
              <a:t> test</a:t>
            </a:r>
            <a:r>
              <a:rPr lang="en-US" dirty="0"/>
              <a:t>.</a:t>
            </a:r>
            <a:endParaRPr lang="nl-BE" dirty="0"/>
          </a:p>
        </p:txBody>
      </p:sp>
      <p:sp>
        <p:nvSpPr>
          <p:cNvPr id="60" name="Rechthoek 59">
            <a:extLst>
              <a:ext uri="{FF2B5EF4-FFF2-40B4-BE49-F238E27FC236}">
                <a16:creationId xmlns:a16="http://schemas.microsoft.com/office/drawing/2014/main" id="{608ACACD-76AC-7318-267F-70A0F64F284E}"/>
              </a:ext>
            </a:extLst>
          </p:cNvPr>
          <p:cNvSpPr/>
          <p:nvPr/>
        </p:nvSpPr>
        <p:spPr bwMode="auto">
          <a:xfrm>
            <a:off x="515029" y="1589467"/>
            <a:ext cx="6767514" cy="1330652"/>
          </a:xfrm>
          <a:prstGeom prst="rect">
            <a:avLst/>
          </a:prstGeom>
          <a:noFill/>
          <a:ln>
            <a:solidFill>
              <a:srgbClr val="C00000"/>
            </a:solidFill>
          </a:ln>
          <a:extLst>
            <a:ext uri="{91240B29-F687-4f45-9708-019B960494DF}">
              <a14:hiddenLine xmlns="" xmlns:a14="http://schemas.microsoft.com/office/drawing/2010/main" w="9525">
                <a:solidFill>
                  <a:srgbClr val="000000"/>
                </a:solidFill>
                <a:miter lim="800000"/>
                <a:headEnd/>
                <a:tailEnd/>
              </a14:hiddenLine>
            </a:ext>
          </a:extLst>
        </p:spPr>
        <p:style>
          <a:lnRef idx="2">
            <a:schemeClr val="accent2"/>
          </a:lnRef>
          <a:fillRef idx="1">
            <a:schemeClr val="lt1"/>
          </a:fillRef>
          <a:effectRef idx="0">
            <a:schemeClr val="accent2"/>
          </a:effectRef>
          <a:fontRef idx="minor">
            <a:schemeClr val="dk1"/>
          </a:fontRef>
        </p:style>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7" name="Tekstvak 6">
            <a:extLst>
              <a:ext uri="{FF2B5EF4-FFF2-40B4-BE49-F238E27FC236}">
                <a16:creationId xmlns:a16="http://schemas.microsoft.com/office/drawing/2014/main" id="{A2C10E3A-B2DF-0E54-0264-FA16BA3A0EC8}"/>
              </a:ext>
            </a:extLst>
          </p:cNvPr>
          <p:cNvSpPr txBox="1"/>
          <p:nvPr/>
        </p:nvSpPr>
        <p:spPr>
          <a:xfrm>
            <a:off x="424543" y="3072166"/>
            <a:ext cx="6096000" cy="646331"/>
          </a:xfrm>
          <a:prstGeom prst="rect">
            <a:avLst/>
          </a:prstGeom>
          <a:noFill/>
        </p:spPr>
        <p:txBody>
          <a:bodyPr wrap="square">
            <a:spAutoFit/>
          </a:bodyPr>
          <a:lstStyle/>
          <a:p>
            <a:r>
              <a:rPr lang="en-US" dirty="0"/>
              <a:t>According to </a:t>
            </a:r>
            <a:r>
              <a:rPr lang="en-US" b="1" dirty="0"/>
              <a:t>ANOVA</a:t>
            </a:r>
            <a:r>
              <a:rPr lang="en-US" dirty="0"/>
              <a:t>, there was no difference in mental well-being due to enhanced bird song</a:t>
            </a:r>
            <a:endParaRPr lang="nl-BE" dirty="0"/>
          </a:p>
        </p:txBody>
      </p:sp>
      <p:sp>
        <p:nvSpPr>
          <p:cNvPr id="9" name="Tekstvak 8">
            <a:extLst>
              <a:ext uri="{FF2B5EF4-FFF2-40B4-BE49-F238E27FC236}">
                <a16:creationId xmlns:a16="http://schemas.microsoft.com/office/drawing/2014/main" id="{F75F9104-8AD4-27D6-C41C-9DEF00F7B129}"/>
              </a:ext>
            </a:extLst>
          </p:cNvPr>
          <p:cNvSpPr txBox="1"/>
          <p:nvPr/>
        </p:nvSpPr>
        <p:spPr>
          <a:xfrm>
            <a:off x="424542" y="3805747"/>
            <a:ext cx="6096000" cy="646331"/>
          </a:xfrm>
          <a:prstGeom prst="rect">
            <a:avLst/>
          </a:prstGeom>
          <a:noFill/>
        </p:spPr>
        <p:txBody>
          <a:bodyPr wrap="square">
            <a:spAutoFit/>
          </a:bodyPr>
          <a:lstStyle/>
          <a:p>
            <a:r>
              <a:rPr lang="en-US" dirty="0"/>
              <a:t>The </a:t>
            </a:r>
            <a:r>
              <a:rPr lang="en-US" b="1" dirty="0"/>
              <a:t>ANOVA</a:t>
            </a:r>
            <a:r>
              <a:rPr lang="en-US" dirty="0"/>
              <a:t> also showed no difference in physiological stress markers due to enhanced bird song</a:t>
            </a:r>
            <a:endParaRPr lang="nl-BE" dirty="0"/>
          </a:p>
        </p:txBody>
      </p:sp>
      <p:sp>
        <p:nvSpPr>
          <p:cNvPr id="12" name="Tekstvak 11">
            <a:extLst>
              <a:ext uri="{FF2B5EF4-FFF2-40B4-BE49-F238E27FC236}">
                <a16:creationId xmlns:a16="http://schemas.microsoft.com/office/drawing/2014/main" id="{FA40847E-1A26-894B-15D4-D1F4D05AD964}"/>
              </a:ext>
            </a:extLst>
          </p:cNvPr>
          <p:cNvSpPr txBox="1"/>
          <p:nvPr/>
        </p:nvSpPr>
        <p:spPr>
          <a:xfrm>
            <a:off x="424544" y="4553963"/>
            <a:ext cx="6858000" cy="2031325"/>
          </a:xfrm>
          <a:prstGeom prst="rect">
            <a:avLst/>
          </a:prstGeom>
          <a:solidFill>
            <a:schemeClr val="bg1"/>
          </a:solidFill>
        </p:spPr>
        <p:txBody>
          <a:bodyPr wrap="square">
            <a:spAutoFit/>
          </a:bodyPr>
          <a:lstStyle/>
          <a:p>
            <a:r>
              <a:rPr lang="en-US" dirty="0"/>
              <a:t>Looking at differences between the 5 experimental groups, there was a significant difference in nature experience. A </a:t>
            </a:r>
            <a:r>
              <a:rPr lang="en-US" b="1" dirty="0"/>
              <a:t>Tukey´s HSD post hoc test </a:t>
            </a:r>
            <a:r>
              <a:rPr lang="en-US" dirty="0"/>
              <a:t>showed a significant difference between G1 (raised awareness, normal bird sounds) and Control (C; p=0.001) as well as G1 and negative Control (NC; p=0.031) regarding situational nature experience. G1 had a more positive situational experience of nature than the two control groups.</a:t>
            </a:r>
            <a:endParaRPr lang="nl-BE" dirty="0"/>
          </a:p>
        </p:txBody>
      </p:sp>
      <p:pic>
        <p:nvPicPr>
          <p:cNvPr id="14" name="Afbeelding 13" descr="Afbeelding met tekst, schermopname, nummer, Lettertype&#10;&#10;Door AI gegenereerde inhoud is mogelijk onjuist.">
            <a:extLst>
              <a:ext uri="{FF2B5EF4-FFF2-40B4-BE49-F238E27FC236}">
                <a16:creationId xmlns:a16="http://schemas.microsoft.com/office/drawing/2014/main" id="{EC105AB5-A6BB-3910-D31D-1F40566B1763}"/>
              </a:ext>
            </a:extLst>
          </p:cNvPr>
          <p:cNvPicPr>
            <a:picLocks noChangeAspect="1"/>
          </p:cNvPicPr>
          <p:nvPr/>
        </p:nvPicPr>
        <p:blipFill>
          <a:blip r:embed="rId4"/>
          <a:srcRect b="75704"/>
          <a:stretch>
            <a:fillRect/>
          </a:stretch>
        </p:blipFill>
        <p:spPr>
          <a:xfrm>
            <a:off x="7391401" y="1589467"/>
            <a:ext cx="4667490" cy="1001333"/>
          </a:xfrm>
          <a:prstGeom prst="rect">
            <a:avLst/>
          </a:prstGeom>
        </p:spPr>
      </p:pic>
      <p:pic>
        <p:nvPicPr>
          <p:cNvPr id="15" name="Afbeelding 14" descr="Afbeelding met tekst, schermopname, nummer, Lettertype&#10;&#10;Door AI gegenereerde inhoud is mogelijk onjuist.">
            <a:extLst>
              <a:ext uri="{FF2B5EF4-FFF2-40B4-BE49-F238E27FC236}">
                <a16:creationId xmlns:a16="http://schemas.microsoft.com/office/drawing/2014/main" id="{120BA5D7-D72D-D4F7-C60B-ED7CB6E00834}"/>
              </a:ext>
            </a:extLst>
          </p:cNvPr>
          <p:cNvPicPr>
            <a:picLocks noChangeAspect="1"/>
          </p:cNvPicPr>
          <p:nvPr/>
        </p:nvPicPr>
        <p:blipFill>
          <a:blip r:embed="rId4"/>
          <a:srcRect t="84320"/>
          <a:stretch>
            <a:fillRect/>
          </a:stretch>
        </p:blipFill>
        <p:spPr>
          <a:xfrm>
            <a:off x="7282544" y="2640471"/>
            <a:ext cx="4667490" cy="646222"/>
          </a:xfrm>
          <a:prstGeom prst="rect">
            <a:avLst/>
          </a:prstGeom>
        </p:spPr>
      </p:pic>
    </p:spTree>
    <p:extLst>
      <p:ext uri="{BB962C8B-B14F-4D97-AF65-F5344CB8AC3E}">
        <p14:creationId xmlns:p14="http://schemas.microsoft.com/office/powerpoint/2010/main" val="34449013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0EB97-1D8F-8441-CD12-924C0C97FC4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83E9AAA-23C3-F4B1-3EAD-C05558CD390F}"/>
              </a:ext>
            </a:extLst>
          </p:cNvPr>
          <p:cNvSpPr>
            <a:spLocks noGrp="1"/>
          </p:cNvSpPr>
          <p:nvPr>
            <p:ph type="title"/>
          </p:nvPr>
        </p:nvSpPr>
        <p:spPr/>
        <p:txBody>
          <a:bodyPr/>
          <a:lstStyle/>
          <a:p>
            <a:r>
              <a:rPr lang="nl-BE" dirty="0"/>
              <a:t>ANOVA in de actualiteit?</a:t>
            </a:r>
          </a:p>
        </p:txBody>
      </p:sp>
      <p:sp>
        <p:nvSpPr>
          <p:cNvPr id="3" name="Tijdelijke aanduiding voor dianummer 2">
            <a:extLst>
              <a:ext uri="{FF2B5EF4-FFF2-40B4-BE49-F238E27FC236}">
                <a16:creationId xmlns:a16="http://schemas.microsoft.com/office/drawing/2014/main" id="{7EBD6EFB-8D27-A4B8-89A4-A5E4C31DA9C8}"/>
              </a:ext>
            </a:extLst>
          </p:cNvPr>
          <p:cNvSpPr>
            <a:spLocks noGrp="1"/>
          </p:cNvSpPr>
          <p:nvPr>
            <p:ph type="sldNum" sz="quarter" idx="10"/>
          </p:nvPr>
        </p:nvSpPr>
        <p:spPr/>
        <p:txBody>
          <a:bodyPr/>
          <a:lstStyle/>
          <a:p>
            <a:fld id="{E038E271-308C-2E46-A3EC-56326F9084CC}" type="slidenum">
              <a:rPr lang="nl-BE" smtClean="0"/>
              <a:pPr/>
              <a:t>32</a:t>
            </a:fld>
            <a:endParaRPr lang="nl-BE" dirty="0"/>
          </a:p>
        </p:txBody>
      </p:sp>
      <p:sp>
        <p:nvSpPr>
          <p:cNvPr id="4" name="Tijdelijke aanduiding voor inhoud 3">
            <a:extLst>
              <a:ext uri="{FF2B5EF4-FFF2-40B4-BE49-F238E27FC236}">
                <a16:creationId xmlns:a16="http://schemas.microsoft.com/office/drawing/2014/main" id="{179349E2-B179-AFB9-A4A6-D7266BADFB3E}"/>
              </a:ext>
            </a:extLst>
          </p:cNvPr>
          <p:cNvSpPr>
            <a:spLocks noGrp="1"/>
          </p:cNvSpPr>
          <p:nvPr>
            <p:ph idx="1"/>
          </p:nvPr>
        </p:nvSpPr>
        <p:spPr/>
        <p:txBody>
          <a:bodyPr wrap="square"/>
          <a:lstStyle/>
          <a:p>
            <a:endParaRPr lang="nl-BE" dirty="0">
              <a:latin typeface="+mn-lt"/>
              <a:ea typeface="MS PGothic" charset="0"/>
            </a:endParaRPr>
          </a:p>
          <a:p>
            <a:endParaRPr lang="nl-BE" dirty="0"/>
          </a:p>
          <a:p>
            <a:pPr marL="0" indent="0">
              <a:buNone/>
            </a:pPr>
            <a:endParaRPr lang="nl-BE" dirty="0"/>
          </a:p>
          <a:p>
            <a:endParaRPr lang="nl-BE" dirty="0"/>
          </a:p>
        </p:txBody>
      </p:sp>
      <p:pic>
        <p:nvPicPr>
          <p:cNvPr id="39" name="Afbeelding 38" descr="Afbeelding met logo, Lettertype, Graphics, symbool&#10;&#10;Door AI gegenereerde inhoud is mogelijk onjuist.">
            <a:extLst>
              <a:ext uri="{FF2B5EF4-FFF2-40B4-BE49-F238E27FC236}">
                <a16:creationId xmlns:a16="http://schemas.microsoft.com/office/drawing/2014/main" id="{986C3FD8-DE94-641F-3B42-E8E1D8DB89B5}"/>
              </a:ext>
            </a:extLst>
          </p:cNvPr>
          <p:cNvPicPr>
            <a:picLocks noChangeAspect="1"/>
          </p:cNvPicPr>
          <p:nvPr/>
        </p:nvPicPr>
        <p:blipFill>
          <a:blip r:embed="rId3"/>
          <a:stretch>
            <a:fillRect/>
          </a:stretch>
        </p:blipFill>
        <p:spPr>
          <a:xfrm>
            <a:off x="9017808" y="114961"/>
            <a:ext cx="2887573" cy="1132626"/>
          </a:xfrm>
          <a:prstGeom prst="rect">
            <a:avLst/>
          </a:prstGeom>
        </p:spPr>
      </p:pic>
      <p:sp>
        <p:nvSpPr>
          <p:cNvPr id="17" name="Tekstvak 16">
            <a:extLst>
              <a:ext uri="{FF2B5EF4-FFF2-40B4-BE49-F238E27FC236}">
                <a16:creationId xmlns:a16="http://schemas.microsoft.com/office/drawing/2014/main" id="{B7825D18-A435-6264-9955-A13FC325F9BC}"/>
              </a:ext>
            </a:extLst>
          </p:cNvPr>
          <p:cNvSpPr txBox="1"/>
          <p:nvPr/>
        </p:nvSpPr>
        <p:spPr>
          <a:xfrm>
            <a:off x="516066" y="1753339"/>
            <a:ext cx="10772420" cy="2862322"/>
          </a:xfrm>
          <a:prstGeom prst="rect">
            <a:avLst/>
          </a:prstGeom>
          <a:noFill/>
        </p:spPr>
        <p:txBody>
          <a:bodyPr wrap="square">
            <a:spAutoFit/>
          </a:bodyPr>
          <a:lstStyle/>
          <a:p>
            <a:r>
              <a:rPr lang="nl-BE" sz="2000" dirty="0"/>
              <a:t>Aandachtig luisteren naar vogelgezang tijdens een natuurwandeling verlaagt stress en versterkt het positieve effect van de wandeling, blijkt uit een Duits experiment in de botanische tuin van de Universiteit van Tübingen.</a:t>
            </a:r>
          </a:p>
          <a:p>
            <a:endParaRPr lang="nl-BE" sz="2000" dirty="0"/>
          </a:p>
          <a:p>
            <a:r>
              <a:rPr lang="nl-BE" sz="2000" dirty="0"/>
              <a:t>Extra diversiteit in vogelgeluiden levert geen bijkomend voordeel op: "De diversiteit van de vogels in zo'n botanische tuin is meer dan voldoende om het voordeel te krijgen”</a:t>
            </a:r>
          </a:p>
          <a:p>
            <a:endParaRPr lang="nl-BE" sz="2000" dirty="0"/>
          </a:p>
          <a:p>
            <a:r>
              <a:rPr lang="nl-BE" sz="2000" dirty="0"/>
              <a:t>Deelnemers die naar vogelgezang luisterden, voelden zich beter, hadden een lagere bloeddruk en hun stresshormoon daalde gemiddeld met bijna 33 procent.</a:t>
            </a:r>
          </a:p>
        </p:txBody>
      </p:sp>
    </p:spTree>
    <p:extLst>
      <p:ext uri="{BB962C8B-B14F-4D97-AF65-F5344CB8AC3E}">
        <p14:creationId xmlns:p14="http://schemas.microsoft.com/office/powerpoint/2010/main" val="33051484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33</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lstStyle/>
          <a:p>
            <a:r>
              <a:rPr lang="nl-BE" dirty="0"/>
              <a:t>Kruistabel</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endParaRPr lang="nl-BE" dirty="0"/>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3"/>
          <a:srcRect t="-174578" b="-174578"/>
          <a:stretch/>
        </p:blipFill>
        <p:spPr>
          <a:xfrm>
            <a:off x="623889" y="620713"/>
            <a:ext cx="5145732" cy="5616575"/>
          </a:xfrm>
        </p:spPr>
      </p:pic>
    </p:spTree>
    <p:extLst>
      <p:ext uri="{BB962C8B-B14F-4D97-AF65-F5344CB8AC3E}">
        <p14:creationId xmlns:p14="http://schemas.microsoft.com/office/powerpoint/2010/main" val="689296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jdelijke aanduiding voor dianummer 2">
            <a:extLst>
              <a:ext uri="{FF2B5EF4-FFF2-40B4-BE49-F238E27FC236}">
                <a16:creationId xmlns:a16="http://schemas.microsoft.com/office/drawing/2014/main" id="{69B13793-9192-464F-BC6D-C6C025837EF5}"/>
              </a:ext>
            </a:extLst>
          </p:cNvPr>
          <p:cNvSpPr>
            <a:spLocks noGrp="1"/>
          </p:cNvSpPr>
          <p:nvPr>
            <p:ph type="sldNum" sz="quarter" idx="10"/>
          </p:nvPr>
        </p:nvSpPr>
        <p:spPr/>
        <p:txBody>
          <a:bodyPr/>
          <a:lstStyle/>
          <a:p>
            <a:fld id="{E038E271-308C-2E46-A3EC-56326F9084CC}" type="slidenum">
              <a:rPr lang="nl-BE" smtClean="0"/>
              <a:pPr/>
              <a:t>34</a:t>
            </a:fld>
            <a:endParaRPr lang="nl-BE" dirty="0"/>
          </a:p>
        </p:txBody>
      </p:sp>
      <p:sp>
        <p:nvSpPr>
          <p:cNvPr id="10" name="Tijdelijke aanduiding voor inhoud 9">
            <a:extLst>
              <a:ext uri="{FF2B5EF4-FFF2-40B4-BE49-F238E27FC236}">
                <a16:creationId xmlns:a16="http://schemas.microsoft.com/office/drawing/2014/main" id="{BBB4E847-CA46-4B43-8402-9585CBA53991}"/>
              </a:ext>
            </a:extLst>
          </p:cNvPr>
          <p:cNvSpPr>
            <a:spLocks noGrp="1"/>
          </p:cNvSpPr>
          <p:nvPr>
            <p:ph sz="quarter" idx="16"/>
          </p:nvPr>
        </p:nvSpPr>
        <p:spPr>
          <a:xfrm>
            <a:off x="7495578" y="4161695"/>
            <a:ext cx="3444601" cy="2053040"/>
          </a:xfrm>
        </p:spPr>
        <p:txBody>
          <a:bodyPr/>
          <a:lstStyle/>
          <a:p>
            <a:r>
              <a:rPr lang="nl-BE" b="1" dirty="0"/>
              <a:t>HANGT BEDRIJFSGROOTTE SAMEN MET DE WAARDERING VAN WERKNEMERS?</a:t>
            </a:r>
          </a:p>
          <a:p>
            <a:endParaRPr lang="nl-BE" b="1" dirty="0"/>
          </a:p>
          <a:p>
            <a:r>
              <a:rPr lang="nl-BE" dirty="0"/>
              <a:t>Voor 2000 bedrijven wordt enerzijds de grootte genoteerd (klein, midden, groot) en anderzijds de waardering van werknemers (weinig , gemiddeld, hoog)</a:t>
            </a:r>
          </a:p>
        </p:txBody>
      </p:sp>
      <p:sp>
        <p:nvSpPr>
          <p:cNvPr id="12" name="Tijdelijke aanduiding voor tekst 11">
            <a:extLst>
              <a:ext uri="{FF2B5EF4-FFF2-40B4-BE49-F238E27FC236}">
                <a16:creationId xmlns:a16="http://schemas.microsoft.com/office/drawing/2014/main" id="{9E2AE1A1-8EE5-3B4B-98B1-256E6D5F6E25}"/>
              </a:ext>
            </a:extLst>
          </p:cNvPr>
          <p:cNvSpPr>
            <a:spLocks noGrp="1"/>
          </p:cNvSpPr>
          <p:nvPr>
            <p:ph type="body" sz="quarter" idx="20"/>
          </p:nvPr>
        </p:nvSpPr>
        <p:spPr>
          <a:xfrm>
            <a:off x="7483776" y="3525088"/>
            <a:ext cx="3457018" cy="522288"/>
          </a:xfrm>
        </p:spPr>
        <p:txBody>
          <a:bodyPr/>
          <a:lstStyle/>
          <a:p>
            <a:pPr algn="ctr"/>
            <a:r>
              <a:rPr lang="nl-BE" dirty="0"/>
              <a:t>Voorbeeld 2</a:t>
            </a:r>
          </a:p>
        </p:txBody>
      </p:sp>
      <p:sp>
        <p:nvSpPr>
          <p:cNvPr id="14" name="Tijdelijke aanduiding voor tekst 13">
            <a:extLst>
              <a:ext uri="{FF2B5EF4-FFF2-40B4-BE49-F238E27FC236}">
                <a16:creationId xmlns:a16="http://schemas.microsoft.com/office/drawing/2014/main" id="{646A9F58-7D11-7F4C-BE7B-0B5977E9C0AD}"/>
              </a:ext>
            </a:extLst>
          </p:cNvPr>
          <p:cNvSpPr>
            <a:spLocks noGrp="1"/>
          </p:cNvSpPr>
          <p:nvPr>
            <p:ph type="body" sz="quarter" idx="22"/>
          </p:nvPr>
        </p:nvSpPr>
        <p:spPr/>
        <p:txBody>
          <a:bodyPr/>
          <a:lstStyle/>
          <a:p>
            <a:pPr algn="ctr"/>
            <a:r>
              <a:rPr lang="nl-BE" dirty="0"/>
              <a:t>Voorbeeld 1</a:t>
            </a:r>
          </a:p>
        </p:txBody>
      </p:sp>
      <p:pic>
        <p:nvPicPr>
          <p:cNvPr id="18" name="Tijdelijke aanduiding voor afbeelding 17">
            <a:extLst>
              <a:ext uri="{FF2B5EF4-FFF2-40B4-BE49-F238E27FC236}">
                <a16:creationId xmlns:a16="http://schemas.microsoft.com/office/drawing/2014/main" id="{81C034DB-A01C-8842-935E-B04FBAADFC51}"/>
              </a:ext>
            </a:extLst>
          </p:cNvPr>
          <p:cNvPicPr>
            <a:picLocks noGrp="1" noChangeAspect="1"/>
          </p:cNvPicPr>
          <p:nvPr>
            <p:ph type="pic" sz="quarter" idx="12"/>
          </p:nvPr>
        </p:nvPicPr>
        <p:blipFill rotWithShape="1">
          <a:blip r:embed="rId3"/>
          <a:srcRect l="-3511" r="-3511"/>
          <a:stretch/>
        </p:blipFill>
        <p:spPr>
          <a:xfrm>
            <a:off x="632723" y="643266"/>
            <a:ext cx="3447151" cy="2447925"/>
          </a:xfrm>
        </p:spPr>
      </p:pic>
      <p:pic>
        <p:nvPicPr>
          <p:cNvPr id="22" name="Tijdelijke aanduiding voor afbeelding 21">
            <a:extLst>
              <a:ext uri="{FF2B5EF4-FFF2-40B4-BE49-F238E27FC236}">
                <a16:creationId xmlns:a16="http://schemas.microsoft.com/office/drawing/2014/main" id="{EB270A86-CDD1-F945-A9D7-C00BD978FEBE}"/>
              </a:ext>
            </a:extLst>
          </p:cNvPr>
          <p:cNvPicPr>
            <a:picLocks noGrp="1" noChangeAspect="1"/>
          </p:cNvPicPr>
          <p:nvPr>
            <p:ph type="pic" sz="quarter" idx="23"/>
          </p:nvPr>
        </p:nvPicPr>
        <p:blipFill rotWithShape="1">
          <a:blip r:embed="rId4"/>
          <a:srcRect t="-31825" b="-31825"/>
          <a:stretch/>
        </p:blipFill>
        <p:spPr>
          <a:xfrm>
            <a:off x="7497763" y="620713"/>
            <a:ext cx="3446462" cy="2447925"/>
          </a:xfrm>
        </p:spPr>
      </p:pic>
      <p:sp>
        <p:nvSpPr>
          <p:cNvPr id="19" name="Tijdelijke aanduiding voor inhoud 18">
            <a:extLst>
              <a:ext uri="{FF2B5EF4-FFF2-40B4-BE49-F238E27FC236}">
                <a16:creationId xmlns:a16="http://schemas.microsoft.com/office/drawing/2014/main" id="{CD8C8B69-1605-1B43-9B6A-F831E25AAF3B}"/>
              </a:ext>
            </a:extLst>
          </p:cNvPr>
          <p:cNvSpPr>
            <a:spLocks noGrp="1"/>
          </p:cNvSpPr>
          <p:nvPr>
            <p:ph sz="quarter" idx="11"/>
          </p:nvPr>
        </p:nvSpPr>
        <p:spPr/>
        <p:txBody>
          <a:bodyPr/>
          <a:lstStyle/>
          <a:p>
            <a:r>
              <a:rPr lang="nl-BE" b="1" dirty="0"/>
              <a:t>SAMENHANG ERVARING &amp; OPLOSSEN VAN MISDADEN MET LICHT GEWELD</a:t>
            </a:r>
          </a:p>
          <a:p>
            <a:endParaRPr lang="nl-BE" b="1" dirty="0"/>
          </a:p>
          <a:p>
            <a:r>
              <a:rPr lang="nl-BE" dirty="0"/>
              <a:t>Steekproef van 298 politierapporten waarin ervaring van agent (zonder of met) vermeld wordt en of de case al dan niet wordt opgelost</a:t>
            </a:r>
          </a:p>
          <a:p>
            <a:endParaRPr lang="nl-BE" dirty="0"/>
          </a:p>
        </p:txBody>
      </p:sp>
    </p:spTree>
    <p:extLst>
      <p:ext uri="{BB962C8B-B14F-4D97-AF65-F5344CB8AC3E}">
        <p14:creationId xmlns:p14="http://schemas.microsoft.com/office/powerpoint/2010/main" val="26614064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DA8F41-451C-FC40-9179-6377A8A78393}"/>
              </a:ext>
            </a:extLst>
          </p:cNvPr>
          <p:cNvSpPr>
            <a:spLocks noGrp="1"/>
          </p:cNvSpPr>
          <p:nvPr>
            <p:ph type="title"/>
          </p:nvPr>
        </p:nvSpPr>
        <p:spPr/>
        <p:txBody>
          <a:bodyPr/>
          <a:lstStyle/>
          <a:p>
            <a:r>
              <a:rPr lang="nl-BE" dirty="0"/>
              <a:t>‘Kruistabellenjargon’</a:t>
            </a:r>
          </a:p>
        </p:txBody>
      </p:sp>
      <p:sp>
        <p:nvSpPr>
          <p:cNvPr id="3" name="Tijdelijke aanduiding voor dianummer 2">
            <a:extLst>
              <a:ext uri="{FF2B5EF4-FFF2-40B4-BE49-F238E27FC236}">
                <a16:creationId xmlns:a16="http://schemas.microsoft.com/office/drawing/2014/main" id="{71C7604C-2E8C-9745-A880-7F79AA100787}"/>
              </a:ext>
            </a:extLst>
          </p:cNvPr>
          <p:cNvSpPr>
            <a:spLocks noGrp="1"/>
          </p:cNvSpPr>
          <p:nvPr>
            <p:ph type="sldNum" sz="quarter" idx="10"/>
          </p:nvPr>
        </p:nvSpPr>
        <p:spPr/>
        <p:txBody>
          <a:bodyPr/>
          <a:lstStyle/>
          <a:p>
            <a:fld id="{E038E271-308C-2E46-A3EC-56326F9084CC}" type="slidenum">
              <a:rPr lang="nl-BE" smtClean="0"/>
              <a:pPr/>
              <a:t>35</a:t>
            </a:fld>
            <a:endParaRPr lang="nl-BE" dirty="0"/>
          </a:p>
        </p:txBody>
      </p:sp>
      <p:sp>
        <p:nvSpPr>
          <p:cNvPr id="4" name="Tijdelijke aanduiding voor inhoud 3">
            <a:extLst>
              <a:ext uri="{FF2B5EF4-FFF2-40B4-BE49-F238E27FC236}">
                <a16:creationId xmlns:a16="http://schemas.microsoft.com/office/drawing/2014/main" id="{12BCB91F-3CCB-6E44-8FBF-4D95A3263473}"/>
              </a:ext>
            </a:extLst>
          </p:cNvPr>
          <p:cNvSpPr>
            <a:spLocks noGrp="1"/>
          </p:cNvSpPr>
          <p:nvPr>
            <p:ph idx="1"/>
          </p:nvPr>
        </p:nvSpPr>
        <p:spPr/>
        <p:txBody>
          <a:bodyPr/>
          <a:lstStyle/>
          <a:p>
            <a:endParaRPr lang="nl-BE" dirty="0"/>
          </a:p>
          <a:p>
            <a:endParaRPr lang="nl-BE" dirty="0"/>
          </a:p>
          <a:p>
            <a:pPr marL="361940" lvl="1" indent="0">
              <a:buNone/>
            </a:pPr>
            <a:endParaRPr lang="nl-BE" dirty="0"/>
          </a:p>
        </p:txBody>
      </p:sp>
      <p:pic>
        <p:nvPicPr>
          <p:cNvPr id="8" name="Afbeelding 7">
            <a:extLst>
              <a:ext uri="{FF2B5EF4-FFF2-40B4-BE49-F238E27FC236}">
                <a16:creationId xmlns:a16="http://schemas.microsoft.com/office/drawing/2014/main" id="{6CAA10FD-8C51-474C-A3DB-314287CE5785}"/>
              </a:ext>
            </a:extLst>
          </p:cNvPr>
          <p:cNvPicPr>
            <a:picLocks noChangeAspect="1"/>
          </p:cNvPicPr>
          <p:nvPr/>
        </p:nvPicPr>
        <p:blipFill rotWithShape="1">
          <a:blip r:embed="rId3"/>
          <a:srcRect t="24702" r="12006"/>
          <a:stretch/>
        </p:blipFill>
        <p:spPr>
          <a:xfrm>
            <a:off x="623887" y="1496568"/>
            <a:ext cx="9032177" cy="3401568"/>
          </a:xfrm>
          <a:prstGeom prst="rect">
            <a:avLst/>
          </a:prstGeom>
        </p:spPr>
      </p:pic>
      <p:sp>
        <p:nvSpPr>
          <p:cNvPr id="10" name="Ovaal 10">
            <a:extLst>
              <a:ext uri="{FF2B5EF4-FFF2-40B4-BE49-F238E27FC236}">
                <a16:creationId xmlns:a16="http://schemas.microsoft.com/office/drawing/2014/main" id="{D37174A3-C103-794A-90BC-4F754EB2CC4E}"/>
              </a:ext>
            </a:extLst>
          </p:cNvPr>
          <p:cNvSpPr>
            <a:spLocks noChangeArrowheads="1"/>
          </p:cNvSpPr>
          <p:nvPr/>
        </p:nvSpPr>
        <p:spPr bwMode="auto">
          <a:xfrm>
            <a:off x="5002738" y="3264791"/>
            <a:ext cx="704374" cy="368426"/>
          </a:xfrm>
          <a:prstGeom prst="ellipse">
            <a:avLst/>
          </a:prstGeom>
          <a:noFill/>
          <a:ln w="28575">
            <a:solidFill>
              <a:schemeClr val="accent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cxnSp>
        <p:nvCxnSpPr>
          <p:cNvPr id="11" name="Rechte verbindingslijn 12">
            <a:extLst>
              <a:ext uri="{FF2B5EF4-FFF2-40B4-BE49-F238E27FC236}">
                <a16:creationId xmlns:a16="http://schemas.microsoft.com/office/drawing/2014/main" id="{08886A95-D9FF-8B4E-9321-31E0982F4327}"/>
              </a:ext>
            </a:extLst>
          </p:cNvPr>
          <p:cNvCxnSpPr>
            <a:cxnSpLocks noChangeShapeType="1"/>
          </p:cNvCxnSpPr>
          <p:nvPr/>
        </p:nvCxnSpPr>
        <p:spPr bwMode="auto">
          <a:xfrm>
            <a:off x="5696323" y="3487818"/>
            <a:ext cx="2972189" cy="1410318"/>
          </a:xfrm>
          <a:prstGeom prst="line">
            <a:avLst/>
          </a:prstGeom>
          <a:noFill/>
          <a:ln w="28575">
            <a:solidFill>
              <a:schemeClr val="accent1"/>
            </a:solidFill>
            <a:round/>
            <a:headEnd/>
            <a:tailEnd/>
          </a:ln>
          <a:extLst>
            <a:ext uri="{909E8E84-426E-40dd-AFC4-6F175D3DCCD1}">
              <a14:hiddenFill xmlns:a14="http://schemas.microsoft.com/office/drawing/2010/main" xmlns="">
                <a:noFill/>
              </a14:hiddenFill>
            </a:ext>
          </a:extLst>
        </p:spPr>
      </p:cxnSp>
      <p:sp>
        <p:nvSpPr>
          <p:cNvPr id="12" name="Tekstvak 11">
            <a:extLst>
              <a:ext uri="{FF2B5EF4-FFF2-40B4-BE49-F238E27FC236}">
                <a16:creationId xmlns:a16="http://schemas.microsoft.com/office/drawing/2014/main" id="{7635C634-6DB3-6F4D-BDF7-9AFA0DDF2E63}"/>
              </a:ext>
            </a:extLst>
          </p:cNvPr>
          <p:cNvSpPr txBox="1"/>
          <p:nvPr/>
        </p:nvSpPr>
        <p:spPr>
          <a:xfrm>
            <a:off x="7650072" y="4754129"/>
            <a:ext cx="2971800" cy="369332"/>
          </a:xfrm>
          <a:prstGeom prst="rect">
            <a:avLst/>
          </a:prstGeom>
          <a:noFill/>
        </p:spPr>
        <p:txBody>
          <a:bodyPr>
            <a:spAutoFit/>
          </a:bodyPr>
          <a:lstStyle/>
          <a:p>
            <a:pPr algn="ctr">
              <a:defRPr/>
            </a:pPr>
            <a:r>
              <a:rPr lang="en-GB" b="1" dirty="0" err="1">
                <a:latin typeface="+mj-lt"/>
                <a:ea typeface="+mn-ea"/>
                <a:cs typeface="+mn-cs"/>
              </a:rPr>
              <a:t>Celinhoud</a:t>
            </a:r>
            <a:endParaRPr lang="en-GB" b="1" dirty="0">
              <a:latin typeface="+mj-lt"/>
              <a:ea typeface="+mn-ea"/>
              <a:cs typeface="+mn-cs"/>
            </a:endParaRPr>
          </a:p>
        </p:txBody>
      </p:sp>
      <p:sp>
        <p:nvSpPr>
          <p:cNvPr id="13" name="Ovaal 7">
            <a:extLst>
              <a:ext uri="{FF2B5EF4-FFF2-40B4-BE49-F238E27FC236}">
                <a16:creationId xmlns:a16="http://schemas.microsoft.com/office/drawing/2014/main" id="{1AD2B8D9-F564-3348-901C-24B932DF133C}"/>
              </a:ext>
            </a:extLst>
          </p:cNvPr>
          <p:cNvSpPr>
            <a:spLocks noChangeArrowheads="1"/>
          </p:cNvSpPr>
          <p:nvPr/>
        </p:nvSpPr>
        <p:spPr bwMode="auto">
          <a:xfrm>
            <a:off x="4968526" y="4147935"/>
            <a:ext cx="2362200" cy="504057"/>
          </a:xfrm>
          <a:prstGeom prst="ellipse">
            <a:avLst/>
          </a:prstGeom>
          <a:noFill/>
          <a:ln w="28575">
            <a:solidFill>
              <a:schemeClr val="accent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sp>
        <p:nvSpPr>
          <p:cNvPr id="14" name="Tekstvak 13">
            <a:extLst>
              <a:ext uri="{FF2B5EF4-FFF2-40B4-BE49-F238E27FC236}">
                <a16:creationId xmlns:a16="http://schemas.microsoft.com/office/drawing/2014/main" id="{55337DF3-C860-0F49-BBC3-0C4EC1D11201}"/>
              </a:ext>
            </a:extLst>
          </p:cNvPr>
          <p:cNvSpPr txBox="1"/>
          <p:nvPr/>
        </p:nvSpPr>
        <p:spPr>
          <a:xfrm>
            <a:off x="4610100" y="4713470"/>
            <a:ext cx="2971800" cy="369332"/>
          </a:xfrm>
          <a:prstGeom prst="rect">
            <a:avLst/>
          </a:prstGeom>
          <a:noFill/>
        </p:spPr>
        <p:txBody>
          <a:bodyPr>
            <a:spAutoFit/>
          </a:bodyPr>
          <a:lstStyle/>
          <a:p>
            <a:pPr algn="ctr">
              <a:defRPr/>
            </a:pPr>
            <a:r>
              <a:rPr lang="en-GB" b="1" dirty="0" err="1">
                <a:solidFill>
                  <a:schemeClr val="accent6"/>
                </a:solidFill>
                <a:latin typeface="+mj-lt"/>
                <a:ea typeface="+mn-ea"/>
                <a:cs typeface="+mn-cs"/>
              </a:rPr>
              <a:t>Kolommarginalen</a:t>
            </a:r>
            <a:endParaRPr lang="en-GB" b="1" dirty="0">
              <a:solidFill>
                <a:schemeClr val="accent6"/>
              </a:solidFill>
              <a:latin typeface="+mj-lt"/>
              <a:ea typeface="+mn-ea"/>
              <a:cs typeface="+mn-cs"/>
            </a:endParaRPr>
          </a:p>
        </p:txBody>
      </p:sp>
      <p:sp>
        <p:nvSpPr>
          <p:cNvPr id="15" name="Ovaal 6">
            <a:extLst>
              <a:ext uri="{FF2B5EF4-FFF2-40B4-BE49-F238E27FC236}">
                <a16:creationId xmlns:a16="http://schemas.microsoft.com/office/drawing/2014/main" id="{BF4CC944-38FF-F04E-BAEA-6634A28A3B92}"/>
              </a:ext>
            </a:extLst>
          </p:cNvPr>
          <p:cNvSpPr>
            <a:spLocks noChangeArrowheads="1"/>
          </p:cNvSpPr>
          <p:nvPr/>
        </p:nvSpPr>
        <p:spPr bwMode="auto">
          <a:xfrm>
            <a:off x="8295962" y="3113152"/>
            <a:ext cx="704374" cy="990600"/>
          </a:xfrm>
          <a:prstGeom prst="ellipse">
            <a:avLst/>
          </a:prstGeom>
          <a:noFill/>
          <a:ln w="28575">
            <a:solidFill>
              <a:schemeClr val="accent4"/>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solidFill>
                <a:schemeClr val="accent4"/>
              </a:solidFill>
              <a:cs typeface="Arial" charset="0"/>
            </a:endParaRPr>
          </a:p>
        </p:txBody>
      </p:sp>
      <p:sp>
        <p:nvSpPr>
          <p:cNvPr id="16" name="Tekstvak 15">
            <a:extLst>
              <a:ext uri="{FF2B5EF4-FFF2-40B4-BE49-F238E27FC236}">
                <a16:creationId xmlns:a16="http://schemas.microsoft.com/office/drawing/2014/main" id="{43E43F77-80BE-C449-9BCF-E0126E50A634}"/>
              </a:ext>
            </a:extLst>
          </p:cNvPr>
          <p:cNvSpPr txBox="1"/>
          <p:nvPr/>
        </p:nvSpPr>
        <p:spPr>
          <a:xfrm>
            <a:off x="8246342" y="3385933"/>
            <a:ext cx="2971800" cy="369332"/>
          </a:xfrm>
          <a:prstGeom prst="rect">
            <a:avLst/>
          </a:prstGeom>
          <a:noFill/>
        </p:spPr>
        <p:txBody>
          <a:bodyPr>
            <a:spAutoFit/>
          </a:bodyPr>
          <a:lstStyle/>
          <a:p>
            <a:pPr algn="ctr">
              <a:defRPr/>
            </a:pPr>
            <a:r>
              <a:rPr lang="en-GB" b="1" dirty="0" err="1">
                <a:solidFill>
                  <a:schemeClr val="accent4"/>
                </a:solidFill>
                <a:latin typeface="+mj-lt"/>
                <a:ea typeface="+mn-ea"/>
                <a:cs typeface="+mn-cs"/>
              </a:rPr>
              <a:t>Rijmarginalen</a:t>
            </a:r>
            <a:endParaRPr lang="en-GB" b="1" dirty="0">
              <a:solidFill>
                <a:schemeClr val="accent4"/>
              </a:solidFill>
              <a:latin typeface="+mj-lt"/>
              <a:ea typeface="+mn-ea"/>
              <a:cs typeface="+mn-cs"/>
            </a:endParaRPr>
          </a:p>
        </p:txBody>
      </p:sp>
      <p:sp>
        <p:nvSpPr>
          <p:cNvPr id="17" name="Rectangle 1">
            <a:extLst>
              <a:ext uri="{FF2B5EF4-FFF2-40B4-BE49-F238E27FC236}">
                <a16:creationId xmlns:a16="http://schemas.microsoft.com/office/drawing/2014/main" id="{9D264583-DD06-5E43-A8CB-47E340809FB7}"/>
              </a:ext>
            </a:extLst>
          </p:cNvPr>
          <p:cNvSpPr>
            <a:spLocks noChangeArrowheads="1"/>
          </p:cNvSpPr>
          <p:nvPr/>
        </p:nvSpPr>
        <p:spPr bwMode="auto">
          <a:xfrm>
            <a:off x="742837" y="5711145"/>
            <a:ext cx="8180656" cy="480131"/>
          </a:xfrm>
          <a:prstGeom prst="rect">
            <a:avLst/>
          </a:prstGeom>
          <a:noFill/>
          <a:ln>
            <a:noFill/>
          </a:ln>
        </p:spPr>
        <p:txBody>
          <a:bodyPr wrap="square">
            <a:spAutoFit/>
          </a:bodyPr>
          <a:lstStyle/>
          <a:p>
            <a:pPr marL="400050" indent="-400050">
              <a:lnSpc>
                <a:spcPct val="90000"/>
              </a:lnSpc>
              <a:defRPr/>
            </a:pPr>
            <a:r>
              <a:rPr lang="nl-BE" sz="2800" b="1" dirty="0">
                <a:solidFill>
                  <a:schemeClr val="accent2"/>
                </a:solidFill>
                <a:latin typeface="+mn-lt"/>
                <a:ea typeface="ＭＳ Ｐゴシック" charset="0"/>
                <a:cs typeface="ＭＳ Ｐゴシック" charset="0"/>
              </a:rPr>
              <a:t>Indien causaliteit: onafhankelijke (=oorzaak) in kolom</a:t>
            </a:r>
          </a:p>
        </p:txBody>
      </p:sp>
    </p:spTree>
    <p:extLst>
      <p:ext uri="{BB962C8B-B14F-4D97-AF65-F5344CB8AC3E}">
        <p14:creationId xmlns:p14="http://schemas.microsoft.com/office/powerpoint/2010/main" val="12306233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11E8C3-5799-2947-8A40-FD2B3378F76B}"/>
              </a:ext>
            </a:extLst>
          </p:cNvPr>
          <p:cNvSpPr>
            <a:spLocks noGrp="1"/>
          </p:cNvSpPr>
          <p:nvPr>
            <p:ph type="title"/>
          </p:nvPr>
        </p:nvSpPr>
        <p:spPr/>
        <p:txBody>
          <a:bodyPr/>
          <a:lstStyle/>
          <a:p>
            <a:r>
              <a:rPr lang="nl-BE" dirty="0"/>
              <a:t>Kruistabellen lezen: kolompercentages</a:t>
            </a:r>
          </a:p>
        </p:txBody>
      </p:sp>
      <p:sp>
        <p:nvSpPr>
          <p:cNvPr id="3" name="Tijdelijke aanduiding voor dianummer 2">
            <a:extLst>
              <a:ext uri="{FF2B5EF4-FFF2-40B4-BE49-F238E27FC236}">
                <a16:creationId xmlns:a16="http://schemas.microsoft.com/office/drawing/2014/main" id="{D1E6A4D5-A140-524B-BC28-E704EB522D50}"/>
              </a:ext>
            </a:extLst>
          </p:cNvPr>
          <p:cNvSpPr>
            <a:spLocks noGrp="1"/>
          </p:cNvSpPr>
          <p:nvPr>
            <p:ph type="sldNum" sz="quarter" idx="10"/>
          </p:nvPr>
        </p:nvSpPr>
        <p:spPr/>
        <p:txBody>
          <a:bodyPr/>
          <a:lstStyle/>
          <a:p>
            <a:fld id="{E038E271-308C-2E46-A3EC-56326F9084CC}" type="slidenum">
              <a:rPr lang="nl-BE" smtClean="0"/>
              <a:pPr/>
              <a:t>36</a:t>
            </a:fld>
            <a:endParaRPr lang="nl-BE" dirty="0"/>
          </a:p>
        </p:txBody>
      </p:sp>
      <p:sp>
        <p:nvSpPr>
          <p:cNvPr id="6" name="Tijdelijke aanduiding voor inhoud 5">
            <a:extLst>
              <a:ext uri="{FF2B5EF4-FFF2-40B4-BE49-F238E27FC236}">
                <a16:creationId xmlns:a16="http://schemas.microsoft.com/office/drawing/2014/main" id="{B9D9906E-A200-D74A-A5AE-C243A1E3A52F}"/>
              </a:ext>
            </a:extLst>
          </p:cNvPr>
          <p:cNvSpPr>
            <a:spLocks noGrp="1"/>
          </p:cNvSpPr>
          <p:nvPr>
            <p:ph idx="1"/>
          </p:nvPr>
        </p:nvSpPr>
        <p:spPr/>
        <p:txBody>
          <a:bodyPr/>
          <a:lstStyle/>
          <a:p>
            <a:endParaRPr lang="nl-BE" dirty="0"/>
          </a:p>
        </p:txBody>
      </p:sp>
      <p:pic>
        <p:nvPicPr>
          <p:cNvPr id="7" name="Afbeelding 6">
            <a:extLst>
              <a:ext uri="{FF2B5EF4-FFF2-40B4-BE49-F238E27FC236}">
                <a16:creationId xmlns:a16="http://schemas.microsoft.com/office/drawing/2014/main" id="{3C326BFD-8D32-F242-AB57-1F8B9E24501E}"/>
              </a:ext>
            </a:extLst>
          </p:cNvPr>
          <p:cNvPicPr>
            <a:picLocks noChangeAspect="1"/>
          </p:cNvPicPr>
          <p:nvPr/>
        </p:nvPicPr>
        <p:blipFill rotWithShape="1">
          <a:blip r:embed="rId3"/>
          <a:srcRect t="24702" r="12006"/>
          <a:stretch/>
        </p:blipFill>
        <p:spPr>
          <a:xfrm>
            <a:off x="1981982" y="1566144"/>
            <a:ext cx="7642289" cy="2926520"/>
          </a:xfrm>
          <a:prstGeom prst="rect">
            <a:avLst/>
          </a:prstGeom>
        </p:spPr>
      </p:pic>
      <p:sp>
        <p:nvSpPr>
          <p:cNvPr id="8" name="Rectangle 3">
            <a:extLst>
              <a:ext uri="{FF2B5EF4-FFF2-40B4-BE49-F238E27FC236}">
                <a16:creationId xmlns:a16="http://schemas.microsoft.com/office/drawing/2014/main" id="{83261DA7-E0A9-DA45-B04F-59CD7785E559}"/>
              </a:ext>
            </a:extLst>
          </p:cNvPr>
          <p:cNvSpPr txBox="1">
            <a:spLocks noChangeArrowheads="1"/>
          </p:cNvSpPr>
          <p:nvPr/>
        </p:nvSpPr>
        <p:spPr bwMode="auto">
          <a:xfrm>
            <a:off x="140208" y="4696791"/>
            <a:ext cx="12051792" cy="3720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9pPr>
          </a:lstStyle>
          <a:p>
            <a:pPr marL="0" indent="0">
              <a:lnSpc>
                <a:spcPct val="90000"/>
              </a:lnSpc>
              <a:buFontTx/>
              <a:buNone/>
            </a:pPr>
            <a:r>
              <a:rPr lang="nl-BE" sz="2000" u="sng" kern="0" dirty="0">
                <a:ea typeface="MS PGothic" charset="0"/>
              </a:rPr>
              <a:t>Kolom%</a:t>
            </a:r>
            <a:r>
              <a:rPr lang="nl-BE" sz="2000" kern="0" dirty="0">
                <a:ea typeface="MS PGothic" charset="0"/>
              </a:rPr>
              <a:t>:  </a:t>
            </a:r>
            <a:r>
              <a:rPr lang="nl-BE" sz="2000" i="1" kern="0" dirty="0">
                <a:solidFill>
                  <a:srgbClr val="000000"/>
                </a:solidFill>
                <a:ea typeface="MS PGothic" charset="0"/>
              </a:rPr>
              <a:t>43</a:t>
            </a:r>
            <a:r>
              <a:rPr lang="nl-BE" sz="2000" kern="0" dirty="0">
                <a:ea typeface="MS PGothic" charset="0"/>
              </a:rPr>
              <a:t> van </a:t>
            </a:r>
            <a:r>
              <a:rPr lang="nl-BE" sz="2000" kern="0" dirty="0">
                <a:solidFill>
                  <a:schemeClr val="accent6"/>
                </a:solidFill>
                <a:ea typeface="MS PGothic" charset="0"/>
              </a:rPr>
              <a:t>136</a:t>
            </a:r>
            <a:r>
              <a:rPr lang="nl-BE" sz="2000" kern="0" dirty="0">
                <a:ea typeface="MS PGothic" charset="0"/>
              </a:rPr>
              <a:t> politieagenten met ervaring heeft zijn/haar misdaadcase niet opgelost </a:t>
            </a:r>
            <a:r>
              <a:rPr lang="nl-BE" sz="1400" kern="0" dirty="0">
                <a:ea typeface="MS PGothic" charset="0"/>
              </a:rPr>
              <a:t>(31,6%)</a:t>
            </a:r>
            <a:endParaRPr lang="nl-BE" sz="18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p:txBody>
      </p:sp>
      <p:sp>
        <p:nvSpPr>
          <p:cNvPr id="10" name="Ovaal 7">
            <a:extLst>
              <a:ext uri="{FF2B5EF4-FFF2-40B4-BE49-F238E27FC236}">
                <a16:creationId xmlns:a16="http://schemas.microsoft.com/office/drawing/2014/main" id="{55F5B5D4-DBB9-484A-B9A5-46E81C0338D2}"/>
              </a:ext>
            </a:extLst>
          </p:cNvPr>
          <p:cNvSpPr>
            <a:spLocks noChangeArrowheads="1"/>
          </p:cNvSpPr>
          <p:nvPr/>
        </p:nvSpPr>
        <p:spPr bwMode="auto">
          <a:xfrm>
            <a:off x="7165451" y="3036605"/>
            <a:ext cx="500137" cy="379144"/>
          </a:xfrm>
          <a:prstGeom prst="ellipse">
            <a:avLst/>
          </a:prstGeom>
          <a:noFill/>
          <a:ln w="28575">
            <a:solidFill>
              <a:srgbClr val="000000"/>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nl-BE">
              <a:solidFill>
                <a:srgbClr val="000000"/>
              </a:solidFill>
              <a:cs typeface="Arial" charset="0"/>
            </a:endParaRPr>
          </a:p>
        </p:txBody>
      </p:sp>
      <p:sp>
        <p:nvSpPr>
          <p:cNvPr id="15" name="Ovaal 7">
            <a:extLst>
              <a:ext uri="{FF2B5EF4-FFF2-40B4-BE49-F238E27FC236}">
                <a16:creationId xmlns:a16="http://schemas.microsoft.com/office/drawing/2014/main" id="{CF6D9915-9147-4540-B344-58A59FDCC86A}"/>
              </a:ext>
            </a:extLst>
          </p:cNvPr>
          <p:cNvSpPr>
            <a:spLocks noChangeArrowheads="1"/>
          </p:cNvSpPr>
          <p:nvPr/>
        </p:nvSpPr>
        <p:spPr bwMode="auto">
          <a:xfrm>
            <a:off x="7199111" y="3909393"/>
            <a:ext cx="500137" cy="379144"/>
          </a:xfrm>
          <a:prstGeom prst="ellipse">
            <a:avLst/>
          </a:prstGeom>
          <a:noFill/>
          <a:ln w="28575">
            <a:solidFill>
              <a:schemeClr val="accent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spTree>
    <p:extLst>
      <p:ext uri="{BB962C8B-B14F-4D97-AF65-F5344CB8AC3E}">
        <p14:creationId xmlns:p14="http://schemas.microsoft.com/office/powerpoint/2010/main" val="26392047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11E8C3-5799-2947-8A40-FD2B3378F76B}"/>
              </a:ext>
            </a:extLst>
          </p:cNvPr>
          <p:cNvSpPr>
            <a:spLocks noGrp="1"/>
          </p:cNvSpPr>
          <p:nvPr>
            <p:ph type="title"/>
          </p:nvPr>
        </p:nvSpPr>
        <p:spPr/>
        <p:txBody>
          <a:bodyPr/>
          <a:lstStyle/>
          <a:p>
            <a:r>
              <a:rPr lang="nl-BE" dirty="0"/>
              <a:t>Kruistabellen lezen: rijpercentages</a:t>
            </a:r>
          </a:p>
        </p:txBody>
      </p:sp>
      <p:sp>
        <p:nvSpPr>
          <p:cNvPr id="3" name="Tijdelijke aanduiding voor dianummer 2">
            <a:extLst>
              <a:ext uri="{FF2B5EF4-FFF2-40B4-BE49-F238E27FC236}">
                <a16:creationId xmlns:a16="http://schemas.microsoft.com/office/drawing/2014/main" id="{D1E6A4D5-A140-524B-BC28-E704EB522D50}"/>
              </a:ext>
            </a:extLst>
          </p:cNvPr>
          <p:cNvSpPr>
            <a:spLocks noGrp="1"/>
          </p:cNvSpPr>
          <p:nvPr>
            <p:ph type="sldNum" sz="quarter" idx="10"/>
          </p:nvPr>
        </p:nvSpPr>
        <p:spPr/>
        <p:txBody>
          <a:bodyPr/>
          <a:lstStyle/>
          <a:p>
            <a:fld id="{E038E271-308C-2E46-A3EC-56326F9084CC}" type="slidenum">
              <a:rPr lang="nl-BE" smtClean="0"/>
              <a:pPr/>
              <a:t>37</a:t>
            </a:fld>
            <a:endParaRPr lang="nl-BE" dirty="0"/>
          </a:p>
        </p:txBody>
      </p:sp>
      <p:sp>
        <p:nvSpPr>
          <p:cNvPr id="6" name="Tijdelijke aanduiding voor inhoud 5">
            <a:extLst>
              <a:ext uri="{FF2B5EF4-FFF2-40B4-BE49-F238E27FC236}">
                <a16:creationId xmlns:a16="http://schemas.microsoft.com/office/drawing/2014/main" id="{B9D9906E-A200-D74A-A5AE-C243A1E3A52F}"/>
              </a:ext>
            </a:extLst>
          </p:cNvPr>
          <p:cNvSpPr>
            <a:spLocks noGrp="1"/>
          </p:cNvSpPr>
          <p:nvPr>
            <p:ph idx="1"/>
          </p:nvPr>
        </p:nvSpPr>
        <p:spPr/>
        <p:txBody>
          <a:bodyPr/>
          <a:lstStyle/>
          <a:p>
            <a:endParaRPr lang="nl-BE" dirty="0"/>
          </a:p>
        </p:txBody>
      </p:sp>
      <p:pic>
        <p:nvPicPr>
          <p:cNvPr id="7" name="Afbeelding 6">
            <a:extLst>
              <a:ext uri="{FF2B5EF4-FFF2-40B4-BE49-F238E27FC236}">
                <a16:creationId xmlns:a16="http://schemas.microsoft.com/office/drawing/2014/main" id="{3C326BFD-8D32-F242-AB57-1F8B9E24501E}"/>
              </a:ext>
            </a:extLst>
          </p:cNvPr>
          <p:cNvPicPr>
            <a:picLocks noChangeAspect="1"/>
          </p:cNvPicPr>
          <p:nvPr/>
        </p:nvPicPr>
        <p:blipFill rotWithShape="1">
          <a:blip r:embed="rId3"/>
          <a:srcRect t="24702" r="12006"/>
          <a:stretch/>
        </p:blipFill>
        <p:spPr>
          <a:xfrm>
            <a:off x="1981982" y="1566144"/>
            <a:ext cx="7642289" cy="2926520"/>
          </a:xfrm>
          <a:prstGeom prst="rect">
            <a:avLst/>
          </a:prstGeom>
        </p:spPr>
      </p:pic>
      <p:sp>
        <p:nvSpPr>
          <p:cNvPr id="8" name="Rectangle 3">
            <a:extLst>
              <a:ext uri="{FF2B5EF4-FFF2-40B4-BE49-F238E27FC236}">
                <a16:creationId xmlns:a16="http://schemas.microsoft.com/office/drawing/2014/main" id="{83261DA7-E0A9-DA45-B04F-59CD7785E559}"/>
              </a:ext>
            </a:extLst>
          </p:cNvPr>
          <p:cNvSpPr txBox="1">
            <a:spLocks noChangeArrowheads="1"/>
          </p:cNvSpPr>
          <p:nvPr/>
        </p:nvSpPr>
        <p:spPr bwMode="auto">
          <a:xfrm>
            <a:off x="140208" y="4696791"/>
            <a:ext cx="12051792" cy="3720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9pPr>
          </a:lstStyle>
          <a:p>
            <a:pPr marL="0" indent="0">
              <a:lnSpc>
                <a:spcPct val="90000"/>
              </a:lnSpc>
              <a:buFontTx/>
              <a:buNone/>
            </a:pPr>
            <a:r>
              <a:rPr lang="nl-BE" sz="2000" u="sng" kern="0" dirty="0">
                <a:ea typeface="MS PGothic" charset="0"/>
              </a:rPr>
              <a:t>Kolom%</a:t>
            </a:r>
            <a:r>
              <a:rPr lang="nl-BE" sz="2000" kern="0" dirty="0">
                <a:ea typeface="MS PGothic" charset="0"/>
              </a:rPr>
              <a:t>:  </a:t>
            </a:r>
            <a:r>
              <a:rPr lang="nl-BE" sz="2000" i="1" kern="0" dirty="0">
                <a:solidFill>
                  <a:srgbClr val="000000"/>
                </a:solidFill>
                <a:ea typeface="MS PGothic" charset="0"/>
              </a:rPr>
              <a:t>43</a:t>
            </a:r>
            <a:r>
              <a:rPr lang="nl-BE" sz="2000" kern="0" dirty="0">
                <a:ea typeface="MS PGothic" charset="0"/>
              </a:rPr>
              <a:t> van </a:t>
            </a:r>
            <a:r>
              <a:rPr lang="nl-BE" sz="2000" kern="0" dirty="0">
                <a:solidFill>
                  <a:schemeClr val="accent6"/>
                </a:solidFill>
                <a:ea typeface="MS PGothic" charset="0"/>
              </a:rPr>
              <a:t>136</a:t>
            </a:r>
            <a:r>
              <a:rPr lang="nl-BE" sz="2000" kern="0" dirty="0">
                <a:ea typeface="MS PGothic" charset="0"/>
              </a:rPr>
              <a:t> politieagenten met ervaring heeft zijn/haar misdaadcase niet opgelost </a:t>
            </a:r>
            <a:r>
              <a:rPr lang="nl-BE" sz="1400" kern="0" dirty="0">
                <a:ea typeface="MS PGothic" charset="0"/>
              </a:rPr>
              <a:t>(31,62%)</a:t>
            </a:r>
            <a:endParaRPr lang="nl-BE" sz="18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p:txBody>
      </p:sp>
      <p:sp>
        <p:nvSpPr>
          <p:cNvPr id="10" name="Ovaal 7">
            <a:extLst>
              <a:ext uri="{FF2B5EF4-FFF2-40B4-BE49-F238E27FC236}">
                <a16:creationId xmlns:a16="http://schemas.microsoft.com/office/drawing/2014/main" id="{55F5B5D4-DBB9-484A-B9A5-46E81C0338D2}"/>
              </a:ext>
            </a:extLst>
          </p:cNvPr>
          <p:cNvSpPr>
            <a:spLocks noChangeArrowheads="1"/>
          </p:cNvSpPr>
          <p:nvPr/>
        </p:nvSpPr>
        <p:spPr bwMode="auto">
          <a:xfrm>
            <a:off x="7165451" y="3036605"/>
            <a:ext cx="500137" cy="379144"/>
          </a:xfrm>
          <a:prstGeom prst="ellipse">
            <a:avLst/>
          </a:prstGeom>
          <a:noFill/>
          <a:ln w="28575">
            <a:solidFill>
              <a:srgbClr val="000000"/>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nl-BE">
              <a:solidFill>
                <a:srgbClr val="000000"/>
              </a:solidFill>
              <a:cs typeface="Arial" charset="0"/>
            </a:endParaRPr>
          </a:p>
        </p:txBody>
      </p:sp>
      <p:sp>
        <p:nvSpPr>
          <p:cNvPr id="15" name="Ovaal 7">
            <a:extLst>
              <a:ext uri="{FF2B5EF4-FFF2-40B4-BE49-F238E27FC236}">
                <a16:creationId xmlns:a16="http://schemas.microsoft.com/office/drawing/2014/main" id="{CF6D9915-9147-4540-B344-58A59FDCC86A}"/>
              </a:ext>
            </a:extLst>
          </p:cNvPr>
          <p:cNvSpPr>
            <a:spLocks noChangeArrowheads="1"/>
          </p:cNvSpPr>
          <p:nvPr/>
        </p:nvSpPr>
        <p:spPr bwMode="auto">
          <a:xfrm>
            <a:off x="7199111" y="3909393"/>
            <a:ext cx="500137" cy="379144"/>
          </a:xfrm>
          <a:prstGeom prst="ellipse">
            <a:avLst/>
          </a:prstGeom>
          <a:noFill/>
          <a:ln w="28575">
            <a:solidFill>
              <a:schemeClr val="accent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sp>
        <p:nvSpPr>
          <p:cNvPr id="16" name="Rectangle 3">
            <a:extLst>
              <a:ext uri="{FF2B5EF4-FFF2-40B4-BE49-F238E27FC236}">
                <a16:creationId xmlns:a16="http://schemas.microsoft.com/office/drawing/2014/main" id="{B5F80490-76A2-8A49-9450-B6BFAEEDA6BE}"/>
              </a:ext>
            </a:extLst>
          </p:cNvPr>
          <p:cNvSpPr txBox="1">
            <a:spLocks noChangeArrowheads="1"/>
          </p:cNvSpPr>
          <p:nvPr/>
        </p:nvSpPr>
        <p:spPr bwMode="auto">
          <a:xfrm>
            <a:off x="140208" y="5231355"/>
            <a:ext cx="12051792" cy="1168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9pPr>
          </a:lstStyle>
          <a:p>
            <a:pPr marL="0" indent="0">
              <a:lnSpc>
                <a:spcPct val="90000"/>
              </a:lnSpc>
              <a:buFontTx/>
              <a:buNone/>
            </a:pPr>
            <a:r>
              <a:rPr lang="nl-BE" sz="2000" u="sng" kern="0" dirty="0">
                <a:ea typeface="MS PGothic" charset="0"/>
              </a:rPr>
              <a:t>Rij%</a:t>
            </a:r>
            <a:r>
              <a:rPr lang="nl-BE" sz="2000" kern="0" dirty="0">
                <a:ea typeface="MS PGothic" charset="0"/>
              </a:rPr>
              <a:t>:         </a:t>
            </a:r>
            <a:r>
              <a:rPr lang="nl-BE" sz="2000" i="1" kern="0" dirty="0">
                <a:solidFill>
                  <a:srgbClr val="000000"/>
                </a:solidFill>
                <a:ea typeface="MS PGothic" charset="0"/>
              </a:rPr>
              <a:t>43</a:t>
            </a:r>
            <a:r>
              <a:rPr lang="nl-BE" sz="2000" kern="0" dirty="0">
                <a:ea typeface="MS PGothic" charset="0"/>
              </a:rPr>
              <a:t> van </a:t>
            </a:r>
            <a:r>
              <a:rPr lang="nl-BE" sz="2000" kern="0" dirty="0">
                <a:solidFill>
                  <a:schemeClr val="accent4"/>
                </a:solidFill>
                <a:ea typeface="MS PGothic" charset="0"/>
              </a:rPr>
              <a:t>108</a:t>
            </a:r>
            <a:r>
              <a:rPr lang="nl-BE" sz="2000" kern="0" dirty="0">
                <a:ea typeface="MS PGothic" charset="0"/>
              </a:rPr>
              <a:t> niet opgeloste misdaadcases werden behandeld door een agent met ervaring </a:t>
            </a:r>
            <a:r>
              <a:rPr lang="nl-BE" sz="1400" kern="0" dirty="0">
                <a:ea typeface="MS PGothic" charset="0"/>
              </a:rPr>
              <a:t>(39,8%)</a:t>
            </a:r>
          </a:p>
          <a:p>
            <a:pPr marL="0" indent="0">
              <a:lnSpc>
                <a:spcPct val="90000"/>
              </a:lnSpc>
              <a:buFontTx/>
              <a:buNone/>
            </a:pPr>
            <a:endParaRPr lang="nl-BE" sz="2400" kern="0" dirty="0">
              <a:ea typeface="MS PGothic" charset="0"/>
            </a:endParaRPr>
          </a:p>
          <a:p>
            <a:pPr marL="0" indent="0">
              <a:lnSpc>
                <a:spcPct val="90000"/>
              </a:lnSpc>
              <a:buFontTx/>
              <a:buNone/>
            </a:pPr>
            <a:endParaRPr lang="nl-BE" sz="2400" kern="0" dirty="0">
              <a:ea typeface="MS PGothic" charset="0"/>
            </a:endParaRPr>
          </a:p>
          <a:p>
            <a:pPr marL="0" indent="0">
              <a:lnSpc>
                <a:spcPct val="90000"/>
              </a:lnSpc>
              <a:buFontTx/>
              <a:buNone/>
            </a:pPr>
            <a:endParaRPr lang="nl-BE" sz="2400" kern="0" dirty="0">
              <a:ea typeface="MS PGothic" charset="0"/>
            </a:endParaRPr>
          </a:p>
          <a:p>
            <a:pPr marL="0" indent="0">
              <a:lnSpc>
                <a:spcPct val="90000"/>
              </a:lnSpc>
              <a:buFontTx/>
              <a:buNone/>
            </a:pPr>
            <a:endParaRPr lang="nl-BE" sz="2400" kern="0" dirty="0">
              <a:ea typeface="MS PGothic" charset="0"/>
            </a:endParaRPr>
          </a:p>
        </p:txBody>
      </p:sp>
      <p:sp>
        <p:nvSpPr>
          <p:cNvPr id="18" name="Ovaal 7">
            <a:extLst>
              <a:ext uri="{FF2B5EF4-FFF2-40B4-BE49-F238E27FC236}">
                <a16:creationId xmlns:a16="http://schemas.microsoft.com/office/drawing/2014/main" id="{997C93AA-20B4-5047-8044-2A0011A6CA40}"/>
              </a:ext>
            </a:extLst>
          </p:cNvPr>
          <p:cNvSpPr>
            <a:spLocks noChangeArrowheads="1"/>
          </p:cNvSpPr>
          <p:nvPr/>
        </p:nvSpPr>
        <p:spPr bwMode="auto">
          <a:xfrm>
            <a:off x="8523798" y="3043233"/>
            <a:ext cx="500137" cy="379144"/>
          </a:xfrm>
          <a:prstGeom prst="ellipse">
            <a:avLst/>
          </a:prstGeom>
          <a:noFill/>
          <a:ln w="28575">
            <a:solidFill>
              <a:schemeClr val="accent4"/>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spTree>
    <p:extLst>
      <p:ext uri="{BB962C8B-B14F-4D97-AF65-F5344CB8AC3E}">
        <p14:creationId xmlns:p14="http://schemas.microsoft.com/office/powerpoint/2010/main" val="9271403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11E8C3-5799-2947-8A40-FD2B3378F76B}"/>
              </a:ext>
            </a:extLst>
          </p:cNvPr>
          <p:cNvSpPr>
            <a:spLocks noGrp="1"/>
          </p:cNvSpPr>
          <p:nvPr>
            <p:ph type="title"/>
          </p:nvPr>
        </p:nvSpPr>
        <p:spPr/>
        <p:txBody>
          <a:bodyPr/>
          <a:lstStyle/>
          <a:p>
            <a:r>
              <a:rPr lang="nl-BE" dirty="0"/>
              <a:t>Kruistabellen lezen: totaalpercentages</a:t>
            </a:r>
          </a:p>
        </p:txBody>
      </p:sp>
      <p:sp>
        <p:nvSpPr>
          <p:cNvPr id="3" name="Tijdelijke aanduiding voor dianummer 2">
            <a:extLst>
              <a:ext uri="{FF2B5EF4-FFF2-40B4-BE49-F238E27FC236}">
                <a16:creationId xmlns:a16="http://schemas.microsoft.com/office/drawing/2014/main" id="{D1E6A4D5-A140-524B-BC28-E704EB522D50}"/>
              </a:ext>
            </a:extLst>
          </p:cNvPr>
          <p:cNvSpPr>
            <a:spLocks noGrp="1"/>
          </p:cNvSpPr>
          <p:nvPr>
            <p:ph type="sldNum" sz="quarter" idx="10"/>
          </p:nvPr>
        </p:nvSpPr>
        <p:spPr/>
        <p:txBody>
          <a:bodyPr/>
          <a:lstStyle/>
          <a:p>
            <a:fld id="{E038E271-308C-2E46-A3EC-56326F9084CC}" type="slidenum">
              <a:rPr lang="nl-BE" smtClean="0"/>
              <a:pPr/>
              <a:t>38</a:t>
            </a:fld>
            <a:endParaRPr lang="nl-BE" dirty="0"/>
          </a:p>
        </p:txBody>
      </p:sp>
      <p:sp>
        <p:nvSpPr>
          <p:cNvPr id="6" name="Tijdelijke aanduiding voor inhoud 5">
            <a:extLst>
              <a:ext uri="{FF2B5EF4-FFF2-40B4-BE49-F238E27FC236}">
                <a16:creationId xmlns:a16="http://schemas.microsoft.com/office/drawing/2014/main" id="{B9D9906E-A200-D74A-A5AE-C243A1E3A52F}"/>
              </a:ext>
            </a:extLst>
          </p:cNvPr>
          <p:cNvSpPr>
            <a:spLocks noGrp="1"/>
          </p:cNvSpPr>
          <p:nvPr>
            <p:ph idx="1"/>
          </p:nvPr>
        </p:nvSpPr>
        <p:spPr/>
        <p:txBody>
          <a:bodyPr/>
          <a:lstStyle/>
          <a:p>
            <a:endParaRPr lang="nl-BE" dirty="0"/>
          </a:p>
        </p:txBody>
      </p:sp>
      <p:pic>
        <p:nvPicPr>
          <p:cNvPr id="7" name="Afbeelding 6">
            <a:extLst>
              <a:ext uri="{FF2B5EF4-FFF2-40B4-BE49-F238E27FC236}">
                <a16:creationId xmlns:a16="http://schemas.microsoft.com/office/drawing/2014/main" id="{3C326BFD-8D32-F242-AB57-1F8B9E24501E}"/>
              </a:ext>
            </a:extLst>
          </p:cNvPr>
          <p:cNvPicPr>
            <a:picLocks noChangeAspect="1"/>
          </p:cNvPicPr>
          <p:nvPr/>
        </p:nvPicPr>
        <p:blipFill rotWithShape="1">
          <a:blip r:embed="rId3"/>
          <a:srcRect t="24702" r="12006"/>
          <a:stretch/>
        </p:blipFill>
        <p:spPr>
          <a:xfrm>
            <a:off x="1981982" y="1566144"/>
            <a:ext cx="7642289" cy="2926520"/>
          </a:xfrm>
          <a:prstGeom prst="rect">
            <a:avLst/>
          </a:prstGeom>
        </p:spPr>
      </p:pic>
      <p:sp>
        <p:nvSpPr>
          <p:cNvPr id="8" name="Rectangle 3">
            <a:extLst>
              <a:ext uri="{FF2B5EF4-FFF2-40B4-BE49-F238E27FC236}">
                <a16:creationId xmlns:a16="http://schemas.microsoft.com/office/drawing/2014/main" id="{83261DA7-E0A9-DA45-B04F-59CD7785E559}"/>
              </a:ext>
            </a:extLst>
          </p:cNvPr>
          <p:cNvSpPr txBox="1">
            <a:spLocks noChangeArrowheads="1"/>
          </p:cNvSpPr>
          <p:nvPr/>
        </p:nvSpPr>
        <p:spPr bwMode="auto">
          <a:xfrm>
            <a:off x="140208" y="4696791"/>
            <a:ext cx="12051792" cy="3720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9pPr>
          </a:lstStyle>
          <a:p>
            <a:pPr marL="0" indent="0">
              <a:lnSpc>
                <a:spcPct val="90000"/>
              </a:lnSpc>
              <a:buFontTx/>
              <a:buNone/>
            </a:pPr>
            <a:r>
              <a:rPr lang="nl-BE" sz="2000" u="sng" kern="0" dirty="0">
                <a:ea typeface="MS PGothic" charset="0"/>
              </a:rPr>
              <a:t>Kolom%</a:t>
            </a:r>
            <a:r>
              <a:rPr lang="nl-BE" sz="2000" kern="0" dirty="0">
                <a:ea typeface="MS PGothic" charset="0"/>
              </a:rPr>
              <a:t>:  </a:t>
            </a:r>
            <a:r>
              <a:rPr lang="nl-BE" sz="2000" i="1" kern="0" dirty="0">
                <a:solidFill>
                  <a:srgbClr val="000000"/>
                </a:solidFill>
                <a:ea typeface="MS PGothic" charset="0"/>
              </a:rPr>
              <a:t>43</a:t>
            </a:r>
            <a:r>
              <a:rPr lang="nl-BE" sz="2000" kern="0" dirty="0">
                <a:ea typeface="MS PGothic" charset="0"/>
              </a:rPr>
              <a:t> van </a:t>
            </a:r>
            <a:r>
              <a:rPr lang="nl-BE" sz="2000" kern="0" dirty="0">
                <a:solidFill>
                  <a:schemeClr val="accent6"/>
                </a:solidFill>
                <a:ea typeface="MS PGothic" charset="0"/>
              </a:rPr>
              <a:t>136</a:t>
            </a:r>
            <a:r>
              <a:rPr lang="nl-BE" sz="2000" kern="0" dirty="0">
                <a:ea typeface="MS PGothic" charset="0"/>
              </a:rPr>
              <a:t> politieagenten met ervaring heeft zijn/haar misdaadcase niet opgelost </a:t>
            </a:r>
            <a:r>
              <a:rPr lang="nl-BE" sz="1400" kern="0" dirty="0">
                <a:ea typeface="MS PGothic" charset="0"/>
              </a:rPr>
              <a:t>(31,6%)</a:t>
            </a:r>
            <a:endParaRPr lang="nl-BE" sz="18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p:txBody>
      </p:sp>
      <p:sp>
        <p:nvSpPr>
          <p:cNvPr id="10" name="Ovaal 7">
            <a:extLst>
              <a:ext uri="{FF2B5EF4-FFF2-40B4-BE49-F238E27FC236}">
                <a16:creationId xmlns:a16="http://schemas.microsoft.com/office/drawing/2014/main" id="{55F5B5D4-DBB9-484A-B9A5-46E81C0338D2}"/>
              </a:ext>
            </a:extLst>
          </p:cNvPr>
          <p:cNvSpPr>
            <a:spLocks noChangeArrowheads="1"/>
          </p:cNvSpPr>
          <p:nvPr/>
        </p:nvSpPr>
        <p:spPr bwMode="auto">
          <a:xfrm>
            <a:off x="7165451" y="3036605"/>
            <a:ext cx="500137" cy="379144"/>
          </a:xfrm>
          <a:prstGeom prst="ellipse">
            <a:avLst/>
          </a:prstGeom>
          <a:noFill/>
          <a:ln w="28575">
            <a:solidFill>
              <a:srgbClr val="000000"/>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nl-BE">
              <a:solidFill>
                <a:srgbClr val="000000"/>
              </a:solidFill>
              <a:cs typeface="Arial" charset="0"/>
            </a:endParaRPr>
          </a:p>
        </p:txBody>
      </p:sp>
      <p:sp>
        <p:nvSpPr>
          <p:cNvPr id="15" name="Ovaal 7">
            <a:extLst>
              <a:ext uri="{FF2B5EF4-FFF2-40B4-BE49-F238E27FC236}">
                <a16:creationId xmlns:a16="http://schemas.microsoft.com/office/drawing/2014/main" id="{CF6D9915-9147-4540-B344-58A59FDCC86A}"/>
              </a:ext>
            </a:extLst>
          </p:cNvPr>
          <p:cNvSpPr>
            <a:spLocks noChangeArrowheads="1"/>
          </p:cNvSpPr>
          <p:nvPr/>
        </p:nvSpPr>
        <p:spPr bwMode="auto">
          <a:xfrm>
            <a:off x="7199111" y="3909393"/>
            <a:ext cx="500137" cy="379144"/>
          </a:xfrm>
          <a:prstGeom prst="ellipse">
            <a:avLst/>
          </a:prstGeom>
          <a:noFill/>
          <a:ln w="28575">
            <a:solidFill>
              <a:schemeClr val="accent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sp>
        <p:nvSpPr>
          <p:cNvPr id="16" name="Rectangle 3">
            <a:extLst>
              <a:ext uri="{FF2B5EF4-FFF2-40B4-BE49-F238E27FC236}">
                <a16:creationId xmlns:a16="http://schemas.microsoft.com/office/drawing/2014/main" id="{B5F80490-76A2-8A49-9450-B6BFAEEDA6BE}"/>
              </a:ext>
            </a:extLst>
          </p:cNvPr>
          <p:cNvSpPr txBox="1">
            <a:spLocks noChangeArrowheads="1"/>
          </p:cNvSpPr>
          <p:nvPr/>
        </p:nvSpPr>
        <p:spPr bwMode="auto">
          <a:xfrm>
            <a:off x="140208" y="5231355"/>
            <a:ext cx="12051792" cy="1168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9pPr>
          </a:lstStyle>
          <a:p>
            <a:pPr marL="0" indent="0">
              <a:lnSpc>
                <a:spcPct val="90000"/>
              </a:lnSpc>
              <a:buFontTx/>
              <a:buNone/>
            </a:pPr>
            <a:r>
              <a:rPr lang="nl-BE" sz="2000" u="sng" kern="0" dirty="0">
                <a:ea typeface="MS PGothic" charset="0"/>
              </a:rPr>
              <a:t>Rij%</a:t>
            </a:r>
            <a:r>
              <a:rPr lang="nl-BE" sz="2000" kern="0" dirty="0">
                <a:ea typeface="MS PGothic" charset="0"/>
              </a:rPr>
              <a:t>:         </a:t>
            </a:r>
            <a:r>
              <a:rPr lang="nl-BE" sz="2000" i="1" kern="0" dirty="0">
                <a:solidFill>
                  <a:srgbClr val="000000"/>
                </a:solidFill>
                <a:ea typeface="MS PGothic" charset="0"/>
              </a:rPr>
              <a:t>43</a:t>
            </a:r>
            <a:r>
              <a:rPr lang="nl-BE" sz="2000" kern="0" dirty="0">
                <a:ea typeface="MS PGothic" charset="0"/>
              </a:rPr>
              <a:t> van </a:t>
            </a:r>
            <a:r>
              <a:rPr lang="nl-BE" sz="2000" kern="0" dirty="0">
                <a:solidFill>
                  <a:schemeClr val="accent4"/>
                </a:solidFill>
                <a:ea typeface="MS PGothic" charset="0"/>
              </a:rPr>
              <a:t>108</a:t>
            </a:r>
            <a:r>
              <a:rPr lang="nl-BE" sz="2000" kern="0" dirty="0">
                <a:ea typeface="MS PGothic" charset="0"/>
              </a:rPr>
              <a:t> niet opgeloste misdaadcases werden behandeld door een agent met ervaring </a:t>
            </a:r>
            <a:r>
              <a:rPr lang="nl-BE" sz="1400" kern="0" dirty="0">
                <a:ea typeface="MS PGothic" charset="0"/>
              </a:rPr>
              <a:t>(39,8%)</a:t>
            </a:r>
          </a:p>
          <a:p>
            <a:pPr marL="0" indent="0">
              <a:lnSpc>
                <a:spcPct val="90000"/>
              </a:lnSpc>
              <a:buFontTx/>
              <a:buNone/>
            </a:pPr>
            <a:endParaRPr lang="nl-BE" sz="2400" kern="0" dirty="0">
              <a:ea typeface="MS PGothic" charset="0"/>
            </a:endParaRPr>
          </a:p>
          <a:p>
            <a:pPr marL="0" indent="0">
              <a:lnSpc>
                <a:spcPct val="90000"/>
              </a:lnSpc>
              <a:buFontTx/>
              <a:buNone/>
            </a:pPr>
            <a:endParaRPr lang="nl-BE" sz="2400" kern="0" dirty="0">
              <a:ea typeface="MS PGothic" charset="0"/>
            </a:endParaRPr>
          </a:p>
          <a:p>
            <a:pPr marL="0" indent="0">
              <a:lnSpc>
                <a:spcPct val="90000"/>
              </a:lnSpc>
              <a:buFontTx/>
              <a:buNone/>
            </a:pPr>
            <a:endParaRPr lang="nl-BE" sz="2400" kern="0" dirty="0">
              <a:ea typeface="MS PGothic" charset="0"/>
            </a:endParaRPr>
          </a:p>
          <a:p>
            <a:pPr marL="0" indent="0">
              <a:lnSpc>
                <a:spcPct val="90000"/>
              </a:lnSpc>
              <a:buFontTx/>
              <a:buNone/>
            </a:pPr>
            <a:endParaRPr lang="nl-BE" sz="2400" kern="0" dirty="0">
              <a:ea typeface="MS PGothic" charset="0"/>
            </a:endParaRPr>
          </a:p>
        </p:txBody>
      </p:sp>
      <p:sp>
        <p:nvSpPr>
          <p:cNvPr id="17" name="Rectangle 3">
            <a:extLst>
              <a:ext uri="{FF2B5EF4-FFF2-40B4-BE49-F238E27FC236}">
                <a16:creationId xmlns:a16="http://schemas.microsoft.com/office/drawing/2014/main" id="{6210102C-3765-5049-AD91-F8C0B22C4AB7}"/>
              </a:ext>
            </a:extLst>
          </p:cNvPr>
          <p:cNvSpPr txBox="1">
            <a:spLocks noChangeArrowheads="1"/>
          </p:cNvSpPr>
          <p:nvPr/>
        </p:nvSpPr>
        <p:spPr bwMode="auto">
          <a:xfrm>
            <a:off x="140208" y="5752669"/>
            <a:ext cx="11883869" cy="4195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342900" indent="-342900" algn="l" rtl="0" eaLnBrk="0" fontAlgn="base" hangingPunct="0">
              <a:spcBef>
                <a:spcPct val="20000"/>
              </a:spcBef>
              <a:spcAft>
                <a:spcPct val="0"/>
              </a:spcAft>
              <a:buChar char="•"/>
              <a:defRPr sz="2500">
                <a:solidFill>
                  <a:srgbClr val="003D62"/>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200">
                <a:solidFill>
                  <a:srgbClr val="003D62"/>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a:solidFill>
                  <a:srgbClr val="003D62"/>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1600">
                <a:solidFill>
                  <a:srgbClr val="003D62"/>
                </a:solidFill>
                <a:latin typeface="+mn-lt"/>
                <a:ea typeface="MS PGothic" pitchFamily="34" charset="-128"/>
                <a:cs typeface="MS PGothic" charset="0"/>
              </a:defRPr>
            </a:lvl5pPr>
            <a:lvl6pPr marL="25146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6pPr>
            <a:lvl7pPr marL="29718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7pPr>
            <a:lvl8pPr marL="34290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8pPr>
            <a:lvl9pPr marL="3886200" indent="-228600" algn="l" rtl="0" eaLnBrk="0" fontAlgn="base" hangingPunct="0">
              <a:spcBef>
                <a:spcPct val="20000"/>
              </a:spcBef>
              <a:spcAft>
                <a:spcPct val="0"/>
              </a:spcAft>
              <a:buChar char="»"/>
              <a:defRPr sz="1600">
                <a:solidFill>
                  <a:srgbClr val="003D62"/>
                </a:solidFill>
                <a:latin typeface="+mn-lt"/>
                <a:ea typeface="ＭＳ Ｐゴシック" pitchFamily="-109" charset="-128"/>
              </a:defRPr>
            </a:lvl9pPr>
          </a:lstStyle>
          <a:p>
            <a:pPr marL="0" indent="0">
              <a:lnSpc>
                <a:spcPct val="90000"/>
              </a:lnSpc>
              <a:buFontTx/>
              <a:buNone/>
            </a:pPr>
            <a:r>
              <a:rPr lang="nl-BE" sz="2000" u="sng" dirty="0">
                <a:ea typeface="MS PGothic" charset="0"/>
              </a:rPr>
              <a:t>Totaal%</a:t>
            </a:r>
            <a:r>
              <a:rPr lang="nl-BE" sz="2000" dirty="0">
                <a:ea typeface="MS PGothic" charset="0"/>
              </a:rPr>
              <a:t>:   </a:t>
            </a:r>
            <a:r>
              <a:rPr lang="nl-BE" sz="2000" i="1" dirty="0">
                <a:solidFill>
                  <a:srgbClr val="000000"/>
                </a:solidFill>
                <a:ea typeface="MS PGothic" charset="0"/>
              </a:rPr>
              <a:t>43</a:t>
            </a:r>
            <a:r>
              <a:rPr lang="nl-BE" sz="2000" dirty="0">
                <a:ea typeface="MS PGothic" charset="0"/>
              </a:rPr>
              <a:t> van </a:t>
            </a:r>
            <a:r>
              <a:rPr lang="nl-BE" sz="2000" dirty="0">
                <a:solidFill>
                  <a:schemeClr val="accent2"/>
                </a:solidFill>
                <a:ea typeface="MS PGothic" charset="0"/>
              </a:rPr>
              <a:t>298</a:t>
            </a:r>
            <a:r>
              <a:rPr lang="nl-BE" sz="2000" dirty="0">
                <a:ea typeface="MS PGothic" charset="0"/>
              </a:rPr>
              <a:t> misdaadcases werden niet opgelost en behandeld door een politieagent met ervaring </a:t>
            </a:r>
            <a:r>
              <a:rPr lang="nl-BE" sz="1400" dirty="0">
                <a:ea typeface="MS PGothic" charset="0"/>
              </a:rPr>
              <a:t>(14,4%)</a:t>
            </a: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a:p>
            <a:pPr marL="0" indent="0">
              <a:lnSpc>
                <a:spcPct val="90000"/>
              </a:lnSpc>
              <a:buFontTx/>
              <a:buNone/>
            </a:pPr>
            <a:endParaRPr lang="nl-BE" sz="2000" kern="0" dirty="0">
              <a:ea typeface="MS PGothic" charset="0"/>
            </a:endParaRPr>
          </a:p>
        </p:txBody>
      </p:sp>
      <p:sp>
        <p:nvSpPr>
          <p:cNvPr id="18" name="Ovaal 7">
            <a:extLst>
              <a:ext uri="{FF2B5EF4-FFF2-40B4-BE49-F238E27FC236}">
                <a16:creationId xmlns:a16="http://schemas.microsoft.com/office/drawing/2014/main" id="{997C93AA-20B4-5047-8044-2A0011A6CA40}"/>
              </a:ext>
            </a:extLst>
          </p:cNvPr>
          <p:cNvSpPr>
            <a:spLocks noChangeArrowheads="1"/>
          </p:cNvSpPr>
          <p:nvPr/>
        </p:nvSpPr>
        <p:spPr bwMode="auto">
          <a:xfrm>
            <a:off x="8523798" y="3043233"/>
            <a:ext cx="500137" cy="379144"/>
          </a:xfrm>
          <a:prstGeom prst="ellipse">
            <a:avLst/>
          </a:prstGeom>
          <a:noFill/>
          <a:ln w="28575">
            <a:solidFill>
              <a:schemeClr val="accent4"/>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cs typeface="Arial" charset="0"/>
            </a:endParaRPr>
          </a:p>
        </p:txBody>
      </p:sp>
      <p:sp>
        <p:nvSpPr>
          <p:cNvPr id="19" name="Ovaal 7">
            <a:extLst>
              <a:ext uri="{FF2B5EF4-FFF2-40B4-BE49-F238E27FC236}">
                <a16:creationId xmlns:a16="http://schemas.microsoft.com/office/drawing/2014/main" id="{AB42A717-649E-E046-811C-4536A641DB32}"/>
              </a:ext>
            </a:extLst>
          </p:cNvPr>
          <p:cNvSpPr>
            <a:spLocks noChangeArrowheads="1"/>
          </p:cNvSpPr>
          <p:nvPr/>
        </p:nvSpPr>
        <p:spPr bwMode="auto">
          <a:xfrm>
            <a:off x="8523797" y="3907148"/>
            <a:ext cx="500137" cy="379144"/>
          </a:xfrm>
          <a:prstGeom prst="ellipse">
            <a:avLst/>
          </a:prstGeom>
          <a:noFill/>
          <a:ln w="28575">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nl-BE">
              <a:solidFill>
                <a:schemeClr val="accent2"/>
              </a:solidFill>
              <a:cs typeface="Arial" charset="0"/>
            </a:endParaRPr>
          </a:p>
        </p:txBody>
      </p:sp>
    </p:spTree>
    <p:extLst>
      <p:ext uri="{BB962C8B-B14F-4D97-AF65-F5344CB8AC3E}">
        <p14:creationId xmlns:p14="http://schemas.microsoft.com/office/powerpoint/2010/main" val="25911234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ED1F6F4D-4CCB-974E-A80C-2CD8E5A327F9}"/>
              </a:ext>
            </a:extLst>
          </p:cNvPr>
          <p:cNvSpPr>
            <a:spLocks noGrp="1"/>
          </p:cNvSpPr>
          <p:nvPr>
            <p:ph type="title"/>
          </p:nvPr>
        </p:nvSpPr>
        <p:spPr/>
        <p:txBody>
          <a:bodyPr/>
          <a:lstStyle/>
          <a:p>
            <a:r>
              <a:rPr lang="nl-BE" dirty="0"/>
              <a:t>Kruistabellen in R     </a:t>
            </a:r>
            <a:r>
              <a:rPr lang="nl-BE" sz="2800" dirty="0"/>
              <a:t>(OLP2 functies)</a:t>
            </a:r>
          </a:p>
        </p:txBody>
      </p:sp>
      <p:sp>
        <p:nvSpPr>
          <p:cNvPr id="2" name="Tijdelijke aanduiding voor dianummer 1">
            <a:extLst>
              <a:ext uri="{FF2B5EF4-FFF2-40B4-BE49-F238E27FC236}">
                <a16:creationId xmlns:a16="http://schemas.microsoft.com/office/drawing/2014/main" id="{D2AC9197-700E-044F-8554-D48494F10AF0}"/>
              </a:ext>
            </a:extLst>
          </p:cNvPr>
          <p:cNvSpPr>
            <a:spLocks noGrp="1"/>
          </p:cNvSpPr>
          <p:nvPr>
            <p:ph type="sldNum" sz="quarter" idx="10"/>
          </p:nvPr>
        </p:nvSpPr>
        <p:spPr/>
        <p:txBody>
          <a:bodyPr/>
          <a:lstStyle/>
          <a:p>
            <a:fld id="{E038E271-308C-2E46-A3EC-56326F9084CC}" type="slidenum">
              <a:rPr lang="nl-BE" smtClean="0"/>
              <a:pPr/>
              <a:t>39</a:t>
            </a:fld>
            <a:endParaRPr lang="nl-BE" dirty="0">
              <a:latin typeface="Calibri Light" panose="020F0302020204030204" pitchFamily="34" charset="0"/>
            </a:endParaRPr>
          </a:p>
        </p:txBody>
      </p:sp>
      <p:sp>
        <p:nvSpPr>
          <p:cNvPr id="7" name="Tijdelijke aanduiding voor inhoud 6">
            <a:extLst>
              <a:ext uri="{FF2B5EF4-FFF2-40B4-BE49-F238E27FC236}">
                <a16:creationId xmlns:a16="http://schemas.microsoft.com/office/drawing/2014/main" id="{FB09F725-F958-364D-A7E8-FD45604F3AC6}"/>
              </a:ext>
            </a:extLst>
          </p:cNvPr>
          <p:cNvSpPr>
            <a:spLocks noGrp="1"/>
          </p:cNvSpPr>
          <p:nvPr>
            <p:ph idx="1"/>
          </p:nvPr>
        </p:nvSpPr>
        <p:spPr/>
        <p:txBody>
          <a:bodyPr/>
          <a:lstStyle/>
          <a:p>
            <a:pPr>
              <a:lnSpc>
                <a:spcPct val="90000"/>
              </a:lnSpc>
              <a:buFontTx/>
              <a:buNone/>
              <a:defRPr/>
            </a:pPr>
            <a:r>
              <a:rPr lang="en-GB" altLang="nl-BE" sz="2400" dirty="0">
                <a:solidFill>
                  <a:srgbClr val="0000FF"/>
                </a:solidFill>
                <a:latin typeface="Courier New" pitchFamily="49" charset="0"/>
                <a:cs typeface="Courier New" pitchFamily="49" charset="0"/>
              </a:rPr>
              <a:t>&gt; </a:t>
            </a:r>
            <a:r>
              <a:rPr lang="en-GB" altLang="nl-BE" sz="2400" dirty="0" err="1">
                <a:solidFill>
                  <a:srgbClr val="0000FF"/>
                </a:solidFill>
                <a:latin typeface="Courier New" pitchFamily="49" charset="0"/>
                <a:cs typeface="Courier New" pitchFamily="49" charset="0"/>
              </a:rPr>
              <a:t>kruistabel.kolom</a:t>
            </a:r>
            <a:r>
              <a:rPr lang="en-GB" altLang="nl-BE" sz="2400" dirty="0">
                <a:solidFill>
                  <a:srgbClr val="0000FF"/>
                </a:solidFill>
                <a:latin typeface="Courier New" pitchFamily="49" charset="0"/>
                <a:cs typeface="Courier New" pitchFamily="49" charset="0"/>
              </a:rPr>
              <a:t>(Variabele1,Variabele2) </a:t>
            </a:r>
          </a:p>
          <a:p>
            <a:pPr>
              <a:lnSpc>
                <a:spcPct val="90000"/>
              </a:lnSpc>
              <a:buFontTx/>
              <a:buNone/>
              <a:defRPr/>
            </a:pPr>
            <a:r>
              <a:rPr lang="en-GB" altLang="nl-BE" sz="2400" i="1" dirty="0">
                <a:solidFill>
                  <a:srgbClr val="0000FF"/>
                </a:solidFill>
                <a:latin typeface="Courier New" pitchFamily="49" charset="0"/>
                <a:cs typeface="Courier New" pitchFamily="49" charset="0"/>
              </a:rPr>
              <a:t>	</a:t>
            </a:r>
            <a:r>
              <a:rPr lang="en-GB" altLang="nl-BE" sz="2000" i="1" dirty="0" err="1">
                <a:latin typeface="+mn-lt"/>
                <a:cs typeface="Courier New" pitchFamily="49" charset="0"/>
              </a:rPr>
              <a:t>Dit</a:t>
            </a:r>
            <a:r>
              <a:rPr lang="en-GB" altLang="nl-BE" sz="2000" i="1" dirty="0">
                <a:latin typeface="+mn-lt"/>
                <a:cs typeface="Courier New" pitchFamily="49" charset="0"/>
              </a:rPr>
              <a:t> </a:t>
            </a:r>
            <a:r>
              <a:rPr lang="en-GB" altLang="nl-BE" sz="2000" i="1" dirty="0" err="1">
                <a:latin typeface="+mn-lt"/>
                <a:cs typeface="Courier New" pitchFamily="49" charset="0"/>
              </a:rPr>
              <a:t>geeft</a:t>
            </a:r>
            <a:r>
              <a:rPr lang="en-GB" altLang="nl-BE" sz="2000" i="1" dirty="0">
                <a:latin typeface="+mn-lt"/>
                <a:cs typeface="Courier New" pitchFamily="49" charset="0"/>
              </a:rPr>
              <a:t> de </a:t>
            </a:r>
            <a:r>
              <a:rPr lang="en-GB" altLang="nl-BE" sz="2000" i="1" dirty="0" err="1">
                <a:latin typeface="+mn-lt"/>
                <a:cs typeface="Courier New" pitchFamily="49" charset="0"/>
              </a:rPr>
              <a:t>kolompercentages</a:t>
            </a:r>
            <a:r>
              <a:rPr lang="en-GB" altLang="nl-BE" sz="2000" i="1" dirty="0">
                <a:latin typeface="+mn-lt"/>
                <a:cs typeface="Courier New" pitchFamily="49" charset="0"/>
              </a:rPr>
              <a:t> </a:t>
            </a:r>
            <a:r>
              <a:rPr lang="en-GB" altLang="nl-BE" sz="2000" i="1" dirty="0" err="1">
                <a:latin typeface="+mn-lt"/>
                <a:cs typeface="Courier New" pitchFamily="49" charset="0"/>
              </a:rPr>
              <a:t>gecombineerd</a:t>
            </a:r>
            <a:r>
              <a:rPr lang="en-GB" altLang="nl-BE" sz="2000" i="1" dirty="0">
                <a:latin typeface="+mn-lt"/>
                <a:cs typeface="Courier New" pitchFamily="49" charset="0"/>
              </a:rPr>
              <a:t> met alle </a:t>
            </a:r>
            <a:r>
              <a:rPr lang="en-GB" altLang="nl-BE" sz="2000" i="1" dirty="0" err="1">
                <a:latin typeface="+mn-lt"/>
                <a:cs typeface="Courier New" pitchFamily="49" charset="0"/>
              </a:rPr>
              <a:t>totalen</a:t>
            </a:r>
            <a:endParaRPr lang="en-GB" altLang="nl-BE" sz="2400" i="1" dirty="0">
              <a:latin typeface="+mn-lt"/>
              <a:cs typeface="Courier New" pitchFamily="49" charset="0"/>
            </a:endParaRPr>
          </a:p>
          <a:p>
            <a:pPr>
              <a:lnSpc>
                <a:spcPct val="90000"/>
              </a:lnSpc>
              <a:buFontTx/>
              <a:buNone/>
              <a:defRPr/>
            </a:pPr>
            <a:endParaRPr lang="en-GB" altLang="nl-BE" sz="2400" dirty="0">
              <a:solidFill>
                <a:srgbClr val="800000"/>
              </a:solidFill>
              <a:cs typeface="ＭＳ Ｐゴシック" pitchFamily="-65" charset="-128"/>
            </a:endParaRPr>
          </a:p>
          <a:p>
            <a:pPr>
              <a:lnSpc>
                <a:spcPct val="90000"/>
              </a:lnSpc>
              <a:buFontTx/>
              <a:buNone/>
              <a:defRPr/>
            </a:pPr>
            <a:endParaRPr lang="en-GB" altLang="nl-BE" sz="2400" dirty="0">
              <a:solidFill>
                <a:srgbClr val="800000"/>
              </a:solidFill>
              <a:cs typeface="ＭＳ Ｐゴシック" pitchFamily="-65" charset="-128"/>
            </a:endParaRPr>
          </a:p>
          <a:p>
            <a:pPr>
              <a:lnSpc>
                <a:spcPct val="90000"/>
              </a:lnSpc>
              <a:buFontTx/>
              <a:buNone/>
              <a:defRPr/>
            </a:pPr>
            <a:endParaRPr lang="en-GB" altLang="nl-BE" sz="2400" dirty="0">
              <a:solidFill>
                <a:srgbClr val="800000"/>
              </a:solidFill>
              <a:cs typeface="ＭＳ Ｐゴシック" pitchFamily="-65" charset="-128"/>
            </a:endParaRPr>
          </a:p>
          <a:p>
            <a:pPr>
              <a:lnSpc>
                <a:spcPct val="90000"/>
              </a:lnSpc>
              <a:buFontTx/>
              <a:buNone/>
              <a:defRPr/>
            </a:pPr>
            <a:endParaRPr lang="en-GB" altLang="nl-BE" sz="2400" dirty="0">
              <a:solidFill>
                <a:srgbClr val="800000"/>
              </a:solidFill>
              <a:cs typeface="ＭＳ Ｐゴシック" pitchFamily="-65" charset="-128"/>
            </a:endParaRPr>
          </a:p>
          <a:p>
            <a:pPr>
              <a:lnSpc>
                <a:spcPct val="90000"/>
              </a:lnSpc>
              <a:buFontTx/>
              <a:buNone/>
              <a:defRPr/>
            </a:pPr>
            <a:endParaRPr lang="en-GB" altLang="nl-BE" sz="2400" dirty="0">
              <a:solidFill>
                <a:srgbClr val="800000"/>
              </a:solidFill>
              <a:cs typeface="ＭＳ Ｐゴシック" pitchFamily="-65" charset="-128"/>
            </a:endParaRPr>
          </a:p>
          <a:p>
            <a:pPr>
              <a:lnSpc>
                <a:spcPct val="90000"/>
              </a:lnSpc>
              <a:buFontTx/>
              <a:buNone/>
              <a:defRPr/>
            </a:pPr>
            <a:r>
              <a:rPr lang="en-GB" altLang="nl-BE" sz="2400" dirty="0">
                <a:solidFill>
                  <a:srgbClr val="0000FF"/>
                </a:solidFill>
                <a:latin typeface="Courier New" pitchFamily="49" charset="0"/>
                <a:cs typeface="Courier New" pitchFamily="49" charset="0"/>
              </a:rPr>
              <a:t>&gt; </a:t>
            </a:r>
            <a:r>
              <a:rPr lang="en-GB" altLang="nl-BE" sz="2400" dirty="0" err="1">
                <a:solidFill>
                  <a:srgbClr val="0000FF"/>
                </a:solidFill>
                <a:latin typeface="Courier New" pitchFamily="49" charset="0"/>
                <a:cs typeface="Courier New" pitchFamily="49" charset="0"/>
              </a:rPr>
              <a:t>kruistabel.rij</a:t>
            </a:r>
            <a:r>
              <a:rPr lang="en-GB" altLang="nl-BE" sz="2400" dirty="0">
                <a:solidFill>
                  <a:srgbClr val="0000FF"/>
                </a:solidFill>
                <a:latin typeface="Courier New" pitchFamily="49" charset="0"/>
                <a:cs typeface="Courier New" pitchFamily="49" charset="0"/>
              </a:rPr>
              <a:t>(Variabele1,Variabele2)</a:t>
            </a:r>
          </a:p>
          <a:p>
            <a:pPr>
              <a:lnSpc>
                <a:spcPct val="90000"/>
              </a:lnSpc>
              <a:buFontTx/>
              <a:buNone/>
              <a:defRPr/>
            </a:pPr>
            <a:r>
              <a:rPr lang="en-GB" altLang="nl-BE" sz="2000" i="1" dirty="0">
                <a:solidFill>
                  <a:srgbClr val="0000FF"/>
                </a:solidFill>
                <a:latin typeface="Courier New" pitchFamily="49" charset="0"/>
                <a:cs typeface="Courier New" pitchFamily="49" charset="0"/>
              </a:rPr>
              <a:t>	</a:t>
            </a:r>
            <a:r>
              <a:rPr lang="en-GB" altLang="nl-BE" sz="2000" i="1" dirty="0" err="1">
                <a:cs typeface="Courier New" pitchFamily="49" charset="0"/>
              </a:rPr>
              <a:t>Dit</a:t>
            </a:r>
            <a:r>
              <a:rPr lang="en-GB" altLang="nl-BE" sz="2000" i="1" dirty="0">
                <a:cs typeface="Courier New" pitchFamily="49" charset="0"/>
              </a:rPr>
              <a:t> </a:t>
            </a:r>
            <a:r>
              <a:rPr lang="en-GB" altLang="nl-BE" sz="2000" i="1" dirty="0" err="1">
                <a:cs typeface="Courier New" pitchFamily="49" charset="0"/>
              </a:rPr>
              <a:t>geeft</a:t>
            </a:r>
            <a:r>
              <a:rPr lang="en-GB" altLang="nl-BE" sz="2000" i="1" dirty="0">
                <a:cs typeface="Courier New" pitchFamily="49" charset="0"/>
              </a:rPr>
              <a:t> de </a:t>
            </a:r>
            <a:r>
              <a:rPr lang="en-GB" altLang="nl-BE" sz="2000" i="1" dirty="0" err="1">
                <a:cs typeface="Courier New" pitchFamily="49" charset="0"/>
              </a:rPr>
              <a:t>rijpercentages</a:t>
            </a:r>
            <a:r>
              <a:rPr lang="en-GB" altLang="nl-BE" sz="2000" i="1" dirty="0">
                <a:cs typeface="Courier New" pitchFamily="49" charset="0"/>
              </a:rPr>
              <a:t> </a:t>
            </a:r>
            <a:r>
              <a:rPr lang="en-GB" altLang="nl-BE" sz="2000" i="1" dirty="0" err="1">
                <a:cs typeface="Courier New" pitchFamily="49" charset="0"/>
              </a:rPr>
              <a:t>gecombineerd</a:t>
            </a:r>
            <a:r>
              <a:rPr lang="en-GB" altLang="nl-BE" sz="2000" i="1" dirty="0">
                <a:cs typeface="Courier New" pitchFamily="49" charset="0"/>
              </a:rPr>
              <a:t> met alle </a:t>
            </a:r>
            <a:r>
              <a:rPr lang="en-GB" altLang="nl-BE" sz="2000" i="1" dirty="0" err="1">
                <a:cs typeface="Courier New" pitchFamily="49" charset="0"/>
              </a:rPr>
              <a:t>totalen</a:t>
            </a:r>
            <a:endParaRPr lang="nl-BE" sz="2400" dirty="0"/>
          </a:p>
        </p:txBody>
      </p:sp>
      <p:pic>
        <p:nvPicPr>
          <p:cNvPr id="3" name="Afbeelding 2">
            <a:extLst>
              <a:ext uri="{FF2B5EF4-FFF2-40B4-BE49-F238E27FC236}">
                <a16:creationId xmlns:a16="http://schemas.microsoft.com/office/drawing/2014/main" id="{83093574-5C9F-44E3-8191-3DED6A7111D6}"/>
              </a:ext>
            </a:extLst>
          </p:cNvPr>
          <p:cNvPicPr>
            <a:picLocks noChangeAspect="1"/>
          </p:cNvPicPr>
          <p:nvPr/>
        </p:nvPicPr>
        <p:blipFill rotWithShape="1">
          <a:blip r:embed="rId3"/>
          <a:srcRect l="612" t="83673" r="76124" b="7566"/>
          <a:stretch/>
        </p:blipFill>
        <p:spPr>
          <a:xfrm>
            <a:off x="2357609" y="2411382"/>
            <a:ext cx="5602385" cy="1186733"/>
          </a:xfrm>
          <a:prstGeom prst="rect">
            <a:avLst/>
          </a:prstGeom>
          <a:ln>
            <a:solidFill>
              <a:srgbClr val="000000"/>
            </a:solidFill>
          </a:ln>
        </p:spPr>
      </p:pic>
      <p:pic>
        <p:nvPicPr>
          <p:cNvPr id="4" name="Afbeelding 3">
            <a:extLst>
              <a:ext uri="{FF2B5EF4-FFF2-40B4-BE49-F238E27FC236}">
                <a16:creationId xmlns:a16="http://schemas.microsoft.com/office/drawing/2014/main" id="{2B1DAF19-4AA1-457A-A705-0205CC6A4671}"/>
              </a:ext>
            </a:extLst>
          </p:cNvPr>
          <p:cNvPicPr>
            <a:picLocks noChangeAspect="1"/>
          </p:cNvPicPr>
          <p:nvPr/>
        </p:nvPicPr>
        <p:blipFill rotWithShape="1">
          <a:blip r:embed="rId4"/>
          <a:srcRect l="544" t="83995" r="76199" b="7565"/>
          <a:stretch/>
        </p:blipFill>
        <p:spPr>
          <a:xfrm>
            <a:off x="2357609" y="5228761"/>
            <a:ext cx="5602385" cy="1143580"/>
          </a:xfrm>
          <a:prstGeom prst="rect">
            <a:avLst/>
          </a:prstGeom>
          <a:ln>
            <a:solidFill>
              <a:srgbClr val="000000"/>
            </a:solidFill>
          </a:ln>
        </p:spPr>
      </p:pic>
    </p:spTree>
    <p:extLst>
      <p:ext uri="{BB962C8B-B14F-4D97-AF65-F5344CB8AC3E}">
        <p14:creationId xmlns:p14="http://schemas.microsoft.com/office/powerpoint/2010/main" val="3272586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8FDE3A-31E8-F540-A7A5-D003AAC62C7C}"/>
              </a:ext>
            </a:extLst>
          </p:cNvPr>
          <p:cNvSpPr>
            <a:spLocks noGrp="1"/>
          </p:cNvSpPr>
          <p:nvPr>
            <p:ph type="title"/>
          </p:nvPr>
        </p:nvSpPr>
        <p:spPr/>
        <p:txBody>
          <a:bodyPr>
            <a:normAutofit/>
          </a:bodyPr>
          <a:lstStyle/>
          <a:p>
            <a:r>
              <a:rPr lang="nl-BE" dirty="0"/>
              <a:t>Samenhang tussen ervaring en oplossen case?</a:t>
            </a:r>
          </a:p>
        </p:txBody>
      </p:sp>
      <p:sp>
        <p:nvSpPr>
          <p:cNvPr id="3" name="Tijdelijke aanduiding voor dianummer 2">
            <a:extLst>
              <a:ext uri="{FF2B5EF4-FFF2-40B4-BE49-F238E27FC236}">
                <a16:creationId xmlns:a16="http://schemas.microsoft.com/office/drawing/2014/main" id="{7C505AA5-4EE0-3740-BCC3-74681705CBB9}"/>
              </a:ext>
            </a:extLst>
          </p:cNvPr>
          <p:cNvSpPr>
            <a:spLocks noGrp="1"/>
          </p:cNvSpPr>
          <p:nvPr>
            <p:ph type="sldNum" sz="quarter" idx="10"/>
          </p:nvPr>
        </p:nvSpPr>
        <p:spPr/>
        <p:txBody>
          <a:bodyPr/>
          <a:lstStyle/>
          <a:p>
            <a:fld id="{E038E271-308C-2E46-A3EC-56326F9084CC}" type="slidenum">
              <a:rPr lang="nl-BE" smtClean="0"/>
              <a:pPr/>
              <a:t>40</a:t>
            </a:fld>
            <a:endParaRPr lang="nl-BE" dirty="0"/>
          </a:p>
        </p:txBody>
      </p:sp>
      <p:pic>
        <p:nvPicPr>
          <p:cNvPr id="6" name="Tijdelijke aanduiding voor inhoud 5">
            <a:extLst>
              <a:ext uri="{FF2B5EF4-FFF2-40B4-BE49-F238E27FC236}">
                <a16:creationId xmlns:a16="http://schemas.microsoft.com/office/drawing/2014/main" id="{A37433D3-6DA4-7341-8CA8-9204D2B7E627}"/>
              </a:ext>
            </a:extLst>
          </p:cNvPr>
          <p:cNvPicPr>
            <a:picLocks noGrp="1" noChangeAspect="1"/>
          </p:cNvPicPr>
          <p:nvPr>
            <p:ph idx="1"/>
          </p:nvPr>
        </p:nvPicPr>
        <p:blipFill rotWithShape="1">
          <a:blip r:embed="rId3"/>
          <a:srcRect t="24702" r="12006"/>
          <a:stretch/>
        </p:blipFill>
        <p:spPr>
          <a:xfrm>
            <a:off x="1781475" y="1804102"/>
            <a:ext cx="8629049" cy="3249796"/>
          </a:xfrm>
          <a:prstGeom prst="rect">
            <a:avLst/>
          </a:prstGeom>
        </p:spPr>
      </p:pic>
    </p:spTree>
    <p:extLst>
      <p:ext uri="{BB962C8B-B14F-4D97-AF65-F5344CB8AC3E}">
        <p14:creationId xmlns:p14="http://schemas.microsoft.com/office/powerpoint/2010/main" val="2759519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8FDE3A-31E8-F540-A7A5-D003AAC62C7C}"/>
              </a:ext>
            </a:extLst>
          </p:cNvPr>
          <p:cNvSpPr>
            <a:spLocks noGrp="1"/>
          </p:cNvSpPr>
          <p:nvPr>
            <p:ph type="title"/>
          </p:nvPr>
        </p:nvSpPr>
        <p:spPr/>
        <p:txBody>
          <a:bodyPr>
            <a:normAutofit/>
          </a:bodyPr>
          <a:lstStyle/>
          <a:p>
            <a:r>
              <a:rPr lang="nl-BE" dirty="0"/>
              <a:t>Associaties tussen 2 kwalitatieve variabelen opsporen</a:t>
            </a:r>
          </a:p>
        </p:txBody>
      </p:sp>
      <p:sp>
        <p:nvSpPr>
          <p:cNvPr id="3" name="Tijdelijke aanduiding voor dianummer 2">
            <a:extLst>
              <a:ext uri="{FF2B5EF4-FFF2-40B4-BE49-F238E27FC236}">
                <a16:creationId xmlns:a16="http://schemas.microsoft.com/office/drawing/2014/main" id="{7C505AA5-4EE0-3740-BCC3-74681705CBB9}"/>
              </a:ext>
            </a:extLst>
          </p:cNvPr>
          <p:cNvSpPr>
            <a:spLocks noGrp="1"/>
          </p:cNvSpPr>
          <p:nvPr>
            <p:ph type="sldNum" sz="quarter" idx="10"/>
          </p:nvPr>
        </p:nvSpPr>
        <p:spPr/>
        <p:txBody>
          <a:bodyPr/>
          <a:lstStyle/>
          <a:p>
            <a:fld id="{E038E271-308C-2E46-A3EC-56326F9084CC}" type="slidenum">
              <a:rPr lang="nl-BE" smtClean="0"/>
              <a:pPr/>
              <a:t>41</a:t>
            </a:fld>
            <a:endParaRPr lang="nl-BE" dirty="0"/>
          </a:p>
        </p:txBody>
      </p:sp>
      <p:sp>
        <p:nvSpPr>
          <p:cNvPr id="4" name="Tijdelijke aanduiding voor inhoud 3">
            <a:extLst>
              <a:ext uri="{FF2B5EF4-FFF2-40B4-BE49-F238E27FC236}">
                <a16:creationId xmlns:a16="http://schemas.microsoft.com/office/drawing/2014/main" id="{4EB9AD0C-413D-D646-BFF6-30AE10F05C66}"/>
              </a:ext>
            </a:extLst>
          </p:cNvPr>
          <p:cNvSpPr>
            <a:spLocks noGrp="1"/>
          </p:cNvSpPr>
          <p:nvPr>
            <p:ph idx="1"/>
          </p:nvPr>
        </p:nvSpPr>
        <p:spPr/>
        <p:txBody>
          <a:bodyPr/>
          <a:lstStyle/>
          <a:p>
            <a:pPr marL="352963" indent="-457200">
              <a:buFont typeface="+mj-lt"/>
              <a:buAutoNum type="arabicPeriod"/>
            </a:pPr>
            <a:r>
              <a:rPr lang="nl-BE" sz="2000" b="0" dirty="0">
                <a:latin typeface="Verdana" charset="0"/>
                <a:ea typeface="MS PGothic" charset="0"/>
              </a:rPr>
              <a:t>Bepaal ‘onafhankelijke’ variabele</a:t>
            </a:r>
          </a:p>
          <a:p>
            <a:pPr marL="352963" indent="-457200">
              <a:buFont typeface="+mj-lt"/>
              <a:buAutoNum type="arabicPeriod"/>
            </a:pPr>
            <a:r>
              <a:rPr lang="nl-BE" sz="2000" b="0" dirty="0">
                <a:latin typeface="Verdana" charset="0"/>
                <a:ea typeface="MS PGothic" charset="0"/>
              </a:rPr>
              <a:t>Zet ‘onafhankelijke’ variabele in kolommen</a:t>
            </a:r>
          </a:p>
          <a:p>
            <a:pPr marL="352963" indent="-457200">
              <a:buFont typeface="+mj-lt"/>
              <a:buAutoNum type="arabicPeriod"/>
            </a:pPr>
            <a:r>
              <a:rPr lang="nl-BE" sz="2000" b="0" dirty="0">
                <a:latin typeface="Verdana" charset="0"/>
                <a:ea typeface="MS PGothic" charset="0"/>
              </a:rPr>
              <a:t>Bereken kolom%</a:t>
            </a:r>
          </a:p>
          <a:p>
            <a:pPr marL="352963" indent="-457200">
              <a:buFont typeface="+mj-lt"/>
              <a:buAutoNum type="arabicPeriod"/>
            </a:pPr>
            <a:r>
              <a:rPr lang="nl-BE" sz="2000" b="0" dirty="0">
                <a:latin typeface="Verdana" charset="0"/>
                <a:ea typeface="MS PGothic" charset="0"/>
              </a:rPr>
              <a:t>Vergelijk kolom% per categorie van rij </a:t>
            </a:r>
          </a:p>
          <a:p>
            <a:endParaRPr lang="nl-BE" dirty="0"/>
          </a:p>
        </p:txBody>
      </p:sp>
      <p:pic>
        <p:nvPicPr>
          <p:cNvPr id="5" name="Afbeelding 4">
            <a:extLst>
              <a:ext uri="{FF2B5EF4-FFF2-40B4-BE49-F238E27FC236}">
                <a16:creationId xmlns:a16="http://schemas.microsoft.com/office/drawing/2014/main" id="{A8C81A9B-BEB7-374E-AA4B-8FF7D1F84521}"/>
              </a:ext>
            </a:extLst>
          </p:cNvPr>
          <p:cNvPicPr>
            <a:picLocks noChangeAspect="1"/>
          </p:cNvPicPr>
          <p:nvPr/>
        </p:nvPicPr>
        <p:blipFill rotWithShape="1">
          <a:blip r:embed="rId3"/>
          <a:srcRect t="23318"/>
          <a:stretch/>
        </p:blipFill>
        <p:spPr>
          <a:xfrm>
            <a:off x="2212983" y="3421200"/>
            <a:ext cx="7567742" cy="2816087"/>
          </a:xfrm>
          <a:prstGeom prst="rect">
            <a:avLst/>
          </a:prstGeom>
        </p:spPr>
      </p:pic>
      <p:cxnSp>
        <p:nvCxnSpPr>
          <p:cNvPr id="6" name="Rechte verbindingslijn met pijl 5">
            <a:extLst>
              <a:ext uri="{FF2B5EF4-FFF2-40B4-BE49-F238E27FC236}">
                <a16:creationId xmlns:a16="http://schemas.microsoft.com/office/drawing/2014/main" id="{F71B9F4A-359C-B540-B63A-731975CE9175}"/>
              </a:ext>
            </a:extLst>
          </p:cNvPr>
          <p:cNvCxnSpPr/>
          <p:nvPr/>
        </p:nvCxnSpPr>
        <p:spPr bwMode="auto">
          <a:xfrm>
            <a:off x="6590792" y="4869136"/>
            <a:ext cx="1368152" cy="0"/>
          </a:xfrm>
          <a:prstGeom prst="straightConnector1">
            <a:avLst/>
          </a:prstGeom>
          <a:solidFill>
            <a:schemeClr val="accent1"/>
          </a:solidFill>
          <a:ln w="57150" cap="flat" cmpd="sng" algn="ctr">
            <a:solidFill>
              <a:srgbClr val="7E002F"/>
            </a:solidFill>
            <a:prstDash val="solid"/>
            <a:round/>
            <a:headEnd type="triangle"/>
            <a:tailEnd type="triangle"/>
          </a:ln>
          <a:effectLst/>
        </p:spPr>
      </p:cxnSp>
      <p:cxnSp>
        <p:nvCxnSpPr>
          <p:cNvPr id="7" name="Rechte verbindingslijn met pijl 6">
            <a:extLst>
              <a:ext uri="{FF2B5EF4-FFF2-40B4-BE49-F238E27FC236}">
                <a16:creationId xmlns:a16="http://schemas.microsoft.com/office/drawing/2014/main" id="{4160796F-12A3-6543-B0A4-26C0241CB2D5}"/>
              </a:ext>
            </a:extLst>
          </p:cNvPr>
          <p:cNvCxnSpPr/>
          <p:nvPr/>
        </p:nvCxnSpPr>
        <p:spPr bwMode="auto">
          <a:xfrm>
            <a:off x="6632057" y="5229176"/>
            <a:ext cx="1368152" cy="0"/>
          </a:xfrm>
          <a:prstGeom prst="straightConnector1">
            <a:avLst/>
          </a:prstGeom>
          <a:solidFill>
            <a:schemeClr val="accent1"/>
          </a:solidFill>
          <a:ln w="57150" cap="flat" cmpd="sng" algn="ctr">
            <a:solidFill>
              <a:srgbClr val="7E002F"/>
            </a:solidFill>
            <a:prstDash val="solid"/>
            <a:round/>
            <a:headEnd type="triangle"/>
            <a:tailEnd type="triangle"/>
          </a:ln>
          <a:effectLst/>
        </p:spPr>
      </p:cxnSp>
      <p:sp>
        <p:nvSpPr>
          <p:cNvPr id="8" name="Tekstvak 7">
            <a:extLst>
              <a:ext uri="{FF2B5EF4-FFF2-40B4-BE49-F238E27FC236}">
                <a16:creationId xmlns:a16="http://schemas.microsoft.com/office/drawing/2014/main" id="{9B0B4F16-D993-46F2-A5B6-F9CF11B47485}"/>
              </a:ext>
            </a:extLst>
          </p:cNvPr>
          <p:cNvSpPr txBox="1"/>
          <p:nvPr/>
        </p:nvSpPr>
        <p:spPr>
          <a:xfrm>
            <a:off x="8402592" y="5832389"/>
            <a:ext cx="397331" cy="197708"/>
          </a:xfrm>
          <a:prstGeom prst="rect">
            <a:avLst/>
          </a:prstGeom>
          <a:solidFill>
            <a:schemeClr val="bg1"/>
          </a:solidFill>
        </p:spPr>
        <p:txBody>
          <a:bodyPr wrap="none" lIns="0" tIns="0" rIns="0" bIns="0" rtlCol="0">
            <a:noAutofit/>
          </a:bodyPr>
          <a:lstStyle/>
          <a:p>
            <a:pPr algn="l"/>
            <a:r>
              <a:rPr lang="nl-BE" sz="1700" dirty="0">
                <a:solidFill>
                  <a:srgbClr val="292929"/>
                </a:solidFill>
                <a:latin typeface="Gotham" panose="02000603040000020004" pitchFamily="2" charset="0"/>
                <a:ea typeface="Verdana" panose="020B0604030504040204" pitchFamily="34" charset="0"/>
                <a:cs typeface="Verdana" panose="020B0604030504040204" pitchFamily="34" charset="0"/>
              </a:rPr>
              <a:t>136</a:t>
            </a:r>
          </a:p>
        </p:txBody>
      </p:sp>
    </p:spTree>
    <p:extLst>
      <p:ext uri="{BB962C8B-B14F-4D97-AF65-F5344CB8AC3E}">
        <p14:creationId xmlns:p14="http://schemas.microsoft.com/office/powerpoint/2010/main" val="20486657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18FDE3A-31E8-F540-A7A5-D003AAC62C7C}"/>
              </a:ext>
            </a:extLst>
          </p:cNvPr>
          <p:cNvSpPr>
            <a:spLocks noGrp="1"/>
          </p:cNvSpPr>
          <p:nvPr>
            <p:ph type="title"/>
          </p:nvPr>
        </p:nvSpPr>
        <p:spPr/>
        <p:txBody>
          <a:bodyPr>
            <a:normAutofit/>
          </a:bodyPr>
          <a:lstStyle/>
          <a:p>
            <a:r>
              <a:rPr lang="nl-BE" dirty="0"/>
              <a:t>Associaties tussen 2 kwalitatieve variabelen opsporen</a:t>
            </a:r>
          </a:p>
        </p:txBody>
      </p:sp>
      <p:sp>
        <p:nvSpPr>
          <p:cNvPr id="3" name="Tijdelijke aanduiding voor dianummer 2">
            <a:extLst>
              <a:ext uri="{FF2B5EF4-FFF2-40B4-BE49-F238E27FC236}">
                <a16:creationId xmlns:a16="http://schemas.microsoft.com/office/drawing/2014/main" id="{7C505AA5-4EE0-3740-BCC3-74681705CBB9}"/>
              </a:ext>
            </a:extLst>
          </p:cNvPr>
          <p:cNvSpPr>
            <a:spLocks noGrp="1"/>
          </p:cNvSpPr>
          <p:nvPr>
            <p:ph type="sldNum" sz="quarter" idx="10"/>
          </p:nvPr>
        </p:nvSpPr>
        <p:spPr/>
        <p:txBody>
          <a:bodyPr/>
          <a:lstStyle/>
          <a:p>
            <a:fld id="{E038E271-308C-2E46-A3EC-56326F9084CC}" type="slidenum">
              <a:rPr lang="nl-BE" smtClean="0"/>
              <a:pPr/>
              <a:t>42</a:t>
            </a:fld>
            <a:endParaRPr lang="nl-BE" dirty="0"/>
          </a:p>
        </p:txBody>
      </p:sp>
      <p:sp>
        <p:nvSpPr>
          <p:cNvPr id="4" name="Tijdelijke aanduiding voor inhoud 3">
            <a:extLst>
              <a:ext uri="{FF2B5EF4-FFF2-40B4-BE49-F238E27FC236}">
                <a16:creationId xmlns:a16="http://schemas.microsoft.com/office/drawing/2014/main" id="{4EB9AD0C-413D-D646-BFF6-30AE10F05C66}"/>
              </a:ext>
            </a:extLst>
          </p:cNvPr>
          <p:cNvSpPr>
            <a:spLocks noGrp="1"/>
          </p:cNvSpPr>
          <p:nvPr>
            <p:ph idx="1"/>
          </p:nvPr>
        </p:nvSpPr>
        <p:spPr/>
        <p:txBody>
          <a:bodyPr/>
          <a:lstStyle/>
          <a:p>
            <a:pPr marL="352963" indent="-457200">
              <a:buFont typeface="+mj-lt"/>
              <a:buAutoNum type="arabicPeriod"/>
            </a:pPr>
            <a:r>
              <a:rPr lang="nl-BE" sz="2000" b="0" dirty="0">
                <a:latin typeface="Verdana" charset="0"/>
                <a:ea typeface="MS PGothic" charset="0"/>
              </a:rPr>
              <a:t>Bepaal ‘onafhankelijke’ variabele</a:t>
            </a:r>
          </a:p>
          <a:p>
            <a:pPr marL="352963" indent="-457200">
              <a:buFont typeface="+mj-lt"/>
              <a:buAutoNum type="arabicPeriod"/>
            </a:pPr>
            <a:r>
              <a:rPr lang="nl-BE" sz="2000" b="0" dirty="0">
                <a:latin typeface="Verdana" charset="0"/>
                <a:ea typeface="MS PGothic" charset="0"/>
              </a:rPr>
              <a:t>Zet ‘onafhankelijke’ variabele in kolommen</a:t>
            </a:r>
          </a:p>
          <a:p>
            <a:pPr marL="352963" indent="-457200">
              <a:buFont typeface="+mj-lt"/>
              <a:buAutoNum type="arabicPeriod"/>
            </a:pPr>
            <a:r>
              <a:rPr lang="nl-BE" sz="2000" b="0" dirty="0">
                <a:latin typeface="Verdana" charset="0"/>
                <a:ea typeface="MS PGothic" charset="0"/>
              </a:rPr>
              <a:t>Bereken kolom%</a:t>
            </a:r>
          </a:p>
          <a:p>
            <a:pPr marL="352963" indent="-457200">
              <a:buFont typeface="+mj-lt"/>
              <a:buAutoNum type="arabicPeriod"/>
            </a:pPr>
            <a:r>
              <a:rPr lang="nl-BE" sz="2000" b="0" dirty="0">
                <a:latin typeface="Verdana" charset="0"/>
                <a:ea typeface="MS PGothic" charset="0"/>
              </a:rPr>
              <a:t>Vergelijk kolom% per categorie van rij </a:t>
            </a:r>
          </a:p>
          <a:p>
            <a:endParaRPr lang="nl-BE" dirty="0"/>
          </a:p>
        </p:txBody>
      </p:sp>
      <p:pic>
        <p:nvPicPr>
          <p:cNvPr id="5" name="Afbeelding 4">
            <a:extLst>
              <a:ext uri="{FF2B5EF4-FFF2-40B4-BE49-F238E27FC236}">
                <a16:creationId xmlns:a16="http://schemas.microsoft.com/office/drawing/2014/main" id="{A8C81A9B-BEB7-374E-AA4B-8FF7D1F84521}"/>
              </a:ext>
            </a:extLst>
          </p:cNvPr>
          <p:cNvPicPr>
            <a:picLocks noChangeAspect="1"/>
          </p:cNvPicPr>
          <p:nvPr/>
        </p:nvPicPr>
        <p:blipFill rotWithShape="1">
          <a:blip r:embed="rId3"/>
          <a:srcRect t="23318"/>
          <a:stretch/>
        </p:blipFill>
        <p:spPr>
          <a:xfrm>
            <a:off x="2212983" y="3421200"/>
            <a:ext cx="7567742" cy="2816087"/>
          </a:xfrm>
          <a:prstGeom prst="rect">
            <a:avLst/>
          </a:prstGeom>
        </p:spPr>
      </p:pic>
      <p:cxnSp>
        <p:nvCxnSpPr>
          <p:cNvPr id="6" name="Rechte verbindingslijn met pijl 5">
            <a:extLst>
              <a:ext uri="{FF2B5EF4-FFF2-40B4-BE49-F238E27FC236}">
                <a16:creationId xmlns:a16="http://schemas.microsoft.com/office/drawing/2014/main" id="{F71B9F4A-359C-B540-B63A-731975CE9175}"/>
              </a:ext>
            </a:extLst>
          </p:cNvPr>
          <p:cNvCxnSpPr/>
          <p:nvPr/>
        </p:nvCxnSpPr>
        <p:spPr bwMode="auto">
          <a:xfrm>
            <a:off x="6590792" y="4869136"/>
            <a:ext cx="1368152" cy="0"/>
          </a:xfrm>
          <a:prstGeom prst="straightConnector1">
            <a:avLst/>
          </a:prstGeom>
          <a:solidFill>
            <a:schemeClr val="accent1"/>
          </a:solidFill>
          <a:ln w="57150" cap="flat" cmpd="sng" algn="ctr">
            <a:solidFill>
              <a:srgbClr val="7E002F"/>
            </a:solidFill>
            <a:prstDash val="solid"/>
            <a:round/>
            <a:headEnd type="triangle"/>
            <a:tailEnd type="triangle"/>
          </a:ln>
          <a:effectLst/>
        </p:spPr>
      </p:cxnSp>
      <p:cxnSp>
        <p:nvCxnSpPr>
          <p:cNvPr id="7" name="Rechte verbindingslijn met pijl 6">
            <a:extLst>
              <a:ext uri="{FF2B5EF4-FFF2-40B4-BE49-F238E27FC236}">
                <a16:creationId xmlns:a16="http://schemas.microsoft.com/office/drawing/2014/main" id="{4160796F-12A3-6543-B0A4-26C0241CB2D5}"/>
              </a:ext>
            </a:extLst>
          </p:cNvPr>
          <p:cNvCxnSpPr/>
          <p:nvPr/>
        </p:nvCxnSpPr>
        <p:spPr bwMode="auto">
          <a:xfrm>
            <a:off x="6632057" y="5229176"/>
            <a:ext cx="1368152" cy="0"/>
          </a:xfrm>
          <a:prstGeom prst="straightConnector1">
            <a:avLst/>
          </a:prstGeom>
          <a:solidFill>
            <a:schemeClr val="accent1"/>
          </a:solidFill>
          <a:ln w="57150" cap="flat" cmpd="sng" algn="ctr">
            <a:solidFill>
              <a:srgbClr val="7E002F"/>
            </a:solidFill>
            <a:prstDash val="solid"/>
            <a:round/>
            <a:headEnd type="triangle"/>
            <a:tailEnd type="triangle"/>
          </a:ln>
          <a:effectLst/>
        </p:spPr>
      </p:cxnSp>
      <p:sp>
        <p:nvSpPr>
          <p:cNvPr id="8" name="Rechthoek 7">
            <a:extLst>
              <a:ext uri="{FF2B5EF4-FFF2-40B4-BE49-F238E27FC236}">
                <a16:creationId xmlns:a16="http://schemas.microsoft.com/office/drawing/2014/main" id="{877FA4D3-B290-CE49-89B7-B8E068421715}"/>
              </a:ext>
            </a:extLst>
          </p:cNvPr>
          <p:cNvSpPr/>
          <p:nvPr/>
        </p:nvSpPr>
        <p:spPr>
          <a:xfrm>
            <a:off x="4701079" y="6304938"/>
            <a:ext cx="3861955"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nl-NL" sz="3200" b="1" dirty="0">
                <a:ln/>
                <a:solidFill>
                  <a:schemeClr val="accent4"/>
                </a:solidFill>
              </a:rPr>
              <a:t>En in de populatie?</a:t>
            </a:r>
          </a:p>
        </p:txBody>
      </p:sp>
      <p:sp>
        <p:nvSpPr>
          <p:cNvPr id="9" name="Tekstvak 8">
            <a:extLst>
              <a:ext uri="{FF2B5EF4-FFF2-40B4-BE49-F238E27FC236}">
                <a16:creationId xmlns:a16="http://schemas.microsoft.com/office/drawing/2014/main" id="{B065AFA6-09FE-40F4-B596-EDCEB737C046}"/>
              </a:ext>
            </a:extLst>
          </p:cNvPr>
          <p:cNvSpPr txBox="1"/>
          <p:nvPr/>
        </p:nvSpPr>
        <p:spPr>
          <a:xfrm>
            <a:off x="8402592" y="5832389"/>
            <a:ext cx="397331" cy="197708"/>
          </a:xfrm>
          <a:prstGeom prst="rect">
            <a:avLst/>
          </a:prstGeom>
          <a:solidFill>
            <a:schemeClr val="bg1"/>
          </a:solidFill>
        </p:spPr>
        <p:txBody>
          <a:bodyPr wrap="none" lIns="0" tIns="0" rIns="0" bIns="0" rtlCol="0">
            <a:noAutofit/>
          </a:bodyPr>
          <a:lstStyle/>
          <a:p>
            <a:pPr algn="l"/>
            <a:r>
              <a:rPr lang="nl-BE" sz="1700" dirty="0">
                <a:solidFill>
                  <a:srgbClr val="292929"/>
                </a:solidFill>
                <a:latin typeface="Gotham" panose="02000603040000020004" pitchFamily="2" charset="0"/>
                <a:ea typeface="Verdana" panose="020B0604030504040204" pitchFamily="34" charset="0"/>
                <a:cs typeface="Verdana" panose="020B0604030504040204" pitchFamily="34" charset="0"/>
              </a:rPr>
              <a:t>136</a:t>
            </a:r>
          </a:p>
        </p:txBody>
      </p:sp>
    </p:spTree>
    <p:extLst>
      <p:ext uri="{BB962C8B-B14F-4D97-AF65-F5344CB8AC3E}">
        <p14:creationId xmlns:p14="http://schemas.microsoft.com/office/powerpoint/2010/main" val="15563625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011E8C3-5799-2947-8A40-FD2B3378F76B}"/>
              </a:ext>
            </a:extLst>
          </p:cNvPr>
          <p:cNvSpPr>
            <a:spLocks noGrp="1"/>
          </p:cNvSpPr>
          <p:nvPr>
            <p:ph type="title"/>
          </p:nvPr>
        </p:nvSpPr>
        <p:spPr/>
        <p:txBody>
          <a:bodyPr/>
          <a:lstStyle/>
          <a:p>
            <a:r>
              <a:rPr lang="nl-BE" dirty="0"/>
              <a:t>Statistische significantie? (</a:t>
            </a:r>
            <a:r>
              <a:rPr lang="nl-BE" i="1" dirty="0"/>
              <a:t>Chi</a:t>
            </a:r>
            <a:r>
              <a:rPr lang="nl-BE" i="1" baseline="30000" dirty="0"/>
              <a:t>2</a:t>
            </a:r>
            <a:r>
              <a:rPr lang="nl-BE" dirty="0"/>
              <a:t>-toets)</a:t>
            </a:r>
          </a:p>
        </p:txBody>
      </p:sp>
      <p:sp>
        <p:nvSpPr>
          <p:cNvPr id="3" name="Tijdelijke aanduiding voor dianummer 2">
            <a:extLst>
              <a:ext uri="{FF2B5EF4-FFF2-40B4-BE49-F238E27FC236}">
                <a16:creationId xmlns:a16="http://schemas.microsoft.com/office/drawing/2014/main" id="{D1E6A4D5-A140-524B-BC28-E704EB522D50}"/>
              </a:ext>
            </a:extLst>
          </p:cNvPr>
          <p:cNvSpPr>
            <a:spLocks noGrp="1"/>
          </p:cNvSpPr>
          <p:nvPr>
            <p:ph type="sldNum" sz="quarter" idx="10"/>
          </p:nvPr>
        </p:nvSpPr>
        <p:spPr/>
        <p:txBody>
          <a:bodyPr/>
          <a:lstStyle/>
          <a:p>
            <a:fld id="{E038E271-308C-2E46-A3EC-56326F9084CC}" type="slidenum">
              <a:rPr lang="nl-BE" smtClean="0"/>
              <a:pPr/>
              <a:t>43</a:t>
            </a:fld>
            <a:endParaRPr lang="nl-BE" dirty="0"/>
          </a:p>
        </p:txBody>
      </p:sp>
      <p:sp>
        <p:nvSpPr>
          <p:cNvPr id="6" name="Tijdelijke aanduiding voor inhoud 5">
            <a:extLst>
              <a:ext uri="{FF2B5EF4-FFF2-40B4-BE49-F238E27FC236}">
                <a16:creationId xmlns:a16="http://schemas.microsoft.com/office/drawing/2014/main" id="{B9D9906E-A200-D74A-A5AE-C243A1E3A52F}"/>
              </a:ext>
            </a:extLst>
          </p:cNvPr>
          <p:cNvSpPr>
            <a:spLocks noGrp="1"/>
          </p:cNvSpPr>
          <p:nvPr>
            <p:ph idx="1"/>
          </p:nvPr>
        </p:nvSpPr>
        <p:spPr/>
        <p:txBody>
          <a:bodyPr wrap="square"/>
          <a:lstStyle/>
          <a:p>
            <a:r>
              <a:rPr lang="nl-BE" dirty="0"/>
              <a:t>Gebaseerd op verhouding tussen feitelijke (O) en verwachte (E) waarden</a:t>
            </a:r>
          </a:p>
          <a:p>
            <a:pPr lvl="1"/>
            <a:r>
              <a:rPr lang="nl-BE" u="sng" dirty="0"/>
              <a:t>Feitelijke waarden</a:t>
            </a:r>
            <a:r>
              <a:rPr lang="nl-BE" dirty="0"/>
              <a:t>: observaties in de steekproef;</a:t>
            </a:r>
          </a:p>
          <a:p>
            <a:pPr lvl="1"/>
            <a:r>
              <a:rPr lang="nl-BE" u="sng" dirty="0"/>
              <a:t>Verwachte waarden</a:t>
            </a:r>
            <a:r>
              <a:rPr lang="nl-BE" dirty="0"/>
              <a:t>: waarden die we verwachten als er GEEN verband is tussen 		             beide variabelen</a:t>
            </a:r>
          </a:p>
        </p:txBody>
      </p:sp>
    </p:spTree>
    <p:extLst>
      <p:ext uri="{BB962C8B-B14F-4D97-AF65-F5344CB8AC3E}">
        <p14:creationId xmlns:p14="http://schemas.microsoft.com/office/powerpoint/2010/main" val="41005359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D29289-C557-0D4E-94EF-95F940988137}"/>
              </a:ext>
            </a:extLst>
          </p:cNvPr>
          <p:cNvSpPr>
            <a:spLocks noGrp="1"/>
          </p:cNvSpPr>
          <p:nvPr>
            <p:ph type="title"/>
          </p:nvPr>
        </p:nvSpPr>
        <p:spPr/>
        <p:txBody>
          <a:bodyPr/>
          <a:lstStyle/>
          <a:p>
            <a:r>
              <a:rPr lang="nl-BE" dirty="0"/>
              <a:t>Statistische (on)afhankelijkheid?</a:t>
            </a:r>
          </a:p>
        </p:txBody>
      </p:sp>
      <p:sp>
        <p:nvSpPr>
          <p:cNvPr id="3" name="Tijdelijke aanduiding voor dianummer 2">
            <a:extLst>
              <a:ext uri="{FF2B5EF4-FFF2-40B4-BE49-F238E27FC236}">
                <a16:creationId xmlns:a16="http://schemas.microsoft.com/office/drawing/2014/main" id="{EAA310E2-50FD-7743-A8C1-01A26C0AF59E}"/>
              </a:ext>
            </a:extLst>
          </p:cNvPr>
          <p:cNvSpPr>
            <a:spLocks noGrp="1"/>
          </p:cNvSpPr>
          <p:nvPr>
            <p:ph type="sldNum" sz="quarter" idx="10"/>
          </p:nvPr>
        </p:nvSpPr>
        <p:spPr/>
        <p:txBody>
          <a:bodyPr/>
          <a:lstStyle/>
          <a:p>
            <a:fld id="{E038E271-308C-2E46-A3EC-56326F9084CC}" type="slidenum">
              <a:rPr lang="nl-BE" smtClean="0"/>
              <a:pPr/>
              <a:t>44</a:t>
            </a:fld>
            <a:endParaRPr lang="nl-BE" dirty="0"/>
          </a:p>
        </p:txBody>
      </p:sp>
      <p:graphicFrame>
        <p:nvGraphicFramePr>
          <p:cNvPr id="5" name="Tabel 5">
            <a:extLst>
              <a:ext uri="{FF2B5EF4-FFF2-40B4-BE49-F238E27FC236}">
                <a16:creationId xmlns:a16="http://schemas.microsoft.com/office/drawing/2014/main" id="{54AB363F-5CB8-4045-9E43-3FDA518351BC}"/>
              </a:ext>
            </a:extLst>
          </p:cNvPr>
          <p:cNvGraphicFramePr>
            <a:graphicFrameLocks noGrp="1"/>
          </p:cNvGraphicFramePr>
          <p:nvPr>
            <p:ph idx="1"/>
            <p:extLst>
              <p:ext uri="{D42A27DB-BD31-4B8C-83A1-F6EECF244321}">
                <p14:modId xmlns:p14="http://schemas.microsoft.com/office/powerpoint/2010/main" val="3806025497"/>
              </p:ext>
            </p:extLst>
          </p:nvPr>
        </p:nvGraphicFramePr>
        <p:xfrm>
          <a:off x="623887" y="2286000"/>
          <a:ext cx="10840278" cy="27432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611096350"/>
                    </a:ext>
                  </a:extLst>
                </a:gridCol>
                <a:gridCol w="1828800">
                  <a:extLst>
                    <a:ext uri="{9D8B030D-6E8A-4147-A177-3AD203B41FA5}">
                      <a16:colId xmlns:a16="http://schemas.microsoft.com/office/drawing/2014/main" val="1844576020"/>
                    </a:ext>
                  </a:extLst>
                </a:gridCol>
                <a:gridCol w="1204913">
                  <a:extLst>
                    <a:ext uri="{9D8B030D-6E8A-4147-A177-3AD203B41FA5}">
                      <a16:colId xmlns:a16="http://schemas.microsoft.com/office/drawing/2014/main" val="974557885"/>
                    </a:ext>
                  </a:extLst>
                </a:gridCol>
                <a:gridCol w="980661">
                  <a:extLst>
                    <a:ext uri="{9D8B030D-6E8A-4147-A177-3AD203B41FA5}">
                      <a16:colId xmlns:a16="http://schemas.microsoft.com/office/drawing/2014/main" val="1965792722"/>
                    </a:ext>
                  </a:extLst>
                </a:gridCol>
                <a:gridCol w="994046">
                  <a:extLst>
                    <a:ext uri="{9D8B030D-6E8A-4147-A177-3AD203B41FA5}">
                      <a16:colId xmlns:a16="http://schemas.microsoft.com/office/drawing/2014/main" val="202143121"/>
                    </a:ext>
                  </a:extLst>
                </a:gridCol>
                <a:gridCol w="1272076">
                  <a:extLst>
                    <a:ext uri="{9D8B030D-6E8A-4147-A177-3AD203B41FA5}">
                      <a16:colId xmlns:a16="http://schemas.microsoft.com/office/drawing/2014/main" val="1580241352"/>
                    </a:ext>
                  </a:extLst>
                </a:gridCol>
                <a:gridCol w="954156">
                  <a:extLst>
                    <a:ext uri="{9D8B030D-6E8A-4147-A177-3AD203B41FA5}">
                      <a16:colId xmlns:a16="http://schemas.microsoft.com/office/drawing/2014/main" val="3751769211"/>
                    </a:ext>
                  </a:extLst>
                </a:gridCol>
                <a:gridCol w="953388">
                  <a:extLst>
                    <a:ext uri="{9D8B030D-6E8A-4147-A177-3AD203B41FA5}">
                      <a16:colId xmlns:a16="http://schemas.microsoft.com/office/drawing/2014/main" val="2696291302"/>
                    </a:ext>
                  </a:extLst>
                </a:gridCol>
                <a:gridCol w="995717">
                  <a:extLst>
                    <a:ext uri="{9D8B030D-6E8A-4147-A177-3AD203B41FA5}">
                      <a16:colId xmlns:a16="http://schemas.microsoft.com/office/drawing/2014/main" val="2482419465"/>
                    </a:ext>
                  </a:extLst>
                </a:gridCol>
                <a:gridCol w="1046921">
                  <a:extLst>
                    <a:ext uri="{9D8B030D-6E8A-4147-A177-3AD203B41FA5}">
                      <a16:colId xmlns:a16="http://schemas.microsoft.com/office/drawing/2014/main" val="1627868882"/>
                    </a:ext>
                  </a:extLst>
                </a:gridCol>
              </a:tblGrid>
              <a:tr h="231293">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tcPr>
                </a:tc>
                <a:tc hMerge="1">
                  <a:txBody>
                    <a:bodyPr/>
                    <a:lstStyle/>
                    <a:p>
                      <a:endParaRPr lang="nl-BE"/>
                    </a:p>
                  </a:txBody>
                  <a:tcPr/>
                </a:tc>
                <a:tc gridSpan="6">
                  <a:txBody>
                    <a:bodyPr/>
                    <a:lstStyle/>
                    <a:p>
                      <a:pPr algn="ctr"/>
                      <a:r>
                        <a:rPr lang="nl-BE" b="1" u="sng" dirty="0"/>
                        <a:t>Politieagent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hMerge="1">
                  <a:txBody>
                    <a:bodyPr/>
                    <a:lstStyle/>
                    <a:p>
                      <a:endParaRPr lang="nl-BE"/>
                    </a:p>
                  </a:txBody>
                  <a:tcPr/>
                </a:tc>
                <a:tc hMerge="1">
                  <a:txBody>
                    <a:bodyPr/>
                    <a:lstStyle/>
                    <a:p>
                      <a:endParaRPr lang="nl-BE"/>
                    </a:p>
                  </a:txBody>
                  <a:tcPr/>
                </a:tc>
                <a:tc hMerge="1">
                  <a:txBody>
                    <a:bodyPr/>
                    <a:lstStyle/>
                    <a:p>
                      <a:pPr algn="ctr"/>
                      <a:endParaRPr lang="nl-BE" dirty="0"/>
                    </a:p>
                  </a:txBody>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33977165"/>
                  </a:ext>
                </a:extLst>
              </a:tr>
              <a:tr h="370840">
                <a:tc gridSpan="2">
                  <a:txBody>
                    <a:bodyPr/>
                    <a:lstStyle/>
                    <a:p>
                      <a:endParaRPr lang="nl-BE" b="1" u="sng" dirty="0"/>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gridSpan="3">
                  <a:txBody>
                    <a:bodyPr/>
                    <a:lstStyle/>
                    <a:p>
                      <a:pPr algn="ctr"/>
                      <a:r>
                        <a:rPr lang="nl-BE" i="1" dirty="0"/>
                        <a:t>Zonder ervaring</a:t>
                      </a:r>
                    </a:p>
                  </a:txBody>
                  <a:tcP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lnL w="12700" cmpd="sng">
                      <a:noFill/>
                    </a:lnL>
                  </a:tcPr>
                </a:tc>
                <a:tc hMerge="1">
                  <a:txBody>
                    <a:bodyPr/>
                    <a:lstStyle/>
                    <a:p>
                      <a:endParaRPr lang="nl-BE"/>
                    </a:p>
                  </a:txBody>
                  <a:tcPr/>
                </a:tc>
                <a:tc gridSpan="3">
                  <a:txBody>
                    <a:bodyPr/>
                    <a:lstStyle/>
                    <a:p>
                      <a:pPr algn="ctr"/>
                      <a:r>
                        <a:rPr lang="nl-BE" i="1" dirty="0"/>
                        <a:t>Met ervaring</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b="1"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055458"/>
                  </a:ext>
                </a:extLst>
              </a:tr>
              <a:tr h="370840">
                <a:tc rowSpan="2">
                  <a:txBody>
                    <a:bodyPr/>
                    <a:lstStyle/>
                    <a:p>
                      <a:pPr algn="l"/>
                      <a:r>
                        <a:rPr lang="nl-BE" b="1" i="1" dirty="0"/>
                        <a:t>Case</a:t>
                      </a:r>
                    </a:p>
                  </a:txBody>
                  <a:tcPr vert="vert270">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a:r>
                        <a:rPr lang="nl-BE" i="1" dirty="0"/>
                        <a:t>Niet opgelost</a:t>
                      </a:r>
                    </a:p>
                  </a:txBody>
                  <a:tcPr>
                    <a:lnL w="12700" cmpd="sng">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a:txBody>
                    <a:bodyPr/>
                    <a:lstStyle/>
                    <a:p>
                      <a:pPr algn="ctr"/>
                      <a:r>
                        <a:rPr lang="nl-BE" b="1" dirty="0">
                          <a:solidFill>
                            <a:schemeClr val="accent6"/>
                          </a:solidFill>
                        </a:rPr>
                        <a:t>65</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endParaRPr lang="nl-BE" sz="1400" b="1" dirty="0">
                        <a:solidFill>
                          <a:schemeClr val="accent3"/>
                        </a:solidFill>
                      </a:endParaRP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1" dirty="0">
                          <a:solidFill>
                            <a:schemeClr val="accent6"/>
                          </a:solidFill>
                        </a:rPr>
                        <a:t>43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endParaRPr lang="nl-BE" sz="1400" b="1" dirty="0">
                        <a:solidFill>
                          <a:schemeClr val="accent3"/>
                        </a:solidFill>
                      </a:endParaRP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0" dirty="0"/>
                        <a:t>108</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r>
                        <a:rPr lang="nl-BE" dirty="0">
                          <a:solidFill>
                            <a:srgbClr val="FF0000"/>
                          </a:solidFill>
                        </a:rPr>
                        <a:t>36,2%</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07581061"/>
                  </a:ext>
                </a:extLst>
              </a:tr>
              <a:tr h="370840">
                <a:tc vMerge="1">
                  <a:txBody>
                    <a:bodyPr/>
                    <a:lstStyle/>
                    <a:p>
                      <a:pPr algn="l"/>
                      <a:endParaRPr lang="nl-BE" i="1" dirty="0"/>
                    </a:p>
                  </a:txBody>
                  <a:tcPr/>
                </a:tc>
                <a:tc>
                  <a:txBody>
                    <a:bodyPr/>
                    <a:lstStyle/>
                    <a:p>
                      <a:pPr algn="l"/>
                      <a:r>
                        <a:rPr lang="nl-BE" i="1" dirty="0"/>
                        <a:t>Opgelost</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97</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endParaRPr lang="nl-BE" sz="1400" b="1" dirty="0">
                        <a:solidFill>
                          <a:schemeClr val="accent3"/>
                        </a:solidFill>
                      </a:endParaRP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endParaRPr lang="nl-BE" sz="1400" b="1" dirty="0">
                        <a:solidFill>
                          <a:schemeClr val="accent3"/>
                        </a:solidFill>
                      </a:endParaRP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0" dirty="0"/>
                        <a:t>190</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nl-BE" dirty="0">
                          <a:solidFill>
                            <a:srgbClr val="FF0000"/>
                          </a:solidFill>
                        </a:rPr>
                        <a:t>63,8%</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768633"/>
                  </a:ext>
                </a:extLst>
              </a:tr>
              <a:tr h="370840">
                <a:tc gridSpan="2">
                  <a:txBody>
                    <a:bodyPr/>
                    <a:lstStyle/>
                    <a:p>
                      <a:endParaRPr lang="nl-BE" b="1"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nl-BE"/>
                    </a:p>
                  </a:txBody>
                  <a:tcPr/>
                </a:tc>
                <a:tc gridSpan="3">
                  <a:txBody>
                    <a:bodyPr/>
                    <a:lstStyle/>
                    <a:p>
                      <a:pPr algn="ctr"/>
                      <a:r>
                        <a:rPr lang="nl-BE" b="0" dirty="0"/>
                        <a:t>162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gridSpan="3">
                  <a:txBody>
                    <a:bodyPr/>
                    <a:lstStyle/>
                    <a:p>
                      <a:pPr algn="ctr"/>
                      <a:r>
                        <a:rPr lang="nl-BE" b="0" dirty="0"/>
                        <a:t>136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a:txBody>
                    <a:bodyPr/>
                    <a:lstStyle/>
                    <a:p>
                      <a:pPr algn="ctr"/>
                      <a:r>
                        <a:rPr lang="nl-BE" b="0" dirty="0"/>
                        <a:t>298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384952337"/>
                  </a:ext>
                </a:extLst>
              </a:tr>
              <a:tr h="397965">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ash"/>
                      <a:round/>
                      <a:headEnd type="none" w="med" len="med"/>
                      <a:tailEnd type="none" w="med" len="med"/>
                    </a:lnB>
                  </a:tcPr>
                </a:tc>
                <a:tc hMerge="1">
                  <a:txBody>
                    <a:bodyPr/>
                    <a:lstStyle/>
                    <a:p>
                      <a:endParaRPr lang="nl-BE"/>
                    </a:p>
                  </a:txBody>
                  <a:tcPr/>
                </a:tc>
                <a:tc gridSpan="3">
                  <a:txBody>
                    <a:bodyPr/>
                    <a:lstStyle/>
                    <a:p>
                      <a:pPr algn="ctr"/>
                      <a:r>
                        <a:rPr lang="nl-BE" dirty="0">
                          <a:solidFill>
                            <a:srgbClr val="FF0000"/>
                          </a:solidFill>
                        </a:rPr>
                        <a:t>54,4%</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gridSpan="3">
                  <a:txBody>
                    <a:bodyPr/>
                    <a:lstStyle/>
                    <a:p>
                      <a:pPr algn="ctr"/>
                      <a:r>
                        <a:rPr lang="nl-BE" dirty="0">
                          <a:solidFill>
                            <a:srgbClr val="FF0000"/>
                          </a:solidFill>
                        </a:rPr>
                        <a:t>45,6%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09101483"/>
                  </a:ext>
                </a:extLst>
              </a:tr>
            </a:tbl>
          </a:graphicData>
        </a:graphic>
      </p:graphicFrame>
      <p:sp>
        <p:nvSpPr>
          <p:cNvPr id="6" name="Tekstvak 5">
            <a:extLst>
              <a:ext uri="{FF2B5EF4-FFF2-40B4-BE49-F238E27FC236}">
                <a16:creationId xmlns:a16="http://schemas.microsoft.com/office/drawing/2014/main" id="{001C6910-0259-1446-A55D-E141ACF28B15}"/>
              </a:ext>
            </a:extLst>
          </p:cNvPr>
          <p:cNvSpPr txBox="1"/>
          <p:nvPr/>
        </p:nvSpPr>
        <p:spPr>
          <a:xfrm>
            <a:off x="623887" y="1782419"/>
            <a:ext cx="5617887" cy="410817"/>
          </a:xfrm>
          <a:prstGeom prst="rect">
            <a:avLst/>
          </a:prstGeom>
          <a:noFill/>
        </p:spPr>
        <p:txBody>
          <a:bodyPr wrap="square" lIns="0" tIns="0" rIns="0" bIns="0" rtlCol="0">
            <a:noAutofit/>
          </a:bodyPr>
          <a:lstStyle/>
          <a:p>
            <a:pPr algn="l"/>
            <a:r>
              <a:rPr lang="nl-BE" sz="2800" b="1" dirty="0">
                <a:solidFill>
                  <a:schemeClr val="accent6"/>
                </a:solidFill>
                <a:latin typeface="Gotham" panose="02000603040000020004" pitchFamily="2" charset="0"/>
                <a:ea typeface="Verdana" panose="020B0604030504040204" pitchFamily="34" charset="0"/>
                <a:cs typeface="Verdana" panose="020B0604030504040204" pitchFamily="34" charset="0"/>
              </a:rPr>
              <a:t>Feitelijke waarden …</a:t>
            </a:r>
          </a:p>
        </p:txBody>
      </p:sp>
    </p:spTree>
    <p:extLst>
      <p:ext uri="{BB962C8B-B14F-4D97-AF65-F5344CB8AC3E}">
        <p14:creationId xmlns:p14="http://schemas.microsoft.com/office/powerpoint/2010/main" val="17988280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D29289-C557-0D4E-94EF-95F940988137}"/>
              </a:ext>
            </a:extLst>
          </p:cNvPr>
          <p:cNvSpPr>
            <a:spLocks noGrp="1"/>
          </p:cNvSpPr>
          <p:nvPr>
            <p:ph type="title"/>
          </p:nvPr>
        </p:nvSpPr>
        <p:spPr/>
        <p:txBody>
          <a:bodyPr/>
          <a:lstStyle/>
          <a:p>
            <a:r>
              <a:rPr lang="nl-BE" dirty="0"/>
              <a:t>Statistische (on)afhankelijkheid?</a:t>
            </a:r>
          </a:p>
        </p:txBody>
      </p:sp>
      <p:sp>
        <p:nvSpPr>
          <p:cNvPr id="3" name="Tijdelijke aanduiding voor dianummer 2">
            <a:extLst>
              <a:ext uri="{FF2B5EF4-FFF2-40B4-BE49-F238E27FC236}">
                <a16:creationId xmlns:a16="http://schemas.microsoft.com/office/drawing/2014/main" id="{EAA310E2-50FD-7743-A8C1-01A26C0AF59E}"/>
              </a:ext>
            </a:extLst>
          </p:cNvPr>
          <p:cNvSpPr>
            <a:spLocks noGrp="1"/>
          </p:cNvSpPr>
          <p:nvPr>
            <p:ph type="sldNum" sz="quarter" idx="10"/>
          </p:nvPr>
        </p:nvSpPr>
        <p:spPr/>
        <p:txBody>
          <a:bodyPr/>
          <a:lstStyle/>
          <a:p>
            <a:fld id="{E038E271-308C-2E46-A3EC-56326F9084CC}" type="slidenum">
              <a:rPr lang="nl-BE" smtClean="0"/>
              <a:pPr/>
              <a:t>45</a:t>
            </a:fld>
            <a:endParaRPr lang="nl-BE" dirty="0"/>
          </a:p>
        </p:txBody>
      </p:sp>
      <p:graphicFrame>
        <p:nvGraphicFramePr>
          <p:cNvPr id="5" name="Tabel 5">
            <a:extLst>
              <a:ext uri="{FF2B5EF4-FFF2-40B4-BE49-F238E27FC236}">
                <a16:creationId xmlns:a16="http://schemas.microsoft.com/office/drawing/2014/main" id="{54AB363F-5CB8-4045-9E43-3FDA518351BC}"/>
              </a:ext>
            </a:extLst>
          </p:cNvPr>
          <p:cNvGraphicFramePr>
            <a:graphicFrameLocks noGrp="1"/>
          </p:cNvGraphicFramePr>
          <p:nvPr>
            <p:ph idx="1"/>
            <p:extLst>
              <p:ext uri="{D42A27DB-BD31-4B8C-83A1-F6EECF244321}">
                <p14:modId xmlns:p14="http://schemas.microsoft.com/office/powerpoint/2010/main" val="2870809249"/>
              </p:ext>
            </p:extLst>
          </p:nvPr>
        </p:nvGraphicFramePr>
        <p:xfrm>
          <a:off x="623887" y="2286000"/>
          <a:ext cx="10840278" cy="27432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611096350"/>
                    </a:ext>
                  </a:extLst>
                </a:gridCol>
                <a:gridCol w="1828800">
                  <a:extLst>
                    <a:ext uri="{9D8B030D-6E8A-4147-A177-3AD203B41FA5}">
                      <a16:colId xmlns:a16="http://schemas.microsoft.com/office/drawing/2014/main" val="1844576020"/>
                    </a:ext>
                  </a:extLst>
                </a:gridCol>
                <a:gridCol w="1204913">
                  <a:extLst>
                    <a:ext uri="{9D8B030D-6E8A-4147-A177-3AD203B41FA5}">
                      <a16:colId xmlns:a16="http://schemas.microsoft.com/office/drawing/2014/main" val="974557885"/>
                    </a:ext>
                  </a:extLst>
                </a:gridCol>
                <a:gridCol w="980661">
                  <a:extLst>
                    <a:ext uri="{9D8B030D-6E8A-4147-A177-3AD203B41FA5}">
                      <a16:colId xmlns:a16="http://schemas.microsoft.com/office/drawing/2014/main" val="1965792722"/>
                    </a:ext>
                  </a:extLst>
                </a:gridCol>
                <a:gridCol w="994046">
                  <a:extLst>
                    <a:ext uri="{9D8B030D-6E8A-4147-A177-3AD203B41FA5}">
                      <a16:colId xmlns:a16="http://schemas.microsoft.com/office/drawing/2014/main" val="202143121"/>
                    </a:ext>
                  </a:extLst>
                </a:gridCol>
                <a:gridCol w="1272076">
                  <a:extLst>
                    <a:ext uri="{9D8B030D-6E8A-4147-A177-3AD203B41FA5}">
                      <a16:colId xmlns:a16="http://schemas.microsoft.com/office/drawing/2014/main" val="1580241352"/>
                    </a:ext>
                  </a:extLst>
                </a:gridCol>
                <a:gridCol w="954156">
                  <a:extLst>
                    <a:ext uri="{9D8B030D-6E8A-4147-A177-3AD203B41FA5}">
                      <a16:colId xmlns:a16="http://schemas.microsoft.com/office/drawing/2014/main" val="3751769211"/>
                    </a:ext>
                  </a:extLst>
                </a:gridCol>
                <a:gridCol w="953388">
                  <a:extLst>
                    <a:ext uri="{9D8B030D-6E8A-4147-A177-3AD203B41FA5}">
                      <a16:colId xmlns:a16="http://schemas.microsoft.com/office/drawing/2014/main" val="2696291302"/>
                    </a:ext>
                  </a:extLst>
                </a:gridCol>
                <a:gridCol w="995717">
                  <a:extLst>
                    <a:ext uri="{9D8B030D-6E8A-4147-A177-3AD203B41FA5}">
                      <a16:colId xmlns:a16="http://schemas.microsoft.com/office/drawing/2014/main" val="2482419465"/>
                    </a:ext>
                  </a:extLst>
                </a:gridCol>
                <a:gridCol w="1046921">
                  <a:extLst>
                    <a:ext uri="{9D8B030D-6E8A-4147-A177-3AD203B41FA5}">
                      <a16:colId xmlns:a16="http://schemas.microsoft.com/office/drawing/2014/main" val="1627868882"/>
                    </a:ext>
                  </a:extLst>
                </a:gridCol>
              </a:tblGrid>
              <a:tr h="231293">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tcPr>
                </a:tc>
                <a:tc hMerge="1">
                  <a:txBody>
                    <a:bodyPr/>
                    <a:lstStyle/>
                    <a:p>
                      <a:endParaRPr lang="nl-BE"/>
                    </a:p>
                  </a:txBody>
                  <a:tcPr/>
                </a:tc>
                <a:tc gridSpan="6">
                  <a:txBody>
                    <a:bodyPr/>
                    <a:lstStyle/>
                    <a:p>
                      <a:pPr algn="ctr"/>
                      <a:r>
                        <a:rPr lang="nl-BE" b="1" u="sng" dirty="0"/>
                        <a:t>Politieagent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hMerge="1">
                  <a:txBody>
                    <a:bodyPr/>
                    <a:lstStyle/>
                    <a:p>
                      <a:endParaRPr lang="nl-BE"/>
                    </a:p>
                  </a:txBody>
                  <a:tcPr/>
                </a:tc>
                <a:tc hMerge="1">
                  <a:txBody>
                    <a:bodyPr/>
                    <a:lstStyle/>
                    <a:p>
                      <a:endParaRPr lang="nl-BE"/>
                    </a:p>
                  </a:txBody>
                  <a:tcPr/>
                </a:tc>
                <a:tc hMerge="1">
                  <a:txBody>
                    <a:bodyPr/>
                    <a:lstStyle/>
                    <a:p>
                      <a:pPr algn="ctr"/>
                      <a:endParaRPr lang="nl-BE" dirty="0"/>
                    </a:p>
                  </a:txBody>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33977165"/>
                  </a:ext>
                </a:extLst>
              </a:tr>
              <a:tr h="370840">
                <a:tc gridSpan="2">
                  <a:txBody>
                    <a:bodyPr/>
                    <a:lstStyle/>
                    <a:p>
                      <a:endParaRPr lang="nl-BE" b="1" u="sng" dirty="0"/>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gridSpan="3">
                  <a:txBody>
                    <a:bodyPr/>
                    <a:lstStyle/>
                    <a:p>
                      <a:pPr algn="ctr"/>
                      <a:r>
                        <a:rPr lang="nl-BE" i="1" dirty="0"/>
                        <a:t>Zonder ervaring</a:t>
                      </a:r>
                    </a:p>
                  </a:txBody>
                  <a:tcP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lnL w="12700" cmpd="sng">
                      <a:noFill/>
                    </a:lnL>
                  </a:tcPr>
                </a:tc>
                <a:tc hMerge="1">
                  <a:txBody>
                    <a:bodyPr/>
                    <a:lstStyle/>
                    <a:p>
                      <a:endParaRPr lang="nl-BE"/>
                    </a:p>
                  </a:txBody>
                  <a:tcPr/>
                </a:tc>
                <a:tc gridSpan="3">
                  <a:txBody>
                    <a:bodyPr/>
                    <a:lstStyle/>
                    <a:p>
                      <a:pPr algn="ctr"/>
                      <a:r>
                        <a:rPr lang="nl-BE" i="1" dirty="0"/>
                        <a:t>Met ervaring</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b="1"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055458"/>
                  </a:ext>
                </a:extLst>
              </a:tr>
              <a:tr h="370840">
                <a:tc rowSpan="2">
                  <a:txBody>
                    <a:bodyPr/>
                    <a:lstStyle/>
                    <a:p>
                      <a:pPr algn="l"/>
                      <a:r>
                        <a:rPr lang="nl-BE" b="1" i="1" dirty="0"/>
                        <a:t>Case</a:t>
                      </a:r>
                    </a:p>
                  </a:txBody>
                  <a:tcPr vert="vert270">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a:r>
                        <a:rPr lang="nl-BE" i="1" dirty="0"/>
                        <a:t>Niet opgelost</a:t>
                      </a:r>
                    </a:p>
                  </a:txBody>
                  <a:tcPr>
                    <a:lnL w="12700" cmpd="sng">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a:txBody>
                    <a:bodyPr/>
                    <a:lstStyle/>
                    <a:p>
                      <a:pPr algn="ctr"/>
                      <a:r>
                        <a:rPr lang="nl-BE" b="1" dirty="0">
                          <a:solidFill>
                            <a:schemeClr val="accent6"/>
                          </a:solidFill>
                        </a:rPr>
                        <a:t>65</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nl-BE" sz="1400" b="1" dirty="0">
                          <a:solidFill>
                            <a:schemeClr val="accent3"/>
                          </a:solidFill>
                        </a:rPr>
                        <a:t>19,7%</a:t>
                      </a: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1" dirty="0">
                          <a:solidFill>
                            <a:schemeClr val="accent6"/>
                          </a:solidFill>
                        </a:rPr>
                        <a:t>43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nl-BE" sz="1400" b="1" dirty="0">
                          <a:solidFill>
                            <a:schemeClr val="accent3"/>
                          </a:solidFill>
                        </a:rPr>
                        <a:t>16,5%</a:t>
                      </a: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0" dirty="0"/>
                        <a:t>108</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r>
                        <a:rPr lang="nl-BE" dirty="0">
                          <a:solidFill>
                            <a:srgbClr val="FF0000"/>
                          </a:solidFill>
                        </a:rPr>
                        <a:t>36,2%</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07581061"/>
                  </a:ext>
                </a:extLst>
              </a:tr>
              <a:tr h="370840">
                <a:tc vMerge="1">
                  <a:txBody>
                    <a:bodyPr/>
                    <a:lstStyle/>
                    <a:p>
                      <a:pPr algn="l"/>
                      <a:endParaRPr lang="nl-BE" i="1" dirty="0"/>
                    </a:p>
                  </a:txBody>
                  <a:tcPr/>
                </a:tc>
                <a:tc>
                  <a:txBody>
                    <a:bodyPr/>
                    <a:lstStyle/>
                    <a:p>
                      <a:pPr algn="l"/>
                      <a:r>
                        <a:rPr lang="nl-BE" i="1" dirty="0"/>
                        <a:t>Opgelost</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97</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nl-BE" sz="1400" b="1" dirty="0">
                          <a:solidFill>
                            <a:schemeClr val="accent3"/>
                          </a:solidFill>
                        </a:rPr>
                        <a:t>34,7%</a:t>
                      </a: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endParaRPr lang="nl-BE" b="1" dirty="0">
                        <a:solidFill>
                          <a:schemeClr val="accent3"/>
                        </a:solidFill>
                      </a:endParaRP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nl-BE" sz="1400" b="1" dirty="0">
                          <a:solidFill>
                            <a:schemeClr val="accent3"/>
                          </a:solidFill>
                        </a:rPr>
                        <a:t>29,1%</a:t>
                      </a: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0" dirty="0"/>
                        <a:t>190</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nl-BE" dirty="0">
                          <a:solidFill>
                            <a:srgbClr val="FF0000"/>
                          </a:solidFill>
                        </a:rPr>
                        <a:t>63,8%</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768633"/>
                  </a:ext>
                </a:extLst>
              </a:tr>
              <a:tr h="370840">
                <a:tc gridSpan="2">
                  <a:txBody>
                    <a:bodyPr/>
                    <a:lstStyle/>
                    <a:p>
                      <a:endParaRPr lang="nl-BE" b="1"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nl-BE"/>
                    </a:p>
                  </a:txBody>
                  <a:tcPr/>
                </a:tc>
                <a:tc gridSpan="3">
                  <a:txBody>
                    <a:bodyPr/>
                    <a:lstStyle/>
                    <a:p>
                      <a:pPr algn="ctr"/>
                      <a:r>
                        <a:rPr lang="nl-BE" b="0" dirty="0"/>
                        <a:t>162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gridSpan="3">
                  <a:txBody>
                    <a:bodyPr/>
                    <a:lstStyle/>
                    <a:p>
                      <a:pPr algn="ctr"/>
                      <a:r>
                        <a:rPr lang="nl-BE" b="0" dirty="0"/>
                        <a:t>136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a:txBody>
                    <a:bodyPr/>
                    <a:lstStyle/>
                    <a:p>
                      <a:pPr algn="ctr"/>
                      <a:r>
                        <a:rPr lang="nl-BE" b="0" dirty="0"/>
                        <a:t>298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384952337"/>
                  </a:ext>
                </a:extLst>
              </a:tr>
              <a:tr h="397965">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ash"/>
                      <a:round/>
                      <a:headEnd type="none" w="med" len="med"/>
                      <a:tailEnd type="none" w="med" len="med"/>
                    </a:lnB>
                  </a:tcPr>
                </a:tc>
                <a:tc hMerge="1">
                  <a:txBody>
                    <a:bodyPr/>
                    <a:lstStyle/>
                    <a:p>
                      <a:endParaRPr lang="nl-BE"/>
                    </a:p>
                  </a:txBody>
                  <a:tcPr/>
                </a:tc>
                <a:tc gridSpan="3">
                  <a:txBody>
                    <a:bodyPr/>
                    <a:lstStyle/>
                    <a:p>
                      <a:pPr algn="ctr"/>
                      <a:r>
                        <a:rPr lang="nl-BE" dirty="0">
                          <a:solidFill>
                            <a:srgbClr val="FF0000"/>
                          </a:solidFill>
                        </a:rPr>
                        <a:t>54,4%</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gridSpan="3">
                  <a:txBody>
                    <a:bodyPr/>
                    <a:lstStyle/>
                    <a:p>
                      <a:pPr algn="ctr"/>
                      <a:r>
                        <a:rPr lang="nl-BE" dirty="0">
                          <a:solidFill>
                            <a:srgbClr val="FF0000"/>
                          </a:solidFill>
                        </a:rPr>
                        <a:t>45,6%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09101483"/>
                  </a:ext>
                </a:extLst>
              </a:tr>
            </a:tbl>
          </a:graphicData>
        </a:graphic>
      </p:graphicFrame>
      <p:sp>
        <p:nvSpPr>
          <p:cNvPr id="10" name="Tekstvak 9">
            <a:extLst>
              <a:ext uri="{FF2B5EF4-FFF2-40B4-BE49-F238E27FC236}">
                <a16:creationId xmlns:a16="http://schemas.microsoft.com/office/drawing/2014/main" id="{CE48B75D-3F29-A144-B871-13568A662CFF}"/>
              </a:ext>
            </a:extLst>
          </p:cNvPr>
          <p:cNvSpPr txBox="1"/>
          <p:nvPr/>
        </p:nvSpPr>
        <p:spPr>
          <a:xfrm>
            <a:off x="623887" y="1782419"/>
            <a:ext cx="5617887" cy="410817"/>
          </a:xfrm>
          <a:prstGeom prst="rect">
            <a:avLst/>
          </a:prstGeom>
          <a:noFill/>
        </p:spPr>
        <p:txBody>
          <a:bodyPr wrap="square" lIns="0" tIns="0" rIns="0" bIns="0" rtlCol="0">
            <a:noAutofit/>
          </a:bodyPr>
          <a:lstStyle/>
          <a:p>
            <a:pPr algn="l"/>
            <a:r>
              <a:rPr lang="nl-BE" sz="2800" b="1" dirty="0">
                <a:solidFill>
                  <a:schemeClr val="accent3"/>
                </a:solidFill>
                <a:latin typeface="Gotham" panose="02000603040000020004" pitchFamily="2" charset="0"/>
                <a:ea typeface="Verdana" panose="020B0604030504040204" pitchFamily="34" charset="0"/>
                <a:cs typeface="Verdana" panose="020B0604030504040204" pitchFamily="34" charset="0"/>
              </a:rPr>
              <a:t>Verwachte waarden …</a:t>
            </a:r>
          </a:p>
        </p:txBody>
      </p:sp>
      <p:sp>
        <p:nvSpPr>
          <p:cNvPr id="6" name="TextBox 3">
            <a:extLst>
              <a:ext uri="{FF2B5EF4-FFF2-40B4-BE49-F238E27FC236}">
                <a16:creationId xmlns:a16="http://schemas.microsoft.com/office/drawing/2014/main" id="{520F6924-A8AE-8844-8DCF-975EDBAF15B9}"/>
              </a:ext>
            </a:extLst>
          </p:cNvPr>
          <p:cNvSpPr txBox="1">
            <a:spLocks noChangeArrowheads="1"/>
          </p:cNvSpPr>
          <p:nvPr/>
        </p:nvSpPr>
        <p:spPr bwMode="auto">
          <a:xfrm>
            <a:off x="395287" y="5423712"/>
            <a:ext cx="179132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hlink"/>
                </a:solidFill>
                <a:latin typeface="Verdana" charset="0"/>
                <a:ea typeface="MS PGothic" charset="0"/>
                <a:cs typeface="MS PGothic" charset="0"/>
              </a:defRPr>
            </a:lvl1pPr>
            <a:lvl2pPr marL="742950" indent="-285750">
              <a:defRPr sz="2400">
                <a:solidFill>
                  <a:schemeClr val="hlink"/>
                </a:solidFill>
                <a:latin typeface="Verdana" charset="0"/>
                <a:ea typeface="MS PGothic" charset="0"/>
                <a:cs typeface="MS PGothic" charset="0"/>
              </a:defRPr>
            </a:lvl2pPr>
            <a:lvl3pPr marL="1143000" indent="-228600">
              <a:defRPr sz="2400">
                <a:solidFill>
                  <a:schemeClr val="hlink"/>
                </a:solidFill>
                <a:latin typeface="Verdana" charset="0"/>
                <a:ea typeface="MS PGothic" charset="0"/>
                <a:cs typeface="MS PGothic" charset="0"/>
              </a:defRPr>
            </a:lvl3pPr>
            <a:lvl4pPr marL="1600200" indent="-228600">
              <a:defRPr sz="2400">
                <a:solidFill>
                  <a:schemeClr val="hlink"/>
                </a:solidFill>
                <a:latin typeface="Verdana" charset="0"/>
                <a:ea typeface="MS PGothic" charset="0"/>
                <a:cs typeface="MS PGothic" charset="0"/>
              </a:defRPr>
            </a:lvl4pPr>
            <a:lvl5pPr marL="2057400" indent="-228600">
              <a:defRPr sz="2400">
                <a:solidFill>
                  <a:schemeClr val="hlink"/>
                </a:solidFill>
                <a:latin typeface="Verdana" charset="0"/>
                <a:ea typeface="MS PGothic" charset="0"/>
                <a:cs typeface="MS PGothic" charset="0"/>
              </a:defRPr>
            </a:lvl5pPr>
            <a:lvl6pPr marL="2514600" indent="-228600" eaLnBrk="0" fontAlgn="base" hangingPunct="0">
              <a:spcBef>
                <a:spcPct val="0"/>
              </a:spcBef>
              <a:spcAft>
                <a:spcPct val="0"/>
              </a:spcAft>
              <a:defRPr sz="2400">
                <a:solidFill>
                  <a:schemeClr val="hlink"/>
                </a:solidFill>
                <a:latin typeface="Verdana" charset="0"/>
                <a:ea typeface="MS PGothic" charset="0"/>
                <a:cs typeface="MS PGothic" charset="0"/>
              </a:defRPr>
            </a:lvl6pPr>
            <a:lvl7pPr marL="2971800" indent="-228600" eaLnBrk="0" fontAlgn="base" hangingPunct="0">
              <a:spcBef>
                <a:spcPct val="0"/>
              </a:spcBef>
              <a:spcAft>
                <a:spcPct val="0"/>
              </a:spcAft>
              <a:defRPr sz="2400">
                <a:solidFill>
                  <a:schemeClr val="hlink"/>
                </a:solidFill>
                <a:latin typeface="Verdana" charset="0"/>
                <a:ea typeface="MS PGothic" charset="0"/>
                <a:cs typeface="MS PGothic" charset="0"/>
              </a:defRPr>
            </a:lvl7pPr>
            <a:lvl8pPr marL="3429000" indent="-228600" eaLnBrk="0" fontAlgn="base" hangingPunct="0">
              <a:spcBef>
                <a:spcPct val="0"/>
              </a:spcBef>
              <a:spcAft>
                <a:spcPct val="0"/>
              </a:spcAft>
              <a:defRPr sz="2400">
                <a:solidFill>
                  <a:schemeClr val="hlink"/>
                </a:solidFill>
                <a:latin typeface="Verdana" charset="0"/>
                <a:ea typeface="MS PGothic" charset="0"/>
                <a:cs typeface="MS PGothic" charset="0"/>
              </a:defRPr>
            </a:lvl8pPr>
            <a:lvl9pPr marL="3886200" indent="-228600" eaLnBrk="0" fontAlgn="base" hangingPunct="0">
              <a:spcBef>
                <a:spcPct val="0"/>
              </a:spcBef>
              <a:spcAft>
                <a:spcPct val="0"/>
              </a:spcAft>
              <a:defRPr sz="2400">
                <a:solidFill>
                  <a:schemeClr val="hlink"/>
                </a:solidFill>
                <a:latin typeface="Verdana" charset="0"/>
                <a:ea typeface="MS PGothic" charset="0"/>
                <a:cs typeface="MS PGothic" charset="0"/>
              </a:defRPr>
            </a:lvl9pPr>
          </a:lstStyle>
          <a:p>
            <a:pPr eaLnBrk="1" hangingPunct="1"/>
            <a:r>
              <a:rPr lang="nl-NL" sz="1800" dirty="0">
                <a:solidFill>
                  <a:schemeClr val="accent2"/>
                </a:solidFill>
                <a:latin typeface="+mn-lt"/>
              </a:rPr>
              <a:t>0,544*0,362</a:t>
            </a:r>
          </a:p>
        </p:txBody>
      </p:sp>
      <p:cxnSp>
        <p:nvCxnSpPr>
          <p:cNvPr id="7" name="Straight Arrow Connector 5">
            <a:extLst>
              <a:ext uri="{FF2B5EF4-FFF2-40B4-BE49-F238E27FC236}">
                <a16:creationId xmlns:a16="http://schemas.microsoft.com/office/drawing/2014/main" id="{DE4C2F58-006B-AC4B-B815-1C61D8C5A79C}"/>
              </a:ext>
            </a:extLst>
          </p:cNvPr>
          <p:cNvCxnSpPr>
            <a:cxnSpLocks noChangeShapeType="1"/>
            <a:stCxn id="6" idx="0"/>
          </p:cNvCxnSpPr>
          <p:nvPr/>
        </p:nvCxnSpPr>
        <p:spPr bwMode="auto">
          <a:xfrm flipV="1">
            <a:off x="1290948" y="3525078"/>
            <a:ext cx="4168948" cy="1898634"/>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30895916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D29289-C557-0D4E-94EF-95F940988137}"/>
              </a:ext>
            </a:extLst>
          </p:cNvPr>
          <p:cNvSpPr>
            <a:spLocks noGrp="1"/>
          </p:cNvSpPr>
          <p:nvPr>
            <p:ph type="title"/>
          </p:nvPr>
        </p:nvSpPr>
        <p:spPr/>
        <p:txBody>
          <a:bodyPr/>
          <a:lstStyle/>
          <a:p>
            <a:r>
              <a:rPr lang="nl-BE" dirty="0"/>
              <a:t>Statistische (on)afhankelijkheid?</a:t>
            </a:r>
          </a:p>
        </p:txBody>
      </p:sp>
      <p:sp>
        <p:nvSpPr>
          <p:cNvPr id="3" name="Tijdelijke aanduiding voor dianummer 2">
            <a:extLst>
              <a:ext uri="{FF2B5EF4-FFF2-40B4-BE49-F238E27FC236}">
                <a16:creationId xmlns:a16="http://schemas.microsoft.com/office/drawing/2014/main" id="{EAA310E2-50FD-7743-A8C1-01A26C0AF59E}"/>
              </a:ext>
            </a:extLst>
          </p:cNvPr>
          <p:cNvSpPr>
            <a:spLocks noGrp="1"/>
          </p:cNvSpPr>
          <p:nvPr>
            <p:ph type="sldNum" sz="quarter" idx="10"/>
          </p:nvPr>
        </p:nvSpPr>
        <p:spPr/>
        <p:txBody>
          <a:bodyPr/>
          <a:lstStyle/>
          <a:p>
            <a:fld id="{E038E271-308C-2E46-A3EC-56326F9084CC}" type="slidenum">
              <a:rPr lang="nl-BE" smtClean="0"/>
              <a:pPr/>
              <a:t>46</a:t>
            </a:fld>
            <a:endParaRPr lang="nl-BE" dirty="0"/>
          </a:p>
        </p:txBody>
      </p:sp>
      <p:graphicFrame>
        <p:nvGraphicFramePr>
          <p:cNvPr id="5" name="Tabel 5">
            <a:extLst>
              <a:ext uri="{FF2B5EF4-FFF2-40B4-BE49-F238E27FC236}">
                <a16:creationId xmlns:a16="http://schemas.microsoft.com/office/drawing/2014/main" id="{54AB363F-5CB8-4045-9E43-3FDA518351BC}"/>
              </a:ext>
            </a:extLst>
          </p:cNvPr>
          <p:cNvGraphicFramePr>
            <a:graphicFrameLocks noGrp="1"/>
          </p:cNvGraphicFramePr>
          <p:nvPr>
            <p:ph idx="1"/>
          </p:nvPr>
        </p:nvGraphicFramePr>
        <p:xfrm>
          <a:off x="623887" y="2286000"/>
          <a:ext cx="10840278" cy="27432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611096350"/>
                    </a:ext>
                  </a:extLst>
                </a:gridCol>
                <a:gridCol w="1828800">
                  <a:extLst>
                    <a:ext uri="{9D8B030D-6E8A-4147-A177-3AD203B41FA5}">
                      <a16:colId xmlns:a16="http://schemas.microsoft.com/office/drawing/2014/main" val="1844576020"/>
                    </a:ext>
                  </a:extLst>
                </a:gridCol>
                <a:gridCol w="1204913">
                  <a:extLst>
                    <a:ext uri="{9D8B030D-6E8A-4147-A177-3AD203B41FA5}">
                      <a16:colId xmlns:a16="http://schemas.microsoft.com/office/drawing/2014/main" val="974557885"/>
                    </a:ext>
                  </a:extLst>
                </a:gridCol>
                <a:gridCol w="980661">
                  <a:extLst>
                    <a:ext uri="{9D8B030D-6E8A-4147-A177-3AD203B41FA5}">
                      <a16:colId xmlns:a16="http://schemas.microsoft.com/office/drawing/2014/main" val="1965792722"/>
                    </a:ext>
                  </a:extLst>
                </a:gridCol>
                <a:gridCol w="994046">
                  <a:extLst>
                    <a:ext uri="{9D8B030D-6E8A-4147-A177-3AD203B41FA5}">
                      <a16:colId xmlns:a16="http://schemas.microsoft.com/office/drawing/2014/main" val="202143121"/>
                    </a:ext>
                  </a:extLst>
                </a:gridCol>
                <a:gridCol w="1272076">
                  <a:extLst>
                    <a:ext uri="{9D8B030D-6E8A-4147-A177-3AD203B41FA5}">
                      <a16:colId xmlns:a16="http://schemas.microsoft.com/office/drawing/2014/main" val="1580241352"/>
                    </a:ext>
                  </a:extLst>
                </a:gridCol>
                <a:gridCol w="954156">
                  <a:extLst>
                    <a:ext uri="{9D8B030D-6E8A-4147-A177-3AD203B41FA5}">
                      <a16:colId xmlns:a16="http://schemas.microsoft.com/office/drawing/2014/main" val="3751769211"/>
                    </a:ext>
                  </a:extLst>
                </a:gridCol>
                <a:gridCol w="953388">
                  <a:extLst>
                    <a:ext uri="{9D8B030D-6E8A-4147-A177-3AD203B41FA5}">
                      <a16:colId xmlns:a16="http://schemas.microsoft.com/office/drawing/2014/main" val="2696291302"/>
                    </a:ext>
                  </a:extLst>
                </a:gridCol>
                <a:gridCol w="995717">
                  <a:extLst>
                    <a:ext uri="{9D8B030D-6E8A-4147-A177-3AD203B41FA5}">
                      <a16:colId xmlns:a16="http://schemas.microsoft.com/office/drawing/2014/main" val="2482419465"/>
                    </a:ext>
                  </a:extLst>
                </a:gridCol>
                <a:gridCol w="1046921">
                  <a:extLst>
                    <a:ext uri="{9D8B030D-6E8A-4147-A177-3AD203B41FA5}">
                      <a16:colId xmlns:a16="http://schemas.microsoft.com/office/drawing/2014/main" val="1627868882"/>
                    </a:ext>
                  </a:extLst>
                </a:gridCol>
              </a:tblGrid>
              <a:tr h="231293">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tcPr>
                </a:tc>
                <a:tc hMerge="1">
                  <a:txBody>
                    <a:bodyPr/>
                    <a:lstStyle/>
                    <a:p>
                      <a:endParaRPr lang="nl-BE"/>
                    </a:p>
                  </a:txBody>
                  <a:tcPr/>
                </a:tc>
                <a:tc gridSpan="6">
                  <a:txBody>
                    <a:bodyPr/>
                    <a:lstStyle/>
                    <a:p>
                      <a:pPr algn="ctr"/>
                      <a:r>
                        <a:rPr lang="nl-BE" b="1" u="sng" dirty="0"/>
                        <a:t>Politieagent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hMerge="1">
                  <a:txBody>
                    <a:bodyPr/>
                    <a:lstStyle/>
                    <a:p>
                      <a:endParaRPr lang="nl-BE"/>
                    </a:p>
                  </a:txBody>
                  <a:tcPr/>
                </a:tc>
                <a:tc hMerge="1">
                  <a:txBody>
                    <a:bodyPr/>
                    <a:lstStyle/>
                    <a:p>
                      <a:endParaRPr lang="nl-BE"/>
                    </a:p>
                  </a:txBody>
                  <a:tcPr/>
                </a:tc>
                <a:tc hMerge="1">
                  <a:txBody>
                    <a:bodyPr/>
                    <a:lstStyle/>
                    <a:p>
                      <a:pPr algn="ctr"/>
                      <a:endParaRPr lang="nl-BE" dirty="0"/>
                    </a:p>
                  </a:txBody>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33977165"/>
                  </a:ext>
                </a:extLst>
              </a:tr>
              <a:tr h="370840">
                <a:tc gridSpan="2">
                  <a:txBody>
                    <a:bodyPr/>
                    <a:lstStyle/>
                    <a:p>
                      <a:endParaRPr lang="nl-BE" b="1" u="sng" dirty="0"/>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gridSpan="3">
                  <a:txBody>
                    <a:bodyPr/>
                    <a:lstStyle/>
                    <a:p>
                      <a:pPr algn="ctr"/>
                      <a:r>
                        <a:rPr lang="nl-BE" i="1" dirty="0"/>
                        <a:t>Zonder ervaring</a:t>
                      </a:r>
                    </a:p>
                  </a:txBody>
                  <a:tcP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lnL w="12700" cmpd="sng">
                      <a:noFill/>
                    </a:lnL>
                  </a:tcPr>
                </a:tc>
                <a:tc hMerge="1">
                  <a:txBody>
                    <a:bodyPr/>
                    <a:lstStyle/>
                    <a:p>
                      <a:endParaRPr lang="nl-BE"/>
                    </a:p>
                  </a:txBody>
                  <a:tcPr/>
                </a:tc>
                <a:tc gridSpan="3">
                  <a:txBody>
                    <a:bodyPr/>
                    <a:lstStyle/>
                    <a:p>
                      <a:pPr algn="ctr"/>
                      <a:r>
                        <a:rPr lang="nl-BE" i="1" dirty="0"/>
                        <a:t>Met ervaring</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b="1"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055458"/>
                  </a:ext>
                </a:extLst>
              </a:tr>
              <a:tr h="370840">
                <a:tc rowSpan="2">
                  <a:txBody>
                    <a:bodyPr/>
                    <a:lstStyle/>
                    <a:p>
                      <a:pPr algn="l"/>
                      <a:r>
                        <a:rPr lang="nl-BE" b="1" i="1" dirty="0"/>
                        <a:t>Case</a:t>
                      </a:r>
                    </a:p>
                  </a:txBody>
                  <a:tcPr vert="vert270">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a:r>
                        <a:rPr lang="nl-BE" i="1" dirty="0"/>
                        <a:t>Niet opgelost</a:t>
                      </a:r>
                    </a:p>
                  </a:txBody>
                  <a:tcPr>
                    <a:lnL w="12700" cmpd="sng">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a:txBody>
                    <a:bodyPr/>
                    <a:lstStyle/>
                    <a:p>
                      <a:pPr algn="ctr"/>
                      <a:r>
                        <a:rPr lang="nl-BE" b="1" dirty="0">
                          <a:solidFill>
                            <a:schemeClr val="accent6"/>
                          </a:solidFill>
                        </a:rPr>
                        <a:t>65</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r>
                        <a:rPr lang="nl-BE" b="1" dirty="0">
                          <a:solidFill>
                            <a:schemeClr val="accent3"/>
                          </a:solidFill>
                        </a:rPr>
                        <a:t>58,7</a:t>
                      </a: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nl-BE" sz="1400" b="1" dirty="0">
                          <a:solidFill>
                            <a:schemeClr val="accent3"/>
                          </a:solidFill>
                        </a:rPr>
                        <a:t>19,7%</a:t>
                      </a: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1" dirty="0">
                          <a:solidFill>
                            <a:schemeClr val="accent6"/>
                          </a:solidFill>
                        </a:rPr>
                        <a:t>43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r>
                        <a:rPr lang="nl-BE" b="1" dirty="0">
                          <a:solidFill>
                            <a:schemeClr val="accent3"/>
                          </a:solidFill>
                        </a:rPr>
                        <a:t>49,2</a:t>
                      </a: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nl-BE" sz="1400" b="1" dirty="0">
                          <a:solidFill>
                            <a:schemeClr val="accent3"/>
                          </a:solidFill>
                        </a:rPr>
                        <a:t>16,5%</a:t>
                      </a: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0" dirty="0"/>
                        <a:t>108</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r>
                        <a:rPr lang="nl-BE" dirty="0">
                          <a:solidFill>
                            <a:srgbClr val="FF0000"/>
                          </a:solidFill>
                        </a:rPr>
                        <a:t>36,2%</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07581061"/>
                  </a:ext>
                </a:extLst>
              </a:tr>
              <a:tr h="370840">
                <a:tc vMerge="1">
                  <a:txBody>
                    <a:bodyPr/>
                    <a:lstStyle/>
                    <a:p>
                      <a:pPr algn="l"/>
                      <a:endParaRPr lang="nl-BE" i="1" dirty="0"/>
                    </a:p>
                  </a:txBody>
                  <a:tcPr/>
                </a:tc>
                <a:tc>
                  <a:txBody>
                    <a:bodyPr/>
                    <a:lstStyle/>
                    <a:p>
                      <a:pPr algn="l"/>
                      <a:r>
                        <a:rPr lang="nl-BE" i="1" dirty="0"/>
                        <a:t>Opgelost</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97</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nl-BE" b="1" dirty="0">
                          <a:solidFill>
                            <a:schemeClr val="accent3"/>
                          </a:solidFill>
                        </a:rPr>
                        <a:t>103,4</a:t>
                      </a: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nl-BE" sz="1400" b="1" dirty="0">
                          <a:solidFill>
                            <a:schemeClr val="accent3"/>
                          </a:solidFill>
                        </a:rPr>
                        <a:t>34,7%</a:t>
                      </a: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nl-BE" b="1" dirty="0">
                          <a:solidFill>
                            <a:schemeClr val="accent3"/>
                          </a:solidFill>
                        </a:rPr>
                        <a:t>86,7</a:t>
                      </a: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nl-BE" sz="1400" b="1" dirty="0">
                          <a:solidFill>
                            <a:schemeClr val="accent3"/>
                          </a:solidFill>
                        </a:rPr>
                        <a:t>29,1%</a:t>
                      </a: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0" dirty="0"/>
                        <a:t>190</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nl-BE" dirty="0">
                          <a:solidFill>
                            <a:srgbClr val="FF0000"/>
                          </a:solidFill>
                        </a:rPr>
                        <a:t>63,8%</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768633"/>
                  </a:ext>
                </a:extLst>
              </a:tr>
              <a:tr h="370840">
                <a:tc gridSpan="2">
                  <a:txBody>
                    <a:bodyPr/>
                    <a:lstStyle/>
                    <a:p>
                      <a:endParaRPr lang="nl-BE" b="1"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nl-BE"/>
                    </a:p>
                  </a:txBody>
                  <a:tcPr/>
                </a:tc>
                <a:tc gridSpan="3">
                  <a:txBody>
                    <a:bodyPr/>
                    <a:lstStyle/>
                    <a:p>
                      <a:pPr algn="ctr"/>
                      <a:r>
                        <a:rPr lang="nl-BE" b="0" dirty="0"/>
                        <a:t>162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gridSpan="3">
                  <a:txBody>
                    <a:bodyPr/>
                    <a:lstStyle/>
                    <a:p>
                      <a:pPr algn="ctr"/>
                      <a:r>
                        <a:rPr lang="nl-BE" b="0" dirty="0"/>
                        <a:t>136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a:txBody>
                    <a:bodyPr/>
                    <a:lstStyle/>
                    <a:p>
                      <a:pPr algn="ctr"/>
                      <a:r>
                        <a:rPr lang="nl-BE" b="0" dirty="0"/>
                        <a:t>298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384952337"/>
                  </a:ext>
                </a:extLst>
              </a:tr>
              <a:tr h="397965">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ash"/>
                      <a:round/>
                      <a:headEnd type="none" w="med" len="med"/>
                      <a:tailEnd type="none" w="med" len="med"/>
                    </a:lnB>
                  </a:tcPr>
                </a:tc>
                <a:tc hMerge="1">
                  <a:txBody>
                    <a:bodyPr/>
                    <a:lstStyle/>
                    <a:p>
                      <a:endParaRPr lang="nl-BE"/>
                    </a:p>
                  </a:txBody>
                  <a:tcPr/>
                </a:tc>
                <a:tc gridSpan="3">
                  <a:txBody>
                    <a:bodyPr/>
                    <a:lstStyle/>
                    <a:p>
                      <a:pPr algn="ctr"/>
                      <a:r>
                        <a:rPr lang="nl-BE" dirty="0">
                          <a:solidFill>
                            <a:srgbClr val="FF0000"/>
                          </a:solidFill>
                        </a:rPr>
                        <a:t>54,4%</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gridSpan="3">
                  <a:txBody>
                    <a:bodyPr/>
                    <a:lstStyle/>
                    <a:p>
                      <a:pPr algn="ctr"/>
                      <a:r>
                        <a:rPr lang="nl-BE" dirty="0">
                          <a:solidFill>
                            <a:srgbClr val="FF0000"/>
                          </a:solidFill>
                        </a:rPr>
                        <a:t>45,6%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09101483"/>
                  </a:ext>
                </a:extLst>
              </a:tr>
            </a:tbl>
          </a:graphicData>
        </a:graphic>
      </p:graphicFrame>
      <p:sp>
        <p:nvSpPr>
          <p:cNvPr id="10" name="Tekstvak 9">
            <a:extLst>
              <a:ext uri="{FF2B5EF4-FFF2-40B4-BE49-F238E27FC236}">
                <a16:creationId xmlns:a16="http://schemas.microsoft.com/office/drawing/2014/main" id="{CE48B75D-3F29-A144-B871-13568A662CFF}"/>
              </a:ext>
            </a:extLst>
          </p:cNvPr>
          <p:cNvSpPr txBox="1"/>
          <p:nvPr/>
        </p:nvSpPr>
        <p:spPr>
          <a:xfrm>
            <a:off x="623887" y="1782419"/>
            <a:ext cx="6664809" cy="410817"/>
          </a:xfrm>
          <a:prstGeom prst="rect">
            <a:avLst/>
          </a:prstGeom>
          <a:noFill/>
        </p:spPr>
        <p:txBody>
          <a:bodyPr wrap="square" lIns="0" tIns="0" rIns="0" bIns="0" rtlCol="0">
            <a:noAutofit/>
          </a:bodyPr>
          <a:lstStyle/>
          <a:p>
            <a:pPr algn="l"/>
            <a:r>
              <a:rPr lang="nl-BE" sz="2800" b="1" dirty="0">
                <a:solidFill>
                  <a:schemeClr val="accent6"/>
                </a:solidFill>
                <a:latin typeface="Gotham" panose="02000603040000020004" pitchFamily="2" charset="0"/>
                <a:ea typeface="Verdana" panose="020B0604030504040204" pitchFamily="34" charset="0"/>
                <a:cs typeface="Verdana" panose="020B0604030504040204" pitchFamily="34" charset="0"/>
              </a:rPr>
              <a:t>Feitelijke waarden </a:t>
            </a:r>
            <a:r>
              <a:rPr lang="nl-BE" sz="2800" b="1" dirty="0">
                <a:latin typeface="Gotham" panose="02000603040000020004" pitchFamily="2" charset="0"/>
                <a:ea typeface="Verdana" panose="020B0604030504040204" pitchFamily="34" charset="0"/>
                <a:cs typeface="Verdana" panose="020B0604030504040204" pitchFamily="34" charset="0"/>
              </a:rPr>
              <a:t>t.o.v.</a:t>
            </a:r>
            <a:r>
              <a:rPr lang="nl-BE" sz="2800" b="1" dirty="0">
                <a:solidFill>
                  <a:schemeClr val="accent3"/>
                </a:solidFill>
                <a:latin typeface="Gotham" panose="02000603040000020004" pitchFamily="2" charset="0"/>
                <a:ea typeface="Verdana" panose="020B0604030504040204" pitchFamily="34" charset="0"/>
                <a:cs typeface="Verdana" panose="020B0604030504040204" pitchFamily="34" charset="0"/>
              </a:rPr>
              <a:t> verwachte waarden</a:t>
            </a:r>
          </a:p>
        </p:txBody>
      </p:sp>
      <p:sp>
        <p:nvSpPr>
          <p:cNvPr id="6" name="TextBox 3">
            <a:extLst>
              <a:ext uri="{FF2B5EF4-FFF2-40B4-BE49-F238E27FC236}">
                <a16:creationId xmlns:a16="http://schemas.microsoft.com/office/drawing/2014/main" id="{EAB8D796-0857-9941-B026-6E1AD01883C4}"/>
              </a:ext>
            </a:extLst>
          </p:cNvPr>
          <p:cNvSpPr txBox="1">
            <a:spLocks noChangeArrowheads="1"/>
          </p:cNvSpPr>
          <p:nvPr/>
        </p:nvSpPr>
        <p:spPr bwMode="auto">
          <a:xfrm>
            <a:off x="395287" y="5423712"/>
            <a:ext cx="1791321"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hlink"/>
                </a:solidFill>
                <a:latin typeface="Verdana" charset="0"/>
                <a:ea typeface="MS PGothic" charset="0"/>
                <a:cs typeface="MS PGothic" charset="0"/>
              </a:defRPr>
            </a:lvl1pPr>
            <a:lvl2pPr marL="742950" indent="-285750">
              <a:defRPr sz="2400">
                <a:solidFill>
                  <a:schemeClr val="hlink"/>
                </a:solidFill>
                <a:latin typeface="Verdana" charset="0"/>
                <a:ea typeface="MS PGothic" charset="0"/>
                <a:cs typeface="MS PGothic" charset="0"/>
              </a:defRPr>
            </a:lvl2pPr>
            <a:lvl3pPr marL="1143000" indent="-228600">
              <a:defRPr sz="2400">
                <a:solidFill>
                  <a:schemeClr val="hlink"/>
                </a:solidFill>
                <a:latin typeface="Verdana" charset="0"/>
                <a:ea typeface="MS PGothic" charset="0"/>
                <a:cs typeface="MS PGothic" charset="0"/>
              </a:defRPr>
            </a:lvl3pPr>
            <a:lvl4pPr marL="1600200" indent="-228600">
              <a:defRPr sz="2400">
                <a:solidFill>
                  <a:schemeClr val="hlink"/>
                </a:solidFill>
                <a:latin typeface="Verdana" charset="0"/>
                <a:ea typeface="MS PGothic" charset="0"/>
                <a:cs typeface="MS PGothic" charset="0"/>
              </a:defRPr>
            </a:lvl4pPr>
            <a:lvl5pPr marL="2057400" indent="-228600">
              <a:defRPr sz="2400">
                <a:solidFill>
                  <a:schemeClr val="hlink"/>
                </a:solidFill>
                <a:latin typeface="Verdana" charset="0"/>
                <a:ea typeface="MS PGothic" charset="0"/>
                <a:cs typeface="MS PGothic" charset="0"/>
              </a:defRPr>
            </a:lvl5pPr>
            <a:lvl6pPr marL="2514600" indent="-228600" eaLnBrk="0" fontAlgn="base" hangingPunct="0">
              <a:spcBef>
                <a:spcPct val="0"/>
              </a:spcBef>
              <a:spcAft>
                <a:spcPct val="0"/>
              </a:spcAft>
              <a:defRPr sz="2400">
                <a:solidFill>
                  <a:schemeClr val="hlink"/>
                </a:solidFill>
                <a:latin typeface="Verdana" charset="0"/>
                <a:ea typeface="MS PGothic" charset="0"/>
                <a:cs typeface="MS PGothic" charset="0"/>
              </a:defRPr>
            </a:lvl6pPr>
            <a:lvl7pPr marL="2971800" indent="-228600" eaLnBrk="0" fontAlgn="base" hangingPunct="0">
              <a:spcBef>
                <a:spcPct val="0"/>
              </a:spcBef>
              <a:spcAft>
                <a:spcPct val="0"/>
              </a:spcAft>
              <a:defRPr sz="2400">
                <a:solidFill>
                  <a:schemeClr val="hlink"/>
                </a:solidFill>
                <a:latin typeface="Verdana" charset="0"/>
                <a:ea typeface="MS PGothic" charset="0"/>
                <a:cs typeface="MS PGothic" charset="0"/>
              </a:defRPr>
            </a:lvl7pPr>
            <a:lvl8pPr marL="3429000" indent="-228600" eaLnBrk="0" fontAlgn="base" hangingPunct="0">
              <a:spcBef>
                <a:spcPct val="0"/>
              </a:spcBef>
              <a:spcAft>
                <a:spcPct val="0"/>
              </a:spcAft>
              <a:defRPr sz="2400">
                <a:solidFill>
                  <a:schemeClr val="hlink"/>
                </a:solidFill>
                <a:latin typeface="Verdana" charset="0"/>
                <a:ea typeface="MS PGothic" charset="0"/>
                <a:cs typeface="MS PGothic" charset="0"/>
              </a:defRPr>
            </a:lvl8pPr>
            <a:lvl9pPr marL="3886200" indent="-228600" eaLnBrk="0" fontAlgn="base" hangingPunct="0">
              <a:spcBef>
                <a:spcPct val="0"/>
              </a:spcBef>
              <a:spcAft>
                <a:spcPct val="0"/>
              </a:spcAft>
              <a:defRPr sz="2400">
                <a:solidFill>
                  <a:schemeClr val="hlink"/>
                </a:solidFill>
                <a:latin typeface="Verdana" charset="0"/>
                <a:ea typeface="MS PGothic" charset="0"/>
                <a:cs typeface="MS PGothic" charset="0"/>
              </a:defRPr>
            </a:lvl9pPr>
          </a:lstStyle>
          <a:p>
            <a:pPr eaLnBrk="1" hangingPunct="1"/>
            <a:r>
              <a:rPr lang="nl-NL" sz="1800" dirty="0">
                <a:solidFill>
                  <a:schemeClr val="accent3"/>
                </a:solidFill>
                <a:latin typeface="+mn-lt"/>
              </a:rPr>
              <a:t>298/100*19,7</a:t>
            </a:r>
          </a:p>
        </p:txBody>
      </p:sp>
      <p:cxnSp>
        <p:nvCxnSpPr>
          <p:cNvPr id="7" name="Straight Arrow Connector 5">
            <a:extLst>
              <a:ext uri="{FF2B5EF4-FFF2-40B4-BE49-F238E27FC236}">
                <a16:creationId xmlns:a16="http://schemas.microsoft.com/office/drawing/2014/main" id="{E9B91524-2843-7448-A666-09BD965E342D}"/>
              </a:ext>
            </a:extLst>
          </p:cNvPr>
          <p:cNvCxnSpPr>
            <a:cxnSpLocks noChangeShapeType="1"/>
            <a:stCxn id="6" idx="0"/>
          </p:cNvCxnSpPr>
          <p:nvPr/>
        </p:nvCxnSpPr>
        <p:spPr bwMode="auto">
          <a:xfrm flipV="1">
            <a:off x="1290948" y="3429000"/>
            <a:ext cx="3195708" cy="1994712"/>
          </a:xfrm>
          <a:prstGeom prst="straightConnector1">
            <a:avLst/>
          </a:prstGeom>
          <a:noFill/>
          <a:ln w="38100">
            <a:solidFill>
              <a:schemeClr val="tx1"/>
            </a:solidFill>
            <a:round/>
            <a:headEnd/>
            <a:tailEnd type="arrow" w="med" len="med"/>
          </a:ln>
          <a:extLst>
            <a:ext uri="{909E8E84-426E-40dd-AFC4-6F175D3DCCD1}">
              <a14:hiddenFill xmlns:a14="http://schemas.microsoft.com/office/drawing/2010/main" xmlns="">
                <a:noFill/>
              </a14:hiddenFill>
            </a:ext>
          </a:extLst>
        </p:spPr>
      </p:cxnSp>
    </p:spTree>
    <p:extLst>
      <p:ext uri="{BB962C8B-B14F-4D97-AF65-F5344CB8AC3E}">
        <p14:creationId xmlns:p14="http://schemas.microsoft.com/office/powerpoint/2010/main" val="309185444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D29289-C557-0D4E-94EF-95F940988137}"/>
              </a:ext>
            </a:extLst>
          </p:cNvPr>
          <p:cNvSpPr>
            <a:spLocks noGrp="1"/>
          </p:cNvSpPr>
          <p:nvPr>
            <p:ph type="title"/>
          </p:nvPr>
        </p:nvSpPr>
        <p:spPr/>
        <p:txBody>
          <a:bodyPr/>
          <a:lstStyle/>
          <a:p>
            <a:r>
              <a:rPr lang="nl-BE" i="1" dirty="0"/>
              <a:t>Chi</a:t>
            </a:r>
            <a:r>
              <a:rPr lang="nl-BE" i="1" baseline="30000" dirty="0"/>
              <a:t>2</a:t>
            </a:r>
            <a:r>
              <a:rPr lang="nl-BE" dirty="0"/>
              <a:t>-toets</a:t>
            </a:r>
          </a:p>
        </p:txBody>
      </p:sp>
      <p:sp>
        <p:nvSpPr>
          <p:cNvPr id="3" name="Tijdelijke aanduiding voor dianummer 2">
            <a:extLst>
              <a:ext uri="{FF2B5EF4-FFF2-40B4-BE49-F238E27FC236}">
                <a16:creationId xmlns:a16="http://schemas.microsoft.com/office/drawing/2014/main" id="{EAA310E2-50FD-7743-A8C1-01A26C0AF59E}"/>
              </a:ext>
            </a:extLst>
          </p:cNvPr>
          <p:cNvSpPr>
            <a:spLocks noGrp="1"/>
          </p:cNvSpPr>
          <p:nvPr>
            <p:ph type="sldNum" sz="quarter" idx="10"/>
          </p:nvPr>
        </p:nvSpPr>
        <p:spPr/>
        <p:txBody>
          <a:bodyPr/>
          <a:lstStyle/>
          <a:p>
            <a:fld id="{E038E271-308C-2E46-A3EC-56326F9084CC}" type="slidenum">
              <a:rPr lang="nl-BE" smtClean="0"/>
              <a:pPr/>
              <a:t>47</a:t>
            </a:fld>
            <a:endParaRPr lang="nl-BE" dirty="0"/>
          </a:p>
        </p:txBody>
      </p:sp>
      <p:graphicFrame>
        <p:nvGraphicFramePr>
          <p:cNvPr id="5" name="Tabel 5">
            <a:extLst>
              <a:ext uri="{FF2B5EF4-FFF2-40B4-BE49-F238E27FC236}">
                <a16:creationId xmlns:a16="http://schemas.microsoft.com/office/drawing/2014/main" id="{54AB363F-5CB8-4045-9E43-3FDA518351BC}"/>
              </a:ext>
            </a:extLst>
          </p:cNvPr>
          <p:cNvGraphicFramePr>
            <a:graphicFrameLocks noGrp="1"/>
          </p:cNvGraphicFramePr>
          <p:nvPr>
            <p:ph idx="1"/>
            <p:extLst>
              <p:ext uri="{D42A27DB-BD31-4B8C-83A1-F6EECF244321}">
                <p14:modId xmlns:p14="http://schemas.microsoft.com/office/powerpoint/2010/main" val="920878920"/>
              </p:ext>
            </p:extLst>
          </p:nvPr>
        </p:nvGraphicFramePr>
        <p:xfrm>
          <a:off x="623887" y="2286000"/>
          <a:ext cx="10840278" cy="2743200"/>
        </p:xfrm>
        <a:graphic>
          <a:graphicData uri="http://schemas.openxmlformats.org/drawingml/2006/table">
            <a:tbl>
              <a:tblPr firstRow="1" bandRow="1">
                <a:tableStyleId>{5940675A-B579-460E-94D1-54222C63F5DA}</a:tableStyleId>
              </a:tblPr>
              <a:tblGrid>
                <a:gridCol w="609600">
                  <a:extLst>
                    <a:ext uri="{9D8B030D-6E8A-4147-A177-3AD203B41FA5}">
                      <a16:colId xmlns:a16="http://schemas.microsoft.com/office/drawing/2014/main" val="611096350"/>
                    </a:ext>
                  </a:extLst>
                </a:gridCol>
                <a:gridCol w="1828800">
                  <a:extLst>
                    <a:ext uri="{9D8B030D-6E8A-4147-A177-3AD203B41FA5}">
                      <a16:colId xmlns:a16="http://schemas.microsoft.com/office/drawing/2014/main" val="1844576020"/>
                    </a:ext>
                  </a:extLst>
                </a:gridCol>
                <a:gridCol w="1204913">
                  <a:extLst>
                    <a:ext uri="{9D8B030D-6E8A-4147-A177-3AD203B41FA5}">
                      <a16:colId xmlns:a16="http://schemas.microsoft.com/office/drawing/2014/main" val="974557885"/>
                    </a:ext>
                  </a:extLst>
                </a:gridCol>
                <a:gridCol w="980661">
                  <a:extLst>
                    <a:ext uri="{9D8B030D-6E8A-4147-A177-3AD203B41FA5}">
                      <a16:colId xmlns:a16="http://schemas.microsoft.com/office/drawing/2014/main" val="1965792722"/>
                    </a:ext>
                  </a:extLst>
                </a:gridCol>
                <a:gridCol w="994046">
                  <a:extLst>
                    <a:ext uri="{9D8B030D-6E8A-4147-A177-3AD203B41FA5}">
                      <a16:colId xmlns:a16="http://schemas.microsoft.com/office/drawing/2014/main" val="202143121"/>
                    </a:ext>
                  </a:extLst>
                </a:gridCol>
                <a:gridCol w="1272076">
                  <a:extLst>
                    <a:ext uri="{9D8B030D-6E8A-4147-A177-3AD203B41FA5}">
                      <a16:colId xmlns:a16="http://schemas.microsoft.com/office/drawing/2014/main" val="1580241352"/>
                    </a:ext>
                  </a:extLst>
                </a:gridCol>
                <a:gridCol w="954156">
                  <a:extLst>
                    <a:ext uri="{9D8B030D-6E8A-4147-A177-3AD203B41FA5}">
                      <a16:colId xmlns:a16="http://schemas.microsoft.com/office/drawing/2014/main" val="3751769211"/>
                    </a:ext>
                  </a:extLst>
                </a:gridCol>
                <a:gridCol w="953388">
                  <a:extLst>
                    <a:ext uri="{9D8B030D-6E8A-4147-A177-3AD203B41FA5}">
                      <a16:colId xmlns:a16="http://schemas.microsoft.com/office/drawing/2014/main" val="2696291302"/>
                    </a:ext>
                  </a:extLst>
                </a:gridCol>
                <a:gridCol w="995717">
                  <a:extLst>
                    <a:ext uri="{9D8B030D-6E8A-4147-A177-3AD203B41FA5}">
                      <a16:colId xmlns:a16="http://schemas.microsoft.com/office/drawing/2014/main" val="2482419465"/>
                    </a:ext>
                  </a:extLst>
                </a:gridCol>
                <a:gridCol w="1046921">
                  <a:extLst>
                    <a:ext uri="{9D8B030D-6E8A-4147-A177-3AD203B41FA5}">
                      <a16:colId xmlns:a16="http://schemas.microsoft.com/office/drawing/2014/main" val="1627868882"/>
                    </a:ext>
                  </a:extLst>
                </a:gridCol>
              </a:tblGrid>
              <a:tr h="231293">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mpd="sng">
                      <a:noFill/>
                    </a:lnB>
                  </a:tcPr>
                </a:tc>
                <a:tc hMerge="1">
                  <a:txBody>
                    <a:bodyPr/>
                    <a:lstStyle/>
                    <a:p>
                      <a:endParaRPr lang="nl-BE"/>
                    </a:p>
                  </a:txBody>
                  <a:tcPr/>
                </a:tc>
                <a:tc gridSpan="6">
                  <a:txBody>
                    <a:bodyPr/>
                    <a:lstStyle/>
                    <a:p>
                      <a:pPr algn="ctr"/>
                      <a:r>
                        <a:rPr lang="nl-BE" b="1" u="sng" dirty="0"/>
                        <a:t>Politieagent</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hMerge="1">
                  <a:txBody>
                    <a:bodyPr/>
                    <a:lstStyle/>
                    <a:p>
                      <a:endParaRPr lang="nl-BE"/>
                    </a:p>
                  </a:txBody>
                  <a:tcPr/>
                </a:tc>
                <a:tc hMerge="1">
                  <a:txBody>
                    <a:bodyPr/>
                    <a:lstStyle/>
                    <a:p>
                      <a:endParaRPr lang="nl-BE"/>
                    </a:p>
                  </a:txBody>
                  <a:tcPr/>
                </a:tc>
                <a:tc hMerge="1">
                  <a:txBody>
                    <a:bodyPr/>
                    <a:lstStyle/>
                    <a:p>
                      <a:pPr algn="ctr"/>
                      <a:endParaRPr lang="nl-BE" dirty="0"/>
                    </a:p>
                  </a:txBody>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4133977165"/>
                  </a:ext>
                </a:extLst>
              </a:tr>
              <a:tr h="370840">
                <a:tc gridSpan="2">
                  <a:txBody>
                    <a:bodyPr/>
                    <a:lstStyle/>
                    <a:p>
                      <a:endParaRPr lang="nl-BE" b="1" u="sng" dirty="0"/>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gridSpan="3">
                  <a:txBody>
                    <a:bodyPr/>
                    <a:lstStyle/>
                    <a:p>
                      <a:pPr algn="ctr"/>
                      <a:r>
                        <a:rPr lang="nl-BE" i="1" dirty="0"/>
                        <a:t>Zonder ervaring</a:t>
                      </a:r>
                    </a:p>
                  </a:txBody>
                  <a:tcPr>
                    <a:lnL w="38100" cap="flat" cmpd="sng" algn="ctr">
                      <a:solidFill>
                        <a:schemeClr val="tx1"/>
                      </a:solidFill>
                      <a:prstDash val="solid"/>
                      <a:round/>
                      <a:headEnd type="none" w="med" len="med"/>
                      <a:tailEnd type="none" w="med" len="med"/>
                    </a:lnL>
                    <a:lnR w="12700" cmpd="sng">
                      <a:noFill/>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lnL w="12700" cmpd="sng">
                      <a:noFill/>
                    </a:lnL>
                  </a:tcPr>
                </a:tc>
                <a:tc hMerge="1">
                  <a:txBody>
                    <a:bodyPr/>
                    <a:lstStyle/>
                    <a:p>
                      <a:endParaRPr lang="nl-BE"/>
                    </a:p>
                  </a:txBody>
                  <a:tcPr/>
                </a:tc>
                <a:tc gridSpan="3">
                  <a:txBody>
                    <a:bodyPr/>
                    <a:lstStyle/>
                    <a:p>
                      <a:pPr algn="ctr"/>
                      <a:r>
                        <a:rPr lang="nl-BE" i="1" dirty="0"/>
                        <a:t>Met ervaring</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b="1"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25055458"/>
                  </a:ext>
                </a:extLst>
              </a:tr>
              <a:tr h="370840">
                <a:tc rowSpan="2">
                  <a:txBody>
                    <a:bodyPr/>
                    <a:lstStyle/>
                    <a:p>
                      <a:pPr algn="l"/>
                      <a:r>
                        <a:rPr lang="nl-BE" b="1" i="1" dirty="0"/>
                        <a:t>Case</a:t>
                      </a:r>
                    </a:p>
                  </a:txBody>
                  <a:tcPr vert="vert270">
                    <a:lnL w="38100" cap="flat" cmpd="sng" algn="ctr">
                      <a:solidFill>
                        <a:schemeClr val="tx1"/>
                      </a:solidFill>
                      <a:prstDash val="solid"/>
                      <a:round/>
                      <a:headEnd type="none" w="med" len="med"/>
                      <a:tailEnd type="none" w="med" len="med"/>
                    </a:lnL>
                    <a:lnR w="12700" cmpd="sng">
                      <a:noFill/>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a:txBody>
                    <a:bodyPr/>
                    <a:lstStyle/>
                    <a:p>
                      <a:pPr algn="l"/>
                      <a:r>
                        <a:rPr lang="nl-BE" i="1" dirty="0"/>
                        <a:t>Niet opgelost</a:t>
                      </a:r>
                    </a:p>
                  </a:txBody>
                  <a:tcPr>
                    <a:lnL w="12700" cmpd="sng">
                      <a:noFill/>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mpd="sng">
                      <a:noFill/>
                    </a:lnB>
                  </a:tcPr>
                </a:tc>
                <a:tc>
                  <a:txBody>
                    <a:bodyPr/>
                    <a:lstStyle/>
                    <a:p>
                      <a:pPr algn="ctr"/>
                      <a:r>
                        <a:rPr lang="nl-BE" b="1" dirty="0">
                          <a:solidFill>
                            <a:schemeClr val="accent6"/>
                          </a:solidFill>
                        </a:rPr>
                        <a:t>65</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r>
                        <a:rPr lang="nl-BE" b="1" dirty="0">
                          <a:solidFill>
                            <a:schemeClr val="accent3"/>
                          </a:solidFill>
                        </a:rPr>
                        <a:t>58,7</a:t>
                      </a: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nl-BE" sz="1400" b="1" dirty="0">
                          <a:solidFill>
                            <a:schemeClr val="accent3"/>
                          </a:solidFill>
                        </a:rPr>
                        <a:t>19,7%</a:t>
                      </a: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1" dirty="0">
                          <a:solidFill>
                            <a:schemeClr val="accent6"/>
                          </a:solidFill>
                        </a:rPr>
                        <a:t>43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pPr algn="ctr"/>
                      <a:r>
                        <a:rPr lang="nl-BE" b="1" dirty="0">
                          <a:solidFill>
                            <a:schemeClr val="accent3"/>
                          </a:solidFill>
                        </a:rPr>
                        <a:t>49,2</a:t>
                      </a:r>
                    </a:p>
                  </a:txBody>
                  <a:tcPr>
                    <a:lnL w="12700" cap="flat" cmpd="sng" algn="ctr">
                      <a:solidFill>
                        <a:schemeClr val="tx1"/>
                      </a:solidFill>
                      <a:prstDash val="solid"/>
                      <a:round/>
                      <a:headEnd type="none" w="med" len="med"/>
                      <a:tailEnd type="none" w="med" len="med"/>
                    </a:lnL>
                    <a:lnT w="38100" cap="flat" cmpd="sng" algn="ctr">
                      <a:solidFill>
                        <a:schemeClr val="tx1"/>
                      </a:solidFill>
                      <a:prstDash val="solid"/>
                      <a:round/>
                      <a:headEnd type="none" w="med" len="med"/>
                      <a:tailEnd type="none" w="med" len="med"/>
                    </a:lnT>
                  </a:tcPr>
                </a:tc>
                <a:tc>
                  <a:txBody>
                    <a:bodyPr/>
                    <a:lstStyle/>
                    <a:p>
                      <a:pPr algn="ctr"/>
                      <a:r>
                        <a:rPr lang="nl-BE" sz="1400" b="1" dirty="0">
                          <a:solidFill>
                            <a:schemeClr val="accent3"/>
                          </a:solidFill>
                        </a:rPr>
                        <a:t>16,5%</a:t>
                      </a:r>
                    </a:p>
                  </a:txBody>
                  <a:tcPr anchor="b">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tc>
                  <a:txBody>
                    <a:bodyPr/>
                    <a:lstStyle/>
                    <a:p>
                      <a:pPr algn="ctr"/>
                      <a:r>
                        <a:rPr lang="nl-BE" b="0" dirty="0"/>
                        <a:t>108</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solidFill>
                      <a:schemeClr val="bg2">
                        <a:lumMod val="20000"/>
                        <a:lumOff val="80000"/>
                      </a:schemeClr>
                    </a:solidFill>
                  </a:tcPr>
                </a:tc>
                <a:tc>
                  <a:txBody>
                    <a:bodyPr/>
                    <a:lstStyle/>
                    <a:p>
                      <a:r>
                        <a:rPr lang="nl-BE" dirty="0">
                          <a:solidFill>
                            <a:srgbClr val="FF0000"/>
                          </a:solidFill>
                        </a:rPr>
                        <a:t>36,2%</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07581061"/>
                  </a:ext>
                </a:extLst>
              </a:tr>
              <a:tr h="370840">
                <a:tc vMerge="1">
                  <a:txBody>
                    <a:bodyPr/>
                    <a:lstStyle/>
                    <a:p>
                      <a:pPr algn="l"/>
                      <a:endParaRPr lang="nl-BE" i="1" dirty="0"/>
                    </a:p>
                  </a:txBody>
                  <a:tcPr/>
                </a:tc>
                <a:tc>
                  <a:txBody>
                    <a:bodyPr/>
                    <a:lstStyle/>
                    <a:p>
                      <a:pPr algn="l"/>
                      <a:r>
                        <a:rPr lang="nl-BE" i="1" dirty="0"/>
                        <a:t>Opgelost</a:t>
                      </a:r>
                    </a:p>
                  </a:txBody>
                  <a:tcPr>
                    <a:lnL w="12700" cmpd="sng">
                      <a:noFill/>
                    </a:lnL>
                    <a:lnR w="38100" cap="flat" cmpd="sng" algn="ctr">
                      <a:solidFill>
                        <a:schemeClr val="tx1"/>
                      </a:solidFill>
                      <a:prstDash val="solid"/>
                      <a:round/>
                      <a:headEnd type="none" w="med" len="med"/>
                      <a:tailEnd type="none" w="med" len="med"/>
                    </a:lnR>
                    <a:lnT w="12700" cmpd="sng">
                      <a:noFill/>
                    </a:lnT>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97</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nl-BE" b="1" dirty="0">
                          <a:solidFill>
                            <a:schemeClr val="accent3"/>
                          </a:solidFill>
                        </a:rPr>
                        <a:t>103,4</a:t>
                      </a: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nl-BE" sz="1400" b="1" dirty="0">
                          <a:solidFill>
                            <a:schemeClr val="accent3"/>
                          </a:solidFill>
                        </a:rPr>
                        <a:t>34,7%</a:t>
                      </a: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1" dirty="0">
                          <a:solidFill>
                            <a:schemeClr val="accent6"/>
                          </a:solidFill>
                        </a:rPr>
                        <a:t>93</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algn="ctr"/>
                      <a:r>
                        <a:rPr lang="nl-BE" b="1" dirty="0">
                          <a:solidFill>
                            <a:schemeClr val="accent3"/>
                          </a:solidFill>
                        </a:rPr>
                        <a:t>86,7</a:t>
                      </a:r>
                    </a:p>
                  </a:txBody>
                  <a:tcPr>
                    <a:lnL w="12700" cap="flat" cmpd="sng" algn="ctr">
                      <a:solidFill>
                        <a:schemeClr val="tx1"/>
                      </a:solidFill>
                      <a:prstDash val="solid"/>
                      <a:round/>
                      <a:headEnd type="none" w="med" len="med"/>
                      <a:tailEnd type="none" w="med" len="med"/>
                    </a:lnL>
                    <a:lnB w="38100" cap="flat" cmpd="sng" algn="ctr">
                      <a:solidFill>
                        <a:schemeClr val="tx1"/>
                      </a:solidFill>
                      <a:prstDash val="solid"/>
                      <a:round/>
                      <a:headEnd type="none" w="med" len="med"/>
                      <a:tailEnd type="none" w="med" len="med"/>
                    </a:lnB>
                  </a:tcPr>
                </a:tc>
                <a:tc>
                  <a:txBody>
                    <a:bodyPr/>
                    <a:lstStyle/>
                    <a:p>
                      <a:pPr algn="ctr"/>
                      <a:r>
                        <a:rPr lang="nl-BE" sz="1400" b="1" dirty="0">
                          <a:solidFill>
                            <a:schemeClr val="accent3"/>
                          </a:solidFill>
                        </a:rPr>
                        <a:t>29,1%</a:t>
                      </a:r>
                    </a:p>
                  </a:txBody>
                  <a:tcPr anchor="b">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tc>
                  <a:txBody>
                    <a:bodyPr/>
                    <a:lstStyle/>
                    <a:p>
                      <a:pPr algn="ctr"/>
                      <a:r>
                        <a:rPr lang="nl-BE" b="0" dirty="0"/>
                        <a:t>190</a:t>
                      </a:r>
                    </a:p>
                  </a:txBody>
                  <a:tcPr>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r>
                        <a:rPr lang="nl-BE" dirty="0">
                          <a:solidFill>
                            <a:srgbClr val="FF0000"/>
                          </a:solidFill>
                        </a:rPr>
                        <a:t>63,8%</a:t>
                      </a:r>
                    </a:p>
                  </a:txBody>
                  <a:tcPr>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B w="381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768633"/>
                  </a:ext>
                </a:extLst>
              </a:tr>
              <a:tr h="370840">
                <a:tc gridSpan="2">
                  <a:txBody>
                    <a:bodyPr/>
                    <a:lstStyle/>
                    <a:p>
                      <a:endParaRPr lang="nl-BE" b="1"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hMerge="1">
                  <a:txBody>
                    <a:bodyPr/>
                    <a:lstStyle/>
                    <a:p>
                      <a:endParaRPr lang="nl-BE"/>
                    </a:p>
                  </a:txBody>
                  <a:tcPr/>
                </a:tc>
                <a:tc gridSpan="3">
                  <a:txBody>
                    <a:bodyPr/>
                    <a:lstStyle/>
                    <a:p>
                      <a:pPr algn="ctr"/>
                      <a:r>
                        <a:rPr lang="nl-BE" b="0" dirty="0"/>
                        <a:t>162</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gridSpan="3">
                  <a:txBody>
                    <a:bodyPr/>
                    <a:lstStyle/>
                    <a:p>
                      <a:pPr algn="ctr"/>
                      <a:r>
                        <a:rPr lang="nl-BE" b="0" dirty="0"/>
                        <a:t>136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hMerge="1">
                  <a:txBody>
                    <a:bodyPr/>
                    <a:lstStyle/>
                    <a:p>
                      <a:endParaRPr lang="nl-BE"/>
                    </a:p>
                  </a:txBody>
                  <a:tcPr/>
                </a:tc>
                <a:tc hMerge="1">
                  <a:txBody>
                    <a:bodyPr/>
                    <a:lstStyle/>
                    <a:p>
                      <a:endParaRPr lang="nl-BE"/>
                    </a:p>
                  </a:txBody>
                  <a:tcPr/>
                </a:tc>
                <a:tc>
                  <a:txBody>
                    <a:bodyPr/>
                    <a:lstStyle/>
                    <a:p>
                      <a:pPr algn="ctr"/>
                      <a:r>
                        <a:rPr lang="nl-BE" b="0" dirty="0"/>
                        <a:t>298</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3384952337"/>
                  </a:ext>
                </a:extLst>
              </a:tr>
              <a:tr h="397965">
                <a:tc gridSpan="2">
                  <a:txBody>
                    <a:bodyPr/>
                    <a:lstStyle/>
                    <a:p>
                      <a:endParaRPr lang="nl-BE" dirty="0"/>
                    </a:p>
                  </a:txBody>
                  <a:tcPr>
                    <a:lnL w="12700" cap="flat" cmpd="sng" algn="ctr">
                      <a:no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ysDash"/>
                      <a:round/>
                      <a:headEnd type="none" w="med" len="med"/>
                      <a:tailEnd type="none" w="med" len="med"/>
                    </a:lnB>
                  </a:tcPr>
                </a:tc>
                <a:tc hMerge="1">
                  <a:txBody>
                    <a:bodyPr/>
                    <a:lstStyle/>
                    <a:p>
                      <a:endParaRPr lang="nl-BE"/>
                    </a:p>
                  </a:txBody>
                  <a:tcPr/>
                </a:tc>
                <a:tc gridSpan="3">
                  <a:txBody>
                    <a:bodyPr/>
                    <a:lstStyle/>
                    <a:p>
                      <a:pPr algn="ctr"/>
                      <a:r>
                        <a:rPr lang="nl-BE" dirty="0">
                          <a:solidFill>
                            <a:srgbClr val="FF0000"/>
                          </a:solidFill>
                        </a:rPr>
                        <a:t>54,4%</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gridSpan="3">
                  <a:txBody>
                    <a:bodyPr/>
                    <a:lstStyle/>
                    <a:p>
                      <a:pPr algn="ctr"/>
                      <a:r>
                        <a:rPr lang="nl-BE" dirty="0">
                          <a:solidFill>
                            <a:srgbClr val="FF0000"/>
                          </a:solidFill>
                        </a:rPr>
                        <a:t>45,6%</a:t>
                      </a:r>
                    </a:p>
                  </a:txBody>
                  <a:tcP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tcPr>
                </a:tc>
                <a:tc hMerge="1">
                  <a:txBody>
                    <a:bodyPr/>
                    <a:lstStyle/>
                    <a:p>
                      <a:endParaRPr lang="nl-BE"/>
                    </a:p>
                  </a:txBody>
                  <a:tcPr/>
                </a:tc>
                <a:tc hMerge="1">
                  <a:txBody>
                    <a:bodyPr/>
                    <a:lstStyle/>
                    <a:p>
                      <a:endParaRPr lang="nl-BE"/>
                    </a:p>
                  </a:txBody>
                  <a:tcPr/>
                </a:tc>
                <a:tc>
                  <a:txBody>
                    <a:bodyPr/>
                    <a:lstStyle/>
                    <a:p>
                      <a:pPr algn="ctr"/>
                      <a:endParaRPr lang="nl-BE" dirty="0"/>
                    </a:p>
                  </a:txBody>
                  <a:tcPr>
                    <a:lnL w="381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endParaRPr lang="nl-B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2409101483"/>
                  </a:ext>
                </a:extLst>
              </a:tr>
            </a:tbl>
          </a:graphicData>
        </a:graphic>
      </p:graphicFrame>
      <p:sp>
        <p:nvSpPr>
          <p:cNvPr id="10" name="Tekstvak 9">
            <a:extLst>
              <a:ext uri="{FF2B5EF4-FFF2-40B4-BE49-F238E27FC236}">
                <a16:creationId xmlns:a16="http://schemas.microsoft.com/office/drawing/2014/main" id="{CE48B75D-3F29-A144-B871-13568A662CFF}"/>
              </a:ext>
            </a:extLst>
          </p:cNvPr>
          <p:cNvSpPr txBox="1"/>
          <p:nvPr/>
        </p:nvSpPr>
        <p:spPr>
          <a:xfrm>
            <a:off x="623887" y="1782419"/>
            <a:ext cx="6664809" cy="410817"/>
          </a:xfrm>
          <a:prstGeom prst="rect">
            <a:avLst/>
          </a:prstGeom>
          <a:noFill/>
        </p:spPr>
        <p:txBody>
          <a:bodyPr wrap="square" lIns="0" tIns="0" rIns="0" bIns="0" rtlCol="0">
            <a:noAutofit/>
          </a:bodyPr>
          <a:lstStyle/>
          <a:p>
            <a:pPr algn="l"/>
            <a:r>
              <a:rPr lang="nl-BE" sz="2800" b="1" dirty="0">
                <a:solidFill>
                  <a:schemeClr val="accent6"/>
                </a:solidFill>
                <a:latin typeface="Gotham" panose="02000603040000020004" pitchFamily="2" charset="0"/>
                <a:ea typeface="Verdana" panose="020B0604030504040204" pitchFamily="34" charset="0"/>
                <a:cs typeface="Verdana" panose="020B0604030504040204" pitchFamily="34" charset="0"/>
              </a:rPr>
              <a:t>Feitelijke waarden </a:t>
            </a:r>
            <a:r>
              <a:rPr lang="nl-BE" sz="2800" b="1" dirty="0">
                <a:latin typeface="Gotham" panose="02000603040000020004" pitchFamily="2" charset="0"/>
                <a:ea typeface="Verdana" panose="020B0604030504040204" pitchFamily="34" charset="0"/>
                <a:cs typeface="Verdana" panose="020B0604030504040204" pitchFamily="34" charset="0"/>
              </a:rPr>
              <a:t>t.o.v.</a:t>
            </a:r>
            <a:r>
              <a:rPr lang="nl-BE" sz="2800" b="1" dirty="0">
                <a:solidFill>
                  <a:schemeClr val="accent3"/>
                </a:solidFill>
                <a:latin typeface="Gotham" panose="02000603040000020004" pitchFamily="2" charset="0"/>
                <a:ea typeface="Verdana" panose="020B0604030504040204" pitchFamily="34" charset="0"/>
                <a:cs typeface="Verdana" panose="020B0604030504040204" pitchFamily="34" charset="0"/>
              </a:rPr>
              <a:t> verwachte waarden</a:t>
            </a:r>
          </a:p>
        </p:txBody>
      </p:sp>
      <mc:AlternateContent xmlns:mc="http://schemas.openxmlformats.org/markup-compatibility/2006" xmlns:a14="http://schemas.microsoft.com/office/drawing/2010/main">
        <mc:Choice Requires="a14">
          <p:sp>
            <p:nvSpPr>
              <p:cNvPr id="18" name="Tekstvak 17">
                <a:extLst>
                  <a:ext uri="{FF2B5EF4-FFF2-40B4-BE49-F238E27FC236}">
                    <a16:creationId xmlns:a16="http://schemas.microsoft.com/office/drawing/2014/main" id="{43635E88-7855-7A43-8B82-90C1F2DA7319}"/>
                  </a:ext>
                </a:extLst>
              </p:cNvPr>
              <p:cNvSpPr txBox="1"/>
              <p:nvPr/>
            </p:nvSpPr>
            <p:spPr>
              <a:xfrm>
                <a:off x="9074405" y="675624"/>
                <a:ext cx="2592288" cy="95539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nl-BE" sz="2200" i="1" smtClean="0">
                              <a:latin typeface="Cambria Math" panose="02040503050406030204" pitchFamily="18" charset="0"/>
                            </a:rPr>
                          </m:ctrlPr>
                        </m:sSupPr>
                        <m:e>
                          <m:r>
                            <a:rPr lang="nl-BE" sz="2200" b="0" i="1" smtClean="0">
                              <a:latin typeface="Cambria Math" panose="02040503050406030204" pitchFamily="18" charset="0"/>
                            </a:rPr>
                            <m:t>𝑋</m:t>
                          </m:r>
                        </m:e>
                        <m:sup>
                          <m:r>
                            <a:rPr lang="nl-BE" sz="2200" b="0" i="1" smtClean="0">
                              <a:latin typeface="Cambria Math" panose="02040503050406030204" pitchFamily="18" charset="0"/>
                            </a:rPr>
                            <m:t>2</m:t>
                          </m:r>
                        </m:sup>
                      </m:sSup>
                      <m:r>
                        <a:rPr lang="nl-BE" sz="2200" b="0" i="1" smtClean="0">
                          <a:latin typeface="Cambria Math" panose="02040503050406030204" pitchFamily="18" charset="0"/>
                        </a:rPr>
                        <m:t>= </m:t>
                      </m:r>
                      <m:nary>
                        <m:naryPr>
                          <m:chr m:val="∑"/>
                          <m:ctrlPr>
                            <a:rPr lang="nl-BE" sz="2200" b="0" i="1" smtClean="0">
                              <a:latin typeface="Cambria Math" panose="02040503050406030204" pitchFamily="18" charset="0"/>
                            </a:rPr>
                          </m:ctrlPr>
                        </m:naryPr>
                        <m:sub>
                          <m:r>
                            <m:rPr>
                              <m:brk m:alnAt="23"/>
                            </m:rPr>
                            <a:rPr lang="nl-BE" sz="2200" b="0" i="1" smtClean="0">
                              <a:latin typeface="Cambria Math" panose="02040503050406030204" pitchFamily="18" charset="0"/>
                            </a:rPr>
                            <m:t>𝑖</m:t>
                          </m:r>
                          <m:r>
                            <a:rPr lang="nl-BE" sz="2200" b="0" i="1" smtClean="0">
                              <a:latin typeface="Cambria Math" panose="02040503050406030204" pitchFamily="18" charset="0"/>
                            </a:rPr>
                            <m:t>=1</m:t>
                          </m:r>
                        </m:sub>
                        <m:sup>
                          <m:r>
                            <m:rPr>
                              <m:nor/>
                            </m:rPr>
                            <a:rPr lang="nl-BE" sz="2200" b="0" i="0" smtClean="0">
                              <a:latin typeface="Cambria Math" panose="02040503050406030204" pitchFamily="18" charset="0"/>
                            </a:rPr>
                            <m:t>n</m:t>
                          </m:r>
                        </m:sup>
                        <m:e>
                          <m:f>
                            <m:fPr>
                              <m:ctrlPr>
                                <a:rPr lang="nl-BE" sz="2200" b="0" i="1" smtClean="0">
                                  <a:latin typeface="Cambria Math" panose="02040503050406030204" pitchFamily="18" charset="0"/>
                                </a:rPr>
                              </m:ctrlPr>
                            </m:fPr>
                            <m:num>
                              <m:sSup>
                                <m:sSupPr>
                                  <m:ctrlPr>
                                    <a:rPr lang="nl-BE" sz="2200" b="0" i="1" smtClean="0">
                                      <a:latin typeface="Cambria Math" panose="02040503050406030204" pitchFamily="18" charset="0"/>
                                    </a:rPr>
                                  </m:ctrlPr>
                                </m:sSupPr>
                                <m:e>
                                  <m:r>
                                    <a:rPr lang="nl-BE" sz="2200" b="0" i="1" smtClean="0">
                                      <a:latin typeface="Cambria Math" panose="02040503050406030204" pitchFamily="18" charset="0"/>
                                    </a:rPr>
                                    <m:t>(</m:t>
                                  </m:r>
                                  <m:sSub>
                                    <m:sSubPr>
                                      <m:ctrlPr>
                                        <a:rPr lang="nl-BE" sz="2200" b="0" i="1" smtClean="0">
                                          <a:latin typeface="Cambria Math" panose="02040503050406030204" pitchFamily="18" charset="0"/>
                                        </a:rPr>
                                      </m:ctrlPr>
                                    </m:sSubPr>
                                    <m:e>
                                      <m:r>
                                        <m:rPr>
                                          <m:sty m:val="p"/>
                                        </m:rPr>
                                        <a:rPr lang="nl-BE" sz="2200" b="0" i="0" smtClean="0">
                                          <a:latin typeface="Cambria Math" panose="02040503050406030204" pitchFamily="18" charset="0"/>
                                        </a:rPr>
                                        <m:t>O</m:t>
                                      </m:r>
                                    </m:e>
                                    <m:sub>
                                      <m:r>
                                        <m:rPr>
                                          <m:sty m:val="p"/>
                                        </m:rPr>
                                        <a:rPr lang="nl-BE" sz="2200" b="0" i="0" smtClean="0">
                                          <a:latin typeface="Cambria Math" panose="02040503050406030204" pitchFamily="18" charset="0"/>
                                        </a:rPr>
                                        <m:t>i</m:t>
                                      </m:r>
                                    </m:sub>
                                  </m:sSub>
                                  <m:r>
                                    <a:rPr lang="nl-BE" sz="2200" b="0" i="1" smtClean="0">
                                      <a:latin typeface="Cambria Math" panose="02040503050406030204" pitchFamily="18" charset="0"/>
                                    </a:rPr>
                                    <m:t> − </m:t>
                                  </m:r>
                                  <m:sSub>
                                    <m:sSubPr>
                                      <m:ctrlPr>
                                        <a:rPr lang="nl-BE" sz="2200" b="0" i="1" smtClean="0">
                                          <a:latin typeface="Cambria Math" panose="02040503050406030204" pitchFamily="18" charset="0"/>
                                        </a:rPr>
                                      </m:ctrlPr>
                                    </m:sSubPr>
                                    <m:e>
                                      <m:r>
                                        <m:rPr>
                                          <m:sty m:val="p"/>
                                        </m:rPr>
                                        <a:rPr lang="nl-BE" sz="2200" b="0" i="0" smtClean="0">
                                          <a:latin typeface="Cambria Math" panose="02040503050406030204" pitchFamily="18" charset="0"/>
                                        </a:rPr>
                                        <m:t>E</m:t>
                                      </m:r>
                                    </m:e>
                                    <m:sub>
                                      <m:r>
                                        <m:rPr>
                                          <m:sty m:val="p"/>
                                        </m:rPr>
                                        <a:rPr lang="nl-BE" sz="2200" b="0" i="0" smtClean="0">
                                          <a:latin typeface="Cambria Math" panose="02040503050406030204" pitchFamily="18" charset="0"/>
                                        </a:rPr>
                                        <m:t>i</m:t>
                                      </m:r>
                                    </m:sub>
                                  </m:sSub>
                                  <m:r>
                                    <a:rPr lang="nl-BE" sz="2200" b="0" i="1" smtClean="0">
                                      <a:latin typeface="Cambria Math" panose="02040503050406030204" pitchFamily="18" charset="0"/>
                                    </a:rPr>
                                    <m:t>)</m:t>
                                  </m:r>
                                </m:e>
                                <m:sup>
                                  <m:r>
                                    <a:rPr lang="nl-BE" sz="2200" b="0" i="1" smtClean="0">
                                      <a:latin typeface="Cambria Math" panose="02040503050406030204" pitchFamily="18" charset="0"/>
                                    </a:rPr>
                                    <m:t>2</m:t>
                                  </m:r>
                                </m:sup>
                              </m:sSup>
                            </m:num>
                            <m:den>
                              <m:sSub>
                                <m:sSubPr>
                                  <m:ctrlPr>
                                    <a:rPr lang="nl-BE" sz="2200" b="0" i="1" smtClean="0">
                                      <a:latin typeface="Cambria Math" panose="02040503050406030204" pitchFamily="18" charset="0"/>
                                    </a:rPr>
                                  </m:ctrlPr>
                                </m:sSubPr>
                                <m:e>
                                  <m:r>
                                    <m:rPr>
                                      <m:sty m:val="p"/>
                                    </m:rPr>
                                    <a:rPr lang="nl-BE" sz="2200" b="0" i="0" smtClean="0">
                                      <a:latin typeface="Cambria Math" panose="02040503050406030204" pitchFamily="18" charset="0"/>
                                    </a:rPr>
                                    <m:t>E</m:t>
                                  </m:r>
                                </m:e>
                                <m:sub>
                                  <m:r>
                                    <m:rPr>
                                      <m:sty m:val="p"/>
                                    </m:rPr>
                                    <a:rPr lang="nl-BE" sz="2200" b="0" i="0" smtClean="0">
                                      <a:latin typeface="Cambria Math" panose="02040503050406030204" pitchFamily="18" charset="0"/>
                                    </a:rPr>
                                    <m:t>i</m:t>
                                  </m:r>
                                </m:sub>
                              </m:sSub>
                            </m:den>
                          </m:f>
                        </m:e>
                      </m:nary>
                    </m:oMath>
                  </m:oMathPara>
                </a14:m>
                <a:endParaRPr lang="nl-BE" sz="2200" dirty="0"/>
              </a:p>
            </p:txBody>
          </p:sp>
        </mc:Choice>
        <mc:Fallback xmlns="">
          <p:sp>
            <p:nvSpPr>
              <p:cNvPr id="18" name="Tekstvak 17">
                <a:extLst>
                  <a:ext uri="{FF2B5EF4-FFF2-40B4-BE49-F238E27FC236}">
                    <a16:creationId xmlns:a16="http://schemas.microsoft.com/office/drawing/2014/main" id="{43635E88-7855-7A43-8B82-90C1F2DA7319}"/>
                  </a:ext>
                </a:extLst>
              </p:cNvPr>
              <p:cNvSpPr txBox="1">
                <a:spLocks noRot="1" noChangeAspect="1" noMove="1" noResize="1" noEditPoints="1" noAdjustHandles="1" noChangeArrowheads="1" noChangeShapeType="1" noTextEdit="1"/>
              </p:cNvSpPr>
              <p:nvPr/>
            </p:nvSpPr>
            <p:spPr>
              <a:xfrm>
                <a:off x="9074405" y="675624"/>
                <a:ext cx="2592288" cy="955390"/>
              </a:xfrm>
              <a:prstGeom prst="rect">
                <a:avLst/>
              </a:prstGeom>
              <a:blipFill>
                <a:blip r:embed="rId3"/>
                <a:stretch>
                  <a:fillRect l="-10244" t="-114474" b="-175000"/>
                </a:stretch>
              </a:blipFill>
            </p:spPr>
            <p:txBody>
              <a:bodyPr/>
              <a:lstStyle/>
              <a:p>
                <a:r>
                  <a:rPr lang="nl-BE">
                    <a:noFill/>
                  </a:rPr>
                  <a:t> </a:t>
                </a:r>
              </a:p>
            </p:txBody>
          </p:sp>
        </mc:Fallback>
      </mc:AlternateContent>
      <p:sp>
        <p:nvSpPr>
          <p:cNvPr id="19" name="Ovaal 18">
            <a:extLst>
              <a:ext uri="{FF2B5EF4-FFF2-40B4-BE49-F238E27FC236}">
                <a16:creationId xmlns:a16="http://schemas.microsoft.com/office/drawing/2014/main" id="{5E2D510C-0225-B049-ACD5-8E077EC8D80F}"/>
              </a:ext>
            </a:extLst>
          </p:cNvPr>
          <p:cNvSpPr/>
          <p:nvPr/>
        </p:nvSpPr>
        <p:spPr bwMode="auto">
          <a:xfrm>
            <a:off x="3101009" y="3193774"/>
            <a:ext cx="2186608" cy="927652"/>
          </a:xfrm>
          <a:prstGeom prst="ellipse">
            <a:avLst/>
          </a:prstGeom>
          <a:noFill/>
          <a:ln w="19050">
            <a:solidFill>
              <a:schemeClr val="accent2"/>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p:sp>
        <p:nvSpPr>
          <p:cNvPr id="20" name="Ovaal 19">
            <a:extLst>
              <a:ext uri="{FF2B5EF4-FFF2-40B4-BE49-F238E27FC236}">
                <a16:creationId xmlns:a16="http://schemas.microsoft.com/office/drawing/2014/main" id="{D09284DA-897F-2B44-8161-AB52F3B20B1F}"/>
              </a:ext>
            </a:extLst>
          </p:cNvPr>
          <p:cNvSpPr/>
          <p:nvPr/>
        </p:nvSpPr>
        <p:spPr bwMode="auto">
          <a:xfrm>
            <a:off x="6341150" y="3200402"/>
            <a:ext cx="2186608" cy="927652"/>
          </a:xfrm>
          <a:prstGeom prst="ellipse">
            <a:avLst/>
          </a:prstGeom>
          <a:noFill/>
          <a:ln w="19050">
            <a:solidFill>
              <a:schemeClr val="accent2"/>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marL="179388" indent="-179388" algn="ctr">
              <a:spcAft>
                <a:spcPts val="450"/>
              </a:spcAft>
              <a:buFont typeface="Arial" charset="0"/>
              <a:buChar char="•"/>
            </a:pPr>
            <a:endParaRPr lang="nl-BE" sz="1600" dirty="0">
              <a:latin typeface="Verdana" charset="0"/>
              <a:ea typeface="Verdana Regular" charset="0"/>
              <a:cs typeface="Verdana Regular" charset="0"/>
              <a:sym typeface="Securitas Sans Light" charset="0"/>
            </a:endParaRPr>
          </a:p>
        </p:txBody>
      </p:sp>
      <mc:AlternateContent xmlns:mc="http://schemas.openxmlformats.org/markup-compatibility/2006" xmlns:a14="http://schemas.microsoft.com/office/drawing/2010/main">
        <mc:Choice Requires="a14">
          <p:sp>
            <p:nvSpPr>
              <p:cNvPr id="23" name="Tekstvak 22">
                <a:extLst>
                  <a:ext uri="{FF2B5EF4-FFF2-40B4-BE49-F238E27FC236}">
                    <a16:creationId xmlns:a16="http://schemas.microsoft.com/office/drawing/2014/main" id="{4DA666F2-3716-4B42-A5B1-CA00CD32E6BF}"/>
                  </a:ext>
                </a:extLst>
              </p:cNvPr>
              <p:cNvSpPr txBox="1"/>
              <p:nvPr/>
            </p:nvSpPr>
            <p:spPr>
              <a:xfrm>
                <a:off x="3101009" y="5579165"/>
                <a:ext cx="4664766" cy="760008"/>
              </a:xfrm>
              <a:prstGeom prst="rect">
                <a:avLst/>
              </a:prstGeom>
              <a:noFill/>
            </p:spPr>
            <p:txBody>
              <a:bodyPr wrap="square" lIns="0" tIns="0" rIns="0" bIns="0" rtlCol="0">
                <a:noAutofit/>
              </a:bodyPr>
              <a:lstStyle/>
              <a:p>
                <a:pPr algn="l"/>
                <a14:m>
                  <m:oMath xmlns:m="http://schemas.openxmlformats.org/officeDocument/2006/math">
                    <m:sSup>
                      <m:sSupPr>
                        <m:ctrlPr>
                          <a:rPr lang="nl-BE" sz="2800" b="1" i="1" dirty="0" smtClean="0">
                            <a:latin typeface="Cambria Math" panose="02040503050406030204" pitchFamily="18" charset="0"/>
                            <a:ea typeface="Cambria Math" panose="02040503050406030204" pitchFamily="18" charset="0"/>
                            <a:cs typeface="Verdana" panose="020B0604030504040204" pitchFamily="34" charset="0"/>
                          </a:rPr>
                        </m:ctrlPr>
                      </m:sSupPr>
                      <m:e>
                        <m:r>
                          <a:rPr lang="nl-BE" sz="2800" b="1" i="0" dirty="0" smtClean="0">
                            <a:latin typeface="Cambria Math" panose="02040503050406030204" pitchFamily="18" charset="0"/>
                            <a:ea typeface="Cambria Math" panose="02040503050406030204" pitchFamily="18" charset="0"/>
                            <a:cs typeface="Verdana" panose="020B0604030504040204" pitchFamily="34" charset="0"/>
                          </a:rPr>
                          <m:t>𝛘</m:t>
                        </m:r>
                      </m:e>
                      <m:sup>
                        <m:r>
                          <a:rPr lang="nl-BE" sz="2800" b="1" i="0" dirty="0" smtClean="0">
                            <a:latin typeface="Cambria Math" panose="02040503050406030204" pitchFamily="18" charset="0"/>
                            <a:ea typeface="Cambria Math" panose="02040503050406030204" pitchFamily="18" charset="0"/>
                            <a:cs typeface="Verdana" panose="020B0604030504040204" pitchFamily="34" charset="0"/>
                          </a:rPr>
                          <m:t>𝟐</m:t>
                        </m:r>
                      </m:sup>
                    </m:sSup>
                  </m:oMath>
                </a14:m>
                <a:r>
                  <a:rPr lang="nl-BE" sz="2800" b="1" dirty="0">
                    <a:latin typeface="Gotham" panose="02000603040000020004" pitchFamily="2" charset="0"/>
                    <a:ea typeface="Verdana" panose="020B0604030504040204" pitchFamily="34" charset="0"/>
                    <a:cs typeface="Verdana" panose="020B0604030504040204" pitchFamily="34" charset="0"/>
                  </a:rPr>
                  <a:t> = 2.31</a:t>
                </a:r>
              </a:p>
            </p:txBody>
          </p:sp>
        </mc:Choice>
        <mc:Fallback xmlns="">
          <p:sp>
            <p:nvSpPr>
              <p:cNvPr id="23" name="Tekstvak 22">
                <a:extLst>
                  <a:ext uri="{FF2B5EF4-FFF2-40B4-BE49-F238E27FC236}">
                    <a16:creationId xmlns:a16="http://schemas.microsoft.com/office/drawing/2014/main" id="{4DA666F2-3716-4B42-A5B1-CA00CD32E6BF}"/>
                  </a:ext>
                </a:extLst>
              </p:cNvPr>
              <p:cNvSpPr txBox="1">
                <a:spLocks noRot="1" noChangeAspect="1" noMove="1" noResize="1" noEditPoints="1" noAdjustHandles="1" noChangeArrowheads="1" noChangeShapeType="1" noTextEdit="1"/>
              </p:cNvSpPr>
              <p:nvPr/>
            </p:nvSpPr>
            <p:spPr>
              <a:xfrm>
                <a:off x="3101009" y="5579165"/>
                <a:ext cx="4664766" cy="760008"/>
              </a:xfrm>
              <a:prstGeom prst="rect">
                <a:avLst/>
              </a:prstGeom>
              <a:blipFill>
                <a:blip r:embed="rId4"/>
                <a:stretch>
                  <a:fillRect l="-2717" t="-13115"/>
                </a:stretch>
              </a:blipFill>
            </p:spPr>
            <p:txBody>
              <a:bodyPr/>
              <a:lstStyle/>
              <a:p>
                <a:r>
                  <a:rPr lang="nl-BE">
                    <a:noFill/>
                  </a:rPr>
                  <a:t> </a:t>
                </a:r>
              </a:p>
            </p:txBody>
          </p:sp>
        </mc:Fallback>
      </mc:AlternateContent>
    </p:spTree>
    <p:extLst>
      <p:ext uri="{BB962C8B-B14F-4D97-AF65-F5344CB8AC3E}">
        <p14:creationId xmlns:p14="http://schemas.microsoft.com/office/powerpoint/2010/main" val="172143776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63CADE-6BA8-264B-AAA1-BB7559BF3423}"/>
              </a:ext>
            </a:extLst>
          </p:cNvPr>
          <p:cNvSpPr>
            <a:spLocks noGrp="1"/>
          </p:cNvSpPr>
          <p:nvPr>
            <p:ph type="title"/>
          </p:nvPr>
        </p:nvSpPr>
        <p:spPr/>
        <p:txBody>
          <a:bodyPr/>
          <a:lstStyle/>
          <a:p>
            <a:r>
              <a:rPr lang="nl-BE" i="1" dirty="0"/>
              <a:t>Chi</a:t>
            </a:r>
            <a:r>
              <a:rPr lang="nl-BE" i="1" baseline="30000" dirty="0"/>
              <a:t>2</a:t>
            </a:r>
            <a:r>
              <a:rPr lang="nl-BE" dirty="0"/>
              <a:t>-toets in R (OLP2 functies)</a:t>
            </a:r>
          </a:p>
        </p:txBody>
      </p:sp>
      <p:sp>
        <p:nvSpPr>
          <p:cNvPr id="3" name="Tijdelijke aanduiding voor dianummer 2">
            <a:extLst>
              <a:ext uri="{FF2B5EF4-FFF2-40B4-BE49-F238E27FC236}">
                <a16:creationId xmlns:a16="http://schemas.microsoft.com/office/drawing/2014/main" id="{15DE8177-5983-C347-A704-D3DD8577027E}"/>
              </a:ext>
            </a:extLst>
          </p:cNvPr>
          <p:cNvSpPr>
            <a:spLocks noGrp="1"/>
          </p:cNvSpPr>
          <p:nvPr>
            <p:ph type="sldNum" sz="quarter" idx="10"/>
          </p:nvPr>
        </p:nvSpPr>
        <p:spPr/>
        <p:txBody>
          <a:bodyPr/>
          <a:lstStyle/>
          <a:p>
            <a:fld id="{E038E271-308C-2E46-A3EC-56326F9084CC}" type="slidenum">
              <a:rPr lang="nl-BE" smtClean="0"/>
              <a:pPr/>
              <a:t>48</a:t>
            </a:fld>
            <a:endParaRPr lang="nl-BE" dirty="0"/>
          </a:p>
        </p:txBody>
      </p:sp>
      <p:sp>
        <p:nvSpPr>
          <p:cNvPr id="4" name="Tijdelijke aanduiding voor inhoud 3">
            <a:extLst>
              <a:ext uri="{FF2B5EF4-FFF2-40B4-BE49-F238E27FC236}">
                <a16:creationId xmlns:a16="http://schemas.microsoft.com/office/drawing/2014/main" id="{80E90445-A64D-664D-8AD5-9E48DAE6D791}"/>
              </a:ext>
            </a:extLst>
          </p:cNvPr>
          <p:cNvSpPr>
            <a:spLocks noGrp="1"/>
          </p:cNvSpPr>
          <p:nvPr>
            <p:ph idx="1"/>
          </p:nvPr>
        </p:nvSpPr>
        <p:spPr/>
        <p:txBody>
          <a:bodyPr/>
          <a:lstStyle/>
          <a:p>
            <a:pPr marL="0" indent="0">
              <a:buNone/>
            </a:pPr>
            <a:endParaRPr lang="nl-BE" dirty="0"/>
          </a:p>
        </p:txBody>
      </p:sp>
      <p:pic>
        <p:nvPicPr>
          <p:cNvPr id="5" name="Afbeelding 4" descr="Afbeelding met tekst&#10;&#10;Automatisch gegenereerde beschrijving">
            <a:extLst>
              <a:ext uri="{FF2B5EF4-FFF2-40B4-BE49-F238E27FC236}">
                <a16:creationId xmlns:a16="http://schemas.microsoft.com/office/drawing/2014/main" id="{E9D8253E-1384-1647-8469-561AEF841B5A}"/>
              </a:ext>
            </a:extLst>
          </p:cNvPr>
          <p:cNvPicPr>
            <a:picLocks noChangeAspect="1"/>
          </p:cNvPicPr>
          <p:nvPr/>
        </p:nvPicPr>
        <p:blipFill>
          <a:blip r:embed="rId3"/>
          <a:stretch>
            <a:fillRect/>
          </a:stretch>
        </p:blipFill>
        <p:spPr>
          <a:xfrm>
            <a:off x="623887" y="1589342"/>
            <a:ext cx="7026614" cy="3075177"/>
          </a:xfrm>
          <a:prstGeom prst="rect">
            <a:avLst/>
          </a:prstGeom>
        </p:spPr>
      </p:pic>
      <p:sp>
        <p:nvSpPr>
          <p:cNvPr id="6" name="Wolkvormige toelichting 5">
            <a:extLst>
              <a:ext uri="{FF2B5EF4-FFF2-40B4-BE49-F238E27FC236}">
                <a16:creationId xmlns:a16="http://schemas.microsoft.com/office/drawing/2014/main" id="{C053B969-DBE1-024C-A5E9-D2AE662DEA5E}"/>
              </a:ext>
            </a:extLst>
          </p:cNvPr>
          <p:cNvSpPr/>
          <p:nvPr/>
        </p:nvSpPr>
        <p:spPr bwMode="auto">
          <a:xfrm>
            <a:off x="4023360" y="5099123"/>
            <a:ext cx="8021285" cy="1189108"/>
          </a:xfrm>
          <a:prstGeom prst="cloudCallout">
            <a:avLst>
              <a:gd name="adj1" fmla="val -4674"/>
              <a:gd name="adj2" fmla="val -323849"/>
            </a:avLst>
          </a:prstGeom>
          <a:noFill/>
          <a:ln>
            <a:solidFill>
              <a:schemeClr val="tx1"/>
            </a:solidFill>
          </a:ln>
          <a:extLst>
            <a:ext uri="{91240B29-F687-4f45-9708-019B960494DF}">
              <a14:hiddenLine xmlns="" xmlns:a14="http://schemas.microsoft.com/office/drawing/2010/main" w="9525">
                <a:solidFill>
                  <a:srgbClr val="000000"/>
                </a:solidFill>
                <a:miter lim="800000"/>
                <a:headEnd/>
                <a:tailEnd/>
              </a14:hiddenLine>
            </a:ext>
          </a:extLst>
        </p:spPr>
        <p:txBody>
          <a:bodyPr lIns="180000" tIns="180000" rIns="180000" bIns="180000" rtlCol="0" anchor="ctr"/>
          <a:lstStyle/>
          <a:p>
            <a:pPr>
              <a:buFontTx/>
              <a:buNone/>
            </a:pPr>
            <a:r>
              <a:rPr lang="nl-BE" sz="1400" dirty="0">
                <a:solidFill>
                  <a:srgbClr val="0000FF"/>
                </a:solidFill>
                <a:latin typeface="Courier New" charset="0"/>
                <a:ea typeface="MS PGothic" charset="0"/>
                <a:cs typeface="Courier New" charset="0"/>
              </a:rPr>
              <a:t>&gt; Mijntabel &lt;- table(Variabele1,Variabele2)</a:t>
            </a:r>
          </a:p>
          <a:p>
            <a:pPr>
              <a:buFontTx/>
              <a:buNone/>
            </a:pPr>
            <a:r>
              <a:rPr lang="nl-BE" sz="1400" dirty="0">
                <a:solidFill>
                  <a:srgbClr val="0000FF"/>
                </a:solidFill>
                <a:latin typeface="Courier New" charset="0"/>
                <a:ea typeface="MS PGothic" charset="0"/>
                <a:cs typeface="Courier New" charset="0"/>
              </a:rPr>
              <a:t>&gt; chi.kwadraat.test(Mijntabel)</a:t>
            </a:r>
            <a:endParaRPr lang="nl-BE" sz="1400" dirty="0">
              <a:latin typeface="Verdana" charset="0"/>
              <a:ea typeface="Verdana Regular" charset="0"/>
              <a:cs typeface="Verdana Regular" charset="0"/>
              <a:sym typeface="Securitas Sans Light" charset="0"/>
            </a:endParaRPr>
          </a:p>
        </p:txBody>
      </p:sp>
    </p:spTree>
    <p:extLst>
      <p:ext uri="{BB962C8B-B14F-4D97-AF65-F5344CB8AC3E}">
        <p14:creationId xmlns:p14="http://schemas.microsoft.com/office/powerpoint/2010/main" val="34038168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3E2725-0B11-D349-B8F7-97DE3C0A1925}"/>
              </a:ext>
            </a:extLst>
          </p:cNvPr>
          <p:cNvSpPr>
            <a:spLocks noGrp="1"/>
          </p:cNvSpPr>
          <p:nvPr>
            <p:ph type="title"/>
          </p:nvPr>
        </p:nvSpPr>
        <p:spPr/>
        <p:txBody>
          <a:bodyPr/>
          <a:lstStyle/>
          <a:p>
            <a:r>
              <a:rPr lang="nl-BE" dirty="0"/>
              <a:t>Effectgrootte?</a:t>
            </a:r>
          </a:p>
        </p:txBody>
      </p:sp>
      <p:sp>
        <p:nvSpPr>
          <p:cNvPr id="3" name="Tijdelijke aanduiding voor dianummer 2">
            <a:extLst>
              <a:ext uri="{FF2B5EF4-FFF2-40B4-BE49-F238E27FC236}">
                <a16:creationId xmlns:a16="http://schemas.microsoft.com/office/drawing/2014/main" id="{5F684838-90E4-AB4E-8A24-3B51A830F416}"/>
              </a:ext>
            </a:extLst>
          </p:cNvPr>
          <p:cNvSpPr>
            <a:spLocks noGrp="1"/>
          </p:cNvSpPr>
          <p:nvPr>
            <p:ph type="sldNum" sz="quarter" idx="10"/>
          </p:nvPr>
        </p:nvSpPr>
        <p:spPr/>
        <p:txBody>
          <a:bodyPr/>
          <a:lstStyle/>
          <a:p>
            <a:fld id="{E038E271-308C-2E46-A3EC-56326F9084CC}" type="slidenum">
              <a:rPr lang="nl-BE" smtClean="0"/>
              <a:pPr/>
              <a:t>49</a:t>
            </a:fld>
            <a:endParaRPr lang="nl-BE" dirty="0"/>
          </a:p>
        </p:txBody>
      </p:sp>
      <p:sp>
        <p:nvSpPr>
          <p:cNvPr id="4" name="Tijdelijke aanduiding voor inhoud 3">
            <a:extLst>
              <a:ext uri="{FF2B5EF4-FFF2-40B4-BE49-F238E27FC236}">
                <a16:creationId xmlns:a16="http://schemas.microsoft.com/office/drawing/2014/main" id="{2933A755-C3F6-B84E-A0F7-277D9F493FCF}"/>
              </a:ext>
            </a:extLst>
          </p:cNvPr>
          <p:cNvSpPr>
            <a:spLocks noGrp="1"/>
          </p:cNvSpPr>
          <p:nvPr>
            <p:ph idx="1"/>
          </p:nvPr>
        </p:nvSpPr>
        <p:spPr/>
        <p:txBody>
          <a:bodyPr/>
          <a:lstStyle/>
          <a:p>
            <a:r>
              <a:rPr lang="nl-BE" dirty="0"/>
              <a:t>Cramer’s V</a:t>
            </a:r>
          </a:p>
          <a:p>
            <a:pPr lvl="1"/>
            <a:r>
              <a:rPr lang="nl-BE" dirty="0"/>
              <a:t>Associatiemaat </a:t>
            </a:r>
          </a:p>
          <a:p>
            <a:pPr lvl="1"/>
            <a:r>
              <a:rPr lang="nl-BE" dirty="0"/>
              <a:t>Gestandaardiseerd kengetal (want grootte van </a:t>
            </a:r>
            <a:r>
              <a:rPr lang="nl-BE" i="1" dirty="0"/>
              <a:t>chi</a:t>
            </a:r>
            <a:r>
              <a:rPr lang="nl-BE" i="1" baseline="30000" dirty="0"/>
              <a:t>2</a:t>
            </a:r>
            <a:r>
              <a:rPr lang="nl-BE" dirty="0"/>
              <a:t> hangt af van steekproefgrootte!)</a:t>
            </a:r>
          </a:p>
          <a:p>
            <a:pPr lvl="1"/>
            <a:r>
              <a:rPr lang="nl-BE" dirty="0"/>
              <a:t>Interpretatie?</a:t>
            </a:r>
            <a:r>
              <a:rPr lang="nl-BE" dirty="0">
                <a:solidFill>
                  <a:schemeClr val="bg1"/>
                </a:solidFill>
              </a:rPr>
              <a:t>terpretatiex</a:t>
            </a:r>
          </a:p>
          <a:p>
            <a:pPr lvl="1"/>
            <a:endParaRPr lang="nl-BE" dirty="0"/>
          </a:p>
        </p:txBody>
      </p:sp>
      <mc:AlternateContent xmlns:mc="http://schemas.openxmlformats.org/markup-compatibility/2006" xmlns:a14="http://schemas.microsoft.com/office/drawing/2010/main">
        <mc:Choice Requires="a14">
          <p:sp>
            <p:nvSpPr>
              <p:cNvPr id="6" name="Tekstvak 5">
                <a:extLst>
                  <a:ext uri="{FF2B5EF4-FFF2-40B4-BE49-F238E27FC236}">
                    <a16:creationId xmlns:a16="http://schemas.microsoft.com/office/drawing/2014/main" id="{00095080-EE5B-E243-858D-D2AD0168171C}"/>
                  </a:ext>
                </a:extLst>
              </p:cNvPr>
              <p:cNvSpPr txBox="1"/>
              <p:nvPr/>
            </p:nvSpPr>
            <p:spPr>
              <a:xfrm>
                <a:off x="6096000" y="1577009"/>
                <a:ext cx="5184576" cy="52181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nl-BE" sz="2800" b="0" i="1" smtClean="0">
                          <a:latin typeface="Cambria Math" panose="02040503050406030204" pitchFamily="18" charset="0"/>
                        </a:rPr>
                        <m:t>𝑉</m:t>
                      </m:r>
                      <m:r>
                        <a:rPr lang="nl-BE" sz="2800" b="0" i="1" smtClean="0">
                          <a:latin typeface="Cambria Math" panose="02040503050406030204" pitchFamily="18" charset="0"/>
                        </a:rPr>
                        <m:t>=</m:t>
                      </m:r>
                      <m:rad>
                        <m:radPr>
                          <m:degHide m:val="on"/>
                          <m:ctrlPr>
                            <a:rPr lang="nl-BE" sz="2800" b="0" i="1" smtClean="0">
                              <a:latin typeface="Cambria Math" panose="02040503050406030204" pitchFamily="18" charset="0"/>
                            </a:rPr>
                          </m:ctrlPr>
                        </m:radPr>
                        <m:deg/>
                        <m:e>
                          <m:sSup>
                            <m:sSupPr>
                              <m:ctrlPr>
                                <a:rPr lang="nl-BE" sz="2800" b="0" i="1" smtClean="0">
                                  <a:latin typeface="Cambria Math" panose="02040503050406030204" pitchFamily="18" charset="0"/>
                                  <a:ea typeface="Cambria Math" panose="02040503050406030204" pitchFamily="18" charset="0"/>
                                </a:rPr>
                              </m:ctrlPr>
                            </m:sSupPr>
                            <m:e>
                              <m:r>
                                <a:rPr lang="nl-BE" sz="2800" b="0" i="1" smtClean="0">
                                  <a:latin typeface="Cambria Math" panose="02040503050406030204" pitchFamily="18" charset="0"/>
                                  <a:ea typeface="Cambria Math" panose="02040503050406030204" pitchFamily="18" charset="0"/>
                                </a:rPr>
                                <m:t>𝜒</m:t>
                              </m:r>
                            </m:e>
                            <m:sup>
                              <m:r>
                                <a:rPr lang="nl-BE" sz="2800" b="0" i="1" smtClean="0">
                                  <a:latin typeface="Cambria Math" panose="02040503050406030204" pitchFamily="18" charset="0"/>
                                  <a:ea typeface="Cambria Math" panose="02040503050406030204" pitchFamily="18" charset="0"/>
                                </a:rPr>
                                <m:t>2</m:t>
                              </m:r>
                            </m:sup>
                          </m:sSup>
                          <m:r>
                            <a:rPr lang="nl-BE" sz="2800" b="0" i="1" smtClean="0">
                              <a:latin typeface="Cambria Math" panose="02040503050406030204" pitchFamily="18" charset="0"/>
                              <a:ea typeface="Cambria Math" panose="02040503050406030204" pitchFamily="18" charset="0"/>
                            </a:rPr>
                            <m:t>/(</m:t>
                          </m:r>
                          <m:r>
                            <a:rPr lang="nl-BE" sz="2800" b="0" i="1" smtClean="0">
                              <a:latin typeface="Cambria Math" panose="02040503050406030204" pitchFamily="18" charset="0"/>
                              <a:ea typeface="Cambria Math" panose="02040503050406030204" pitchFamily="18" charset="0"/>
                            </a:rPr>
                            <m:t>𝑛</m:t>
                          </m:r>
                          <m:r>
                            <a:rPr lang="nl-BE" sz="2800" b="0" i="1" smtClean="0">
                              <a:latin typeface="Cambria Math" panose="02040503050406030204" pitchFamily="18" charset="0"/>
                              <a:ea typeface="Cambria Math" panose="02040503050406030204" pitchFamily="18" charset="0"/>
                            </a:rPr>
                            <m:t>∗</m:t>
                          </m:r>
                          <m:d>
                            <m:dPr>
                              <m:ctrlPr>
                                <a:rPr lang="nl-BE" sz="2800" b="0" i="1" smtClean="0">
                                  <a:latin typeface="Cambria Math" panose="02040503050406030204" pitchFamily="18" charset="0"/>
                                  <a:ea typeface="Cambria Math" panose="02040503050406030204" pitchFamily="18" charset="0"/>
                                </a:rPr>
                              </m:ctrlPr>
                            </m:dPr>
                            <m:e>
                              <m:func>
                                <m:funcPr>
                                  <m:ctrlPr>
                                    <a:rPr lang="nl-BE" sz="2800" b="0" i="1" smtClean="0">
                                      <a:latin typeface="Cambria Math" panose="02040503050406030204" pitchFamily="18" charset="0"/>
                                      <a:ea typeface="Cambria Math" panose="02040503050406030204" pitchFamily="18" charset="0"/>
                                    </a:rPr>
                                  </m:ctrlPr>
                                </m:funcPr>
                                <m:fName>
                                  <m:r>
                                    <m:rPr>
                                      <m:sty m:val="p"/>
                                    </m:rPr>
                                    <a:rPr lang="nl-BE" sz="2800" b="0" i="0" smtClean="0">
                                      <a:latin typeface="Cambria Math" panose="02040503050406030204" pitchFamily="18" charset="0"/>
                                      <a:ea typeface="Cambria Math" panose="02040503050406030204" pitchFamily="18" charset="0"/>
                                    </a:rPr>
                                    <m:t>min</m:t>
                                  </m:r>
                                </m:fName>
                                <m:e>
                                  <m:d>
                                    <m:dPr>
                                      <m:ctrlPr>
                                        <a:rPr lang="nl-BE" sz="2800" b="0" i="1" smtClean="0">
                                          <a:latin typeface="Cambria Math" panose="02040503050406030204" pitchFamily="18" charset="0"/>
                                          <a:ea typeface="Cambria Math" panose="02040503050406030204" pitchFamily="18" charset="0"/>
                                        </a:rPr>
                                      </m:ctrlPr>
                                    </m:dPr>
                                    <m:e>
                                      <m:r>
                                        <a:rPr lang="nl-BE" sz="2800" b="0" i="1" smtClean="0">
                                          <a:latin typeface="Cambria Math" panose="02040503050406030204" pitchFamily="18" charset="0"/>
                                          <a:ea typeface="Cambria Math" panose="02040503050406030204" pitchFamily="18" charset="0"/>
                                        </a:rPr>
                                        <m:t>𝑟</m:t>
                                      </m:r>
                                      <m:r>
                                        <a:rPr lang="nl-BE" sz="2800" b="0" i="1" smtClean="0">
                                          <a:latin typeface="Cambria Math" panose="02040503050406030204" pitchFamily="18" charset="0"/>
                                          <a:ea typeface="Cambria Math" panose="02040503050406030204" pitchFamily="18" charset="0"/>
                                        </a:rPr>
                                        <m:t>,</m:t>
                                      </m:r>
                                      <m:r>
                                        <a:rPr lang="nl-BE" sz="2800" b="0" i="1" smtClean="0">
                                          <a:latin typeface="Cambria Math" panose="02040503050406030204" pitchFamily="18" charset="0"/>
                                          <a:ea typeface="Cambria Math" panose="02040503050406030204" pitchFamily="18" charset="0"/>
                                        </a:rPr>
                                        <m:t>𝑘</m:t>
                                      </m:r>
                                    </m:e>
                                  </m:d>
                                </m:e>
                              </m:func>
                              <m:r>
                                <a:rPr lang="nl-BE" sz="2800" b="0" i="1" smtClean="0">
                                  <a:latin typeface="Cambria Math" panose="02040503050406030204" pitchFamily="18" charset="0"/>
                                  <a:ea typeface="Cambria Math" panose="02040503050406030204" pitchFamily="18" charset="0"/>
                                </a:rPr>
                                <m:t>−1</m:t>
                              </m:r>
                            </m:e>
                          </m:d>
                          <m:r>
                            <a:rPr lang="nl-BE" sz="2800" b="0" i="1" smtClean="0">
                              <a:latin typeface="Cambria Math" panose="02040503050406030204" pitchFamily="18" charset="0"/>
                              <a:ea typeface="Cambria Math" panose="02040503050406030204" pitchFamily="18" charset="0"/>
                            </a:rPr>
                            <m:t>)</m:t>
                          </m:r>
                        </m:e>
                      </m:rad>
                    </m:oMath>
                  </m:oMathPara>
                </a14:m>
                <a:endParaRPr lang="nl-BE" sz="2800" dirty="0"/>
              </a:p>
            </p:txBody>
          </p:sp>
        </mc:Choice>
        <mc:Fallback xmlns="">
          <p:sp>
            <p:nvSpPr>
              <p:cNvPr id="6" name="Tekstvak 5">
                <a:extLst>
                  <a:ext uri="{FF2B5EF4-FFF2-40B4-BE49-F238E27FC236}">
                    <a16:creationId xmlns:a16="http://schemas.microsoft.com/office/drawing/2014/main" id="{00095080-EE5B-E243-858D-D2AD0168171C}"/>
                  </a:ext>
                </a:extLst>
              </p:cNvPr>
              <p:cNvSpPr txBox="1">
                <a:spLocks noRot="1" noChangeAspect="1" noMove="1" noResize="1" noEditPoints="1" noAdjustHandles="1" noChangeArrowheads="1" noChangeShapeType="1" noTextEdit="1"/>
              </p:cNvSpPr>
              <p:nvPr/>
            </p:nvSpPr>
            <p:spPr>
              <a:xfrm>
                <a:off x="6096000" y="1577009"/>
                <a:ext cx="5184576" cy="521810"/>
              </a:xfrm>
              <a:prstGeom prst="rect">
                <a:avLst/>
              </a:prstGeom>
              <a:blipFill>
                <a:blip r:embed="rId3"/>
                <a:stretch>
                  <a:fillRect b="-28571"/>
                </a:stretch>
              </a:blipFill>
            </p:spPr>
            <p:txBody>
              <a:bodyPr/>
              <a:lstStyle/>
              <a:p>
                <a:r>
                  <a:rPr lang="nl-BE">
                    <a:noFill/>
                  </a:rPr>
                  <a:t> </a:t>
                </a:r>
              </a:p>
            </p:txBody>
          </p:sp>
        </mc:Fallback>
      </mc:AlternateContent>
      <p:pic>
        <p:nvPicPr>
          <p:cNvPr id="8" name="Afbeelding 7" descr="Afbeelding met tekst, ontvangstbewijs&#10;&#10;Automatisch gegenereerde beschrijving">
            <a:extLst>
              <a:ext uri="{FF2B5EF4-FFF2-40B4-BE49-F238E27FC236}">
                <a16:creationId xmlns:a16="http://schemas.microsoft.com/office/drawing/2014/main" id="{4DB22090-91B1-8142-8FC8-2E2B4734DE1B}"/>
              </a:ext>
            </a:extLst>
          </p:cNvPr>
          <p:cNvPicPr>
            <a:picLocks noChangeAspect="1"/>
          </p:cNvPicPr>
          <p:nvPr/>
        </p:nvPicPr>
        <p:blipFill>
          <a:blip r:embed="rId4"/>
          <a:stretch>
            <a:fillRect/>
          </a:stretch>
        </p:blipFill>
        <p:spPr>
          <a:xfrm>
            <a:off x="3624998" y="3087624"/>
            <a:ext cx="3580474" cy="3104943"/>
          </a:xfrm>
          <a:prstGeom prst="rect">
            <a:avLst/>
          </a:prstGeom>
        </p:spPr>
      </p:pic>
    </p:spTree>
    <p:extLst>
      <p:ext uri="{BB962C8B-B14F-4D97-AF65-F5344CB8AC3E}">
        <p14:creationId xmlns:p14="http://schemas.microsoft.com/office/powerpoint/2010/main" val="33862752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75CF29-9F09-EA45-9C28-05DF52E46F9E}"/>
              </a:ext>
            </a:extLst>
          </p:cNvPr>
          <p:cNvSpPr>
            <a:spLocks noGrp="1"/>
          </p:cNvSpPr>
          <p:nvPr>
            <p:ph type="title"/>
          </p:nvPr>
        </p:nvSpPr>
        <p:spPr/>
        <p:txBody>
          <a:bodyPr/>
          <a:lstStyle/>
          <a:p>
            <a:r>
              <a:rPr lang="nl-BE" dirty="0"/>
              <a:t>Verband visualiseren via associatieplot</a:t>
            </a:r>
          </a:p>
        </p:txBody>
      </p:sp>
      <p:sp>
        <p:nvSpPr>
          <p:cNvPr id="3" name="Tijdelijke aanduiding voor dianummer 2">
            <a:extLst>
              <a:ext uri="{FF2B5EF4-FFF2-40B4-BE49-F238E27FC236}">
                <a16:creationId xmlns:a16="http://schemas.microsoft.com/office/drawing/2014/main" id="{16B8EE87-525B-D94C-AE46-1A6C547980CD}"/>
              </a:ext>
            </a:extLst>
          </p:cNvPr>
          <p:cNvSpPr>
            <a:spLocks noGrp="1"/>
          </p:cNvSpPr>
          <p:nvPr>
            <p:ph type="sldNum" sz="quarter" idx="10"/>
          </p:nvPr>
        </p:nvSpPr>
        <p:spPr/>
        <p:txBody>
          <a:bodyPr/>
          <a:lstStyle/>
          <a:p>
            <a:fld id="{E038E271-308C-2E46-A3EC-56326F9084CC}" type="slidenum">
              <a:rPr lang="nl-BE" smtClean="0"/>
              <a:pPr/>
              <a:t>50</a:t>
            </a:fld>
            <a:endParaRPr lang="nl-BE" dirty="0"/>
          </a:p>
        </p:txBody>
      </p:sp>
      <p:sp>
        <p:nvSpPr>
          <p:cNvPr id="4" name="Tijdelijke aanduiding voor inhoud 3">
            <a:extLst>
              <a:ext uri="{FF2B5EF4-FFF2-40B4-BE49-F238E27FC236}">
                <a16:creationId xmlns:a16="http://schemas.microsoft.com/office/drawing/2014/main" id="{E23A7D46-F78A-144B-934E-25C6D119A15A}"/>
              </a:ext>
            </a:extLst>
          </p:cNvPr>
          <p:cNvSpPr>
            <a:spLocks noGrp="1"/>
          </p:cNvSpPr>
          <p:nvPr>
            <p:ph idx="1"/>
          </p:nvPr>
        </p:nvSpPr>
        <p:spPr/>
        <p:txBody>
          <a:bodyPr wrap="square"/>
          <a:lstStyle/>
          <a:p>
            <a:pPr>
              <a:lnSpc>
                <a:spcPct val="90000"/>
              </a:lnSpc>
            </a:pPr>
            <a:r>
              <a:rPr lang="en-GB" dirty="0">
                <a:latin typeface="Verdana" charset="0"/>
                <a:ea typeface="MS PGothic" charset="0"/>
              </a:rPr>
              <a:t>Per </a:t>
            </a:r>
            <a:r>
              <a:rPr lang="en-GB" dirty="0" err="1">
                <a:latin typeface="Verdana" charset="0"/>
                <a:ea typeface="MS PGothic" charset="0"/>
              </a:rPr>
              <a:t>cel</a:t>
            </a:r>
            <a:r>
              <a:rPr lang="en-GB" dirty="0">
                <a:latin typeface="Verdana" charset="0"/>
                <a:ea typeface="MS PGothic" charset="0"/>
              </a:rPr>
              <a:t> </a:t>
            </a:r>
            <a:r>
              <a:rPr lang="en-GB" dirty="0" err="1">
                <a:latin typeface="Verdana" charset="0"/>
                <a:ea typeface="MS PGothic" charset="0"/>
              </a:rPr>
              <a:t>meer</a:t>
            </a:r>
            <a:r>
              <a:rPr lang="en-GB" dirty="0">
                <a:latin typeface="Verdana" charset="0"/>
                <a:ea typeface="MS PGothic" charset="0"/>
              </a:rPr>
              <a:t> of minder dan </a:t>
            </a:r>
            <a:r>
              <a:rPr lang="en-GB" dirty="0" err="1">
                <a:latin typeface="Verdana" charset="0"/>
                <a:ea typeface="MS PGothic" charset="0"/>
              </a:rPr>
              <a:t>verwacht</a:t>
            </a:r>
            <a:r>
              <a:rPr lang="en-GB" dirty="0">
                <a:latin typeface="Verdana" charset="0"/>
                <a:ea typeface="MS PGothic" charset="0"/>
              </a:rPr>
              <a:t> </a:t>
            </a:r>
            <a:r>
              <a:rPr lang="en-GB" dirty="0" err="1">
                <a:latin typeface="Verdana" charset="0"/>
                <a:ea typeface="MS PGothic" charset="0"/>
              </a:rPr>
              <a:t>indien</a:t>
            </a:r>
            <a:r>
              <a:rPr lang="en-GB" dirty="0">
                <a:latin typeface="Verdana" charset="0"/>
                <a:ea typeface="MS PGothic" charset="0"/>
              </a:rPr>
              <a:t> </a:t>
            </a:r>
            <a:r>
              <a:rPr lang="en-GB" dirty="0" err="1">
                <a:latin typeface="Verdana" charset="0"/>
                <a:ea typeface="MS PGothic" charset="0"/>
              </a:rPr>
              <a:t>geen</a:t>
            </a:r>
            <a:r>
              <a:rPr lang="en-GB" dirty="0">
                <a:latin typeface="Verdana" charset="0"/>
                <a:ea typeface="MS PGothic" charset="0"/>
              </a:rPr>
              <a:t> </a:t>
            </a:r>
            <a:r>
              <a:rPr lang="en-GB" dirty="0" err="1">
                <a:latin typeface="Verdana" charset="0"/>
                <a:ea typeface="MS PGothic" charset="0"/>
              </a:rPr>
              <a:t>verband</a:t>
            </a:r>
            <a:endParaRPr lang="en-GB" dirty="0">
              <a:latin typeface="Verdana" charset="0"/>
              <a:ea typeface="MS PGothic" charset="0"/>
            </a:endParaRPr>
          </a:p>
          <a:p>
            <a:pPr lvl="1">
              <a:lnSpc>
                <a:spcPct val="90000"/>
              </a:lnSpc>
            </a:pPr>
            <a:r>
              <a:rPr lang="en-GB" dirty="0">
                <a:latin typeface="Verdana" charset="0"/>
                <a:ea typeface="MS PGothic" charset="0"/>
              </a:rPr>
              <a:t>Zwart = </a:t>
            </a:r>
            <a:r>
              <a:rPr lang="en-GB" dirty="0" err="1">
                <a:latin typeface="Verdana" charset="0"/>
                <a:ea typeface="MS PGothic" charset="0"/>
              </a:rPr>
              <a:t>meer</a:t>
            </a:r>
            <a:r>
              <a:rPr lang="en-GB" dirty="0">
                <a:latin typeface="Verdana" charset="0"/>
                <a:ea typeface="MS PGothic" charset="0"/>
              </a:rPr>
              <a:t> </a:t>
            </a:r>
            <a:r>
              <a:rPr lang="en-GB" dirty="0" err="1">
                <a:latin typeface="Verdana" charset="0"/>
                <a:ea typeface="MS PGothic" charset="0"/>
              </a:rPr>
              <a:t>aantallen</a:t>
            </a:r>
            <a:r>
              <a:rPr lang="en-GB" dirty="0">
                <a:latin typeface="Verdana" charset="0"/>
                <a:ea typeface="MS PGothic" charset="0"/>
              </a:rPr>
              <a:t> dan </a:t>
            </a:r>
            <a:r>
              <a:rPr lang="en-GB" dirty="0" err="1">
                <a:latin typeface="Verdana" charset="0"/>
                <a:ea typeface="MS PGothic" charset="0"/>
              </a:rPr>
              <a:t>verwacht</a:t>
            </a:r>
            <a:r>
              <a:rPr lang="en-GB" dirty="0">
                <a:latin typeface="Verdana" charset="0"/>
                <a:ea typeface="MS PGothic" charset="0"/>
              </a:rPr>
              <a:t> </a:t>
            </a:r>
          </a:p>
          <a:p>
            <a:pPr lvl="1">
              <a:lnSpc>
                <a:spcPct val="90000"/>
              </a:lnSpc>
            </a:pPr>
            <a:r>
              <a:rPr lang="en-GB" dirty="0">
                <a:latin typeface="Verdana" charset="0"/>
                <a:ea typeface="MS PGothic" charset="0"/>
              </a:rPr>
              <a:t>Rood = minder </a:t>
            </a:r>
            <a:r>
              <a:rPr lang="en-GB" dirty="0" err="1">
                <a:latin typeface="Verdana" charset="0"/>
                <a:ea typeface="MS PGothic" charset="0"/>
              </a:rPr>
              <a:t>aantallen</a:t>
            </a:r>
            <a:r>
              <a:rPr lang="en-GB" dirty="0">
                <a:latin typeface="Verdana" charset="0"/>
                <a:ea typeface="MS PGothic" charset="0"/>
              </a:rPr>
              <a:t> dan </a:t>
            </a:r>
            <a:r>
              <a:rPr lang="en-GB" dirty="0" err="1">
                <a:latin typeface="Verdana" charset="0"/>
                <a:ea typeface="MS PGothic" charset="0"/>
              </a:rPr>
              <a:t>verwacht</a:t>
            </a:r>
            <a:endParaRPr lang="en-GB" dirty="0">
              <a:latin typeface="Verdana" charset="0"/>
              <a:ea typeface="MS PGothic" charset="0"/>
            </a:endParaRPr>
          </a:p>
          <a:p>
            <a:pPr>
              <a:lnSpc>
                <a:spcPct val="90000"/>
              </a:lnSpc>
            </a:pPr>
            <a:endParaRPr lang="en-GB" dirty="0">
              <a:latin typeface="Verdana" charset="0"/>
              <a:ea typeface="MS PGothic" charset="0"/>
            </a:endParaRPr>
          </a:p>
          <a:p>
            <a:pPr>
              <a:lnSpc>
                <a:spcPct val="90000"/>
              </a:lnSpc>
            </a:pPr>
            <a:r>
              <a:rPr lang="en-GB" dirty="0">
                <a:latin typeface="Verdana" charset="0"/>
                <a:ea typeface="MS PGothic" charset="0"/>
              </a:rPr>
              <a:t>In R</a:t>
            </a:r>
          </a:p>
          <a:p>
            <a:pPr marL="0" indent="0">
              <a:lnSpc>
                <a:spcPct val="90000"/>
              </a:lnSpc>
              <a:buNone/>
            </a:pPr>
            <a:r>
              <a:rPr lang="nl-BE" sz="1600" dirty="0">
                <a:solidFill>
                  <a:srgbClr val="0000FF"/>
                </a:solidFill>
                <a:latin typeface="Courier New" charset="0"/>
                <a:ea typeface="MS PGothic" charset="0"/>
                <a:cs typeface="Courier New" charset="0"/>
              </a:rPr>
              <a:t>&gt; assocplot(table(Politie$Ervaring,Politie$Case))</a:t>
            </a:r>
          </a:p>
          <a:p>
            <a:pPr marL="0" indent="0">
              <a:lnSpc>
                <a:spcPct val="90000"/>
              </a:lnSpc>
              <a:buNone/>
            </a:pPr>
            <a:endParaRPr lang="nl-BE" sz="1600" dirty="0">
              <a:solidFill>
                <a:srgbClr val="0000FF"/>
              </a:solidFill>
              <a:latin typeface="Courier New" charset="0"/>
              <a:ea typeface="MS PGothic" charset="0"/>
              <a:cs typeface="Courier New" charset="0"/>
            </a:endParaRPr>
          </a:p>
          <a:p>
            <a:pPr marL="0" indent="0">
              <a:lnSpc>
                <a:spcPct val="90000"/>
              </a:lnSpc>
              <a:buNone/>
            </a:pPr>
            <a:r>
              <a:rPr lang="nl-BE" sz="1600" dirty="0">
                <a:solidFill>
                  <a:srgbClr val="0000FF"/>
                </a:solidFill>
                <a:latin typeface="Courier New" charset="0"/>
                <a:ea typeface="MS PGothic" charset="0"/>
                <a:cs typeface="Courier New" charset="0"/>
              </a:rPr>
              <a:t>	</a:t>
            </a:r>
            <a:r>
              <a:rPr lang="nl-BE" sz="1600" dirty="0">
                <a:solidFill>
                  <a:schemeClr val="accent5"/>
                </a:solidFill>
                <a:latin typeface="Courier New" charset="0"/>
                <a:ea typeface="MS PGothic" charset="0"/>
                <a:cs typeface="Courier New" charset="0"/>
              </a:rPr>
              <a:t>OF</a:t>
            </a:r>
          </a:p>
          <a:p>
            <a:pPr marL="0" indent="0">
              <a:lnSpc>
                <a:spcPct val="90000"/>
              </a:lnSpc>
              <a:buNone/>
            </a:pPr>
            <a:endParaRPr lang="nl-BE" sz="1600" dirty="0">
              <a:solidFill>
                <a:srgbClr val="0000FF"/>
              </a:solidFill>
              <a:latin typeface="Courier New" charset="0"/>
              <a:ea typeface="MS PGothic" charset="0"/>
              <a:cs typeface="Courier New" charset="0"/>
            </a:endParaRPr>
          </a:p>
          <a:p>
            <a:pPr marL="0" indent="0">
              <a:lnSpc>
                <a:spcPct val="90000"/>
              </a:lnSpc>
              <a:buNone/>
            </a:pPr>
            <a:r>
              <a:rPr lang="nl-BE" sz="1600" dirty="0">
                <a:solidFill>
                  <a:srgbClr val="0000FF"/>
                </a:solidFill>
                <a:latin typeface="Courier New" charset="0"/>
                <a:ea typeface="MS PGothic" charset="0"/>
                <a:cs typeface="Courier New" charset="0"/>
              </a:rPr>
              <a:t>&gt; Mijntabel2 &lt;- table(Variabele2, Variabele1)</a:t>
            </a:r>
          </a:p>
          <a:p>
            <a:pPr marL="0" indent="0">
              <a:lnSpc>
                <a:spcPct val="90000"/>
              </a:lnSpc>
              <a:buNone/>
            </a:pPr>
            <a:r>
              <a:rPr lang="nl-BE" sz="1600" dirty="0">
                <a:solidFill>
                  <a:srgbClr val="0000FF"/>
                </a:solidFill>
                <a:latin typeface="Courier New" charset="0"/>
                <a:ea typeface="MS PGothic" charset="0"/>
                <a:cs typeface="Courier New" charset="0"/>
              </a:rPr>
              <a:t>&gt; assocplot(Mijntabel2)</a:t>
            </a:r>
          </a:p>
        </p:txBody>
      </p:sp>
      <p:pic>
        <p:nvPicPr>
          <p:cNvPr id="5" name="Afbeelding 4">
            <a:extLst>
              <a:ext uri="{FF2B5EF4-FFF2-40B4-BE49-F238E27FC236}">
                <a16:creationId xmlns:a16="http://schemas.microsoft.com/office/drawing/2014/main" id="{6FDB460C-63CE-4F65-81B5-0D3623BE3E51}"/>
              </a:ext>
            </a:extLst>
          </p:cNvPr>
          <p:cNvPicPr>
            <a:picLocks noChangeAspect="1"/>
          </p:cNvPicPr>
          <p:nvPr/>
        </p:nvPicPr>
        <p:blipFill>
          <a:blip r:embed="rId3"/>
          <a:stretch>
            <a:fillRect/>
          </a:stretch>
        </p:blipFill>
        <p:spPr>
          <a:xfrm>
            <a:off x="6963480" y="3158412"/>
            <a:ext cx="4503662" cy="2808288"/>
          </a:xfrm>
          <a:prstGeom prst="rect">
            <a:avLst/>
          </a:prstGeom>
        </p:spPr>
      </p:pic>
    </p:spTree>
    <p:extLst>
      <p:ext uri="{BB962C8B-B14F-4D97-AF65-F5344CB8AC3E}">
        <p14:creationId xmlns:p14="http://schemas.microsoft.com/office/powerpoint/2010/main" val="19858284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795E3E2C-A823-1240-87B6-6EAD5DE6A401}"/>
              </a:ext>
            </a:extLst>
          </p:cNvPr>
          <p:cNvSpPr>
            <a:spLocks noGrp="1"/>
          </p:cNvSpPr>
          <p:nvPr>
            <p:ph type="sldNum" sz="quarter" idx="10"/>
          </p:nvPr>
        </p:nvSpPr>
        <p:spPr/>
        <p:txBody>
          <a:bodyPr/>
          <a:lstStyle/>
          <a:p>
            <a:fld id="{E038E271-308C-2E46-A3EC-56326F9084CC}" type="slidenum">
              <a:rPr lang="nl-BE" smtClean="0"/>
              <a:pPr/>
              <a:t>51</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8E5430D-CD53-7642-86E1-BD495317D5C9}"/>
              </a:ext>
            </a:extLst>
          </p:cNvPr>
          <p:cNvSpPr>
            <a:spLocks noGrp="1"/>
          </p:cNvSpPr>
          <p:nvPr>
            <p:ph type="title"/>
          </p:nvPr>
        </p:nvSpPr>
        <p:spPr/>
        <p:txBody>
          <a:bodyPr/>
          <a:lstStyle/>
          <a:p>
            <a:r>
              <a:rPr lang="nl-BE" dirty="0"/>
              <a:t>Kruistabellen samengevat…</a:t>
            </a:r>
          </a:p>
        </p:txBody>
      </p:sp>
      <p:sp>
        <p:nvSpPr>
          <p:cNvPr id="4" name="Tijdelijke aanduiding voor inhoud 3">
            <a:extLst>
              <a:ext uri="{FF2B5EF4-FFF2-40B4-BE49-F238E27FC236}">
                <a16:creationId xmlns:a16="http://schemas.microsoft.com/office/drawing/2014/main" id="{FD2E06DD-5EEF-C245-925D-855E9B42201F}"/>
              </a:ext>
            </a:extLst>
          </p:cNvPr>
          <p:cNvSpPr>
            <a:spLocks noGrp="1"/>
          </p:cNvSpPr>
          <p:nvPr>
            <p:ph sz="quarter" idx="11"/>
          </p:nvPr>
        </p:nvSpPr>
        <p:spPr/>
        <p:txBody>
          <a:bodyPr/>
          <a:lstStyle/>
          <a:p>
            <a:r>
              <a:rPr lang="nl-BE" dirty="0"/>
              <a:t>Kruistabel</a:t>
            </a:r>
          </a:p>
          <a:p>
            <a:r>
              <a:rPr lang="nl-BE" dirty="0"/>
              <a:t>Statistische significantie? </a:t>
            </a:r>
            <a:r>
              <a:rPr lang="nl-BE" sz="2400" dirty="0"/>
              <a:t>(</a:t>
            </a:r>
            <a:r>
              <a:rPr lang="nl-BE" sz="2400" i="1" dirty="0"/>
              <a:t>chi</a:t>
            </a:r>
            <a:r>
              <a:rPr lang="nl-BE" sz="2400" i="1" baseline="30000" dirty="0"/>
              <a:t>2</a:t>
            </a:r>
            <a:r>
              <a:rPr lang="nl-BE" sz="2400" dirty="0"/>
              <a:t>-test)</a:t>
            </a:r>
            <a:endParaRPr lang="nl-BE" dirty="0"/>
          </a:p>
          <a:p>
            <a:r>
              <a:rPr lang="nl-BE" dirty="0"/>
              <a:t>Effectgrootte? </a:t>
            </a:r>
          </a:p>
          <a:p>
            <a:r>
              <a:rPr lang="nl-BE" dirty="0"/>
              <a:t>(Associatieplot)</a:t>
            </a:r>
          </a:p>
        </p:txBody>
      </p:sp>
      <p:pic>
        <p:nvPicPr>
          <p:cNvPr id="7" name="Tijdelijke aanduiding voor afbeelding 6">
            <a:extLst>
              <a:ext uri="{FF2B5EF4-FFF2-40B4-BE49-F238E27FC236}">
                <a16:creationId xmlns:a16="http://schemas.microsoft.com/office/drawing/2014/main" id="{02CB0FD9-9CCA-654F-A7ED-877FDBB83BCB}"/>
              </a:ext>
            </a:extLst>
          </p:cNvPr>
          <p:cNvPicPr>
            <a:picLocks noGrp="1" noChangeAspect="1"/>
          </p:cNvPicPr>
          <p:nvPr>
            <p:ph type="pic" idx="1"/>
          </p:nvPr>
        </p:nvPicPr>
        <p:blipFill rotWithShape="1">
          <a:blip r:embed="rId3"/>
          <a:srcRect t="-174578" b="-174578"/>
          <a:stretch/>
        </p:blipFill>
        <p:spPr>
          <a:xfrm>
            <a:off x="623889" y="620713"/>
            <a:ext cx="5145732" cy="5616575"/>
          </a:xfrm>
        </p:spPr>
      </p:pic>
    </p:spTree>
    <p:extLst>
      <p:ext uri="{BB962C8B-B14F-4D97-AF65-F5344CB8AC3E}">
        <p14:creationId xmlns:p14="http://schemas.microsoft.com/office/powerpoint/2010/main" val="3015256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B22E76-2806-584A-A6BE-AB07F6EE2CA6}"/>
              </a:ext>
            </a:extLst>
          </p:cNvPr>
          <p:cNvSpPr>
            <a:spLocks noGrp="1"/>
          </p:cNvSpPr>
          <p:nvPr>
            <p:ph type="title"/>
          </p:nvPr>
        </p:nvSpPr>
        <p:spPr/>
        <p:txBody>
          <a:bodyPr/>
          <a:lstStyle/>
          <a:p>
            <a:r>
              <a:rPr lang="nl-BE" dirty="0"/>
              <a:t>Huiswerk</a:t>
            </a:r>
          </a:p>
        </p:txBody>
      </p:sp>
      <p:sp>
        <p:nvSpPr>
          <p:cNvPr id="3" name="Tijdelijke aanduiding voor dianummer 2">
            <a:extLst>
              <a:ext uri="{FF2B5EF4-FFF2-40B4-BE49-F238E27FC236}">
                <a16:creationId xmlns:a16="http://schemas.microsoft.com/office/drawing/2014/main" id="{1233C605-2ED2-F44A-A358-6A35CD7A3FE8}"/>
              </a:ext>
            </a:extLst>
          </p:cNvPr>
          <p:cNvSpPr>
            <a:spLocks noGrp="1"/>
          </p:cNvSpPr>
          <p:nvPr>
            <p:ph type="sldNum" sz="quarter" idx="10"/>
          </p:nvPr>
        </p:nvSpPr>
        <p:spPr/>
        <p:txBody>
          <a:bodyPr/>
          <a:lstStyle/>
          <a:p>
            <a:fld id="{E038E271-308C-2E46-A3EC-56326F9084CC}" type="slidenum">
              <a:rPr lang="nl-BE" smtClean="0"/>
              <a:pPr/>
              <a:t>52</a:t>
            </a:fld>
            <a:endParaRPr lang="nl-BE" dirty="0"/>
          </a:p>
        </p:txBody>
      </p:sp>
      <p:pic>
        <p:nvPicPr>
          <p:cNvPr id="6" name="Afbeelding 5" descr="Afbeelding met tekst, schermopname, Lettertype&#10;&#10;Door AI gegenereerde inhoud is mogelijk onjuist.">
            <a:extLst>
              <a:ext uri="{FF2B5EF4-FFF2-40B4-BE49-F238E27FC236}">
                <a16:creationId xmlns:a16="http://schemas.microsoft.com/office/drawing/2014/main" id="{8CE50F79-9EE0-5149-A41E-E26215A955BE}"/>
              </a:ext>
            </a:extLst>
          </p:cNvPr>
          <p:cNvPicPr>
            <a:picLocks noChangeAspect="1"/>
          </p:cNvPicPr>
          <p:nvPr/>
        </p:nvPicPr>
        <p:blipFill>
          <a:blip r:embed="rId3"/>
          <a:stretch>
            <a:fillRect/>
          </a:stretch>
        </p:blipFill>
        <p:spPr>
          <a:xfrm>
            <a:off x="5914918" y="1412507"/>
            <a:ext cx="4172164" cy="4388076"/>
          </a:xfrm>
          <a:prstGeom prst="rect">
            <a:avLst/>
          </a:prstGeom>
        </p:spPr>
      </p:pic>
      <p:pic>
        <p:nvPicPr>
          <p:cNvPr id="8" name="Afbeelding 7" descr="Afbeelding met tekst, Lettertype, schermopname, algebra&#10;&#10;Door AI gegenereerde inhoud is mogelijk onjuist.">
            <a:extLst>
              <a:ext uri="{FF2B5EF4-FFF2-40B4-BE49-F238E27FC236}">
                <a16:creationId xmlns:a16="http://schemas.microsoft.com/office/drawing/2014/main" id="{BE1BD40D-FD36-3461-3FF6-8BB77135D018}"/>
              </a:ext>
            </a:extLst>
          </p:cNvPr>
          <p:cNvPicPr>
            <a:picLocks noChangeAspect="1"/>
          </p:cNvPicPr>
          <p:nvPr/>
        </p:nvPicPr>
        <p:blipFill>
          <a:blip r:embed="rId4"/>
          <a:stretch>
            <a:fillRect/>
          </a:stretch>
        </p:blipFill>
        <p:spPr>
          <a:xfrm>
            <a:off x="585787" y="1412507"/>
            <a:ext cx="4267419" cy="1720938"/>
          </a:xfrm>
          <a:prstGeom prst="rect">
            <a:avLst/>
          </a:prstGeom>
        </p:spPr>
      </p:pic>
      <p:pic>
        <p:nvPicPr>
          <p:cNvPr id="10" name="Afbeelding 9" descr="Afbeelding met tekst, Lettertype, schermopname, lijn&#10;&#10;Door AI gegenereerde inhoud is mogelijk onjuist.">
            <a:extLst>
              <a:ext uri="{FF2B5EF4-FFF2-40B4-BE49-F238E27FC236}">
                <a16:creationId xmlns:a16="http://schemas.microsoft.com/office/drawing/2014/main" id="{B861CC96-BC7F-D16F-1D0F-274857B7F281}"/>
              </a:ext>
            </a:extLst>
          </p:cNvPr>
          <p:cNvPicPr>
            <a:picLocks noChangeAspect="1"/>
          </p:cNvPicPr>
          <p:nvPr/>
        </p:nvPicPr>
        <p:blipFill>
          <a:blip r:embed="rId5"/>
          <a:stretch>
            <a:fillRect/>
          </a:stretch>
        </p:blipFill>
        <p:spPr>
          <a:xfrm>
            <a:off x="623887" y="3148450"/>
            <a:ext cx="2140060" cy="1371670"/>
          </a:xfrm>
          <a:prstGeom prst="rect">
            <a:avLst/>
          </a:prstGeom>
        </p:spPr>
      </p:pic>
    </p:spTree>
    <p:extLst>
      <p:ext uri="{BB962C8B-B14F-4D97-AF65-F5344CB8AC3E}">
        <p14:creationId xmlns:p14="http://schemas.microsoft.com/office/powerpoint/2010/main" val="161828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36FC219E-2B52-8B46-BCE5-D6ECF9B24491}"/>
              </a:ext>
            </a:extLst>
          </p:cNvPr>
          <p:cNvSpPr>
            <a:spLocks noGrp="1"/>
          </p:cNvSpPr>
          <p:nvPr>
            <p:ph type="sldNum" sz="quarter" idx="10"/>
          </p:nvPr>
        </p:nvSpPr>
        <p:spPr/>
        <p:txBody>
          <a:bodyPr/>
          <a:lstStyle/>
          <a:p>
            <a:fld id="{E038E271-308C-2E46-A3EC-56326F9084CC}" type="slidenum">
              <a:rPr lang="nl-BE" smtClean="0"/>
              <a:pPr/>
              <a:t>53</a:t>
            </a:fld>
            <a:endParaRPr lang="nl-BE" dirty="0">
              <a:latin typeface="Calibri Light" panose="020F0302020204030204" pitchFamily="34" charset="0"/>
            </a:endParaRPr>
          </a:p>
        </p:txBody>
      </p:sp>
      <p:sp>
        <p:nvSpPr>
          <p:cNvPr id="3" name="Titel 2">
            <a:extLst>
              <a:ext uri="{FF2B5EF4-FFF2-40B4-BE49-F238E27FC236}">
                <a16:creationId xmlns:a16="http://schemas.microsoft.com/office/drawing/2014/main" id="{6AD75492-2D3D-2347-964F-1B7AC12DCC78}"/>
              </a:ext>
            </a:extLst>
          </p:cNvPr>
          <p:cNvSpPr>
            <a:spLocks noGrp="1"/>
          </p:cNvSpPr>
          <p:nvPr>
            <p:ph type="title"/>
          </p:nvPr>
        </p:nvSpPr>
        <p:spPr/>
        <p:txBody>
          <a:bodyPr/>
          <a:lstStyle/>
          <a:p>
            <a:endParaRPr lang="nl-BE"/>
          </a:p>
        </p:txBody>
      </p:sp>
      <p:sp>
        <p:nvSpPr>
          <p:cNvPr id="4" name="Tijdelijke aanduiding voor inhoud 3">
            <a:extLst>
              <a:ext uri="{FF2B5EF4-FFF2-40B4-BE49-F238E27FC236}">
                <a16:creationId xmlns:a16="http://schemas.microsoft.com/office/drawing/2014/main" id="{0444CAC1-9DC2-6147-B2F3-EFB051D81892}"/>
              </a:ext>
            </a:extLst>
          </p:cNvPr>
          <p:cNvSpPr>
            <a:spLocks noGrp="1"/>
          </p:cNvSpPr>
          <p:nvPr>
            <p:ph sz="quarter" idx="11"/>
          </p:nvPr>
        </p:nvSpPr>
        <p:spPr/>
        <p:txBody>
          <a:bodyPr/>
          <a:lstStyle/>
          <a:p>
            <a:r>
              <a:rPr lang="nl-BE" dirty="0"/>
              <a:t>Individueel oefenen </a:t>
            </a:r>
          </a:p>
        </p:txBody>
      </p:sp>
      <p:pic>
        <p:nvPicPr>
          <p:cNvPr id="7" name="Tijdelijke aanduiding voor afbeelding 6">
            <a:extLst>
              <a:ext uri="{FF2B5EF4-FFF2-40B4-BE49-F238E27FC236}">
                <a16:creationId xmlns:a16="http://schemas.microsoft.com/office/drawing/2014/main" id="{47588DA9-5F49-F746-B1D9-BBA874481F4B}"/>
              </a:ext>
            </a:extLst>
          </p:cNvPr>
          <p:cNvPicPr>
            <a:picLocks noGrp="1" noChangeAspect="1"/>
          </p:cNvPicPr>
          <p:nvPr>
            <p:ph type="pic" idx="1"/>
          </p:nvPr>
        </p:nvPicPr>
        <p:blipFill rotWithShape="1">
          <a:blip r:embed="rId2"/>
          <a:srcRect t="-300680" b="-300680"/>
          <a:stretch/>
        </p:blipFill>
        <p:spPr/>
      </p:pic>
    </p:spTree>
    <p:extLst>
      <p:ext uri="{BB962C8B-B14F-4D97-AF65-F5344CB8AC3E}">
        <p14:creationId xmlns:p14="http://schemas.microsoft.com/office/powerpoint/2010/main" val="42366314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nummer 1">
            <a:extLst>
              <a:ext uri="{FF2B5EF4-FFF2-40B4-BE49-F238E27FC236}">
                <a16:creationId xmlns:a16="http://schemas.microsoft.com/office/drawing/2014/main" id="{A1651AE6-46C5-C847-8D58-2C75FDDDCAB7}"/>
              </a:ext>
            </a:extLst>
          </p:cNvPr>
          <p:cNvSpPr>
            <a:spLocks noGrp="1"/>
          </p:cNvSpPr>
          <p:nvPr>
            <p:ph type="sldNum" sz="quarter" idx="10"/>
          </p:nvPr>
        </p:nvSpPr>
        <p:spPr/>
        <p:txBody>
          <a:bodyPr/>
          <a:lstStyle/>
          <a:p>
            <a:fld id="{E038E271-308C-2E46-A3EC-56326F9084CC}" type="slidenum">
              <a:rPr lang="nl-BE" smtClean="0"/>
              <a:pPr/>
              <a:t>54</a:t>
            </a:fld>
            <a:endParaRPr lang="nl-BE" dirty="0">
              <a:latin typeface="Calibri Light" panose="020F0302020204030204" pitchFamily="34" charset="0"/>
            </a:endParaRPr>
          </a:p>
        </p:txBody>
      </p:sp>
      <p:sp>
        <p:nvSpPr>
          <p:cNvPr id="9" name="Tekstvak 6">
            <a:extLst>
              <a:ext uri="{FF2B5EF4-FFF2-40B4-BE49-F238E27FC236}">
                <a16:creationId xmlns:a16="http://schemas.microsoft.com/office/drawing/2014/main" id="{08B94770-57EA-DBB8-3D86-EE1E970C05DE}"/>
              </a:ext>
            </a:extLst>
          </p:cNvPr>
          <p:cNvSpPr txBox="1"/>
          <p:nvPr/>
        </p:nvSpPr>
        <p:spPr>
          <a:xfrm>
            <a:off x="623887" y="620713"/>
            <a:ext cx="10944226" cy="791794"/>
          </a:xfrm>
          <a:prstGeom prst="rect">
            <a:avLst/>
          </a:prstGeom>
        </p:spPr>
        <p:txBody>
          <a:bodyPr vert="horz" lIns="0" tIns="0" rIns="0" bIns="0" rtlCol="0" anchor="t" anchorCtr="0">
            <a:normAutofit/>
          </a:bodyPr>
          <a:lstStyle>
            <a:defPPr>
              <a:defRPr lang="nl-BE"/>
            </a:defPPr>
            <a:lvl1pPr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609585"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1219170"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828754"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2438339" algn="l"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3047924" algn="l" defTabSz="1219170" rtl="0" eaLnBrk="1" latinLnBrk="0" hangingPunct="1">
              <a:defRPr kern="1200">
                <a:solidFill>
                  <a:schemeClr val="tx1"/>
                </a:solidFill>
                <a:latin typeface="Trebuchet MS" panose="020B0603020202020204" pitchFamily="34" charset="0"/>
                <a:ea typeface="+mn-ea"/>
                <a:cs typeface="+mn-cs"/>
              </a:defRPr>
            </a:lvl6pPr>
            <a:lvl7pPr marL="3657509" algn="l" defTabSz="1219170" rtl="0" eaLnBrk="1" latinLnBrk="0" hangingPunct="1">
              <a:defRPr kern="1200">
                <a:solidFill>
                  <a:schemeClr val="tx1"/>
                </a:solidFill>
                <a:latin typeface="Trebuchet MS" panose="020B0603020202020204" pitchFamily="34" charset="0"/>
                <a:ea typeface="+mn-ea"/>
                <a:cs typeface="+mn-cs"/>
              </a:defRPr>
            </a:lvl7pPr>
            <a:lvl8pPr marL="4267093" algn="l" defTabSz="1219170" rtl="0" eaLnBrk="1" latinLnBrk="0" hangingPunct="1">
              <a:defRPr kern="1200">
                <a:solidFill>
                  <a:schemeClr val="tx1"/>
                </a:solidFill>
                <a:latin typeface="Trebuchet MS" panose="020B0603020202020204" pitchFamily="34" charset="0"/>
                <a:ea typeface="+mn-ea"/>
                <a:cs typeface="+mn-cs"/>
              </a:defRPr>
            </a:lvl8pPr>
            <a:lvl9pPr marL="4876678" algn="l" defTabSz="1219170" rtl="0" eaLnBrk="1" latinLnBrk="0" hangingPunct="1">
              <a:defRPr kern="1200">
                <a:solidFill>
                  <a:schemeClr val="tx1"/>
                </a:solidFill>
                <a:latin typeface="Trebuchet MS" panose="020B0603020202020204" pitchFamily="34" charset="0"/>
                <a:ea typeface="+mn-ea"/>
                <a:cs typeface="+mn-cs"/>
              </a:defRPr>
            </a:lvl9pPr>
          </a:lstStyle>
          <a:p>
            <a:pPr defTabSz="1217054" eaLnBrk="1" hangingPunct="1">
              <a:spcAft>
                <a:spcPts val="600"/>
              </a:spcAft>
            </a:pPr>
            <a:r>
              <a:rPr lang="en-US" sz="3800" b="1" dirty="0">
                <a:solidFill>
                  <a:srgbClr val="FF0000"/>
                </a:solidFill>
                <a:latin typeface="Calibri" panose="020F0502020204030204" pitchFamily="34" charset="0"/>
                <a:ea typeface="Verdana" charset="0"/>
                <a:cs typeface="Calibri" panose="020F0502020204030204" pitchFamily="34" charset="0"/>
              </a:rPr>
              <a:t>https://statb-2025-2026.netlify.app/</a:t>
            </a:r>
            <a:r>
              <a:rPr lang="en-US" sz="3800" b="1" dirty="0" err="1">
                <a:solidFill>
                  <a:srgbClr val="FF0000"/>
                </a:solidFill>
                <a:latin typeface="Calibri" panose="020F0502020204030204" pitchFamily="34" charset="0"/>
                <a:ea typeface="Verdana" charset="0"/>
                <a:cs typeface="Calibri" panose="020F0502020204030204" pitchFamily="34" charset="0"/>
              </a:rPr>
              <a:t>computer_labs</a:t>
            </a:r>
            <a:endParaRPr lang="en-US" sz="3800" b="1" dirty="0">
              <a:solidFill>
                <a:srgbClr val="FF0000"/>
              </a:solidFill>
              <a:latin typeface="Calibri" panose="020F0502020204030204" pitchFamily="34" charset="0"/>
              <a:ea typeface="Verdana" charset="0"/>
              <a:cs typeface="Calibri" panose="020F0502020204030204" pitchFamily="34" charset="0"/>
            </a:endParaRPr>
          </a:p>
        </p:txBody>
      </p:sp>
      <p:pic>
        <p:nvPicPr>
          <p:cNvPr id="10" name="Afbeelding 9">
            <a:extLst>
              <a:ext uri="{FF2B5EF4-FFF2-40B4-BE49-F238E27FC236}">
                <a16:creationId xmlns:a16="http://schemas.microsoft.com/office/drawing/2014/main" id="{0B9D759A-0FA3-2EFD-33F0-B92E6529BB4B}"/>
              </a:ext>
            </a:extLst>
          </p:cNvPr>
          <p:cNvPicPr>
            <a:picLocks noChangeAspect="1"/>
          </p:cNvPicPr>
          <p:nvPr/>
        </p:nvPicPr>
        <p:blipFill>
          <a:blip r:embed="rId2"/>
          <a:srcRect t="5120" r="2" b="23314"/>
          <a:stretch/>
        </p:blipFill>
        <p:spPr>
          <a:xfrm>
            <a:off x="623887" y="1577009"/>
            <a:ext cx="10944226" cy="4660279"/>
          </a:xfrm>
          <a:prstGeom prst="rect">
            <a:avLst/>
          </a:prstGeom>
          <a:noFill/>
        </p:spPr>
      </p:pic>
    </p:spTree>
    <p:extLst>
      <p:ext uri="{BB962C8B-B14F-4D97-AF65-F5344CB8AC3E}">
        <p14:creationId xmlns:p14="http://schemas.microsoft.com/office/powerpoint/2010/main" val="31586611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2D397-0105-099C-AF21-E3AA920E63FF}"/>
            </a:ext>
          </a:extLst>
        </p:cNvPr>
        <p:cNvGrpSpPr/>
        <p:nvPr/>
      </p:nvGrpSpPr>
      <p:grpSpPr>
        <a:xfrm>
          <a:off x="0" y="0"/>
          <a:ext cx="0" cy="0"/>
          <a:chOff x="0" y="0"/>
          <a:chExt cx="0" cy="0"/>
        </a:xfrm>
      </p:grpSpPr>
      <p:sp>
        <p:nvSpPr>
          <p:cNvPr id="7" name="Tekstvak 6">
            <a:extLst>
              <a:ext uri="{FF2B5EF4-FFF2-40B4-BE49-F238E27FC236}">
                <a16:creationId xmlns:a16="http://schemas.microsoft.com/office/drawing/2014/main" id="{0BAB3990-EB89-4248-03E3-2904BC7E7B08}"/>
              </a:ext>
            </a:extLst>
          </p:cNvPr>
          <p:cNvSpPr txBox="1"/>
          <p:nvPr/>
        </p:nvSpPr>
        <p:spPr>
          <a:xfrm>
            <a:off x="623887" y="620713"/>
            <a:ext cx="10944226" cy="791794"/>
          </a:xfrm>
          <a:prstGeom prst="rect">
            <a:avLst/>
          </a:prstGeom>
        </p:spPr>
        <p:txBody>
          <a:bodyPr vert="horz" lIns="0" tIns="0" rIns="0" bIns="0" rtlCol="0" anchor="t" anchorCtr="0">
            <a:normAutofit/>
          </a:bodyPr>
          <a:lstStyle/>
          <a:p>
            <a:pPr marL="0" marR="0" lvl="0" indent="0" algn="l" defTabSz="1217054" rtl="0" eaLnBrk="1" fontAlgn="base" latinLnBrk="0" hangingPunct="1">
              <a:lnSpc>
                <a:spcPct val="90000"/>
              </a:lnSpc>
              <a:spcBef>
                <a:spcPct val="0"/>
              </a:spcBef>
              <a:spcAft>
                <a:spcPts val="600"/>
              </a:spcAft>
              <a:buClrTx/>
              <a:buSzTx/>
              <a:buFontTx/>
              <a:buNone/>
              <a:tabLst/>
              <a:defRPr/>
            </a:pPr>
            <a:r>
              <a:rPr kumimoji="0" lang="en-US" sz="2700" b="1" i="0" u="none" strike="noStrike" kern="1200" cap="none" spc="0" normalizeH="0" baseline="0" noProof="0" dirty="0">
                <a:ln>
                  <a:noFill/>
                </a:ln>
                <a:solidFill>
                  <a:srgbClr val="FF0000"/>
                </a:solidFill>
                <a:effectLst/>
                <a:uLnTx/>
                <a:uFillTx/>
                <a:latin typeface="Calibri" panose="020F0502020204030204" pitchFamily="34" charset="0"/>
                <a:ea typeface="Verdana" charset="0"/>
                <a:cs typeface="Calibri" panose="020F0502020204030204" pitchFamily="34" charset="0"/>
              </a:rPr>
              <a:t>https://statb-2025-2026.netlify.app/contactmomenten/c2/opdrachten_c2</a:t>
            </a:r>
          </a:p>
        </p:txBody>
      </p:sp>
      <p:sp>
        <p:nvSpPr>
          <p:cNvPr id="2" name="Tijdelijke aanduiding voor dianummer 1">
            <a:extLst>
              <a:ext uri="{FF2B5EF4-FFF2-40B4-BE49-F238E27FC236}">
                <a16:creationId xmlns:a16="http://schemas.microsoft.com/office/drawing/2014/main" id="{E9ADA599-C214-60BB-FD1D-B0D8B393C8F6}"/>
              </a:ext>
            </a:extLst>
          </p:cNvPr>
          <p:cNvSpPr>
            <a:spLocks noGrp="1"/>
          </p:cNvSpPr>
          <p:nvPr>
            <p:ph type="sldNum" sz="quarter" idx="10"/>
          </p:nvPr>
        </p:nvSpPr>
        <p:spPr>
          <a:xfrm>
            <a:off x="8923493" y="6339173"/>
            <a:ext cx="2743200" cy="365125"/>
          </a:xfrm>
        </p:spPr>
        <p:txBody>
          <a:bodyPr vert="horz" lIns="91440" tIns="45720" rIns="91440" bIns="45720" rtlCol="0" anchor="ctr">
            <a:normAutofit/>
          </a:bodyPr>
          <a:lstStyle/>
          <a:p>
            <a:pPr marL="0" marR="0" lvl="0" indent="0" algn="r" defTabSz="914400" rtl="0" eaLnBrk="0" fontAlgn="base" latinLnBrk="0" hangingPunct="0">
              <a:lnSpc>
                <a:spcPct val="100000"/>
              </a:lnSpc>
              <a:spcBef>
                <a:spcPct val="0"/>
              </a:spcBef>
              <a:spcAft>
                <a:spcPts val="600"/>
              </a:spcAft>
              <a:buClrTx/>
              <a:buSzTx/>
              <a:buFontTx/>
              <a:buNone/>
              <a:tabLst/>
              <a:defRPr/>
            </a:pPr>
            <a:fld id="{E038E271-308C-2E46-A3EC-56326F9084CC}" type="slidenum">
              <a:rPr kumimoji="0" lang="nl-BE" sz="1000" b="0" i="0" u="none" strike="noStrike" kern="1200" cap="none" spc="0" normalizeH="0" baseline="0" noProof="0" smtClean="0">
                <a:ln>
                  <a:noFill/>
                </a:ln>
                <a:solidFill>
                  <a:srgbClr val="002E65"/>
                </a:solidFill>
                <a:effectLst/>
                <a:uLnTx/>
                <a:uFillTx/>
                <a:latin typeface="Calibri Light" panose="020F0302020204030204" pitchFamily="34" charset="0"/>
                <a:ea typeface="+mn-ea"/>
                <a:cs typeface="Calibri Light" panose="020F0302020204030204" pitchFamily="34" charset="0"/>
              </a:rPr>
              <a:pPr marL="0" marR="0" lvl="0" indent="0" algn="r" defTabSz="914400" rtl="0" eaLnBrk="0" fontAlgn="base" latinLnBrk="0" hangingPunct="0">
                <a:lnSpc>
                  <a:spcPct val="100000"/>
                </a:lnSpc>
                <a:spcBef>
                  <a:spcPct val="0"/>
                </a:spcBef>
                <a:spcAft>
                  <a:spcPts val="600"/>
                </a:spcAft>
                <a:buClrTx/>
                <a:buSzTx/>
                <a:buFontTx/>
                <a:buNone/>
                <a:tabLst/>
                <a:defRPr/>
              </a:pPr>
              <a:t>55</a:t>
            </a:fld>
            <a:endParaRPr kumimoji="0" lang="nl-BE" sz="1000" b="0" i="0" u="none" strike="noStrike" kern="1200" cap="none" spc="0" normalizeH="0" baseline="0" noProof="0">
              <a:ln>
                <a:noFill/>
              </a:ln>
              <a:solidFill>
                <a:srgbClr val="002E65"/>
              </a:solidFill>
              <a:effectLst/>
              <a:uLnTx/>
              <a:uFillTx/>
              <a:latin typeface="Calibri Light" panose="020F0302020204030204" pitchFamily="34" charset="0"/>
              <a:ea typeface="+mn-ea"/>
              <a:cs typeface="Calibri Light" panose="020F0302020204030204" pitchFamily="34" charset="0"/>
            </a:endParaRPr>
          </a:p>
        </p:txBody>
      </p:sp>
      <p:pic>
        <p:nvPicPr>
          <p:cNvPr id="5" name="Afbeelding 4" descr="Afbeelding met tekst, schermopname, Lettertype&#10;&#10;Door AI gegenereerde inhoud is mogelijk onjuist.">
            <a:extLst>
              <a:ext uri="{FF2B5EF4-FFF2-40B4-BE49-F238E27FC236}">
                <a16:creationId xmlns:a16="http://schemas.microsoft.com/office/drawing/2014/main" id="{1C780346-A424-0DB0-A97D-D382CC3D7AB7}"/>
              </a:ext>
            </a:extLst>
          </p:cNvPr>
          <p:cNvPicPr>
            <a:picLocks noChangeAspect="1"/>
          </p:cNvPicPr>
          <p:nvPr/>
        </p:nvPicPr>
        <p:blipFill>
          <a:blip r:embed="rId3"/>
          <a:stretch>
            <a:fillRect/>
          </a:stretch>
        </p:blipFill>
        <p:spPr>
          <a:xfrm>
            <a:off x="623887" y="1196853"/>
            <a:ext cx="9176694" cy="5040434"/>
          </a:xfrm>
          <a:prstGeom prst="rect">
            <a:avLst/>
          </a:prstGeom>
        </p:spPr>
      </p:pic>
    </p:spTree>
    <p:extLst>
      <p:ext uri="{BB962C8B-B14F-4D97-AF65-F5344CB8AC3E}">
        <p14:creationId xmlns:p14="http://schemas.microsoft.com/office/powerpoint/2010/main" val="1104886985"/>
      </p:ext>
    </p:extLst>
  </p:cSld>
  <p:clrMapOvr>
    <a:masterClrMapping/>
  </p:clrMapOvr>
</p:sld>
</file>

<file path=ppt/theme/theme1.xml><?xml version="1.0" encoding="utf-8"?>
<a:theme xmlns:a="http://schemas.openxmlformats.org/drawingml/2006/main" name="UAntwerpen-inhoud">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ln>
        <a:extLst>
          <a:ext uri="{91240B29-F687-4f45-9708-019B960494DF}">
            <a14:hiddenLine xmlns:a14="http://schemas.microsoft.com/office/drawing/2010/main" xmlns="" w="9525">
              <a:solidFill>
                <a:srgbClr val="000000"/>
              </a:solidFill>
              <a:miter lim="800000"/>
              <a:headEnd/>
              <a:tailEnd/>
            </a14:hiddenLine>
          </a:ext>
        </a:extLst>
      </a:spPr>
      <a:bodyPr lIns="180000" tIns="180000" rIns="180000" bIns="180000" anchor="ctr"/>
      <a:lstStyle>
        <a:defPPr marL="179388" indent="-179388">
          <a:spcAft>
            <a:spcPts val="450"/>
          </a:spcAft>
          <a:buFont typeface="Arial" charset="0"/>
          <a:buChar char="•"/>
          <a:defRPr sz="1600" dirty="0">
            <a:latin typeface="Verdana" charset="0"/>
            <a:ea typeface="Verdana Regular" charset="0"/>
            <a:cs typeface="Verdana Regular" charset="0"/>
            <a:sym typeface="Securitas Sans Light" charset="0"/>
          </a:defRPr>
        </a:defPPr>
      </a:lstStyle>
    </a:spDef>
    <a:lnDef>
      <a:spPr>
        <a:ln>
          <a:tailEnd type="arrow"/>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2800" b="1" dirty="0">
            <a:solidFill>
              <a:schemeClr val="bg1"/>
            </a:solidFill>
            <a:latin typeface="Gotham" panose="02000603040000020004" pitchFamily="2" charset="0"/>
            <a:ea typeface="Verdana" panose="020B0604030504040204" pitchFamily="34" charset="0"/>
            <a:cs typeface="Verdana" panose="020B0604030504040204" pitchFamily="34" charset="0"/>
          </a:defRPr>
        </a:defPPr>
      </a:lstStyle>
    </a:txDef>
  </a:objectDefaults>
  <a:extraClrSchemeLst/>
  <a:extLst>
    <a:ext uri="{05A4C25C-085E-4340-85A3-A5531E510DB2}">
      <thm15:themeFamily xmlns:thm15="http://schemas.microsoft.com/office/thememl/2012/main" name="vdp_powerpoint" id="{FEF18948-FC9D-1340-AA00-430FBBA861E5}" vid="{591CA67A-998E-6049-B579-1B92244B0BFA}"/>
    </a:ext>
  </a:extLst>
</a:theme>
</file>

<file path=ppt/theme/theme2.xml><?xml version="1.0" encoding="utf-8"?>
<a:theme xmlns:a="http://schemas.openxmlformats.org/drawingml/2006/main" name="UAntwerpen_titelslide">
  <a:themeElements>
    <a:clrScheme name="Kleuren_universiteitAntwerpen">
      <a:dk1>
        <a:srgbClr val="002E65"/>
      </a:dk1>
      <a:lt1>
        <a:srgbClr val="FFFFFF"/>
      </a:lt1>
      <a:dk2>
        <a:srgbClr val="002E65"/>
      </a:dk2>
      <a:lt2>
        <a:srgbClr val="BBCCCC"/>
      </a:lt2>
      <a:accent1>
        <a:srgbClr val="002E65"/>
      </a:accent1>
      <a:accent2>
        <a:srgbClr val="EA2C38"/>
      </a:accent2>
      <a:accent3>
        <a:srgbClr val="44B8F3"/>
      </a:accent3>
      <a:accent4>
        <a:srgbClr val="ADA500"/>
      </a:accent4>
      <a:accent5>
        <a:srgbClr val="AC242A"/>
      </a:accent5>
      <a:accent6>
        <a:srgbClr val="65A812"/>
      </a:accent6>
      <a:hlink>
        <a:srgbClr val="006CA9"/>
      </a:hlink>
      <a:folHlink>
        <a:srgbClr val="B10097"/>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33E4096B1224744B14B28F94E3FEB1B" ma:contentTypeVersion="7" ma:contentTypeDescription="Een nieuw document maken." ma:contentTypeScope="" ma:versionID="2e7ef972128590c12da1cfd820246648">
  <xsd:schema xmlns:xsd="http://www.w3.org/2001/XMLSchema" xmlns:xs="http://www.w3.org/2001/XMLSchema" xmlns:p="http://schemas.microsoft.com/office/2006/metadata/properties" xmlns:ns2="6b30ab21-c247-4d68-a057-2d2e000e95f9" targetNamespace="http://schemas.microsoft.com/office/2006/metadata/properties" ma:root="true" ma:fieldsID="8f40fd9c2c4bbd3a72d843873f14c178" ns2:_="">
    <xsd:import namespace="6b30ab21-c247-4d68-a057-2d2e000e95f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30ab21-c247-4d68-a057-2d2e000e95f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CF2696-FE02-46AC-9E3A-974D4433E240}">
  <ds:schemaRefs>
    <ds:schemaRef ds:uri="http://schemas.microsoft.com/sharepoint/v3/contenttype/forms"/>
  </ds:schemaRefs>
</ds:datastoreItem>
</file>

<file path=customXml/itemProps2.xml><?xml version="1.0" encoding="utf-8"?>
<ds:datastoreItem xmlns:ds="http://schemas.openxmlformats.org/officeDocument/2006/customXml" ds:itemID="{FFA077A9-16A8-4669-B871-D0B14F498C42}">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6b30ab21-c247-4d68-a057-2d2e000e95f9"/>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C777B2ED-94E7-4471-88D2-ADC98C7ADC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30ab21-c247-4d68-a057-2d2e000e95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vdp_powerpoint</Template>
  <TotalTime>6942</TotalTime>
  <Words>3377</Words>
  <Application>Microsoft Office PowerPoint</Application>
  <PresentationFormat>Breedbeeld</PresentationFormat>
  <Paragraphs>719</Paragraphs>
  <Slides>55</Slides>
  <Notes>53</Notes>
  <HiddenSlides>0</HiddenSlides>
  <MMClips>0</MMClips>
  <ScaleCrop>false</ScaleCrop>
  <HeadingPairs>
    <vt:vector size="6" baseType="variant">
      <vt:variant>
        <vt:lpstr>Gebruikte lettertypen</vt:lpstr>
      </vt:variant>
      <vt:variant>
        <vt:i4>13</vt:i4>
      </vt:variant>
      <vt:variant>
        <vt:lpstr>Thema</vt:lpstr>
      </vt:variant>
      <vt:variant>
        <vt:i4>2</vt:i4>
      </vt:variant>
      <vt:variant>
        <vt:lpstr>Diatitels</vt:lpstr>
      </vt:variant>
      <vt:variant>
        <vt:i4>55</vt:i4>
      </vt:variant>
    </vt:vector>
  </HeadingPairs>
  <TitlesOfParts>
    <vt:vector size="70" baseType="lpstr">
      <vt:lpstr>ＭＳ Ｐゴシック</vt:lpstr>
      <vt:lpstr>ＭＳ Ｐゴシック</vt:lpstr>
      <vt:lpstr>Arial</vt:lpstr>
      <vt:lpstr>Calibri</vt:lpstr>
      <vt:lpstr>Calibri Light</vt:lpstr>
      <vt:lpstr>Cambria</vt:lpstr>
      <vt:lpstr>Cambria Math</vt:lpstr>
      <vt:lpstr>Courier New</vt:lpstr>
      <vt:lpstr>Gotham</vt:lpstr>
      <vt:lpstr>ITC Officina Sans Std Book</vt:lpstr>
      <vt:lpstr>Trebuchet MS</vt:lpstr>
      <vt:lpstr>Verdana</vt:lpstr>
      <vt:lpstr>Wingdings</vt:lpstr>
      <vt:lpstr>UAntwerpen-inhoud</vt:lpstr>
      <vt:lpstr>UAntwerpen_titelslide</vt:lpstr>
      <vt:lpstr>Statistiek B – contactmoment 2</vt:lpstr>
      <vt:lpstr>PowerPoint-presentatie</vt:lpstr>
      <vt:lpstr>Te.   ugblik   </vt:lpstr>
      <vt:lpstr>PowerPoint-presentatie</vt:lpstr>
      <vt:lpstr>PowerPoint-presentatie</vt:lpstr>
      <vt:lpstr>PowerPoint-presentatie</vt:lpstr>
      <vt:lpstr>PowerPoint-presentatie</vt:lpstr>
      <vt:lpstr>Aanpak t-test?</vt:lpstr>
      <vt:lpstr>Aanpak t-test?</vt:lpstr>
      <vt:lpstr>Assumptie binnen-groepen-variantie?</vt:lpstr>
      <vt:lpstr>Assumptie binnen-groepen-variantie?</vt:lpstr>
      <vt:lpstr>Statistische significantie (t-test) en effectgrootte?</vt:lpstr>
      <vt:lpstr>Statistische significantie (t-test) en effectgrootte?</vt:lpstr>
      <vt:lpstr>T-test in de actualiteit?</vt:lpstr>
      <vt:lpstr>T-test in de actualiteit?</vt:lpstr>
      <vt:lpstr>ANOVA</vt:lpstr>
      <vt:lpstr>Wat als de onafhankelijke variabelen meer dan 2 categorieën heeft?</vt:lpstr>
      <vt:lpstr>Hypotheses en onderzoeksmodel</vt:lpstr>
      <vt:lpstr>Gemiddeldes verschillen in steekproef?</vt:lpstr>
      <vt:lpstr>Betrouwbaarheidsintervallen</vt:lpstr>
      <vt:lpstr>Gemiddeldes verschillen in de populatie?</vt:lpstr>
      <vt:lpstr>Assumpties?</vt:lpstr>
      <vt:lpstr>Assumpties?</vt:lpstr>
      <vt:lpstr>Statististische significant   (F-test)</vt:lpstr>
      <vt:lpstr>ANOVA in R</vt:lpstr>
      <vt:lpstr>Effectgrootte?</vt:lpstr>
      <vt:lpstr>Eta2 in R</vt:lpstr>
      <vt:lpstr>Welke categorieën verschillen van elkaar?</vt:lpstr>
      <vt:lpstr>Welke categorieën verschillen van elkaar?</vt:lpstr>
      <vt:lpstr>ANOVA in de actualiteit?</vt:lpstr>
      <vt:lpstr>ANOVA in de actualiteit?</vt:lpstr>
      <vt:lpstr>ANOVA in de actualiteit?</vt:lpstr>
      <vt:lpstr>Kruistabel</vt:lpstr>
      <vt:lpstr>PowerPoint-presentatie</vt:lpstr>
      <vt:lpstr>‘Kruistabellenjargon’</vt:lpstr>
      <vt:lpstr>Kruistabellen lezen: kolompercentages</vt:lpstr>
      <vt:lpstr>Kruistabellen lezen: rijpercentages</vt:lpstr>
      <vt:lpstr>Kruistabellen lezen: totaalpercentages</vt:lpstr>
      <vt:lpstr>Kruistabellen in R     (OLP2 functies)</vt:lpstr>
      <vt:lpstr>Samenhang tussen ervaring en oplossen case?</vt:lpstr>
      <vt:lpstr>Associaties tussen 2 kwalitatieve variabelen opsporen</vt:lpstr>
      <vt:lpstr>Associaties tussen 2 kwalitatieve variabelen opsporen</vt:lpstr>
      <vt:lpstr>Statistische significantie? (Chi2-toets)</vt:lpstr>
      <vt:lpstr>Statistische (on)afhankelijkheid?</vt:lpstr>
      <vt:lpstr>Statistische (on)afhankelijkheid?</vt:lpstr>
      <vt:lpstr>Statistische (on)afhankelijkheid?</vt:lpstr>
      <vt:lpstr>Chi2-toets</vt:lpstr>
      <vt:lpstr>Chi2-toets in R (OLP2 functies)</vt:lpstr>
      <vt:lpstr>Effectgrootte?</vt:lpstr>
      <vt:lpstr>Verband visualiseren via associatieplot</vt:lpstr>
      <vt:lpstr>Kruistabellen samengevat…</vt:lpstr>
      <vt:lpstr>Huiswerk</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Sofie Vermeiren</cp:lastModifiedBy>
  <cp:revision>280</cp:revision>
  <cp:lastPrinted>2024-02-28T16:04:34Z</cp:lastPrinted>
  <dcterms:created xsi:type="dcterms:W3CDTF">2020-12-07T09:05:54Z</dcterms:created>
  <dcterms:modified xsi:type="dcterms:W3CDTF">2026-02-18T11:02:41Z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0x010100D33E4096B1224744B14B28F94E3FEB1B</vt:lpwstr>
  </property>
</Properties>
</file>