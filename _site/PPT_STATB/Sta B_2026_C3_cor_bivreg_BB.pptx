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4"/>
    <p:sldMasterId id="2147484114" r:id="rId5"/>
  </p:sldMasterIdLst>
  <p:notesMasterIdLst>
    <p:notesMasterId r:id="rId63"/>
  </p:notesMasterIdLst>
  <p:sldIdLst>
    <p:sldId id="257" r:id="rId6"/>
    <p:sldId id="268" r:id="rId7"/>
    <p:sldId id="331" r:id="rId8"/>
    <p:sldId id="369" r:id="rId9"/>
    <p:sldId id="339" r:id="rId10"/>
    <p:sldId id="273" r:id="rId11"/>
    <p:sldId id="341" r:id="rId12"/>
    <p:sldId id="385" r:id="rId13"/>
    <p:sldId id="370" r:id="rId14"/>
    <p:sldId id="347" r:id="rId15"/>
    <p:sldId id="386" r:id="rId16"/>
    <p:sldId id="371" r:id="rId17"/>
    <p:sldId id="424" r:id="rId18"/>
    <p:sldId id="432" r:id="rId19"/>
    <p:sldId id="423" r:id="rId20"/>
    <p:sldId id="425" r:id="rId21"/>
    <p:sldId id="426" r:id="rId22"/>
    <p:sldId id="375" r:id="rId23"/>
    <p:sldId id="427" r:id="rId24"/>
    <p:sldId id="376" r:id="rId25"/>
    <p:sldId id="431" r:id="rId26"/>
    <p:sldId id="379" r:id="rId27"/>
    <p:sldId id="382" r:id="rId28"/>
    <p:sldId id="383" r:id="rId29"/>
    <p:sldId id="422" r:id="rId30"/>
    <p:sldId id="291" r:id="rId31"/>
    <p:sldId id="384" r:id="rId32"/>
    <p:sldId id="387" r:id="rId33"/>
    <p:sldId id="388" r:id="rId34"/>
    <p:sldId id="389" r:id="rId35"/>
    <p:sldId id="391" r:id="rId36"/>
    <p:sldId id="392" r:id="rId37"/>
    <p:sldId id="394" r:id="rId38"/>
    <p:sldId id="396" r:id="rId39"/>
    <p:sldId id="433" r:id="rId40"/>
    <p:sldId id="400" r:id="rId41"/>
    <p:sldId id="401" r:id="rId42"/>
    <p:sldId id="403" r:id="rId43"/>
    <p:sldId id="404" r:id="rId44"/>
    <p:sldId id="428" r:id="rId45"/>
    <p:sldId id="430" r:id="rId46"/>
    <p:sldId id="406" r:id="rId47"/>
    <p:sldId id="407" r:id="rId48"/>
    <p:sldId id="408" r:id="rId49"/>
    <p:sldId id="409" r:id="rId50"/>
    <p:sldId id="417" r:id="rId51"/>
    <p:sldId id="411" r:id="rId52"/>
    <p:sldId id="415" r:id="rId53"/>
    <p:sldId id="413" r:id="rId54"/>
    <p:sldId id="414" r:id="rId55"/>
    <p:sldId id="416" r:id="rId56"/>
    <p:sldId id="418" r:id="rId57"/>
    <p:sldId id="419" r:id="rId58"/>
    <p:sldId id="420" r:id="rId59"/>
    <p:sldId id="324" r:id="rId60"/>
    <p:sldId id="329" r:id="rId61"/>
    <p:sldId id="325" r:id="rId62"/>
  </p:sldIdLst>
  <p:sldSz cx="12192000" cy="6858000"/>
  <p:notesSz cx="6805613" cy="9944100"/>
  <p:defaultTextStyle>
    <a:defPPr>
      <a:defRPr lang="nl-B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196">
          <p15:clr>
            <a:srgbClr val="A4A3A4"/>
          </p15:clr>
        </p15:guide>
        <p15:guide id="2" orient="horz" pos="3127">
          <p15:clr>
            <a:srgbClr val="A4A3A4"/>
          </p15:clr>
        </p15:guide>
        <p15:guide id="3" pos="197">
          <p15:clr>
            <a:srgbClr val="A4A3A4"/>
          </p15:clr>
        </p15:guide>
        <p15:guide id="4" pos="2144">
          <p15:clr>
            <a:srgbClr val="A4A3A4"/>
          </p15:clr>
        </p15:guide>
        <p15:guide id="5" pos="409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ne van Daal" initials="TvD" lastIdx="2" clrIdx="0">
    <p:extLst>
      <p:ext uri="{19B8F6BF-5375-455C-9EA6-DF929625EA0E}">
        <p15:presenceInfo xmlns:p15="http://schemas.microsoft.com/office/powerpoint/2012/main" userId="S::tvdaal@ad.ua.ac.be::ecf543c1-d1bd-4274-b68c-558406766bb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A77CF"/>
    <a:srgbClr val="1C00FF"/>
    <a:srgbClr val="983466"/>
    <a:srgbClr val="9A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Stijl, thema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Stijl, thema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8B1032C-EA38-4F05-BA0D-38AFFFC7BED3}" styleName="Stijl, licht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/>
    <p:restoredTop sz="93562" autoAdjust="0"/>
  </p:normalViewPr>
  <p:slideViewPr>
    <p:cSldViewPr snapToGrid="0" snapToObjects="1" showGuides="1">
      <p:cViewPr varScale="1">
        <p:scale>
          <a:sx n="119" d="100"/>
          <a:sy n="119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>
        <p:guide orient="horz" pos="196"/>
        <p:guide orient="horz" pos="3127"/>
        <p:guide pos="197"/>
        <p:guide pos="2144"/>
        <p:guide pos="40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commentAuthors" Target="commentAuthors.xml"/><Relationship Id="rId69" Type="http://schemas.microsoft.com/office/2016/11/relationships/changesInfo" Target="changesInfos/changesInfo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en De Maeyer" userId="a7710417-13f0-4fe1-865c-72edd2f5f89d" providerId="ADAL" clId="{3BD63810-B0EB-5A6E-8A65-25868AB27A41}"/>
    <pc:docChg chg="modSld sldOrd">
      <pc:chgData name="Sven De Maeyer" userId="a7710417-13f0-4fe1-865c-72edd2f5f89d" providerId="ADAL" clId="{3BD63810-B0EB-5A6E-8A65-25868AB27A41}" dt="2026-02-24T18:55:31.561" v="2" actId="20578"/>
      <pc:docMkLst>
        <pc:docMk/>
      </pc:docMkLst>
      <pc:sldChg chg="modSp mod">
        <pc:chgData name="Sven De Maeyer" userId="a7710417-13f0-4fe1-865c-72edd2f5f89d" providerId="ADAL" clId="{3BD63810-B0EB-5A6E-8A65-25868AB27A41}" dt="2026-02-24T18:52:07.591" v="0" actId="5793"/>
        <pc:sldMkLst>
          <pc:docMk/>
          <pc:sldMk cId="2872081675" sldId="369"/>
        </pc:sldMkLst>
        <pc:spChg chg="mod">
          <ac:chgData name="Sven De Maeyer" userId="a7710417-13f0-4fe1-865c-72edd2f5f89d" providerId="ADAL" clId="{3BD63810-B0EB-5A6E-8A65-25868AB27A41}" dt="2026-02-24T18:52:07.591" v="0" actId="5793"/>
          <ac:spMkLst>
            <pc:docMk/>
            <pc:sldMk cId="2872081675" sldId="369"/>
            <ac:spMk id="9" creationId="{FA6B388B-2AA1-5ECD-8BF6-0CBD19917EE4}"/>
          </ac:spMkLst>
        </pc:spChg>
      </pc:sldChg>
      <pc:sldChg chg="ord">
        <pc:chgData name="Sven De Maeyer" userId="a7710417-13f0-4fe1-865c-72edd2f5f89d" providerId="ADAL" clId="{3BD63810-B0EB-5A6E-8A65-25868AB27A41}" dt="2026-02-24T18:55:31.561" v="2" actId="20578"/>
        <pc:sldMkLst>
          <pc:docMk/>
          <pc:sldMk cId="1801191379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024AD-D02E-1148-9813-A0DDE1A9AA61}" type="datetimeFigureOut">
              <a:rPr lang="nl-BE" smtClean="0"/>
              <a:t>24/02/2026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03808-A6AE-8847-8EC6-9F383425AE8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6959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31214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73370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7345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76645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83473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18296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8086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82103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70575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86784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99959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43409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7149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85153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10599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68775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780469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 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938132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266433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454350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864676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6326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251809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937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00517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324352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462165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30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31895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128060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32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32660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33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376923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34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486992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35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209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36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257597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nl-BE" dirty="0">
              <a:sym typeface="Wingdings" panose="05000000000000000000" pitchFamily="2" charset="2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269799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38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826918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l-BE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39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55383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40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786616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41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492503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42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159249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43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898105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44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247691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45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359862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46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744429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47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065927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48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27221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49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697604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50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71266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51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801601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>
              <a:sym typeface="Wingdings" panose="05000000000000000000" pitchFamily="2" charset="2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52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676312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53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727226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54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97522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55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312814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56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10927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enkel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A766-FA6C-4E42-BAD1-58E378599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DCFB5-39F0-E04F-B592-B890194C0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1F0EA669-8677-CD4C-AD8D-C4852AC0E3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3887" y="1577009"/>
            <a:ext cx="10944226" cy="466027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274638" indent="-274638">
              <a:buClr>
                <a:schemeClr val="accent2"/>
              </a:buClr>
              <a:buSzPct val="75000"/>
              <a:buFont typeface="Wingdings" pitchFamily="2" charset="2"/>
              <a:buChar char="§"/>
              <a:tabLst/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SzPct val="75000"/>
              <a:buFont typeface="Wingdings" pitchFamily="2" charset="2"/>
              <a:buChar char="§"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r>
              <a:rPr lang="nl-NL" dirty="0"/>
              <a:t>Eerste niveau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8563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beeld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B9851-093E-A241-B582-F0998CFFF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041CBA9C-BD5E-424C-93BC-60164869E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4313" y="620713"/>
            <a:ext cx="5003800" cy="1385085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8" name="Tijdelijke aanduiding voor inhoud 19">
            <a:extLst>
              <a:ext uri="{FF2B5EF4-FFF2-40B4-BE49-F238E27FC236}">
                <a16:creationId xmlns:a16="http://schemas.microsoft.com/office/drawing/2014/main" id="{BE210D56-4E21-934F-8202-FD47D01F6AA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64313" y="2272145"/>
            <a:ext cx="5003800" cy="3965142"/>
          </a:xfr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9" name="Picture Placeholder 32">
            <a:extLst>
              <a:ext uri="{FF2B5EF4-FFF2-40B4-BE49-F238E27FC236}">
                <a16:creationId xmlns:a16="http://schemas.microsoft.com/office/drawing/2014/main" id="{971C9B50-FEE3-1047-A14B-9C8C2F5D606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914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beelden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B12DC5D2-C15B-384E-ACE3-F0E40CA5B4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9850" y="3790950"/>
            <a:ext cx="4679950" cy="728662"/>
          </a:xfrm>
        </p:spPr>
        <p:txBody>
          <a:bodyPr lIns="0" tIns="0" rIns="0" bIns="0">
            <a:noAutofit/>
          </a:bodyPr>
          <a:lstStyle>
            <a:lvl1pPr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Voornaam Naam</a:t>
            </a:r>
            <a:endParaRPr lang="nl-BE" dirty="0"/>
          </a:p>
        </p:txBody>
      </p:sp>
      <p:sp>
        <p:nvSpPr>
          <p:cNvPr id="6" name="Tijdelijke aanduiding voor dianummer 3">
            <a:extLst>
              <a:ext uri="{FF2B5EF4-FFF2-40B4-BE49-F238E27FC236}">
                <a16:creationId xmlns:a16="http://schemas.microsoft.com/office/drawing/2014/main" id="{00FD63E4-7A1F-3F45-BEA4-5214676296E8}"/>
              </a:ext>
            </a:extLst>
          </p:cNvPr>
          <p:cNvSpPr txBox="1">
            <a:spLocks/>
          </p:cNvSpPr>
          <p:nvPr userDrawn="1"/>
        </p:nvSpPr>
        <p:spPr>
          <a:xfrm>
            <a:off x="8923493" y="63391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2"/>
                </a:solidFill>
                <a:latin typeface="ITC Officina Sans Std Book" panose="020B0506040203020204" pitchFamily="34" charset="77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9pPr>
          </a:lstStyle>
          <a:p>
            <a:fld id="{E038E271-308C-2E46-A3EC-56326F9084CC}" type="slidenum">
              <a:rPr lang="nl-BE" b="0" i="0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‹nr.›</a:t>
            </a:fld>
            <a:endParaRPr lang="nl-BE" b="0" i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8C578B-3D4D-A146-A851-282B51A240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550988"/>
            <a:ext cx="5148263" cy="2009775"/>
          </a:xfrm>
        </p:spPr>
        <p:txBody>
          <a:bodyPr/>
          <a:lstStyle>
            <a:lvl1pPr>
              <a:buFontTx/>
              <a:buNone/>
              <a:defRPr sz="40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b="1" i="0">
                <a:latin typeface="ITC Officina Sans Std Book" panose="020B0506040203020204" pitchFamily="34" charset="77"/>
              </a:defRPr>
            </a:lvl2pPr>
            <a:lvl3pPr>
              <a:buFontTx/>
              <a:buNone/>
              <a:defRPr b="1" i="0">
                <a:latin typeface="ITC Officina Sans Std Book" panose="020B0506040203020204" pitchFamily="34" charset="77"/>
              </a:defRPr>
            </a:lvl3pPr>
            <a:lvl4pPr>
              <a:buFontTx/>
              <a:buNone/>
              <a:defRPr b="1" i="0">
                <a:latin typeface="ITC Officina Sans Std Book" panose="020B0506040203020204" pitchFamily="34" charset="77"/>
              </a:defRPr>
            </a:lvl4pPr>
            <a:lvl5pPr>
              <a:buFontTx/>
              <a:buNone/>
              <a:defRPr b="1" i="0"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GB" dirty="0"/>
              <a:t>Quote</a:t>
            </a:r>
            <a:endParaRPr lang="en-BE" dirty="0"/>
          </a:p>
        </p:txBody>
      </p:sp>
      <p:sp>
        <p:nvSpPr>
          <p:cNvPr id="8" name="Picture Placeholder 32">
            <a:extLst>
              <a:ext uri="{FF2B5EF4-FFF2-40B4-BE49-F238E27FC236}">
                <a16:creationId xmlns:a16="http://schemas.microsoft.com/office/drawing/2014/main" id="{EC1F9A97-4534-9843-B646-D059D7C6C13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5BB1C7-FC5A-B946-BB68-C1CE13FA7270}"/>
              </a:ext>
            </a:extLst>
          </p:cNvPr>
          <p:cNvSpPr txBox="1"/>
          <p:nvPr userDrawn="1"/>
        </p:nvSpPr>
        <p:spPr>
          <a:xfrm>
            <a:off x="7758545" y="193963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BE" sz="1600" b="0" i="0" dirty="0">
              <a:latin typeface="ITC Officina Sans Std Book" panose="020B0506040203020204" pitchFamily="34" charset="77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B9ECB3C9-12BB-DD49-AC9C-6DE65FEA7E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9850" y="620713"/>
            <a:ext cx="457550" cy="43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smalbeeld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C6F1C0-FB41-374F-96D7-91F7C4144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9356378E-A322-0148-887E-E179D9487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825" y="620713"/>
            <a:ext cx="7380287" cy="1524317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FF5D94AB-D4EB-5448-86E3-3EB6A7057B5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87825" y="2386148"/>
            <a:ext cx="7380287" cy="3851139"/>
          </a:xfrm>
        </p:spPr>
        <p:txBody>
          <a:bodyPr lIns="0" tIns="0" rIns="0" bIns="0"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Picture Placeholder 24">
            <a:extLst>
              <a:ext uri="{FF2B5EF4-FFF2-40B4-BE49-F238E27FC236}">
                <a16:creationId xmlns:a16="http://schemas.microsoft.com/office/drawing/2014/main" id="{68654313-1537-5142-95BA-4A8661FBC4E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2596742" cy="5616575"/>
          </a:xfrm>
          <a:custGeom>
            <a:avLst/>
            <a:gdLst>
              <a:gd name="connsiteX0" fmla="*/ 0 w 2596742"/>
              <a:gd name="connsiteY0" fmla="*/ 0 h 5616575"/>
              <a:gd name="connsiteX1" fmla="*/ 2596742 w 2596742"/>
              <a:gd name="connsiteY1" fmla="*/ 0 h 5616575"/>
              <a:gd name="connsiteX2" fmla="*/ 2596742 w 2596742"/>
              <a:gd name="connsiteY2" fmla="*/ 5616575 h 5616575"/>
              <a:gd name="connsiteX3" fmla="*/ 253304 w 2596742"/>
              <a:gd name="connsiteY3" fmla="*/ 5616575 h 5616575"/>
              <a:gd name="connsiteX4" fmla="*/ 202263 w 2596742"/>
              <a:gd name="connsiteY4" fmla="*/ 5611430 h 5616575"/>
              <a:gd name="connsiteX5" fmla="*/ 0 w 259674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742" h="5616575">
                <a:moveTo>
                  <a:pt x="0" y="0"/>
                </a:moveTo>
                <a:lnTo>
                  <a:pt x="2596742" y="0"/>
                </a:lnTo>
                <a:lnTo>
                  <a:pt x="259674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673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breedbeeld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888CD-A307-4440-9DD3-B7D11E6E0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83767035-9902-FC49-AC72-35DC514AC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3981389"/>
            <a:ext cx="10934529" cy="665480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A4040A68-34E6-9A48-9414-CDB50C7ED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3888" y="4857371"/>
            <a:ext cx="10934529" cy="1379915"/>
          </a:xfr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92B83-A16B-FC4F-BC12-7624D8F2371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10934529" cy="3150175"/>
          </a:xfrm>
          <a:custGeom>
            <a:avLst/>
            <a:gdLst>
              <a:gd name="connsiteX0" fmla="*/ 0 w 10934529"/>
              <a:gd name="connsiteY0" fmla="*/ 0 h 3150175"/>
              <a:gd name="connsiteX1" fmla="*/ 10934529 w 10934529"/>
              <a:gd name="connsiteY1" fmla="*/ 0 h 3150175"/>
              <a:gd name="connsiteX2" fmla="*/ 10934529 w 10934529"/>
              <a:gd name="connsiteY2" fmla="*/ 3150175 h 3150175"/>
              <a:gd name="connsiteX3" fmla="*/ 253304 w 10934529"/>
              <a:gd name="connsiteY3" fmla="*/ 3150175 h 3150175"/>
              <a:gd name="connsiteX4" fmla="*/ 202263 w 10934529"/>
              <a:gd name="connsiteY4" fmla="*/ 3145030 h 3150175"/>
              <a:gd name="connsiteX5" fmla="*/ 0 w 10934529"/>
              <a:gd name="connsiteY5" fmla="*/ 2896862 h 315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4529" h="3150175">
                <a:moveTo>
                  <a:pt x="0" y="0"/>
                </a:moveTo>
                <a:lnTo>
                  <a:pt x="10934529" y="0"/>
                </a:lnTo>
                <a:lnTo>
                  <a:pt x="10934529" y="3150175"/>
                </a:lnTo>
                <a:lnTo>
                  <a:pt x="253304" y="3150175"/>
                </a:lnTo>
                <a:lnTo>
                  <a:pt x="202263" y="3145030"/>
                </a:lnTo>
                <a:cubicBezTo>
                  <a:pt x="86832" y="3121409"/>
                  <a:pt x="0" y="3019276"/>
                  <a:pt x="0" y="28968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0649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beeld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3DA42F-3FB6-ED4E-BB67-A10574D20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inhoud 19">
            <a:extLst>
              <a:ext uri="{FF2B5EF4-FFF2-40B4-BE49-F238E27FC236}">
                <a16:creationId xmlns:a16="http://schemas.microsoft.com/office/drawing/2014/main" id="{C001DE70-4479-594D-A26D-6DB2E92A0AF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2724" y="4184248"/>
            <a:ext cx="3434216" cy="2050586"/>
          </a:xfrm>
        </p:spPr>
        <p:txBody>
          <a:bodyPr lIns="0" tIns="0" rIns="0" bIns="0"/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67FEAD4B-4784-944D-8A3A-6F8F05B2424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9572" y="4184248"/>
            <a:ext cx="3444601" cy="2053040"/>
          </a:xfrm>
        </p:spPr>
        <p:txBody>
          <a:bodyPr lIns="0" tIns="0" rIns="0" bIns="0"/>
          <a:lstStyle>
            <a:lvl1pPr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6" name="Tijdelijke aanduiding voor inhoud 19">
            <a:extLst>
              <a:ext uri="{FF2B5EF4-FFF2-40B4-BE49-F238E27FC236}">
                <a16:creationId xmlns:a16="http://schemas.microsoft.com/office/drawing/2014/main" id="{9200DA6C-1B4D-7949-8FFA-3FD5A35A03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25016" y="4184248"/>
            <a:ext cx="3422523" cy="2053040"/>
          </a:xfrm>
        </p:spPr>
        <p:txBody>
          <a:bodyPr lIns="0" tIns="0" rIns="0" bIns="0"/>
          <a:lstStyle>
            <a:lvl1pPr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AA798DC2-15C2-744D-A0DA-FBAD9971D4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67770" y="3547641"/>
            <a:ext cx="3457018" cy="522288"/>
          </a:xfrm>
        </p:spPr>
        <p:txBody>
          <a:bodyPr lIns="0" tIns="0" rIns="0" bIns="0">
            <a:normAutofit/>
          </a:bodyPr>
          <a:lstStyle>
            <a:lvl1pPr algn="l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45C6B10F-3A7A-0A4C-A932-1D4E1382BF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3711" y="3547641"/>
            <a:ext cx="3423828" cy="522288"/>
          </a:xfrm>
        </p:spPr>
        <p:txBody>
          <a:bodyPr lIns="0" tIns="0" rIns="0" bIns="0">
            <a:normAutofit/>
          </a:bodyPr>
          <a:lstStyle>
            <a:lvl1pPr algn="l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999ECC60-AB72-8647-A135-FB0CF98082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724" y="3547641"/>
            <a:ext cx="3435526" cy="522288"/>
          </a:xfrm>
        </p:spPr>
        <p:txBody>
          <a:bodyPr lIns="0" tIns="0" rIns="0" bIns="0">
            <a:normAutofit/>
          </a:bodyPr>
          <a:lstStyle>
            <a:lvl1pPr algn="l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9EEB3BC6-5818-4244-A78C-1A7B9F04BE5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2723" y="643266"/>
            <a:ext cx="3447151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816787A9-2DFD-A54D-B3D1-B9387B7C89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81068" y="643266"/>
            <a:ext cx="3447151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2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B04326B7-E91B-9740-A418-C88B2E74C60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28098" y="643266"/>
            <a:ext cx="3447151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2218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pictogra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inhoud 19">
            <a:extLst>
              <a:ext uri="{FF2B5EF4-FFF2-40B4-BE49-F238E27FC236}">
                <a16:creationId xmlns:a16="http://schemas.microsoft.com/office/drawing/2014/main" id="{CEE21860-5FC5-0A4C-BF9F-FA989D78CDF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466" y="4248036"/>
            <a:ext cx="3439464" cy="1989251"/>
          </a:xfrm>
        </p:spPr>
        <p:txBody>
          <a:bodyPr lIns="0" tIns="0" rIns="0" bIns="0"/>
          <a:lstStyle>
            <a:lvl1pPr algn="ctr"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9BF78AC3-F061-4145-A432-3FB7391D0F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14198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1600" b="1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6" name="Tijdelijke aanduiding voor afbeelding 33">
            <a:extLst>
              <a:ext uri="{FF2B5EF4-FFF2-40B4-BE49-F238E27FC236}">
                <a16:creationId xmlns:a16="http://schemas.microsoft.com/office/drawing/2014/main" id="{AAA97E2B-5188-B740-8501-2BF96B4796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53126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16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6410F448-44B9-E245-8CA2-3AC4F6FCD9F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05909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16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3725749"/>
            <a:ext cx="3440776" cy="522288"/>
          </a:xfrm>
        </p:spPr>
        <p:txBody>
          <a:bodyPr lIns="0" tIns="0" rIns="0" bIns="0">
            <a:normAutofit/>
          </a:bodyPr>
          <a:lstStyle>
            <a:lvl1pPr algn="ctr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0" name="Tijdelijke aanduiding voor inhoud 19">
            <a:extLst>
              <a:ext uri="{FF2B5EF4-FFF2-40B4-BE49-F238E27FC236}">
                <a16:creationId xmlns:a16="http://schemas.microsoft.com/office/drawing/2014/main" id="{BAE77478-3281-CE4C-A99F-3E6F4A49E17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23177" y="4248037"/>
            <a:ext cx="3439464" cy="1989251"/>
          </a:xfrm>
        </p:spPr>
        <p:txBody>
          <a:bodyPr lIns="0" tIns="0" rIns="0" bIns="0"/>
          <a:lstStyle>
            <a:lvl1pPr algn="ctr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2521" y="3725750"/>
            <a:ext cx="3440776" cy="522288"/>
          </a:xfrm>
        </p:spPr>
        <p:txBody>
          <a:bodyPr lIns="0" tIns="0" rIns="0" bIns="0">
            <a:normAutofit/>
          </a:bodyPr>
          <a:lstStyle>
            <a:lvl1pPr algn="ctr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2" name="Tijdelijke aanduiding voor inhoud 19">
            <a:extLst>
              <a:ext uri="{FF2B5EF4-FFF2-40B4-BE49-F238E27FC236}">
                <a16:creationId xmlns:a16="http://schemas.microsoft.com/office/drawing/2014/main" id="{050AED9D-9374-024A-95E7-51259149F7B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370394" y="4226560"/>
            <a:ext cx="3439464" cy="1989251"/>
          </a:xfrm>
        </p:spPr>
        <p:txBody>
          <a:bodyPr lIns="0" tIns="0" rIns="0" bIns="0"/>
          <a:lstStyle>
            <a:lvl1pPr algn="ctr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69738" y="3704273"/>
            <a:ext cx="3440776" cy="522288"/>
          </a:xfrm>
        </p:spPr>
        <p:txBody>
          <a:bodyPr lIns="0" tIns="0" rIns="0" bIns="0">
            <a:normAutofit/>
          </a:bodyPr>
          <a:lstStyle>
            <a:lvl1pPr algn="ctr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7923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6pictogra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A64A23-42F4-0341-A372-ED0B454B6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inhoud 19">
            <a:extLst>
              <a:ext uri="{FF2B5EF4-FFF2-40B4-BE49-F238E27FC236}">
                <a16:creationId xmlns:a16="http://schemas.microsoft.com/office/drawing/2014/main" id="{A56CA53A-2F47-F94E-BBC9-739AF3FD799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39266" y="2133247"/>
            <a:ext cx="2406350" cy="1404432"/>
          </a:xfrm>
        </p:spPr>
        <p:txBody>
          <a:bodyPr lIns="0" tIns="0" rIns="0" bIns="0"/>
          <a:lstStyle>
            <a:lvl1pPr algn="l"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19D3F277-1732-274A-BDAC-F3BB5EB7334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664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sz="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6" name="Tijdelijke aanduiding voor inhoud 19">
            <a:extLst>
              <a:ext uri="{FF2B5EF4-FFF2-40B4-BE49-F238E27FC236}">
                <a16:creationId xmlns:a16="http://schemas.microsoft.com/office/drawing/2014/main" id="{9D9A0FC3-0D38-0441-BB3C-75F8A95AF94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70977" y="2133247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C73DE83C-1825-BF4A-A473-AF62420F8C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0221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8" name="Tijdelijke aanduiding voor inhoud 19">
            <a:extLst>
              <a:ext uri="{FF2B5EF4-FFF2-40B4-BE49-F238E27FC236}">
                <a16:creationId xmlns:a16="http://schemas.microsoft.com/office/drawing/2014/main" id="{2045FFF3-F25B-614B-A526-AC100D6B9B0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815080" y="2133247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9" name="Tijdelijke aanduiding voor afbeelding 33">
            <a:extLst>
              <a:ext uri="{FF2B5EF4-FFF2-40B4-BE49-F238E27FC236}">
                <a16:creationId xmlns:a16="http://schemas.microsoft.com/office/drawing/2014/main" id="{64A41B62-3349-A641-9E85-33C3E278DD4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41330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88F6B30C-94E8-264F-86F5-31D0E47D724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058585" y="1411391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261850B4-D4F1-234A-9F22-195572228DA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802688" y="1411391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DCDD9BD6-DB58-C84C-BD3C-F9652F4D492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326874" y="1411391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14" name="Tijdelijke aanduiding voor inhoud 19">
            <a:extLst>
              <a:ext uri="{FF2B5EF4-FFF2-40B4-BE49-F238E27FC236}">
                <a16:creationId xmlns:a16="http://schemas.microsoft.com/office/drawing/2014/main" id="{0385125A-3379-2746-BD83-583F817C5CC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339266" y="4585989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5" name="Tijdelijke aanduiding voor afbeelding 33">
            <a:extLst>
              <a:ext uri="{FF2B5EF4-FFF2-40B4-BE49-F238E27FC236}">
                <a16:creationId xmlns:a16="http://schemas.microsoft.com/office/drawing/2014/main" id="{965879DE-F296-964E-A952-9184C5050EF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30664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16" name="Tijdelijke aanduiding voor inhoud 19">
            <a:extLst>
              <a:ext uri="{FF2B5EF4-FFF2-40B4-BE49-F238E27FC236}">
                <a16:creationId xmlns:a16="http://schemas.microsoft.com/office/drawing/2014/main" id="{2459C232-5B0E-134D-B9C4-9B40E0751E2B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5070977" y="4585989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7" name="Tijdelijke aanduiding voor afbeelding 33">
            <a:extLst>
              <a:ext uri="{FF2B5EF4-FFF2-40B4-BE49-F238E27FC236}">
                <a16:creationId xmlns:a16="http://schemas.microsoft.com/office/drawing/2014/main" id="{D15EA347-33D1-EE4E-9464-3CF0EAE3C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10221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18" name="Tijdelijke aanduiding voor inhoud 19">
            <a:extLst>
              <a:ext uri="{FF2B5EF4-FFF2-40B4-BE49-F238E27FC236}">
                <a16:creationId xmlns:a16="http://schemas.microsoft.com/office/drawing/2014/main" id="{FA64A415-5531-2B4D-907A-7C688388BF9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815080" y="4585989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9" name="Tijdelijke aanduiding voor afbeelding 33">
            <a:extLst>
              <a:ext uri="{FF2B5EF4-FFF2-40B4-BE49-F238E27FC236}">
                <a16:creationId xmlns:a16="http://schemas.microsoft.com/office/drawing/2014/main" id="{4EC1974C-2EB3-274B-A88C-617CC7414E5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41330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330314A6-BF29-EC42-BF75-622C5286D534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58585" y="3864133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D6D76FCC-D508-DD4F-BB82-48A5BCC5457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802688" y="3864133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125E4E80-E44F-EA4F-8054-6AB42A8470B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326874" y="3864133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</p:spTree>
    <p:extLst>
      <p:ext uri="{BB962C8B-B14F-4D97-AF65-F5344CB8AC3E}">
        <p14:creationId xmlns:p14="http://schemas.microsoft.com/office/powerpoint/2010/main" val="414916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06A4-C8C0-BA4F-A09B-9014BCE49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6E971-EE47-7745-ACA8-1DEF0415F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967EE9E6-2701-5E4F-A341-5478485FBD8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1578459"/>
            <a:ext cx="10944224" cy="4658829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als u een object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8275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grafiek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6014-7DB0-CF4A-88E9-463AB221A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5457A-9933-1149-9392-ABAF631B7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3AF460E3-37FD-6B4C-86A1-EEC95DD40B34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2760663"/>
            <a:ext cx="10944224" cy="347662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als u een object wilt toevoegen</a:t>
            </a:r>
            <a:endParaRPr lang="nl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507705-E8A5-0A44-A7D0-4ECFDD43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1690688"/>
            <a:ext cx="10936287" cy="885825"/>
          </a:xfrm>
        </p:spPr>
        <p:txBody>
          <a:bodyPr/>
          <a:lstStyle>
            <a:lvl1pPr>
              <a:defRPr b="0" i="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683614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UAntwerpen_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08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elroodvolvl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7ABBDCB5-5D2A-8947-AEB8-B06A6093E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2737623"/>
            <a:ext cx="10944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35C0A10-7AE5-B54C-981D-2DBA7B6F34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49850" y="1613587"/>
            <a:ext cx="1892300" cy="5334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BF08461-C600-4C47-803A-43BF0EAD9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4471987"/>
            <a:ext cx="10944225" cy="1062037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master </a:t>
            </a:r>
            <a:r>
              <a:rPr lang="en-GB" dirty="0" err="1"/>
              <a:t>ondertitel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238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elr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AABACC8-28A2-D34B-8A1E-5CF7BA9005CC}"/>
              </a:ext>
            </a:extLst>
          </p:cNvPr>
          <p:cNvSpPr/>
          <p:nvPr userDrawn="1"/>
        </p:nvSpPr>
        <p:spPr>
          <a:xfrm>
            <a:off x="623888" y="627478"/>
            <a:ext cx="10954551" cy="5618356"/>
          </a:xfrm>
          <a:custGeom>
            <a:avLst/>
            <a:gdLst>
              <a:gd name="connsiteX0" fmla="*/ 0 w 10296525"/>
              <a:gd name="connsiteY0" fmla="*/ 0 h 4968875"/>
              <a:gd name="connsiteX1" fmla="*/ 10296525 w 10296525"/>
              <a:gd name="connsiteY1" fmla="*/ 0 h 4968875"/>
              <a:gd name="connsiteX2" fmla="*/ 10296525 w 10296525"/>
              <a:gd name="connsiteY2" fmla="*/ 4968875 h 4968875"/>
              <a:gd name="connsiteX3" fmla="*/ 253304 w 10296525"/>
              <a:gd name="connsiteY3" fmla="*/ 4968875 h 4968875"/>
              <a:gd name="connsiteX4" fmla="*/ 202263 w 10296525"/>
              <a:gd name="connsiteY4" fmla="*/ 4963730 h 4968875"/>
              <a:gd name="connsiteX5" fmla="*/ 0 w 10296525"/>
              <a:gd name="connsiteY5" fmla="*/ 4715562 h 4968875"/>
              <a:gd name="connsiteX6" fmla="*/ 0 w 10296525"/>
              <a:gd name="connsiteY6" fmla="*/ 0 h 4968875"/>
              <a:gd name="connsiteX0" fmla="*/ 0 w 10629811"/>
              <a:gd name="connsiteY0" fmla="*/ 0 h 4968875"/>
              <a:gd name="connsiteX1" fmla="*/ 10629811 w 10629811"/>
              <a:gd name="connsiteY1" fmla="*/ 8546 h 4968875"/>
              <a:gd name="connsiteX2" fmla="*/ 10296525 w 10629811"/>
              <a:gd name="connsiteY2" fmla="*/ 4968875 h 4968875"/>
              <a:gd name="connsiteX3" fmla="*/ 253304 w 10629811"/>
              <a:gd name="connsiteY3" fmla="*/ 4968875 h 4968875"/>
              <a:gd name="connsiteX4" fmla="*/ 202263 w 10629811"/>
              <a:gd name="connsiteY4" fmla="*/ 4963730 h 4968875"/>
              <a:gd name="connsiteX5" fmla="*/ 0 w 10629811"/>
              <a:gd name="connsiteY5" fmla="*/ 4715562 h 4968875"/>
              <a:gd name="connsiteX6" fmla="*/ 0 w 10629811"/>
              <a:gd name="connsiteY6" fmla="*/ 0 h 4968875"/>
              <a:gd name="connsiteX0" fmla="*/ 0 w 10629811"/>
              <a:gd name="connsiteY0" fmla="*/ 0 h 4977421"/>
              <a:gd name="connsiteX1" fmla="*/ 10629811 w 10629811"/>
              <a:gd name="connsiteY1" fmla="*/ 8546 h 4977421"/>
              <a:gd name="connsiteX2" fmla="*/ 10629811 w 10629811"/>
              <a:gd name="connsiteY2" fmla="*/ 4977421 h 4977421"/>
              <a:gd name="connsiteX3" fmla="*/ 253304 w 10629811"/>
              <a:gd name="connsiteY3" fmla="*/ 4968875 h 4977421"/>
              <a:gd name="connsiteX4" fmla="*/ 202263 w 10629811"/>
              <a:gd name="connsiteY4" fmla="*/ 4963730 h 4977421"/>
              <a:gd name="connsiteX5" fmla="*/ 0 w 10629811"/>
              <a:gd name="connsiteY5" fmla="*/ 4715562 h 4977421"/>
              <a:gd name="connsiteX6" fmla="*/ 0 w 10629811"/>
              <a:gd name="connsiteY6" fmla="*/ 0 h 4977421"/>
              <a:gd name="connsiteX0" fmla="*/ 8545 w 10629811"/>
              <a:gd name="connsiteY0" fmla="*/ 0 h 5618356"/>
              <a:gd name="connsiteX1" fmla="*/ 10629811 w 10629811"/>
              <a:gd name="connsiteY1" fmla="*/ 649481 h 5618356"/>
              <a:gd name="connsiteX2" fmla="*/ 10629811 w 10629811"/>
              <a:gd name="connsiteY2" fmla="*/ 5618356 h 5618356"/>
              <a:gd name="connsiteX3" fmla="*/ 253304 w 10629811"/>
              <a:gd name="connsiteY3" fmla="*/ 5609810 h 5618356"/>
              <a:gd name="connsiteX4" fmla="*/ 202263 w 10629811"/>
              <a:gd name="connsiteY4" fmla="*/ 5604665 h 5618356"/>
              <a:gd name="connsiteX5" fmla="*/ 0 w 10629811"/>
              <a:gd name="connsiteY5" fmla="*/ 5356497 h 5618356"/>
              <a:gd name="connsiteX6" fmla="*/ 8545 w 10629811"/>
              <a:gd name="connsiteY6" fmla="*/ 0 h 5618356"/>
              <a:gd name="connsiteX0" fmla="*/ 8545 w 10946005"/>
              <a:gd name="connsiteY0" fmla="*/ 0 h 5618356"/>
              <a:gd name="connsiteX1" fmla="*/ 10946005 w 10946005"/>
              <a:gd name="connsiteY1" fmla="*/ 8546 h 5618356"/>
              <a:gd name="connsiteX2" fmla="*/ 10629811 w 10946005"/>
              <a:gd name="connsiteY2" fmla="*/ 5618356 h 5618356"/>
              <a:gd name="connsiteX3" fmla="*/ 253304 w 10946005"/>
              <a:gd name="connsiteY3" fmla="*/ 5609810 h 5618356"/>
              <a:gd name="connsiteX4" fmla="*/ 202263 w 10946005"/>
              <a:gd name="connsiteY4" fmla="*/ 5604665 h 5618356"/>
              <a:gd name="connsiteX5" fmla="*/ 0 w 10946005"/>
              <a:gd name="connsiteY5" fmla="*/ 5356497 h 5618356"/>
              <a:gd name="connsiteX6" fmla="*/ 8545 w 10946005"/>
              <a:gd name="connsiteY6" fmla="*/ 0 h 5618356"/>
              <a:gd name="connsiteX0" fmla="*/ 8545 w 10954551"/>
              <a:gd name="connsiteY0" fmla="*/ 0 h 5618356"/>
              <a:gd name="connsiteX1" fmla="*/ 10946005 w 10954551"/>
              <a:gd name="connsiteY1" fmla="*/ 8546 h 5618356"/>
              <a:gd name="connsiteX2" fmla="*/ 10954551 w 10954551"/>
              <a:gd name="connsiteY2" fmla="*/ 5618356 h 5618356"/>
              <a:gd name="connsiteX3" fmla="*/ 253304 w 10954551"/>
              <a:gd name="connsiteY3" fmla="*/ 5609810 h 5618356"/>
              <a:gd name="connsiteX4" fmla="*/ 202263 w 10954551"/>
              <a:gd name="connsiteY4" fmla="*/ 5604665 h 5618356"/>
              <a:gd name="connsiteX5" fmla="*/ 0 w 10954551"/>
              <a:gd name="connsiteY5" fmla="*/ 5356497 h 5618356"/>
              <a:gd name="connsiteX6" fmla="*/ 8545 w 10954551"/>
              <a:gd name="connsiteY6" fmla="*/ 0 h 56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54551" h="5618356">
                <a:moveTo>
                  <a:pt x="8545" y="0"/>
                </a:moveTo>
                <a:lnTo>
                  <a:pt x="10946005" y="8546"/>
                </a:lnTo>
                <a:cubicBezTo>
                  <a:pt x="10948854" y="1878483"/>
                  <a:pt x="10951702" y="3748419"/>
                  <a:pt x="10954551" y="5618356"/>
                </a:cubicBez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pic>
        <p:nvPicPr>
          <p:cNvPr id="4" name="Afbeelding 4">
            <a:extLst>
              <a:ext uri="{FF2B5EF4-FFF2-40B4-BE49-F238E27FC236}">
                <a16:creationId xmlns:a16="http://schemas.microsoft.com/office/drawing/2014/main" id="{3E52E258-A471-1A48-9273-7FE52ACD15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31D26ADD-50E0-864E-879F-AED5604BF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453" y="2318879"/>
            <a:ext cx="109639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nl-B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534ABFA-B94B-7346-9AA3-E2278EC84F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453" y="4071937"/>
            <a:ext cx="10963985" cy="1043343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master </a:t>
            </a:r>
            <a:r>
              <a:rPr lang="en-GB" dirty="0" err="1"/>
              <a:t>ondertitel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3788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me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C3132F7D-D063-1C4B-8D0F-49AC33221A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98203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99222-05DA-F24F-99F4-A098BCC40D8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pic>
        <p:nvPicPr>
          <p:cNvPr id="4" name="Afbeelding 4">
            <a:extLst>
              <a:ext uri="{FF2B5EF4-FFF2-40B4-BE49-F238E27FC236}">
                <a16:creationId xmlns:a16="http://schemas.microsoft.com/office/drawing/2014/main" id="{40E03AEB-DCFF-FA42-98DA-C3ACA4374F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90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en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3">
            <a:extLst>
              <a:ext uri="{FF2B5EF4-FFF2-40B4-BE49-F238E27FC236}">
                <a16:creationId xmlns:a16="http://schemas.microsoft.com/office/drawing/2014/main" id="{BF020726-1AA6-EE4D-9CD8-9B40673609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  <a:p>
            <a:endParaRPr lang="nl-BE" dirty="0"/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89753A3A-E019-254C-9677-C9C519017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8" y="3613790"/>
            <a:ext cx="376159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Voornaam Naam</a:t>
            </a:r>
            <a:endParaRPr lang="nl-BE" dirty="0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4D01101A-4B64-9146-92CB-AB7133B61F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8" y="1500371"/>
            <a:ext cx="3762375" cy="194595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Quote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92190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quote e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9DBE046-B8F3-D840-ABA8-37DDBE8E14F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29C33EA9-EAA8-554B-9770-EC4BF96CD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9" y="3613790"/>
            <a:ext cx="341573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Voornaam Naam</a:t>
            </a:r>
            <a:endParaRPr lang="nl-BE" dirty="0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A2A5195-C3FC-3548-A159-FD845F8D8A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9" y="1500371"/>
            <a:ext cx="3416443" cy="1945955"/>
          </a:xfrm>
          <a:prstGeom prst="rect">
            <a:avLst/>
          </a:prstGeom>
        </p:spPr>
        <p:txBody>
          <a:bodyPr/>
          <a:lstStyle>
            <a:lvl1pPr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Quote</a:t>
            </a:r>
            <a:endParaRPr lang="nl-BE" dirty="0"/>
          </a:p>
        </p:txBody>
      </p:sp>
      <p:pic>
        <p:nvPicPr>
          <p:cNvPr id="6" name="Afbeelding 4">
            <a:extLst>
              <a:ext uri="{FF2B5EF4-FFF2-40B4-BE49-F238E27FC236}">
                <a16:creationId xmlns:a16="http://schemas.microsoft.com/office/drawing/2014/main" id="{A0A6BFC5-0BDC-5046-9C6A-AAF1C2A72D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7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1948A336-DFA9-6348-B512-B2BBC75D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</a:t>
            </a:r>
            <a:endParaRPr lang="nl-BE" dirty="0"/>
          </a:p>
        </p:txBody>
      </p:sp>
      <p:sp>
        <p:nvSpPr>
          <p:cNvPr id="8" name="Tijdelijke aanduiding voor tekst 13">
            <a:extLst>
              <a:ext uri="{FF2B5EF4-FFF2-40B4-BE49-F238E27FC236}">
                <a16:creationId xmlns:a16="http://schemas.microsoft.com/office/drawing/2014/main" id="{FC89CC1E-5699-C54E-83AE-63F796F39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604479"/>
            <a:ext cx="10944226" cy="6210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r>
              <a:rPr lang="nl-NL" dirty="0"/>
              <a:t>Ondertitel</a:t>
            </a:r>
          </a:p>
        </p:txBody>
      </p:sp>
      <p:sp>
        <p:nvSpPr>
          <p:cNvPr id="9" name="Tijdelijke aanduiding voor dianummer 3">
            <a:extLst>
              <a:ext uri="{FF2B5EF4-FFF2-40B4-BE49-F238E27FC236}">
                <a16:creationId xmlns:a16="http://schemas.microsoft.com/office/drawing/2014/main" id="{ACEE07E0-D229-2548-A4C6-019956C34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3493" y="63391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" name="Afbeelding 4">
            <a:extLst>
              <a:ext uri="{FF2B5EF4-FFF2-40B4-BE49-F238E27FC236}">
                <a16:creationId xmlns:a16="http://schemas.microsoft.com/office/drawing/2014/main" id="{B2CABEA2-6FA0-0245-B24A-C92832AA0D0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1" r:id="rId8"/>
    <p:sldLayoutId id="2147484113" r:id="rId9"/>
    <p:sldLayoutId id="2147484112" r:id="rId10"/>
    <p:sldLayoutId id="2147484102" r:id="rId11"/>
  </p:sldLayoutIdLst>
  <p:hf hdr="0"/>
  <p:txStyles>
    <p:titleStyle>
      <a:lvl1pPr algn="l" defTabSz="1217054" rtl="0" eaLnBrk="1" fontAlgn="base" hangingPunct="1">
        <a:spcBef>
          <a:spcPct val="0"/>
        </a:spcBef>
        <a:spcAft>
          <a:spcPct val="0"/>
        </a:spcAft>
        <a:defRPr sz="3800" b="1" i="0" kern="1200">
          <a:solidFill>
            <a:srgbClr val="FF0000"/>
          </a:solidFill>
          <a:latin typeface="Calibri" panose="020F0502020204030204" pitchFamily="34" charset="0"/>
          <a:ea typeface="Verdana" charset="0"/>
          <a:cs typeface="Calibri" panose="020F0502020204030204" pitchFamily="34" charset="0"/>
        </a:defRPr>
      </a:lvl1pPr>
      <a:lvl2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+mn-lt"/>
          <a:ea typeface="Verdana" charset="0"/>
          <a:cs typeface="Calibri Light" panose="020F0302020204030204" pitchFamily="34" charset="0"/>
        </a:defRPr>
      </a:lvl1pPr>
      <a:lvl2pPr marL="740815" indent="-378875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733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2pPr>
      <a:lvl3pPr marL="1090057" indent="-378875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733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3pPr>
      <a:lvl4pPr marL="1454114" indent="-378875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4pPr>
      <a:lvl5pPr marL="1663658" indent="-22647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4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7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7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Relationship Id="rId9" Type="http://schemas.openxmlformats.org/officeDocument/2006/relationships/image" Target="../media/image3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tiff"/><Relationship Id="rId4" Type="http://schemas.microsoft.com/office/2007/relationships/hdphoto" Target="../media/hdphoto1.wdp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7654-B1F8-CB41-A11C-78EAAE0B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Statistiek B – contactmoment 3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9F27B-4FA1-1945-B3AE-2234EB3F59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47547" y="4471988"/>
            <a:ext cx="4120566" cy="1146760"/>
          </a:xfrm>
        </p:spPr>
        <p:txBody>
          <a:bodyPr/>
          <a:lstStyle/>
          <a:p>
            <a:pPr algn="l"/>
            <a:r>
              <a:rPr lang="nl-BE" i="1" dirty="0"/>
              <a:t>Correlaties</a:t>
            </a:r>
          </a:p>
          <a:p>
            <a:pPr algn="l"/>
            <a:r>
              <a:rPr lang="nl-BE" i="1" dirty="0" err="1"/>
              <a:t>Bivariate</a:t>
            </a:r>
            <a:r>
              <a:rPr lang="nl-BE" i="1" dirty="0"/>
              <a:t> regressieanalyse</a:t>
            </a:r>
          </a:p>
          <a:p>
            <a:pPr algn="l"/>
            <a:r>
              <a:rPr lang="nl-BE" dirty="0"/>
              <a:t>										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32380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69D7D5-11ED-B94F-B3FF-72321C7F8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</a:t>
            </a:fld>
            <a:endParaRPr lang="nl-BE" dirty="0"/>
          </a:p>
        </p:txBody>
      </p:sp>
      <p:pic>
        <p:nvPicPr>
          <p:cNvPr id="17" name="Tijdelijke aanduiding voor afbeelding 16">
            <a:extLst>
              <a:ext uri="{FF2B5EF4-FFF2-40B4-BE49-F238E27FC236}">
                <a16:creationId xmlns:a16="http://schemas.microsoft.com/office/drawing/2014/main" id="{8B125C63-E17C-4743-8DB7-1795A93F7971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/>
          <a:srcRect t="-29693" b="-29693"/>
          <a:stretch/>
        </p:blipFill>
        <p:spPr>
          <a:xfrm>
            <a:off x="9005909" y="1378339"/>
            <a:ext cx="1674000" cy="1672263"/>
          </a:xfrm>
          <a:prstGeom prst="roundRect">
            <a:avLst>
              <a:gd name="adj" fmla="val 50000"/>
            </a:avLst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3FF37A-7607-954E-B668-B3051AFFDF6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BE" dirty="0"/>
              <a:t>Te      ugblik</a:t>
            </a:r>
            <a:endParaRPr lang="en-B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58EBD4-6BC5-D844-98F0-F06FCADD0653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9090C32-1664-AD4C-90CB-B21340D4B1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nl-BE" dirty="0"/>
              <a:t>Bivariate regressieanalyse</a:t>
            </a:r>
            <a:endParaRPr lang="en-B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72CD1A8-D6A8-3C42-A93B-672CCFBA05C0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2DBBB3-1531-CD4F-90B1-1F37ABD2F58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nl-BE" dirty="0"/>
              <a:t>Correlaties</a:t>
            </a:r>
            <a:endParaRPr lang="en-BE" dirty="0"/>
          </a:p>
        </p:txBody>
      </p:sp>
      <p:pic>
        <p:nvPicPr>
          <p:cNvPr id="1026" name="Picture 2" descr="Afbeeldingsresultaat voor lineaire regressie">
            <a:extLst>
              <a:ext uri="{FF2B5EF4-FFF2-40B4-BE49-F238E27FC236}">
                <a16:creationId xmlns:a16="http://schemas.microsoft.com/office/drawing/2014/main" id="{4E07EFA0-DD24-404B-8C76-9FDA855BC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3777">
            <a:off x="7249399" y="-549269"/>
            <a:ext cx="260229" cy="13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AC1844-DEFE-ED4A-A4CE-2A0E3BE20D9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22" name="Tijdelijke aanduiding voor afbeelding 21">
            <a:extLst>
              <a:ext uri="{FF2B5EF4-FFF2-40B4-BE49-F238E27FC236}">
                <a16:creationId xmlns:a16="http://schemas.microsoft.com/office/drawing/2014/main" id="{2394DF99-89BB-5B44-A0D2-F4E4EB0CAED9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5"/>
          <a:srcRect t="-14549" b="-14549"/>
          <a:stretch/>
        </p:blipFill>
        <p:spPr>
          <a:xfrm>
            <a:off x="5253126" y="1378339"/>
            <a:ext cx="1674000" cy="1672263"/>
          </a:xfrm>
        </p:spPr>
      </p:pic>
      <p:pic>
        <p:nvPicPr>
          <p:cNvPr id="20482" name="Picture 2" descr="Afbeeldingsresultaat voor R">
            <a:extLst>
              <a:ext uri="{FF2B5EF4-FFF2-40B4-BE49-F238E27FC236}">
                <a16:creationId xmlns:a16="http://schemas.microsoft.com/office/drawing/2014/main" id="{83C2D785-B42D-A54C-8BF1-7CD9CB242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810" y="3761031"/>
            <a:ext cx="299404" cy="29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86DF13A8-96A9-EF4F-8A81-71161239939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7111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Te.   ugblik   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6" name="Picture 2" descr="Afbeeldingsresultaat voor R">
            <a:extLst>
              <a:ext uri="{FF2B5EF4-FFF2-40B4-BE49-F238E27FC236}">
                <a16:creationId xmlns:a16="http://schemas.microsoft.com/office/drawing/2014/main" id="{E9B265D6-B5C0-9345-BB62-156CF04BD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796" y="740040"/>
            <a:ext cx="426725" cy="42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11DEC5E2-1B67-7544-8CB3-B9EC71981182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985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A15BF-F1E6-4447-84CD-C00DEB935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Die verdomde p-waarde…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F2C3220-895D-6D49-B3DA-BA12B290D8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</a:t>
            </a:fld>
            <a:endParaRPr lang="nl-BE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FA6B388B-2AA1-5ECD-8BF6-0CBD1991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0" dirty="0"/>
              <a:t>p-waarde geeft ons informatie over de NULHYPOTHESE</a:t>
            </a:r>
          </a:p>
          <a:p>
            <a:r>
              <a:rPr lang="nl-BE" b="0" dirty="0"/>
              <a:t>Nulhypothese is </a:t>
            </a:r>
          </a:p>
          <a:p>
            <a:pPr marL="361940" lvl="1" indent="0">
              <a:buNone/>
            </a:pPr>
            <a:r>
              <a:rPr lang="nl-BE" i="1" dirty="0">
                <a:solidFill>
                  <a:srgbClr val="FF0000"/>
                </a:solidFill>
              </a:rPr>
              <a:t>“er is </a:t>
            </a:r>
            <a:r>
              <a:rPr lang="nl-BE" b="1" i="1" u="sng" dirty="0">
                <a:solidFill>
                  <a:srgbClr val="FF0000"/>
                </a:solidFill>
              </a:rPr>
              <a:t>GEEN</a:t>
            </a:r>
            <a:r>
              <a:rPr lang="nl-BE" i="1" u="sng" dirty="0">
                <a:solidFill>
                  <a:srgbClr val="FF0000"/>
                </a:solidFill>
              </a:rPr>
              <a:t> </a:t>
            </a:r>
            <a:r>
              <a:rPr lang="nl-BE" b="1" i="1" u="sng" dirty="0">
                <a:solidFill>
                  <a:srgbClr val="FF0000"/>
                </a:solidFill>
              </a:rPr>
              <a:t>verschil</a:t>
            </a:r>
            <a:r>
              <a:rPr lang="nl-BE" i="1" dirty="0">
                <a:solidFill>
                  <a:srgbClr val="FF0000"/>
                </a:solidFill>
              </a:rPr>
              <a:t> in gemiddelden tussen de groepen </a:t>
            </a:r>
            <a:r>
              <a:rPr lang="nl-BE" b="1" i="1" u="sng" dirty="0">
                <a:solidFill>
                  <a:srgbClr val="FF0000"/>
                </a:solidFill>
              </a:rPr>
              <a:t>in de populatie</a:t>
            </a:r>
            <a:r>
              <a:rPr lang="nl-BE" i="1" dirty="0">
                <a:solidFill>
                  <a:srgbClr val="FF0000"/>
                </a:solidFill>
              </a:rPr>
              <a:t>”</a:t>
            </a:r>
            <a:endParaRPr lang="nl-BE" b="0" dirty="0"/>
          </a:p>
          <a:p>
            <a:r>
              <a:rPr lang="nl-BE" b="0" dirty="0"/>
              <a:t>p-waarde = P(Vaststelling in steekproef | H0 waar is) </a:t>
            </a:r>
          </a:p>
          <a:p>
            <a:pPr marL="0" indent="0">
              <a:buNone/>
            </a:pPr>
            <a:r>
              <a:rPr lang="nl-BE" b="0" dirty="0"/>
              <a:t>of </a:t>
            </a:r>
          </a:p>
          <a:p>
            <a:r>
              <a:rPr lang="nl-BE" b="0" dirty="0"/>
              <a:t>p-waarde = P(Steekproefdata | H0 waar is)</a:t>
            </a:r>
          </a:p>
          <a:p>
            <a:endParaRPr lang="nl-BE" b="0" dirty="0"/>
          </a:p>
          <a:p>
            <a:r>
              <a:rPr lang="nl-BE" b="0" dirty="0"/>
              <a:t>bv. P(t-waarde|H0 waar is) = P(15.1 (df = 200)|H0 waar is) &lt;0.05</a:t>
            </a:r>
          </a:p>
        </p:txBody>
      </p:sp>
    </p:spTree>
    <p:extLst>
      <p:ext uri="{BB962C8B-B14F-4D97-AF65-F5344CB8AC3E}">
        <p14:creationId xmlns:p14="http://schemas.microsoft.com/office/powerpoint/2010/main" val="2872081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87020B-8C49-D44F-A7E1-67BFDF74E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Conclusies?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98B645B-B565-2C43-AA0F-9C5B7346A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</a:t>
            </a:fld>
            <a:endParaRPr lang="nl-BE" dirty="0"/>
          </a:p>
        </p:txBody>
      </p:sp>
      <p:sp>
        <p:nvSpPr>
          <p:cNvPr id="5" name="Rechthoek 7">
            <a:extLst>
              <a:ext uri="{FF2B5EF4-FFF2-40B4-BE49-F238E27FC236}">
                <a16:creationId xmlns:a16="http://schemas.microsoft.com/office/drawing/2014/main" id="{C071B7D5-9A67-0341-9F97-EAF960793D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887" y="2652723"/>
            <a:ext cx="10944226" cy="350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BE" sz="1200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&gt; leveneTest(Resultaat~Academiejaar, data = StatistiekB)</a:t>
            </a:r>
          </a:p>
          <a:p>
            <a:pPr marL="0" indent="0">
              <a:buNone/>
            </a:pPr>
            <a:r>
              <a:rPr lang="nl-BE" sz="1200" b="0" dirty="0">
                <a:latin typeface="Courier New" charset="0"/>
                <a:cs typeface="Courier New" charset="0"/>
              </a:rPr>
              <a:t>Levene's Test for Homogeneity of Variance (center = median)</a:t>
            </a:r>
          </a:p>
          <a:p>
            <a:pPr marL="0" indent="0">
              <a:buNone/>
            </a:pPr>
            <a:r>
              <a:rPr lang="nl-BE" sz="1200" b="0" dirty="0">
                <a:latin typeface="Courier New" charset="0"/>
                <a:cs typeface="Courier New" charset="0"/>
              </a:rPr>
              <a:t>       Df F value Pr(&gt;F)</a:t>
            </a:r>
          </a:p>
          <a:p>
            <a:pPr marL="0" indent="0">
              <a:buNone/>
            </a:pPr>
            <a:r>
              <a:rPr lang="nl-BE" sz="1200" b="0" dirty="0">
                <a:latin typeface="Courier New" charset="0"/>
                <a:cs typeface="Courier New" charset="0"/>
              </a:rPr>
              <a:t>group   4  0.5217 0.7199</a:t>
            </a:r>
          </a:p>
          <a:p>
            <a:pPr marL="0" indent="0">
              <a:buNone/>
            </a:pPr>
            <a:r>
              <a:rPr lang="nl-BE" sz="1200" b="0" dirty="0">
                <a:latin typeface="Courier New" charset="0"/>
                <a:cs typeface="Courier New" charset="0"/>
              </a:rPr>
              <a:t>      495                </a:t>
            </a:r>
          </a:p>
          <a:p>
            <a:pPr marL="0" indent="0">
              <a:buNone/>
            </a:pPr>
            <a:r>
              <a:rPr lang="nl-BE" sz="1200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&gt; Model_ANOVA &lt;- aov(Resultaat~Academiejaar, data = StatistiekB)</a:t>
            </a:r>
          </a:p>
          <a:p>
            <a:pPr marL="0" indent="0">
              <a:buNone/>
            </a:pPr>
            <a:r>
              <a:rPr lang="nl-BE" sz="1200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&gt; summary(Model_ANOVA)</a:t>
            </a:r>
          </a:p>
          <a:p>
            <a:pPr marL="0" indent="0">
              <a:buNone/>
            </a:pPr>
            <a:r>
              <a:rPr lang="nl-BE" sz="1200" b="0" dirty="0">
                <a:latin typeface="Courier New" charset="0"/>
                <a:cs typeface="Courier New" charset="0"/>
              </a:rPr>
              <a:t>              Df Sum Sq Mean Sq F value Pr(&gt;F)  </a:t>
            </a:r>
          </a:p>
          <a:p>
            <a:pPr marL="0" indent="0">
              <a:buNone/>
            </a:pPr>
            <a:r>
              <a:rPr lang="nl-BE" sz="1200" b="0" dirty="0">
                <a:latin typeface="Courier New" charset="0"/>
                <a:cs typeface="Courier New" charset="0"/>
              </a:rPr>
              <a:t>Academiejaar   4   36.9   9.217   2.696 0.0303 *</a:t>
            </a:r>
          </a:p>
          <a:p>
            <a:pPr marL="0" indent="0">
              <a:buNone/>
            </a:pPr>
            <a:r>
              <a:rPr lang="nl-BE" sz="1200" b="0" dirty="0">
                <a:latin typeface="Courier New" charset="0"/>
                <a:cs typeface="Courier New" charset="0"/>
              </a:rPr>
              <a:t>Residuals    495 1692.1   3.418                 </a:t>
            </a:r>
          </a:p>
          <a:p>
            <a:pPr marL="0" indent="0">
              <a:buNone/>
            </a:pPr>
            <a:r>
              <a:rPr lang="nl-BE" sz="1200" b="0" dirty="0">
                <a:latin typeface="Courier New" charset="0"/>
                <a:cs typeface="Courier New" charset="0"/>
              </a:rPr>
              <a:t>---</a:t>
            </a:r>
          </a:p>
          <a:p>
            <a:pPr marL="0" indent="0">
              <a:buNone/>
            </a:pPr>
            <a:r>
              <a:rPr lang="nl-BE" sz="1200" b="0" dirty="0">
                <a:latin typeface="Courier New" charset="0"/>
                <a:cs typeface="Courier New" charset="0"/>
              </a:rPr>
              <a:t>Signif. codes:  0 ‘***’ 0.001 ‘**’ 0.01 ‘*’ 0.05 ‘.’ 0.1 ‘ ’ 1</a:t>
            </a:r>
          </a:p>
          <a:p>
            <a:pPr marL="0" indent="0">
              <a:buNone/>
            </a:pPr>
            <a:r>
              <a:rPr lang="nl-BE" sz="1200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&gt; etasq(Model_ANOVA)</a:t>
            </a:r>
          </a:p>
          <a:p>
            <a:pPr marL="0" indent="0">
              <a:buNone/>
            </a:pPr>
            <a:r>
              <a:rPr lang="nl-BE" sz="1200" b="0" dirty="0">
                <a:latin typeface="Courier New" charset="0"/>
                <a:cs typeface="Courier New" charset="0"/>
              </a:rPr>
              <a:t>             Partial eta^2</a:t>
            </a:r>
          </a:p>
          <a:p>
            <a:pPr marL="0" indent="0">
              <a:buNone/>
            </a:pPr>
            <a:r>
              <a:rPr lang="nl-BE" sz="1200" b="0" dirty="0">
                <a:latin typeface="Courier New" charset="0"/>
                <a:cs typeface="Courier New" charset="0"/>
              </a:rPr>
              <a:t>Academiejaar    0.02132412</a:t>
            </a:r>
          </a:p>
          <a:p>
            <a:pPr marL="0" indent="0">
              <a:buNone/>
            </a:pPr>
            <a:r>
              <a:rPr lang="nl-BE" sz="1200" b="0" dirty="0">
                <a:latin typeface="Courier New" charset="0"/>
                <a:cs typeface="Courier New" charset="0"/>
              </a:rPr>
              <a:t>Residuals               NA</a:t>
            </a:r>
            <a:endParaRPr lang="nl-BE" sz="1100" b="0" dirty="0">
              <a:latin typeface="Courier New" charset="0"/>
              <a:cs typeface="Courier New" charset="0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A0E20F15-869E-D047-86A1-4E2FCB778B81}"/>
              </a:ext>
            </a:extLst>
          </p:cNvPr>
          <p:cNvSpPr/>
          <p:nvPr/>
        </p:nvSpPr>
        <p:spPr bwMode="auto">
          <a:xfrm>
            <a:off x="130243" y="1269632"/>
            <a:ext cx="11929236" cy="1144956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75CCCA83-7EAF-E641-8885-F42EB32DE4F1}"/>
              </a:ext>
            </a:extLst>
          </p:cNvPr>
          <p:cNvSpPr txBox="1"/>
          <p:nvPr/>
        </p:nvSpPr>
        <p:spPr>
          <a:xfrm>
            <a:off x="4200939" y="1210921"/>
            <a:ext cx="7871792" cy="1225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342900" indent="-342900">
              <a:buFontTx/>
              <a:buAutoNum type="alphaUcParenR"/>
            </a:pPr>
            <a:r>
              <a:rPr lang="nl-BE" sz="1500" i="1" dirty="0">
                <a:solidFill>
                  <a:schemeClr val="tx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Resultaat statistiek verschilt significant tussen academiejaren. Het gaat om een klein effect.</a:t>
            </a:r>
          </a:p>
          <a:p>
            <a:pPr marL="342900" indent="-342900">
              <a:buAutoNum type="alphaUcParenR"/>
            </a:pPr>
            <a:r>
              <a:rPr lang="nl-BE" sz="1500" i="1" dirty="0">
                <a:solidFill>
                  <a:schemeClr val="tx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De variantie in resultaten binnen academiejaren is significant anders</a:t>
            </a:r>
          </a:p>
          <a:p>
            <a:pPr marL="342900" indent="-342900">
              <a:buFontTx/>
              <a:buAutoNum type="alphaUcParenR"/>
            </a:pPr>
            <a:r>
              <a:rPr lang="nl-BE" sz="1500" i="1" dirty="0">
                <a:solidFill>
                  <a:schemeClr val="tx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Resultaat statistiek verschilt niet significant tussen academiejaren, maar er is wel een klein effect</a:t>
            </a:r>
            <a:r>
              <a:rPr lang="nl-BE" sz="1500" i="1" dirty="0">
                <a:solidFill>
                  <a:schemeClr val="accent6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C9EB58FC-A90E-F64C-98A0-EEE064F66216}"/>
              </a:ext>
            </a:extLst>
          </p:cNvPr>
          <p:cNvSpPr txBox="1"/>
          <p:nvPr/>
        </p:nvSpPr>
        <p:spPr>
          <a:xfrm>
            <a:off x="468422" y="1392941"/>
            <a:ext cx="2886075" cy="430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Welke conclusie is JUIST?</a:t>
            </a:r>
          </a:p>
        </p:txBody>
      </p:sp>
    </p:spTree>
    <p:extLst>
      <p:ext uri="{BB962C8B-B14F-4D97-AF65-F5344CB8AC3E}">
        <p14:creationId xmlns:p14="http://schemas.microsoft.com/office/powerpoint/2010/main" val="930669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Correlaties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9" name="Tijdelijke aanduiding voor afbeelding 8">
            <a:extLst>
              <a:ext uri="{FF2B5EF4-FFF2-40B4-BE49-F238E27FC236}">
                <a16:creationId xmlns:a16="http://schemas.microsoft.com/office/drawing/2014/main" id="{04BFA3DA-DFC8-E74A-BE29-3A9BE645EEE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t="-20528" b="-20528"/>
          <a:stretch/>
        </p:blipFill>
        <p:spPr>
          <a:xfrm>
            <a:off x="623889" y="620713"/>
            <a:ext cx="5145732" cy="5616575"/>
          </a:xfrm>
        </p:spPr>
      </p:pic>
    </p:spTree>
    <p:extLst>
      <p:ext uri="{BB962C8B-B14F-4D97-AF65-F5344CB8AC3E}">
        <p14:creationId xmlns:p14="http://schemas.microsoft.com/office/powerpoint/2010/main" val="1472862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A0FB61-251B-914A-9486-F8A70A48F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Tussen welke variabelen kan je een correlatie nagaan?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0238EEF-1323-F24A-A56D-C1A5CDB7A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7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4F1E21-319E-9546-AC97-01BAFCC56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19900"/>
            <a:ext cx="10944226" cy="4660279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16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1600" dirty="0">
                <a:solidFill>
                  <a:srgbClr val="1C00FF"/>
                </a:solidFill>
                <a:latin typeface="Courier New" charset="0"/>
                <a:cs typeface="Courier New" charset="0"/>
              </a:rPr>
              <a:t>str(StatistiekB)</a:t>
            </a:r>
            <a:endParaRPr lang="nl-BE" sz="160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'data.frame':	500 obs. of  7 variables: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StudentID   : chr  "student1" "student2" "student3" "student4" ...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Academiejaar: Ord.factor w/ 5 levels "1516"&lt;"1617"&lt;..: 1 1 1 1 1 1 1 1 1 1 ...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Videolessen : Ord.factor w/ 3 levels "0"&lt;"1"&lt;"2": 3 3 3 3 2 2 1 3 3 1 ...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Resultaat   : num  12 12 10 12 11 11 7 8 11 13 ...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Autonome_mot: num  72 70 53 67 53 51 37 54 NA 64 ...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Faalangst   : num  47 50 50 42 51 50 53 43 48 50 ...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Interesse   : num  54 62 NA NA 57 58 56 62 NA 65 ...</a:t>
            </a:r>
          </a:p>
          <a:p>
            <a:endParaRPr lang="nl-B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363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A0FB61-251B-914A-9486-F8A70A48F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Tussen welke variabelen kan je een correlatie nagaan?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0238EEF-1323-F24A-A56D-C1A5CDB7A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4F1E21-319E-9546-AC97-01BAFCC56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19900"/>
            <a:ext cx="10944226" cy="4660279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16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1600" dirty="0">
                <a:solidFill>
                  <a:srgbClr val="1C00FF"/>
                </a:solidFill>
                <a:latin typeface="Courier New" charset="0"/>
                <a:cs typeface="Courier New" charset="0"/>
              </a:rPr>
              <a:t>str(StatistiekB)</a:t>
            </a:r>
            <a:endParaRPr lang="nl-BE" sz="160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'data.frame':	500 obs. of  7 variables: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StudentID   : chr  "student1" "student2" "student3" "student4" ...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Academiejaar: Ord.factor w/ 5 levels "1516"&lt;"1617"&lt;..: 1 1 1 1 1 1 1 1 1 1 ...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Videolessen : Ord.factor w/ 3 levels "0"&lt;"1"&lt;"2": 3 3 3 3 2 2 1 3 3 1 ...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Resultaat   : num  12 12 10 12 11 11 7 8 11 13 ...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Autonome_mot: num  72 70 53 67 53 51 37 54 NA 64 ...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Faalangst   : num  47 50 50 42 51 50 53 43 48 50 ...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$ Interesse   : num  54 62 NA NA 57 58 56 62 NA 65 ...</a:t>
            </a:r>
          </a:p>
          <a:p>
            <a:endParaRPr lang="nl-B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Afgeronde rechthoek 5">
            <a:extLst>
              <a:ext uri="{FF2B5EF4-FFF2-40B4-BE49-F238E27FC236}">
                <a16:creationId xmlns:a16="http://schemas.microsoft.com/office/drawing/2014/main" id="{1F63C3F8-5E7D-8F46-B590-8CD68EB598CD}"/>
              </a:ext>
            </a:extLst>
          </p:cNvPr>
          <p:cNvSpPr/>
          <p:nvPr/>
        </p:nvSpPr>
        <p:spPr bwMode="auto">
          <a:xfrm>
            <a:off x="623887" y="3235569"/>
            <a:ext cx="2546252" cy="120446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0451B65-2E3E-994C-A567-9D74AC2604C6}"/>
              </a:ext>
            </a:extLst>
          </p:cNvPr>
          <p:cNvSpPr txBox="1"/>
          <p:nvPr/>
        </p:nvSpPr>
        <p:spPr>
          <a:xfrm>
            <a:off x="1111347" y="4951828"/>
            <a:ext cx="10832123" cy="1125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2800" b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-&gt; In welke mate hangen faalangst en autonome motivatie samen?</a:t>
            </a:r>
          </a:p>
          <a:p>
            <a:r>
              <a:rPr lang="nl-BE" sz="2800" b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-&gt; In welke mate hangen autonome motivatie en interesse samen?</a:t>
            </a:r>
          </a:p>
          <a:p>
            <a:pPr algn="l"/>
            <a:endParaRPr lang="nl-BE" sz="2800" b="1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5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00ADED-82C5-1747-844A-29C0DBC84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Visueel nagaan van een verband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59A7160-419B-6A4B-9D6E-02FA550F1E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422FDC0-A4D8-A542-BBC1-5C74DA53B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/>
            </a:pPr>
            <a:endParaRPr lang="nl-BE" dirty="0">
              <a:ea typeface="ＭＳ Ｐゴシック" charset="-128"/>
              <a:cs typeface="ＭＳ Ｐゴシック" pitchFamily="-111" charset="-128"/>
            </a:endParaRPr>
          </a:p>
          <a:p>
            <a:pPr>
              <a:defRPr/>
            </a:pPr>
            <a:endParaRPr lang="nl-BE" dirty="0">
              <a:ea typeface="ＭＳ Ｐゴシック" charset="-128"/>
              <a:cs typeface="ＭＳ Ｐゴシック" pitchFamily="-111" charset="-128"/>
            </a:endParaRPr>
          </a:p>
          <a:p>
            <a:pPr>
              <a:defRPr/>
            </a:pPr>
            <a:endParaRPr lang="nl-BE" dirty="0">
              <a:ea typeface="ＭＳ Ｐゴシック" charset="-128"/>
              <a:cs typeface="ＭＳ Ｐゴシック" pitchFamily="-111" charset="-128"/>
            </a:endParaRPr>
          </a:p>
          <a:p>
            <a:pPr>
              <a:defRPr/>
            </a:pPr>
            <a:endParaRPr lang="nl-BE" dirty="0">
              <a:ea typeface="ＭＳ Ｐゴシック" charset="-128"/>
              <a:cs typeface="ＭＳ Ｐゴシック" pitchFamily="-111" charset="-128"/>
            </a:endParaRPr>
          </a:p>
          <a:p>
            <a:pPr>
              <a:defRPr/>
            </a:pPr>
            <a:endParaRPr lang="nl-BE" dirty="0">
              <a:ea typeface="ＭＳ Ｐゴシック" charset="-128"/>
              <a:cs typeface="ＭＳ Ｐゴシック" pitchFamily="-111" charset="-128"/>
            </a:endParaRPr>
          </a:p>
          <a:p>
            <a:pPr>
              <a:defRPr/>
            </a:pPr>
            <a:endParaRPr lang="nl-BE" dirty="0">
              <a:ea typeface="ＭＳ Ｐゴシック" charset="-128"/>
              <a:cs typeface="ＭＳ Ｐゴシック" pitchFamily="-111" charset="-128"/>
            </a:endParaRPr>
          </a:p>
          <a:p>
            <a:pPr>
              <a:defRPr/>
            </a:pPr>
            <a:endParaRPr lang="nl-BE" sz="1400" dirty="0">
              <a:ea typeface="ＭＳ Ｐゴシック" charset="-128"/>
              <a:cs typeface="ＭＳ Ｐゴシック" pitchFamily="-111" charset="-128"/>
            </a:endParaRPr>
          </a:p>
          <a:p>
            <a:pPr>
              <a:spcBef>
                <a:spcPts val="0"/>
              </a:spcBef>
              <a:defRPr/>
            </a:pPr>
            <a:r>
              <a:rPr lang="nl-BE" dirty="0">
                <a:ea typeface="ＭＳ Ｐゴシック" charset="-128"/>
                <a:cs typeface="ＭＳ Ｐゴシック" pitchFamily="-111" charset="-128"/>
              </a:rPr>
              <a:t>Indien vermoeden causaliteit </a:t>
            </a:r>
            <a:r>
              <a:rPr lang="nl-BE" sz="1600" dirty="0">
                <a:ea typeface="ＭＳ Ｐゴシック" charset="-128"/>
                <a:cs typeface="ＭＳ Ｐゴシック" pitchFamily="-111" charset="-128"/>
              </a:rPr>
              <a:t>(ook al staat dat niet in de onderzoeksvraag zelf)</a:t>
            </a:r>
            <a:r>
              <a:rPr lang="nl-BE" sz="2400" dirty="0">
                <a:ea typeface="ＭＳ Ｐゴシック" charset="-128"/>
                <a:cs typeface="ＭＳ Ｐゴシック" pitchFamily="-111" charset="-128"/>
              </a:rPr>
              <a:t>:</a:t>
            </a:r>
            <a:endParaRPr lang="nl-BE" dirty="0">
              <a:ea typeface="ＭＳ Ｐゴシック" charset="-128"/>
              <a:cs typeface="ＭＳ Ｐゴシック" pitchFamily="-111" charset="-128"/>
            </a:endParaRP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nl-BE" i="1" dirty="0">
                <a:ea typeface="ＭＳ Ｐゴシック" charset="-128"/>
                <a:cs typeface="ＭＳ Ｐゴシック" pitchFamily="-111" charset="-128"/>
                <a:sym typeface="Wingdings" pitchFamily="2" charset="2"/>
              </a:rPr>
              <a:t>	</a:t>
            </a:r>
            <a:r>
              <a:rPr lang="nl-BE" sz="2400" b="0" dirty="0">
                <a:ea typeface="ＭＳ Ｐゴシック" charset="-128"/>
                <a:cs typeface="ＭＳ Ｐゴシック" pitchFamily="-111" charset="-128"/>
                <a:sym typeface="Wingdings" pitchFamily="2" charset="2"/>
              </a:rPr>
              <a:t> X-as: </a:t>
            </a:r>
            <a:r>
              <a:rPr lang="nl-BE" sz="2400" b="0" dirty="0">
                <a:ea typeface="ＭＳ Ｐゴシック" charset="-128"/>
                <a:cs typeface="ＭＳ Ｐゴシック" pitchFamily="-111" charset="-128"/>
              </a:rPr>
              <a:t>onafhankelijke variabele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nl-BE" sz="2400" b="0" dirty="0">
                <a:ea typeface="ＭＳ Ｐゴシック" charset="-128"/>
                <a:cs typeface="ＭＳ Ｐゴシック" pitchFamily="-111" charset="-128"/>
                <a:sym typeface="Wingdings" pitchFamily="2" charset="2"/>
              </a:rPr>
              <a:t>	 Y-as: </a:t>
            </a:r>
            <a:r>
              <a:rPr lang="nl-BE" sz="2400" b="0" dirty="0">
                <a:ea typeface="ＭＳ Ｐゴシック" charset="-128"/>
                <a:cs typeface="ＭＳ Ｐゴシック" pitchFamily="-111" charset="-128"/>
              </a:rPr>
              <a:t>afhankelijke variabele</a:t>
            </a:r>
            <a:endParaRPr lang="nl-BE" sz="2400" b="0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69C77CBA-F16A-4142-97AD-D333E36852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984"/>
          <a:stretch/>
        </p:blipFill>
        <p:spPr>
          <a:xfrm>
            <a:off x="2456700" y="1412507"/>
            <a:ext cx="7278599" cy="318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29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CD495D-3CFC-EA43-9324-D0FFDC4B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Richting en sterkte van een verband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E470E6A-432E-6042-BD80-71E6ED1A3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10</a:t>
            </a:fld>
            <a:endParaRPr lang="nl-BE" dirty="0"/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39C54AC3-7589-FE4E-B5E0-61B2EC4C7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763797"/>
              </p:ext>
            </p:extLst>
          </p:nvPr>
        </p:nvGraphicFramePr>
        <p:xfrm>
          <a:off x="759656" y="1463011"/>
          <a:ext cx="10072464" cy="477427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357488">
                  <a:extLst>
                    <a:ext uri="{9D8B030D-6E8A-4147-A177-3AD203B41FA5}">
                      <a16:colId xmlns:a16="http://schemas.microsoft.com/office/drawing/2014/main" val="976692534"/>
                    </a:ext>
                  </a:extLst>
                </a:gridCol>
                <a:gridCol w="3357488">
                  <a:extLst>
                    <a:ext uri="{9D8B030D-6E8A-4147-A177-3AD203B41FA5}">
                      <a16:colId xmlns:a16="http://schemas.microsoft.com/office/drawing/2014/main" val="2217107128"/>
                    </a:ext>
                  </a:extLst>
                </a:gridCol>
                <a:gridCol w="3357488">
                  <a:extLst>
                    <a:ext uri="{9D8B030D-6E8A-4147-A177-3AD203B41FA5}">
                      <a16:colId xmlns:a16="http://schemas.microsoft.com/office/drawing/2014/main" val="1970142878"/>
                    </a:ext>
                  </a:extLst>
                </a:gridCol>
              </a:tblGrid>
              <a:tr h="507902">
                <a:tc>
                  <a:txBody>
                    <a:bodyPr/>
                    <a:lstStyle/>
                    <a:p>
                      <a:endParaRPr lang="nl-BE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>
                          <a:solidFill>
                            <a:schemeClr val="tx1"/>
                          </a:solidFill>
                        </a:rPr>
                        <a:t>Positieve verbanden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>
                          <a:solidFill>
                            <a:schemeClr val="tx1"/>
                          </a:solidFill>
                        </a:rPr>
                        <a:t>Negatieve verbanden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963437"/>
                  </a:ext>
                </a:extLst>
              </a:tr>
              <a:tr h="2133187">
                <a:tc>
                  <a:txBody>
                    <a:bodyPr/>
                    <a:lstStyle/>
                    <a:p>
                      <a:pPr algn="r"/>
                      <a:r>
                        <a:rPr lang="nl-BE" b="1" dirty="0">
                          <a:solidFill>
                            <a:schemeClr val="tx1"/>
                          </a:solidFill>
                        </a:rPr>
                        <a:t>Volmaakte verbanden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nl-BE" dirty="0"/>
                    </a:p>
                    <a:p>
                      <a:pPr algn="ctr"/>
                      <a:endParaRPr lang="nl-BE" dirty="0"/>
                    </a:p>
                    <a:p>
                      <a:pPr algn="ctr"/>
                      <a:endParaRPr lang="nl-BE" dirty="0"/>
                    </a:p>
                    <a:p>
                      <a:pPr algn="ctr"/>
                      <a:endParaRPr lang="nl-BE" dirty="0"/>
                    </a:p>
                    <a:p>
                      <a:pPr algn="ctr"/>
                      <a:endParaRPr lang="nl-BE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nl-BE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91489"/>
                  </a:ext>
                </a:extLst>
              </a:tr>
              <a:tr h="2133187">
                <a:tc>
                  <a:txBody>
                    <a:bodyPr/>
                    <a:lstStyle/>
                    <a:p>
                      <a:pPr algn="r"/>
                      <a:r>
                        <a:rPr lang="nl-BE" b="1" dirty="0">
                          <a:solidFill>
                            <a:schemeClr val="tx1"/>
                          </a:solidFill>
                        </a:rPr>
                        <a:t>Onvolmaakte verbanden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nl-BE" dirty="0"/>
                    </a:p>
                    <a:p>
                      <a:pPr algn="ctr"/>
                      <a:endParaRPr lang="nl-BE" dirty="0"/>
                    </a:p>
                    <a:p>
                      <a:pPr algn="ctr"/>
                      <a:endParaRPr lang="nl-BE" dirty="0"/>
                    </a:p>
                    <a:p>
                      <a:pPr algn="ctr"/>
                      <a:endParaRPr lang="nl-BE" dirty="0"/>
                    </a:p>
                    <a:p>
                      <a:pPr algn="ctr"/>
                      <a:endParaRPr lang="nl-BE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nl-BE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107437"/>
                  </a:ext>
                </a:extLst>
              </a:tr>
            </a:tbl>
          </a:graphicData>
        </a:graphic>
      </p:graphicFrame>
      <p:pic>
        <p:nvPicPr>
          <p:cNvPr id="15" name="Afbeelding 14">
            <a:extLst>
              <a:ext uri="{FF2B5EF4-FFF2-40B4-BE49-F238E27FC236}">
                <a16:creationId xmlns:a16="http://schemas.microsoft.com/office/drawing/2014/main" id="{649E2BEE-1D40-2643-B898-0809245452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57" r="52710"/>
          <a:stretch/>
        </p:blipFill>
        <p:spPr bwMode="auto">
          <a:xfrm>
            <a:off x="4555844" y="2030828"/>
            <a:ext cx="2211564" cy="21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632615C-3018-5C4E-80AF-570CD439D9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20" t="18957"/>
          <a:stretch/>
        </p:blipFill>
        <p:spPr bwMode="auto">
          <a:xfrm>
            <a:off x="7891978" y="2030136"/>
            <a:ext cx="2408150" cy="2140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4D85B9D5-1B77-F54F-9D65-48CBE5426F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7940"/>
          <a:stretch/>
        </p:blipFill>
        <p:spPr bwMode="auto">
          <a:xfrm>
            <a:off x="7906046" y="4119945"/>
            <a:ext cx="2416314" cy="223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74A7C2EE-3C58-714C-BBB2-DB8FD018C8E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40" r="54237"/>
          <a:stretch/>
        </p:blipFill>
        <p:spPr bwMode="auto">
          <a:xfrm>
            <a:off x="4555844" y="4105877"/>
            <a:ext cx="2211564" cy="223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5014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2075D-01DB-5641-A1B9-A88661F2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Voorbeelden?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D09AFEE-7ACD-CF48-B371-C7350AC15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11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207432-7744-084A-90BA-C425098D9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altLang="nl-BE" dirty="0"/>
          </a:p>
          <a:p>
            <a:endParaRPr lang="nl-BE" altLang="nl-BE" dirty="0"/>
          </a:p>
          <a:p>
            <a:endParaRPr lang="nl-BE" altLang="nl-BE" dirty="0"/>
          </a:p>
          <a:p>
            <a:endParaRPr lang="nl-BE" altLang="nl-BE" dirty="0"/>
          </a:p>
          <a:p>
            <a:endParaRPr lang="nl-BE" altLang="nl-BE" dirty="0"/>
          </a:p>
          <a:p>
            <a:endParaRPr lang="nl-BE" altLang="nl-BE" dirty="0"/>
          </a:p>
          <a:p>
            <a:r>
              <a:rPr lang="nl-BE" altLang="nl-BE" dirty="0"/>
              <a:t>Sterkte? Richting? </a:t>
            </a:r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C2500A4-E815-3641-AB9C-2A07D80C9D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984"/>
          <a:stretch/>
        </p:blipFill>
        <p:spPr>
          <a:xfrm>
            <a:off x="2456700" y="1412507"/>
            <a:ext cx="7278599" cy="318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088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2075D-01DB-5641-A1B9-A88661F2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Voorbeelden?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D09AFEE-7ACD-CF48-B371-C7350AC15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207432-7744-084A-90BA-C425098D9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altLang="nl-BE" dirty="0"/>
          </a:p>
          <a:p>
            <a:endParaRPr lang="nl-BE" altLang="nl-BE" dirty="0"/>
          </a:p>
          <a:p>
            <a:endParaRPr lang="nl-BE" altLang="nl-BE" dirty="0"/>
          </a:p>
          <a:p>
            <a:endParaRPr lang="nl-BE" altLang="nl-BE" dirty="0"/>
          </a:p>
          <a:p>
            <a:endParaRPr lang="nl-BE" altLang="nl-BE" dirty="0"/>
          </a:p>
          <a:p>
            <a:endParaRPr lang="nl-BE" altLang="nl-BE" dirty="0"/>
          </a:p>
          <a:p>
            <a:r>
              <a:rPr lang="nl-BE" altLang="nl-BE" dirty="0"/>
              <a:t>Kengetallen voor zowel sterkte als richting:</a:t>
            </a:r>
          </a:p>
          <a:p>
            <a:pPr lvl="1"/>
            <a:r>
              <a:rPr lang="nl-BE" altLang="nl-BE" dirty="0"/>
              <a:t>Covariantie</a:t>
            </a:r>
          </a:p>
          <a:p>
            <a:pPr lvl="1"/>
            <a:r>
              <a:rPr lang="nl-BE" altLang="nl-BE" dirty="0"/>
              <a:t>Pearson correlatie</a:t>
            </a:r>
          </a:p>
          <a:p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A65603F-57CB-A440-B9D8-E2D0F93CB7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984"/>
          <a:stretch/>
        </p:blipFill>
        <p:spPr>
          <a:xfrm>
            <a:off x="2456700" y="1412507"/>
            <a:ext cx="7278599" cy="318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13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2A5C3E-6A91-674C-BC8B-B218693C6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Principe achter covariantie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B5CC5F2-473D-BB40-9614-8B402C252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13</a:t>
            </a:fld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A96DC-7080-6544-9F07-E999810ECB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5"/>
          <a:stretch/>
        </p:blipFill>
        <p:spPr bwMode="auto">
          <a:xfrm>
            <a:off x="5092504" y="1280850"/>
            <a:ext cx="6119447" cy="5541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5D760537-8E8C-E441-85BF-04D41DBA30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589" y="2912012"/>
          <a:ext cx="3587282" cy="1177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42710100" imgH="14046200" progId="Equation.3">
                  <p:embed/>
                </p:oleObj>
              </mc:Choice>
              <mc:Fallback>
                <p:oleObj name="Vergelijking" r:id="rId4" imgW="42710100" imgH="14046200" progId="Equation.3">
                  <p:embed/>
                  <p:pic>
                    <p:nvPicPr>
                      <p:cNvPr id="14" name="Object 2">
                        <a:extLst>
                          <a:ext uri="{FF2B5EF4-FFF2-40B4-BE49-F238E27FC236}">
                            <a16:creationId xmlns:a16="http://schemas.microsoft.com/office/drawing/2014/main" id="{5D760537-8E8C-E441-85BF-04D41DBA30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589" y="2912012"/>
                        <a:ext cx="3587282" cy="1177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kstvak 3">
            <a:extLst>
              <a:ext uri="{FF2B5EF4-FFF2-40B4-BE49-F238E27FC236}">
                <a16:creationId xmlns:a16="http://schemas.microsoft.com/office/drawing/2014/main" id="{5B546674-F475-0D39-788D-603DF0CA96C8}"/>
              </a:ext>
            </a:extLst>
          </p:cNvPr>
          <p:cNvSpPr txBox="1"/>
          <p:nvPr/>
        </p:nvSpPr>
        <p:spPr>
          <a:xfrm>
            <a:off x="7108723" y="1035044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b="1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Gemiddelde x = 0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D6297BB2-6EAB-CE0A-2F7C-AC1B2EFD202E}"/>
              </a:ext>
            </a:extLst>
          </p:cNvPr>
          <p:cNvSpPr txBox="1"/>
          <p:nvPr/>
        </p:nvSpPr>
        <p:spPr>
          <a:xfrm>
            <a:off x="9228292" y="4051562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b="1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Gemiddelde y = 0</a:t>
            </a:r>
          </a:p>
        </p:txBody>
      </p:sp>
    </p:spTree>
    <p:extLst>
      <p:ext uri="{BB962C8B-B14F-4D97-AF65-F5344CB8AC3E}">
        <p14:creationId xmlns:p14="http://schemas.microsoft.com/office/powerpoint/2010/main" val="4208227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2A5C3E-6A91-674C-BC8B-B218693C6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Principe achter covariantie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B5CC5F2-473D-BB40-9614-8B402C252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14</a:t>
            </a:fld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A96DC-7080-6544-9F07-E999810ECB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5"/>
          <a:stretch/>
        </p:blipFill>
        <p:spPr bwMode="auto">
          <a:xfrm>
            <a:off x="5092504" y="1280850"/>
            <a:ext cx="6119447" cy="5541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5D760537-8E8C-E441-85BF-04D41DBA30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589" y="2912012"/>
          <a:ext cx="3587282" cy="1177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42710100" imgH="14046200" progId="Equation.3">
                  <p:embed/>
                </p:oleObj>
              </mc:Choice>
              <mc:Fallback>
                <p:oleObj name="Vergelijking" r:id="rId4" imgW="42710100" imgH="14046200" progId="Equation.3">
                  <p:embed/>
                  <p:pic>
                    <p:nvPicPr>
                      <p:cNvPr id="14" name="Object 2">
                        <a:extLst>
                          <a:ext uri="{FF2B5EF4-FFF2-40B4-BE49-F238E27FC236}">
                            <a16:creationId xmlns:a16="http://schemas.microsoft.com/office/drawing/2014/main" id="{5D760537-8E8C-E441-85BF-04D41DBA30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589" y="2912012"/>
                        <a:ext cx="3587282" cy="1177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kstvak 3">
            <a:extLst>
              <a:ext uri="{FF2B5EF4-FFF2-40B4-BE49-F238E27FC236}">
                <a16:creationId xmlns:a16="http://schemas.microsoft.com/office/drawing/2014/main" id="{5B546674-F475-0D39-788D-603DF0CA96C8}"/>
              </a:ext>
            </a:extLst>
          </p:cNvPr>
          <p:cNvSpPr txBox="1"/>
          <p:nvPr/>
        </p:nvSpPr>
        <p:spPr>
          <a:xfrm>
            <a:off x="7108723" y="1035044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b="1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Gemiddelde x = 0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D6297BB2-6EAB-CE0A-2F7C-AC1B2EFD202E}"/>
              </a:ext>
            </a:extLst>
          </p:cNvPr>
          <p:cNvSpPr txBox="1"/>
          <p:nvPr/>
        </p:nvSpPr>
        <p:spPr>
          <a:xfrm>
            <a:off x="9228292" y="4051562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b="1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Gemiddelde y = 0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7932EF4C-173A-F77F-1F79-4FD0EF6ED85D}"/>
              </a:ext>
            </a:extLst>
          </p:cNvPr>
          <p:cNvSpPr txBox="1"/>
          <p:nvPr/>
        </p:nvSpPr>
        <p:spPr>
          <a:xfrm>
            <a:off x="1681318" y="2519015"/>
            <a:ext cx="2610466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nl-NL" b="1" i="1" dirty="0">
                <a:solidFill>
                  <a:srgbClr val="00B05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Som van kruisproducten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28082C8-E45E-14CB-F7B7-ED20A4877498}"/>
              </a:ext>
            </a:extLst>
          </p:cNvPr>
          <p:cNvSpPr/>
          <p:nvPr/>
        </p:nvSpPr>
        <p:spPr bwMode="auto">
          <a:xfrm>
            <a:off x="1809135" y="2912012"/>
            <a:ext cx="2212736" cy="784917"/>
          </a:xfrm>
          <a:prstGeom prst="rect">
            <a:avLst/>
          </a:prstGeom>
          <a:noFill/>
          <a:ln w="28575">
            <a:solidFill>
              <a:srgbClr val="92D050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NL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793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2A5C3E-6A91-674C-BC8B-B218693C6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Principe achter covariantie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B5CC5F2-473D-BB40-9614-8B402C252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15</a:t>
            </a:fld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A96DC-7080-6544-9F07-E999810ECB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5"/>
          <a:stretch/>
        </p:blipFill>
        <p:spPr bwMode="auto">
          <a:xfrm>
            <a:off x="5092504" y="1280850"/>
            <a:ext cx="6119447" cy="5541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5D760537-8E8C-E441-85BF-04D41DBA30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589" y="2912012"/>
          <a:ext cx="3587282" cy="1177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42710100" imgH="14046200" progId="Equation.3">
                  <p:embed/>
                </p:oleObj>
              </mc:Choice>
              <mc:Fallback>
                <p:oleObj name="Vergelijking" r:id="rId4" imgW="42710100" imgH="14046200" progId="Equation.3">
                  <p:embed/>
                  <p:pic>
                    <p:nvPicPr>
                      <p:cNvPr id="14" name="Object 2">
                        <a:extLst>
                          <a:ext uri="{FF2B5EF4-FFF2-40B4-BE49-F238E27FC236}">
                            <a16:creationId xmlns:a16="http://schemas.microsoft.com/office/drawing/2014/main" id="{5D760537-8E8C-E441-85BF-04D41DBA30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589" y="2912012"/>
                        <a:ext cx="3587282" cy="1177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7D46AF4F-443C-415E-A405-0B9DDA9CD7BE}"/>
              </a:ext>
            </a:extLst>
          </p:cNvPr>
          <p:cNvCxnSpPr>
            <a:cxnSpLocks/>
          </p:cNvCxnSpPr>
          <p:nvPr/>
        </p:nvCxnSpPr>
        <p:spPr>
          <a:xfrm flipH="1">
            <a:off x="8169443" y="5257800"/>
            <a:ext cx="6015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hthoek 17">
            <a:extLst>
              <a:ext uri="{FF2B5EF4-FFF2-40B4-BE49-F238E27FC236}">
                <a16:creationId xmlns:a16="http://schemas.microsoft.com/office/drawing/2014/main" id="{C13627F5-48AF-4967-8762-7606CDEB87D6}"/>
              </a:ext>
            </a:extLst>
          </p:cNvPr>
          <p:cNvSpPr/>
          <p:nvPr/>
        </p:nvSpPr>
        <p:spPr bwMode="auto">
          <a:xfrm>
            <a:off x="2213809" y="3043989"/>
            <a:ext cx="818147" cy="505327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62499AB5-BDC1-5525-A745-D3705C603BC8}"/>
              </a:ext>
            </a:extLst>
          </p:cNvPr>
          <p:cNvSpPr txBox="1"/>
          <p:nvPr/>
        </p:nvSpPr>
        <p:spPr>
          <a:xfrm>
            <a:off x="7108723" y="1035044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b="1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Gemiddelde x = 0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3590BB1C-8173-F203-DF37-C584891CB291}"/>
              </a:ext>
            </a:extLst>
          </p:cNvPr>
          <p:cNvSpPr txBox="1"/>
          <p:nvPr/>
        </p:nvSpPr>
        <p:spPr>
          <a:xfrm>
            <a:off x="9228292" y="4051562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b="1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Gemiddelde y = 0</a:t>
            </a:r>
          </a:p>
        </p:txBody>
      </p:sp>
    </p:spTree>
    <p:extLst>
      <p:ext uri="{BB962C8B-B14F-4D97-AF65-F5344CB8AC3E}">
        <p14:creationId xmlns:p14="http://schemas.microsoft.com/office/powerpoint/2010/main" val="3548820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2A5C3E-6A91-674C-BC8B-B218693C6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Principe achter covariantie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B5CC5F2-473D-BB40-9614-8B402C252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16</a:t>
            </a:fld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A96DC-7080-6544-9F07-E999810ECB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5"/>
          <a:stretch/>
        </p:blipFill>
        <p:spPr bwMode="auto">
          <a:xfrm>
            <a:off x="5092504" y="1280850"/>
            <a:ext cx="6119447" cy="5541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5D760537-8E8C-E441-85BF-04D41DBA30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589" y="2912012"/>
          <a:ext cx="3587282" cy="1177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42710100" imgH="14046200" progId="Equation.3">
                  <p:embed/>
                </p:oleObj>
              </mc:Choice>
              <mc:Fallback>
                <p:oleObj name="Vergelijking" r:id="rId4" imgW="42710100" imgH="14046200" progId="Equation.3">
                  <p:embed/>
                  <p:pic>
                    <p:nvPicPr>
                      <p:cNvPr id="14" name="Object 2">
                        <a:extLst>
                          <a:ext uri="{FF2B5EF4-FFF2-40B4-BE49-F238E27FC236}">
                            <a16:creationId xmlns:a16="http://schemas.microsoft.com/office/drawing/2014/main" id="{5D760537-8E8C-E441-85BF-04D41DBA30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589" y="2912012"/>
                        <a:ext cx="3587282" cy="1177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7D46AF4F-443C-415E-A405-0B9DDA9CD7BE}"/>
              </a:ext>
            </a:extLst>
          </p:cNvPr>
          <p:cNvCxnSpPr>
            <a:cxnSpLocks/>
          </p:cNvCxnSpPr>
          <p:nvPr/>
        </p:nvCxnSpPr>
        <p:spPr>
          <a:xfrm flipH="1">
            <a:off x="8169443" y="5257800"/>
            <a:ext cx="6015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hthoek 17">
            <a:extLst>
              <a:ext uri="{FF2B5EF4-FFF2-40B4-BE49-F238E27FC236}">
                <a16:creationId xmlns:a16="http://schemas.microsoft.com/office/drawing/2014/main" id="{C13627F5-48AF-4967-8762-7606CDEB87D6}"/>
              </a:ext>
            </a:extLst>
          </p:cNvPr>
          <p:cNvSpPr/>
          <p:nvPr/>
        </p:nvSpPr>
        <p:spPr bwMode="auto">
          <a:xfrm>
            <a:off x="2213809" y="3043989"/>
            <a:ext cx="818147" cy="505327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BC7E17FE-02DB-4D5A-9B39-8CA9B17BF84E}"/>
              </a:ext>
            </a:extLst>
          </p:cNvPr>
          <p:cNvSpPr/>
          <p:nvPr/>
        </p:nvSpPr>
        <p:spPr bwMode="auto">
          <a:xfrm>
            <a:off x="3076070" y="3039978"/>
            <a:ext cx="818147" cy="505327"/>
          </a:xfrm>
          <a:prstGeom prst="rect">
            <a:avLst/>
          </a:prstGeom>
          <a:noFill/>
          <a:ln>
            <a:solidFill>
              <a:schemeClr val="accent1">
                <a:lumMod val="50000"/>
                <a:lumOff val="50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36FEE4CF-7AE0-46F9-AF22-9DEDE96240F7}"/>
              </a:ext>
            </a:extLst>
          </p:cNvPr>
          <p:cNvCxnSpPr>
            <a:cxnSpLocks/>
          </p:cNvCxnSpPr>
          <p:nvPr/>
        </p:nvCxnSpPr>
        <p:spPr>
          <a:xfrm flipV="1">
            <a:off x="8795085" y="4017734"/>
            <a:ext cx="0" cy="1224000"/>
          </a:xfrm>
          <a:prstGeom prst="straightConnector1">
            <a:avLst/>
          </a:prstGeom>
          <a:ln>
            <a:solidFill>
              <a:schemeClr val="accent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kstvak 3">
            <a:extLst>
              <a:ext uri="{FF2B5EF4-FFF2-40B4-BE49-F238E27FC236}">
                <a16:creationId xmlns:a16="http://schemas.microsoft.com/office/drawing/2014/main" id="{8ADA04CF-DBAC-915C-8CD1-3AC479AE37EB}"/>
              </a:ext>
            </a:extLst>
          </p:cNvPr>
          <p:cNvSpPr txBox="1"/>
          <p:nvPr/>
        </p:nvSpPr>
        <p:spPr>
          <a:xfrm>
            <a:off x="7108723" y="1035044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b="1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Gemiddelde x = 0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A84ED304-493B-9CDC-4587-49746566E223}"/>
              </a:ext>
            </a:extLst>
          </p:cNvPr>
          <p:cNvSpPr txBox="1"/>
          <p:nvPr/>
        </p:nvSpPr>
        <p:spPr>
          <a:xfrm>
            <a:off x="9228292" y="4051562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b="1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Gemiddelde y = 0</a:t>
            </a:r>
          </a:p>
        </p:txBody>
      </p:sp>
    </p:spTree>
    <p:extLst>
      <p:ext uri="{BB962C8B-B14F-4D97-AF65-F5344CB8AC3E}">
        <p14:creationId xmlns:p14="http://schemas.microsoft.com/office/powerpoint/2010/main" val="3647362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2A5C3E-6A91-674C-BC8B-B218693C6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Principe achter covariantie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B5CC5F2-473D-BB40-9614-8B402C252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17</a:t>
            </a:fld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A96DC-7080-6544-9F07-E999810ECB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5"/>
          <a:stretch/>
        </p:blipFill>
        <p:spPr bwMode="auto">
          <a:xfrm>
            <a:off x="5092504" y="1280850"/>
            <a:ext cx="6119447" cy="5541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5D760537-8E8C-E441-85BF-04D41DBA30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589" y="2912012"/>
          <a:ext cx="3587282" cy="1177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42710100" imgH="14046200" progId="Equation.3">
                  <p:embed/>
                </p:oleObj>
              </mc:Choice>
              <mc:Fallback>
                <p:oleObj name="Vergelijking" r:id="rId4" imgW="42710100" imgH="14046200" progId="Equation.3">
                  <p:embed/>
                  <p:pic>
                    <p:nvPicPr>
                      <p:cNvPr id="14" name="Object 2">
                        <a:extLst>
                          <a:ext uri="{FF2B5EF4-FFF2-40B4-BE49-F238E27FC236}">
                            <a16:creationId xmlns:a16="http://schemas.microsoft.com/office/drawing/2014/main" id="{5D760537-8E8C-E441-85BF-04D41DBA30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589" y="2912012"/>
                        <a:ext cx="3587282" cy="1177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7D46AF4F-443C-415E-A405-0B9DDA9CD7BE}"/>
              </a:ext>
            </a:extLst>
          </p:cNvPr>
          <p:cNvCxnSpPr>
            <a:cxnSpLocks/>
          </p:cNvCxnSpPr>
          <p:nvPr/>
        </p:nvCxnSpPr>
        <p:spPr>
          <a:xfrm flipH="1">
            <a:off x="8169443" y="4644190"/>
            <a:ext cx="54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hthoek 17">
            <a:extLst>
              <a:ext uri="{FF2B5EF4-FFF2-40B4-BE49-F238E27FC236}">
                <a16:creationId xmlns:a16="http://schemas.microsoft.com/office/drawing/2014/main" id="{C13627F5-48AF-4967-8762-7606CDEB87D6}"/>
              </a:ext>
            </a:extLst>
          </p:cNvPr>
          <p:cNvSpPr/>
          <p:nvPr/>
        </p:nvSpPr>
        <p:spPr bwMode="auto">
          <a:xfrm>
            <a:off x="2213809" y="3043989"/>
            <a:ext cx="818147" cy="505327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BC7E17FE-02DB-4D5A-9B39-8CA9B17BF84E}"/>
              </a:ext>
            </a:extLst>
          </p:cNvPr>
          <p:cNvSpPr/>
          <p:nvPr/>
        </p:nvSpPr>
        <p:spPr bwMode="auto">
          <a:xfrm>
            <a:off x="3076070" y="3039978"/>
            <a:ext cx="818147" cy="505327"/>
          </a:xfrm>
          <a:prstGeom prst="rect">
            <a:avLst/>
          </a:prstGeom>
          <a:noFill/>
          <a:ln>
            <a:solidFill>
              <a:schemeClr val="accent1">
                <a:lumMod val="50000"/>
                <a:lumOff val="50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36FEE4CF-7AE0-46F9-AF22-9DEDE96240F7}"/>
              </a:ext>
            </a:extLst>
          </p:cNvPr>
          <p:cNvCxnSpPr>
            <a:cxnSpLocks/>
          </p:cNvCxnSpPr>
          <p:nvPr/>
        </p:nvCxnSpPr>
        <p:spPr>
          <a:xfrm flipV="1">
            <a:off x="8722893" y="4017734"/>
            <a:ext cx="0" cy="612000"/>
          </a:xfrm>
          <a:prstGeom prst="straightConnector1">
            <a:avLst/>
          </a:prstGeom>
          <a:ln>
            <a:solidFill>
              <a:schemeClr val="accent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2D38CCEE-F645-4F91-B667-15170225F4C0}"/>
              </a:ext>
            </a:extLst>
          </p:cNvPr>
          <p:cNvCxnSpPr>
            <a:cxnSpLocks/>
          </p:cNvCxnSpPr>
          <p:nvPr/>
        </p:nvCxnSpPr>
        <p:spPr>
          <a:xfrm flipH="1">
            <a:off x="8169443" y="5257800"/>
            <a:ext cx="6015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2BAAE477-F35D-48D4-95CC-B6C95061D9EA}"/>
              </a:ext>
            </a:extLst>
          </p:cNvPr>
          <p:cNvCxnSpPr>
            <a:cxnSpLocks/>
          </p:cNvCxnSpPr>
          <p:nvPr/>
        </p:nvCxnSpPr>
        <p:spPr>
          <a:xfrm flipV="1">
            <a:off x="8795085" y="4017734"/>
            <a:ext cx="0" cy="1224000"/>
          </a:xfrm>
          <a:prstGeom prst="straightConnector1">
            <a:avLst/>
          </a:prstGeom>
          <a:ln>
            <a:solidFill>
              <a:schemeClr val="accent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kstvak 3">
            <a:extLst>
              <a:ext uri="{FF2B5EF4-FFF2-40B4-BE49-F238E27FC236}">
                <a16:creationId xmlns:a16="http://schemas.microsoft.com/office/drawing/2014/main" id="{CE8A4264-3B4D-1C6B-33E5-023D893F0AAD}"/>
              </a:ext>
            </a:extLst>
          </p:cNvPr>
          <p:cNvSpPr txBox="1"/>
          <p:nvPr/>
        </p:nvSpPr>
        <p:spPr>
          <a:xfrm>
            <a:off x="7108723" y="1035044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b="1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Gemiddelde x = 0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CBEBD3EF-1652-B81A-FD8B-AAF26C72EF2A}"/>
              </a:ext>
            </a:extLst>
          </p:cNvPr>
          <p:cNvSpPr txBox="1"/>
          <p:nvPr/>
        </p:nvSpPr>
        <p:spPr>
          <a:xfrm>
            <a:off x="9228292" y="4051562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b="1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Gemiddelde y = 0</a:t>
            </a:r>
          </a:p>
        </p:txBody>
      </p:sp>
    </p:spTree>
    <p:extLst>
      <p:ext uri="{BB962C8B-B14F-4D97-AF65-F5344CB8AC3E}">
        <p14:creationId xmlns:p14="http://schemas.microsoft.com/office/powerpoint/2010/main" val="2445215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F12EBA-883D-3F4B-AEBD-64E449852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Interpretatie van covariantie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E03C72B-29CD-E544-BD40-364BA78E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nl-BE" altLang="nl-BE" dirty="0"/>
              <a:t>Richting?</a:t>
            </a:r>
          </a:p>
          <a:p>
            <a:pPr lvl="1">
              <a:lnSpc>
                <a:spcPct val="80000"/>
              </a:lnSpc>
            </a:pPr>
            <a:r>
              <a:rPr lang="nl-BE" altLang="nl-BE" u="sng" dirty="0"/>
              <a:t>Positieve covariantie </a:t>
            </a:r>
            <a:r>
              <a:rPr lang="nl-BE" altLang="nl-BE" dirty="0"/>
              <a:t>: </a:t>
            </a:r>
            <a:r>
              <a:rPr lang="nl-BE" altLang="nl-BE" b="0" dirty="0"/>
              <a:t>Hoe groter X, hoe groter Y en vice versa</a:t>
            </a:r>
            <a:endParaRPr lang="nl-BE" altLang="nl-BE" dirty="0"/>
          </a:p>
          <a:p>
            <a:pPr lvl="1">
              <a:lnSpc>
                <a:spcPct val="80000"/>
              </a:lnSpc>
            </a:pPr>
            <a:r>
              <a:rPr lang="nl-BE" altLang="nl-BE" u="sng" dirty="0"/>
              <a:t>Negatieve covariantie </a:t>
            </a:r>
            <a:r>
              <a:rPr lang="nl-BE" altLang="nl-BE" dirty="0"/>
              <a:t>: </a:t>
            </a:r>
            <a:r>
              <a:rPr lang="nl-BE" altLang="nl-BE" b="0" dirty="0"/>
              <a:t>Hoe kleiner X, hoe groter Y en vice versa</a:t>
            </a:r>
            <a:endParaRPr lang="nl-BE" altLang="nl-BE" dirty="0"/>
          </a:p>
          <a:p>
            <a:pPr lvl="1">
              <a:lnSpc>
                <a:spcPct val="80000"/>
              </a:lnSpc>
            </a:pPr>
            <a:r>
              <a:rPr lang="nl-BE" altLang="nl-BE" u="sng" dirty="0"/>
              <a:t>Covariantie ± 0 </a:t>
            </a:r>
            <a:r>
              <a:rPr lang="nl-BE" altLang="nl-BE" dirty="0"/>
              <a:t>: </a:t>
            </a:r>
            <a:r>
              <a:rPr lang="nl-BE" altLang="nl-BE" b="0" dirty="0"/>
              <a:t>Afwezigheid van een verband</a:t>
            </a:r>
          </a:p>
          <a:p>
            <a:pPr>
              <a:lnSpc>
                <a:spcPct val="80000"/>
              </a:lnSpc>
            </a:pPr>
            <a:endParaRPr lang="nl-BE" b="0" dirty="0"/>
          </a:p>
          <a:p>
            <a:pPr>
              <a:lnSpc>
                <a:spcPct val="80000"/>
              </a:lnSpc>
            </a:pPr>
            <a:endParaRPr lang="nl-BE" b="0" dirty="0"/>
          </a:p>
          <a:p>
            <a:pPr>
              <a:lnSpc>
                <a:spcPct val="80000"/>
              </a:lnSpc>
            </a:pPr>
            <a:r>
              <a:rPr lang="nl-BE" dirty="0"/>
              <a:t>Sterkte?</a:t>
            </a:r>
          </a:p>
          <a:p>
            <a:pPr lvl="1">
              <a:lnSpc>
                <a:spcPct val="80000"/>
              </a:lnSpc>
            </a:pPr>
            <a:r>
              <a:rPr lang="nl-BE" b="0" dirty="0"/>
              <a:t>Afhankelijk van aantal waarnemingen (steekproef)? </a:t>
            </a:r>
          </a:p>
          <a:p>
            <a:pPr lvl="1">
              <a:lnSpc>
                <a:spcPct val="80000"/>
              </a:lnSpc>
            </a:pPr>
            <a:r>
              <a:rPr lang="nl-BE" dirty="0"/>
              <a:t>Afhankelijk van schaal x en y?</a:t>
            </a:r>
            <a:endParaRPr lang="nl-BE" b="0" dirty="0"/>
          </a:p>
          <a:p>
            <a:pPr>
              <a:lnSpc>
                <a:spcPct val="80000"/>
              </a:lnSpc>
            </a:pPr>
            <a:endParaRPr lang="nl-BE" b="0" dirty="0"/>
          </a:p>
          <a:p>
            <a:pPr>
              <a:lnSpc>
                <a:spcPct val="80000"/>
              </a:lnSpc>
            </a:pPr>
            <a:endParaRPr lang="nl-BE" b="0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C7A5354-21EE-1040-9BFC-0BD514684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18</a:t>
            </a:fld>
            <a:endParaRPr lang="nl-BE" dirty="0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BBAFCF30-19BC-AC40-A568-708782DFF6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923103"/>
              </p:ext>
            </p:extLst>
          </p:nvPr>
        </p:nvGraphicFramePr>
        <p:xfrm>
          <a:off x="7243353" y="4206239"/>
          <a:ext cx="3587282" cy="1177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3" imgW="42710100" imgH="14046200" progId="Equation.3">
                  <p:embed/>
                </p:oleObj>
              </mc:Choice>
              <mc:Fallback>
                <p:oleObj name="Vergelijking" r:id="rId3" imgW="42710100" imgH="14046200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BBAFCF30-19BC-AC40-A568-708782DFF6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353" y="4206239"/>
                        <a:ext cx="3587282" cy="1177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3802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F12EBA-883D-3F4B-AEBD-64E449852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Interpretatie van covariantie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E03C72B-29CD-E544-BD40-364BA78E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nl-BE" altLang="nl-BE" dirty="0"/>
              <a:t>Richting?</a:t>
            </a:r>
          </a:p>
          <a:p>
            <a:pPr lvl="1">
              <a:lnSpc>
                <a:spcPct val="80000"/>
              </a:lnSpc>
            </a:pPr>
            <a:r>
              <a:rPr lang="nl-BE" altLang="nl-BE" u="sng" dirty="0"/>
              <a:t>Positieve covariantie </a:t>
            </a:r>
            <a:r>
              <a:rPr lang="nl-BE" altLang="nl-BE" dirty="0"/>
              <a:t>: </a:t>
            </a:r>
            <a:r>
              <a:rPr lang="nl-BE" altLang="nl-BE" b="0" dirty="0"/>
              <a:t>Hoe groter X, hoe groter Y en vice versa</a:t>
            </a:r>
            <a:endParaRPr lang="nl-BE" altLang="nl-BE" dirty="0"/>
          </a:p>
          <a:p>
            <a:pPr lvl="1">
              <a:lnSpc>
                <a:spcPct val="80000"/>
              </a:lnSpc>
            </a:pPr>
            <a:r>
              <a:rPr lang="nl-BE" altLang="nl-BE" u="sng" dirty="0"/>
              <a:t>Negatieve covariantie </a:t>
            </a:r>
            <a:r>
              <a:rPr lang="nl-BE" altLang="nl-BE" dirty="0"/>
              <a:t>: </a:t>
            </a:r>
            <a:r>
              <a:rPr lang="nl-BE" altLang="nl-BE" b="0" dirty="0"/>
              <a:t>Hoe kleiner X, hoe groter Y en vice versa</a:t>
            </a:r>
            <a:endParaRPr lang="nl-BE" altLang="nl-BE" dirty="0"/>
          </a:p>
          <a:p>
            <a:pPr lvl="1">
              <a:lnSpc>
                <a:spcPct val="80000"/>
              </a:lnSpc>
            </a:pPr>
            <a:r>
              <a:rPr lang="nl-BE" altLang="nl-BE" u="sng" dirty="0"/>
              <a:t>Covariantie ± 0 </a:t>
            </a:r>
            <a:r>
              <a:rPr lang="nl-BE" altLang="nl-BE" dirty="0"/>
              <a:t>: </a:t>
            </a:r>
            <a:r>
              <a:rPr lang="nl-BE" altLang="nl-BE" b="0" dirty="0"/>
              <a:t>Afwezigheid van een verband</a:t>
            </a:r>
          </a:p>
          <a:p>
            <a:pPr>
              <a:lnSpc>
                <a:spcPct val="80000"/>
              </a:lnSpc>
            </a:pPr>
            <a:endParaRPr lang="nl-BE" b="0" dirty="0"/>
          </a:p>
          <a:p>
            <a:pPr>
              <a:lnSpc>
                <a:spcPct val="80000"/>
              </a:lnSpc>
            </a:pPr>
            <a:endParaRPr lang="nl-BE" b="0" dirty="0"/>
          </a:p>
          <a:p>
            <a:pPr>
              <a:lnSpc>
                <a:spcPct val="80000"/>
              </a:lnSpc>
            </a:pPr>
            <a:r>
              <a:rPr lang="nl-BE" dirty="0"/>
              <a:t>Sterkte?</a:t>
            </a:r>
          </a:p>
          <a:p>
            <a:pPr lvl="1">
              <a:lnSpc>
                <a:spcPct val="80000"/>
              </a:lnSpc>
            </a:pPr>
            <a:r>
              <a:rPr lang="nl-BE" b="0" dirty="0"/>
              <a:t>Afhankelijk van aantal waarnemingen (steekproef)? </a:t>
            </a:r>
          </a:p>
          <a:p>
            <a:pPr lvl="1">
              <a:lnSpc>
                <a:spcPct val="80000"/>
              </a:lnSpc>
            </a:pPr>
            <a:r>
              <a:rPr lang="nl-BE" dirty="0"/>
              <a:t>Afhankelijk van schaal x en y?</a:t>
            </a:r>
            <a:endParaRPr lang="nl-BE" b="0" dirty="0"/>
          </a:p>
          <a:p>
            <a:pPr>
              <a:lnSpc>
                <a:spcPct val="80000"/>
              </a:lnSpc>
            </a:pPr>
            <a:endParaRPr lang="nl-BE" b="0" dirty="0"/>
          </a:p>
          <a:p>
            <a:pPr>
              <a:lnSpc>
                <a:spcPct val="80000"/>
              </a:lnSpc>
            </a:pPr>
            <a:endParaRPr lang="nl-BE" b="0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C7A5354-21EE-1040-9BFC-0BD514684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19</a:t>
            </a:fld>
            <a:endParaRPr lang="nl-BE" dirty="0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BBAFCF30-19BC-AC40-A568-708782DFF6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3353" y="4206239"/>
          <a:ext cx="3587282" cy="1177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3" imgW="42710100" imgH="14046200" progId="Equation.3">
                  <p:embed/>
                </p:oleObj>
              </mc:Choice>
              <mc:Fallback>
                <p:oleObj name="Vergelijking" r:id="rId3" imgW="42710100" imgH="14046200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BBAFCF30-19BC-AC40-A568-708782DFF6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353" y="4206239"/>
                        <a:ext cx="3587282" cy="1177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al 5">
            <a:extLst>
              <a:ext uri="{FF2B5EF4-FFF2-40B4-BE49-F238E27FC236}">
                <a16:creationId xmlns:a16="http://schemas.microsoft.com/office/drawing/2014/main" id="{9C7F9DD8-C4E7-E74A-A2B6-BD1784C3D5A4}"/>
              </a:ext>
            </a:extLst>
          </p:cNvPr>
          <p:cNvSpPr/>
          <p:nvPr/>
        </p:nvSpPr>
        <p:spPr bwMode="auto">
          <a:xfrm>
            <a:off x="9340948" y="4979963"/>
            <a:ext cx="745587" cy="506437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84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0D4DDA-8952-AF43-B7EB-1F7D6F2B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Pearson correlatie </a:t>
            </a:r>
            <a:r>
              <a:rPr lang="nl-BE" sz="2800" dirty="0"/>
              <a:t>(</a:t>
            </a:r>
            <a:r>
              <a:rPr lang="nl-BE" sz="2800" i="1" dirty="0"/>
              <a:t>r</a:t>
            </a:r>
            <a:r>
              <a:rPr lang="nl-BE" sz="2800" i="1" baseline="-25000" dirty="0"/>
              <a:t>xy</a:t>
            </a:r>
            <a:r>
              <a:rPr lang="nl-BE" sz="2800" dirty="0"/>
              <a:t>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A77F0A7-26EF-7241-BFF5-74475571C6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20</a:t>
            </a:fld>
            <a:endParaRPr lang="nl-BE" dirty="0"/>
          </a:p>
        </p:txBody>
      </p:sp>
      <p:sp>
        <p:nvSpPr>
          <p:cNvPr id="9" name="Tijdelijke aanduiding voor inhoud 3">
            <a:extLst>
              <a:ext uri="{FF2B5EF4-FFF2-40B4-BE49-F238E27FC236}">
                <a16:creationId xmlns:a16="http://schemas.microsoft.com/office/drawing/2014/main" id="{716BCE64-7718-C34E-8655-13448115EFEE}"/>
              </a:ext>
            </a:extLst>
          </p:cNvPr>
          <p:cNvSpPr txBox="1">
            <a:spLocks/>
          </p:cNvSpPr>
          <p:nvPr/>
        </p:nvSpPr>
        <p:spPr>
          <a:xfrm>
            <a:off x="623887" y="1577009"/>
            <a:ext cx="10944226" cy="466027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274638" indent="-27463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tabLst/>
              <a:defRPr sz="2800" b="1" i="0" kern="1200">
                <a:solidFill>
                  <a:schemeClr val="tx1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  <a:lvl2pPr marL="740815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2pPr>
            <a:lvl3pPr marL="1090057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733" kern="12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454114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663658" indent="-22647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nl-BE" sz="16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290E43F3-88D0-A041-B396-10FB3EDB9E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216398"/>
              </p:ext>
            </p:extLst>
          </p:nvPr>
        </p:nvGraphicFramePr>
        <p:xfrm>
          <a:off x="9326879" y="460170"/>
          <a:ext cx="2255300" cy="1092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3" imgW="21361400" imgH="10236200" progId="Equation.3">
                  <p:embed/>
                </p:oleObj>
              </mc:Choice>
              <mc:Fallback>
                <p:oleObj name="Vergelijking" r:id="rId3" imgW="21361400" imgH="10236200" progId="Equation.3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290E43F3-88D0-A041-B396-10FB3EDB9E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6879" y="460170"/>
                        <a:ext cx="2255300" cy="1092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Afbeelding 7">
            <a:extLst>
              <a:ext uri="{FF2B5EF4-FFF2-40B4-BE49-F238E27FC236}">
                <a16:creationId xmlns:a16="http://schemas.microsoft.com/office/drawing/2014/main" id="{979F5313-0FB9-406A-BD6C-EA48C24EE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12" y="1377133"/>
            <a:ext cx="9928083" cy="3903857"/>
          </a:xfrm>
          <a:prstGeom prst="rect">
            <a:avLst/>
          </a:prstGeom>
        </p:spPr>
      </p:pic>
      <p:sp>
        <p:nvSpPr>
          <p:cNvPr id="4" name="Wolkvormige toelichting 3">
            <a:extLst>
              <a:ext uri="{FF2B5EF4-FFF2-40B4-BE49-F238E27FC236}">
                <a16:creationId xmlns:a16="http://schemas.microsoft.com/office/drawing/2014/main" id="{1FE53BFB-7B12-9E45-9E70-3A00A13F51A4}"/>
              </a:ext>
            </a:extLst>
          </p:cNvPr>
          <p:cNvSpPr/>
          <p:nvPr/>
        </p:nvSpPr>
        <p:spPr bwMode="auto">
          <a:xfrm>
            <a:off x="8078333" y="4181856"/>
            <a:ext cx="3852672" cy="1694689"/>
          </a:xfrm>
          <a:prstGeom prst="cloudCallout">
            <a:avLst>
              <a:gd name="adj1" fmla="val -60390"/>
              <a:gd name="adj2" fmla="val -187860"/>
            </a:avLst>
          </a:prstGeom>
          <a:solidFill>
            <a:srgbClr val="2A77CF"/>
          </a:solidFill>
          <a:ln>
            <a:solidFill>
              <a:srgbClr val="2A77CF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58972B9-0ADD-D445-972F-778DFC24F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1119" y="4780900"/>
            <a:ext cx="2913667" cy="3336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9pPr>
          </a:lstStyle>
          <a:p>
            <a:pPr>
              <a:buFontTx/>
              <a:buNone/>
              <a:defRPr/>
            </a:pPr>
            <a:r>
              <a:rPr lang="nl-BE" sz="2000" kern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&gt; </a:t>
            </a:r>
            <a:r>
              <a:rPr lang="nl-BE" sz="2000" kern="0" baseline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cor.test</a:t>
            </a:r>
            <a:r>
              <a:rPr lang="nl-BE" sz="2000" kern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(</a:t>
            </a:r>
            <a:r>
              <a:rPr lang="nl-BE" sz="2000" kern="0" baseline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x,y</a:t>
            </a:r>
            <a:r>
              <a:rPr lang="nl-BE" sz="2000" kern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)</a:t>
            </a:r>
          </a:p>
          <a:p>
            <a:pPr>
              <a:defRPr/>
            </a:pPr>
            <a:endParaRPr lang="nl-BE" sz="20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endParaRPr lang="nl-BE" sz="20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  <a:p>
            <a:pPr>
              <a:defRPr/>
            </a:pPr>
            <a:endParaRPr lang="nl-NL" sz="20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865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0D4DDA-8952-AF43-B7EB-1F7D6F2B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Pearson correlatie </a:t>
            </a:r>
            <a:r>
              <a:rPr lang="nl-BE" sz="2800" dirty="0"/>
              <a:t>(</a:t>
            </a:r>
            <a:r>
              <a:rPr lang="nl-BE" sz="2800" i="1" dirty="0"/>
              <a:t>r</a:t>
            </a:r>
            <a:r>
              <a:rPr lang="nl-BE" sz="2800" i="1" baseline="-25000" dirty="0"/>
              <a:t>xy</a:t>
            </a:r>
            <a:r>
              <a:rPr lang="nl-BE" sz="2800" dirty="0"/>
              <a:t>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A77F0A7-26EF-7241-BFF5-74475571C6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21</a:t>
            </a:fld>
            <a:endParaRPr lang="nl-BE" dirty="0"/>
          </a:p>
        </p:txBody>
      </p:sp>
      <p:sp>
        <p:nvSpPr>
          <p:cNvPr id="9" name="Tijdelijke aanduiding voor inhoud 3">
            <a:extLst>
              <a:ext uri="{FF2B5EF4-FFF2-40B4-BE49-F238E27FC236}">
                <a16:creationId xmlns:a16="http://schemas.microsoft.com/office/drawing/2014/main" id="{716BCE64-7718-C34E-8655-13448115EFEE}"/>
              </a:ext>
            </a:extLst>
          </p:cNvPr>
          <p:cNvSpPr txBox="1">
            <a:spLocks/>
          </p:cNvSpPr>
          <p:nvPr/>
        </p:nvSpPr>
        <p:spPr>
          <a:xfrm>
            <a:off x="623887" y="1577009"/>
            <a:ext cx="10944226" cy="466027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274638" indent="-27463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tabLst/>
              <a:defRPr sz="2800" b="1" i="0" kern="1200">
                <a:solidFill>
                  <a:schemeClr val="tx1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  <a:lvl2pPr marL="740815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2pPr>
            <a:lvl3pPr marL="1090057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733" kern="12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454114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663658" indent="-22647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nl-BE" sz="16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290E43F3-88D0-A041-B396-10FB3EDB9E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244715"/>
              </p:ext>
            </p:extLst>
          </p:nvPr>
        </p:nvGraphicFramePr>
        <p:xfrm>
          <a:off x="9326879" y="470928"/>
          <a:ext cx="2255300" cy="1092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3" imgW="21361400" imgH="10236200" progId="Equation.3">
                  <p:embed/>
                </p:oleObj>
              </mc:Choice>
              <mc:Fallback>
                <p:oleObj name="Vergelijking" r:id="rId3" imgW="21361400" imgH="10236200" progId="Equation.3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290E43F3-88D0-A041-B396-10FB3EDB9E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6879" y="470928"/>
                        <a:ext cx="2255300" cy="1092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Afbeelding 7">
            <a:extLst>
              <a:ext uri="{FF2B5EF4-FFF2-40B4-BE49-F238E27FC236}">
                <a16:creationId xmlns:a16="http://schemas.microsoft.com/office/drawing/2014/main" id="{979F5313-0FB9-406A-BD6C-EA48C24EE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68" y="1377134"/>
            <a:ext cx="9928083" cy="3903857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778B405F-2811-4EB8-851F-CC60B2CA1983}"/>
              </a:ext>
            </a:extLst>
          </p:cNvPr>
          <p:cNvSpPr/>
          <p:nvPr/>
        </p:nvSpPr>
        <p:spPr bwMode="auto">
          <a:xfrm>
            <a:off x="709112" y="3010487"/>
            <a:ext cx="6509835" cy="323556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A6E33263-523E-4180-839C-9F27D88E663F}"/>
              </a:ext>
            </a:extLst>
          </p:cNvPr>
          <p:cNvSpPr txBox="1"/>
          <p:nvPr/>
        </p:nvSpPr>
        <p:spPr>
          <a:xfrm>
            <a:off x="9352672" y="2671397"/>
            <a:ext cx="2822917" cy="646381"/>
          </a:xfrm>
          <a:prstGeom prst="rect">
            <a:avLst/>
          </a:pr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000" dirty="0">
                <a:solidFill>
                  <a:schemeClr val="bg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Statistische significantie</a:t>
            </a:r>
          </a:p>
          <a:p>
            <a:pPr algn="l"/>
            <a:r>
              <a:rPr lang="nl-BE" sz="2000" i="1" dirty="0">
                <a:solidFill>
                  <a:schemeClr val="bg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Wat is de nulhypothese?</a:t>
            </a:r>
          </a:p>
        </p:txBody>
      </p: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7351F851-1421-4952-9EE6-19AC4692E03C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7218947" y="3172264"/>
            <a:ext cx="2107934" cy="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hthoek 12">
            <a:extLst>
              <a:ext uri="{FF2B5EF4-FFF2-40B4-BE49-F238E27FC236}">
                <a16:creationId xmlns:a16="http://schemas.microsoft.com/office/drawing/2014/main" id="{8620F86B-4009-4570-95D1-2BA961ED0B2D}"/>
              </a:ext>
            </a:extLst>
          </p:cNvPr>
          <p:cNvSpPr/>
          <p:nvPr/>
        </p:nvSpPr>
        <p:spPr bwMode="auto">
          <a:xfrm>
            <a:off x="709112" y="4208889"/>
            <a:ext cx="2792077" cy="953952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A9657F87-CC2C-4826-BE75-1411D5FBDFF0}"/>
              </a:ext>
            </a:extLst>
          </p:cNvPr>
          <p:cNvSpPr txBox="1"/>
          <p:nvPr/>
        </p:nvSpPr>
        <p:spPr>
          <a:xfrm>
            <a:off x="9392532" y="4510305"/>
            <a:ext cx="2743199" cy="3651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000" dirty="0">
                <a:solidFill>
                  <a:srgbClr val="FF0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Correlatie </a:t>
            </a:r>
          </a:p>
          <a:p>
            <a:pPr algn="l"/>
            <a:r>
              <a:rPr lang="nl-BE" sz="2000" dirty="0">
                <a:solidFill>
                  <a:srgbClr val="FF0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(steekproefwaarde)</a:t>
            </a:r>
          </a:p>
        </p:txBody>
      </p: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551221EF-CC99-45E0-A21C-122FBF498475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3501189" y="4685865"/>
            <a:ext cx="582569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382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D53A5F-9565-1241-B91B-75CA015B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Interpretatie effectgrootte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A736900-0473-B944-BD95-E00AB303E4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22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28437C2-F9CB-9C49-A3E0-079D9C7F3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altLang="nl-BE" dirty="0"/>
              <a:t>Wanneer is een correlatie </a:t>
            </a:r>
            <a:r>
              <a:rPr lang="nl-BE" altLang="nl-NL" dirty="0"/>
              <a:t>“</a:t>
            </a:r>
            <a:r>
              <a:rPr lang="nl-BE" altLang="nl-BE" dirty="0"/>
              <a:t>groot</a:t>
            </a:r>
            <a:r>
              <a:rPr lang="nl-BE" altLang="nl-NL" dirty="0"/>
              <a:t>”</a:t>
            </a:r>
            <a:r>
              <a:rPr lang="nl-BE" altLang="nl-BE" dirty="0"/>
              <a:t>?</a:t>
            </a:r>
          </a:p>
          <a:p>
            <a:r>
              <a:rPr lang="nl-BE" altLang="nl-BE" dirty="0"/>
              <a:t>2 werkwijzen:</a:t>
            </a:r>
          </a:p>
          <a:p>
            <a:pPr lvl="1"/>
            <a:r>
              <a:rPr lang="nl-BE" altLang="nl-BE" dirty="0"/>
              <a:t>Kwadraat van correlatie = % gemeenschappelijke variantie</a:t>
            </a:r>
          </a:p>
          <a:p>
            <a:pPr lvl="1"/>
            <a:r>
              <a:rPr lang="nl-BE" altLang="nl-BE" dirty="0"/>
              <a:t>Vuistregel van Cohen</a:t>
            </a:r>
          </a:p>
          <a:p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84D4D-E95B-C348-8E73-83D91DD1A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955" y="3532358"/>
            <a:ext cx="6119812" cy="251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1655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9AD518-FAD0-6F46-85A8-9508007EA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Veel correlaties in R  </a:t>
            </a:r>
            <a:r>
              <a:rPr lang="nl-BE" sz="2400" dirty="0"/>
              <a:t>(OLP2 functies)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B4A953D-9B3F-8244-A004-DCA3DB96B7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23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2699817-B00A-5F4D-A608-12186F1A0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nl-BE" dirty="0" err="1"/>
              <a:t>Functie</a:t>
            </a:r>
            <a:r>
              <a:rPr lang="en-GB" altLang="nl-BE" dirty="0"/>
              <a:t> </a:t>
            </a:r>
            <a:r>
              <a:rPr lang="en-GB" alt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cor.prob</a:t>
            </a:r>
            <a:r>
              <a:rPr lang="en-GB" alt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pPr lvl="1"/>
            <a:r>
              <a:rPr lang="en-GB" altLang="nl-BE" dirty="0"/>
              <a:t>“</a:t>
            </a:r>
            <a:r>
              <a:rPr lang="en-GB" alt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GB" altLang="nl-BE" dirty="0"/>
              <a:t>”:  </a:t>
            </a:r>
            <a:r>
              <a:rPr lang="en-GB" altLang="nl-BE" dirty="0" err="1"/>
              <a:t>datamatrix</a:t>
            </a:r>
            <a:r>
              <a:rPr lang="en-GB" altLang="nl-BE" dirty="0"/>
              <a:t> met </a:t>
            </a:r>
            <a:r>
              <a:rPr lang="en-GB" altLang="nl-BE" dirty="0" err="1"/>
              <a:t>enkel</a:t>
            </a:r>
            <a:r>
              <a:rPr lang="en-GB" altLang="nl-BE" dirty="0"/>
              <a:t> </a:t>
            </a:r>
            <a:r>
              <a:rPr lang="en-GB" altLang="nl-BE" dirty="0" err="1"/>
              <a:t>kwantitatieve</a:t>
            </a:r>
            <a:r>
              <a:rPr lang="en-GB" altLang="nl-BE" dirty="0"/>
              <a:t> </a:t>
            </a:r>
            <a:r>
              <a:rPr lang="en-GB" altLang="nl-BE" dirty="0" err="1"/>
              <a:t>variabelen</a:t>
            </a:r>
            <a:endParaRPr lang="en-GB" altLang="nl-BE" dirty="0"/>
          </a:p>
          <a:p>
            <a:pPr lvl="1"/>
            <a:r>
              <a:rPr lang="nl-BE" altLang="nl-BE" dirty="0"/>
              <a:t>Indien nodig, nieuwe datamatrix maken</a:t>
            </a:r>
          </a:p>
          <a:p>
            <a:pPr marL="0" indent="0">
              <a:buNone/>
            </a:pPr>
            <a:endParaRPr lang="nl-BE" sz="160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60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7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StatB_cor_data &lt;- data.frame(StatistiekB$Autonome_mot,  StatistiekB$Interesse,</a:t>
            </a:r>
          </a:p>
          <a:p>
            <a:pPr marL="0" indent="0">
              <a:buNone/>
            </a:pPr>
            <a:r>
              <a:rPr lang="nl-BE" sz="17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StatistiekB$Faalangst)</a:t>
            </a:r>
          </a:p>
          <a:p>
            <a:pPr marL="0" indent="0">
              <a:buNone/>
            </a:pPr>
            <a:r>
              <a:rPr lang="nl-BE" sz="1700" dirty="0">
                <a:solidFill>
                  <a:srgbClr val="1C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 StatB_cor_data &lt;- StatistiekB[ ,c(5:7)]</a:t>
            </a:r>
          </a:p>
          <a:p>
            <a:pPr marL="0" indent="0">
              <a:buNone/>
            </a:pPr>
            <a:r>
              <a:rPr lang="nl-BE" sz="17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cor.prob(StatB_cor_data)</a:t>
            </a:r>
          </a:p>
          <a:p>
            <a:pPr marL="0" indent="0">
              <a:buNone/>
            </a:pPr>
            <a:r>
              <a:rPr lang="nl-BE" sz="17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Autonome_mot     Faalangst    Interesse</a:t>
            </a:r>
          </a:p>
          <a:p>
            <a:pPr marL="0" indent="0">
              <a:buNone/>
            </a:pPr>
            <a:r>
              <a:rPr lang="nl-BE" sz="1700" b="0" dirty="0">
                <a:latin typeface="Courier New" panose="02070309020205020404" pitchFamily="49" charset="0"/>
                <a:cs typeface="Courier New" panose="02070309020205020404" pitchFamily="49" charset="0"/>
              </a:rPr>
              <a:t>Autonome_mot    1.0000000  0.0002228599 3.976204e-06</a:t>
            </a:r>
          </a:p>
          <a:p>
            <a:pPr marL="0" indent="0">
              <a:buNone/>
            </a:pPr>
            <a:r>
              <a:rPr lang="nl-BE" sz="1700" b="0" dirty="0">
                <a:latin typeface="Courier New" panose="02070309020205020404" pitchFamily="49" charset="0"/>
                <a:cs typeface="Courier New" panose="02070309020205020404" pitchFamily="49" charset="0"/>
              </a:rPr>
              <a:t>Faalangst      -0.1936622  1.0000000000 8.121358e-02</a:t>
            </a:r>
          </a:p>
          <a:p>
            <a:pPr marL="0" indent="0">
              <a:buNone/>
            </a:pPr>
            <a:r>
              <a:rPr lang="nl-BE" sz="1700" b="0" dirty="0">
                <a:latin typeface="Courier New" panose="02070309020205020404" pitchFamily="49" charset="0"/>
                <a:cs typeface="Courier New" panose="02070309020205020404" pitchFamily="49" charset="0"/>
              </a:rPr>
              <a:t>Interesse       0.2413539 -0.0905249432 1.000000e+00</a:t>
            </a:r>
          </a:p>
        </p:txBody>
      </p:sp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33F052FA-511E-A847-A2EF-D82D0EEE71D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01804" y="5133007"/>
            <a:ext cx="4754072" cy="794947"/>
          </a:xfrm>
          <a:prstGeom prst="line">
            <a:avLst/>
          </a:prstGeom>
          <a:noFill/>
          <a:ln w="38100" cap="rnd">
            <a:solidFill>
              <a:srgbClr val="7E002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Up Arrow Callout 14">
            <a:extLst>
              <a:ext uri="{FF2B5EF4-FFF2-40B4-BE49-F238E27FC236}">
                <a16:creationId xmlns:a16="http://schemas.microsoft.com/office/drawing/2014/main" id="{A84BC6F0-626D-2842-92D7-4DB6A64C3091}"/>
              </a:ext>
            </a:extLst>
          </p:cNvPr>
          <p:cNvSpPr/>
          <p:nvPr/>
        </p:nvSpPr>
        <p:spPr bwMode="auto">
          <a:xfrm>
            <a:off x="3756074" y="5966103"/>
            <a:ext cx="1336430" cy="758829"/>
          </a:xfrm>
          <a:prstGeom prst="upArrow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nl-BE" sz="2000" b="1" dirty="0">
                <a:solidFill>
                  <a:schemeClr val="bg2"/>
                </a:solidFill>
                <a:latin typeface="+mj-lt"/>
                <a:ea typeface="ＭＳ Ｐゴシック" pitchFamily="3" charset="-128"/>
              </a:rPr>
              <a:t>correlaties</a:t>
            </a:r>
            <a:endParaRPr lang="en-US" sz="2000" b="1" dirty="0">
              <a:solidFill>
                <a:schemeClr val="bg2"/>
              </a:solidFill>
              <a:latin typeface="+mj-lt"/>
              <a:ea typeface="ＭＳ Ｐゴシック" pitchFamily="3" charset="-128"/>
            </a:endParaRPr>
          </a:p>
        </p:txBody>
      </p:sp>
      <p:sp>
        <p:nvSpPr>
          <p:cNvPr id="8" name="Up Arrow Callout 14">
            <a:extLst>
              <a:ext uri="{FF2B5EF4-FFF2-40B4-BE49-F238E27FC236}">
                <a16:creationId xmlns:a16="http://schemas.microsoft.com/office/drawing/2014/main" id="{687DAB7F-2B10-EC47-BEB4-E097101B2177}"/>
              </a:ext>
            </a:extLst>
          </p:cNvPr>
          <p:cNvSpPr/>
          <p:nvPr/>
        </p:nvSpPr>
        <p:spPr bwMode="auto">
          <a:xfrm rot="16200000">
            <a:off x="7596758" y="5024058"/>
            <a:ext cx="1336430" cy="758829"/>
          </a:xfrm>
          <a:prstGeom prst="upArrow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nl-BE" sz="2000" b="1" dirty="0">
                <a:solidFill>
                  <a:schemeClr val="bg2"/>
                </a:solidFill>
                <a:latin typeface="+mj-lt"/>
                <a:ea typeface="ＭＳ Ｐゴシック" pitchFamily="3" charset="-128"/>
              </a:rPr>
              <a:t>p-waardes</a:t>
            </a:r>
            <a:endParaRPr lang="en-US" sz="2000" b="1" dirty="0">
              <a:solidFill>
                <a:schemeClr val="bg2"/>
              </a:solidFill>
              <a:latin typeface="+mj-lt"/>
              <a:ea typeface="ＭＳ Ｐゴシック" pitchFamily="3" charset="-128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5EE8C5D3-534F-034C-9C1D-2B90FEC6AD64}"/>
              </a:ext>
            </a:extLst>
          </p:cNvPr>
          <p:cNvSpPr txBox="1"/>
          <p:nvPr/>
        </p:nvSpPr>
        <p:spPr>
          <a:xfrm>
            <a:off x="9573126" y="5264275"/>
            <a:ext cx="3596859" cy="2783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FontTx/>
              <a:buNone/>
            </a:pPr>
            <a:endParaRPr lang="nl-BE" sz="1100" dirty="0">
              <a:solidFill>
                <a:srgbClr val="0000FF"/>
              </a:solidFill>
              <a:latin typeface="Courier New" charset="0"/>
              <a:ea typeface="MS PGothic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519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03C4D-5981-6040-A360-47CCEE3F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Veel correlaties plotten in R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955A6E3-742F-8E46-B9F6-3EC7B4739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24</a:t>
            </a:fld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CCB2AFD-33D7-3444-865D-54BD4C1EB8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13" b="6527"/>
          <a:stretch/>
        </p:blipFill>
        <p:spPr>
          <a:xfrm>
            <a:off x="2426429" y="1577010"/>
            <a:ext cx="8726408" cy="4660278"/>
          </a:xfrm>
          <a:prstGeom prst="rect">
            <a:avLst/>
          </a:prstGeom>
        </p:spPr>
      </p:pic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D2D8443-D86E-5E43-B4B7-99D701E38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plot(StatB_cor_data)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0981520C-087D-B147-BE5E-75CE93460119}"/>
              </a:ext>
            </a:extLst>
          </p:cNvPr>
          <p:cNvSpPr txBox="1"/>
          <p:nvPr/>
        </p:nvSpPr>
        <p:spPr>
          <a:xfrm>
            <a:off x="3179303" y="4285295"/>
            <a:ext cx="759655" cy="3412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16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-0.19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BF42324-EF0C-104E-8754-537BB5FB43DC}"/>
              </a:ext>
            </a:extLst>
          </p:cNvPr>
          <p:cNvSpPr txBox="1"/>
          <p:nvPr/>
        </p:nvSpPr>
        <p:spPr>
          <a:xfrm>
            <a:off x="3191024" y="5632476"/>
            <a:ext cx="759655" cy="3412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16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0.24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8B138BF9-8508-1745-B4CA-2A303E975236}"/>
              </a:ext>
            </a:extLst>
          </p:cNvPr>
          <p:cNvSpPr txBox="1"/>
          <p:nvPr/>
        </p:nvSpPr>
        <p:spPr>
          <a:xfrm>
            <a:off x="5666940" y="5619383"/>
            <a:ext cx="759655" cy="3412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16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-0.09</a:t>
            </a:r>
          </a:p>
        </p:txBody>
      </p:sp>
    </p:spTree>
    <p:extLst>
      <p:ext uri="{BB962C8B-B14F-4D97-AF65-F5344CB8AC3E}">
        <p14:creationId xmlns:p14="http://schemas.microsoft.com/office/powerpoint/2010/main" val="3350756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25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Correlaties samengevat…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64313" y="2272145"/>
            <a:ext cx="5365090" cy="3965142"/>
          </a:xfrm>
        </p:spPr>
        <p:txBody>
          <a:bodyPr/>
          <a:lstStyle/>
          <a:p>
            <a:r>
              <a:rPr lang="nl-BE" dirty="0"/>
              <a:t>Correlatie</a:t>
            </a:r>
          </a:p>
          <a:p>
            <a:r>
              <a:rPr lang="nl-BE" dirty="0"/>
              <a:t>Statistische significantie?</a:t>
            </a:r>
          </a:p>
          <a:p>
            <a:r>
              <a:rPr lang="nl-BE" dirty="0"/>
              <a:t> Effectgrootte? (</a:t>
            </a:r>
            <a:r>
              <a:rPr lang="nl-BE" i="1" dirty="0"/>
              <a:t>r</a:t>
            </a:r>
            <a:r>
              <a:rPr lang="nl-BE" dirty="0"/>
              <a:t>)</a:t>
            </a:r>
          </a:p>
          <a:p>
            <a:r>
              <a:rPr lang="nl-BE" dirty="0"/>
              <a:t>(Visualisatie a.d.h.v. scatterplot)</a:t>
            </a:r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02CB0FD9-9CCA-654F-A7ED-877FDBB83B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-20528" b="-20528"/>
          <a:stretch/>
        </p:blipFill>
        <p:spPr>
          <a:xfrm>
            <a:off x="623889" y="620713"/>
            <a:ext cx="5145732" cy="5616575"/>
          </a:xfrm>
          <a:solidFill>
            <a:schemeClr val="accent4"/>
          </a:solidFill>
        </p:spPr>
      </p:pic>
    </p:spTree>
    <p:extLst>
      <p:ext uri="{BB962C8B-B14F-4D97-AF65-F5344CB8AC3E}">
        <p14:creationId xmlns:p14="http://schemas.microsoft.com/office/powerpoint/2010/main" val="4179491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26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Bivariate regressieanalyse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02CB0FD9-9CCA-654F-A7ED-877FDBB83B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t="-37075" b="-37075"/>
          <a:stretch/>
        </p:blipFill>
        <p:spPr>
          <a:xfrm>
            <a:off x="623889" y="620713"/>
            <a:ext cx="5145732" cy="5616575"/>
          </a:xfrm>
        </p:spPr>
      </p:pic>
    </p:spTree>
    <p:extLst>
      <p:ext uri="{BB962C8B-B14F-4D97-AF65-F5344CB8AC3E}">
        <p14:creationId xmlns:p14="http://schemas.microsoft.com/office/powerpoint/2010/main" val="689296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E2D943-4AA0-9249-8667-68CE58048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Een voorbeeld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36AD088-E22A-C148-9AAB-FDA76EFB4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27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AED8790-2C2D-CE49-9C78-582C09341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Heeft autonome motivatie </a:t>
            </a:r>
            <a:r>
              <a:rPr lang="nl-BE" sz="2000" dirty="0"/>
              <a:t>(Schaalscore ‘Autonome_mot’)</a:t>
            </a:r>
            <a:r>
              <a:rPr lang="nl-BE" dirty="0"/>
              <a:t> een invloed op resultaten statistiek </a:t>
            </a:r>
            <a:r>
              <a:rPr lang="nl-BE" sz="2000" dirty="0"/>
              <a:t>(‘Resultaat’)</a:t>
            </a:r>
            <a:r>
              <a:rPr lang="nl-BE" dirty="0"/>
              <a:t>?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708CCDB4-821A-FD41-BE7C-04EE84776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2529" y="3777787"/>
            <a:ext cx="3279690" cy="461665"/>
          </a:xfrm>
          <a:prstGeom prst="rect">
            <a:avLst/>
          </a:prstGeom>
          <a:noFill/>
          <a:ln w="38100">
            <a:solidFill>
              <a:srgbClr val="003D6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nl-BE" altLang="nl-BE" sz="2400" baseline="0" dirty="0">
                <a:solidFill>
                  <a:schemeClr val="tx1"/>
                </a:solidFill>
                <a:latin typeface="Times New Roman" panose="02020603050405020304" pitchFamily="18" charset="0"/>
              </a:rPr>
              <a:t>Autonome motivatie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E7CEDFEB-D10C-4D48-BB1B-973471547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9781" y="3757149"/>
            <a:ext cx="2160588" cy="461963"/>
          </a:xfrm>
          <a:prstGeom prst="rect">
            <a:avLst/>
          </a:prstGeom>
          <a:noFill/>
          <a:ln w="38100">
            <a:solidFill>
              <a:srgbClr val="003D6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nl-BE" altLang="nl-BE" sz="2400" baseline="0" dirty="0">
                <a:solidFill>
                  <a:schemeClr val="tx1"/>
                </a:solidFill>
                <a:latin typeface="Times New Roman" panose="02020603050405020304" pitchFamily="18" charset="0"/>
              </a:rPr>
              <a:t>Statistiekscore</a:t>
            </a:r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EFF79341-FAF6-7F49-BF20-687A6350E5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39556" y="3980987"/>
            <a:ext cx="1512888" cy="0"/>
          </a:xfrm>
          <a:prstGeom prst="straightConnector1">
            <a:avLst/>
          </a:prstGeom>
          <a:noFill/>
          <a:ln w="38100" algn="ctr">
            <a:solidFill>
              <a:srgbClr val="003D6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50915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9F1668-B338-B64E-B224-0B5C6DAB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Correlatie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30852F7-8CEA-9A4F-A46F-22F5EFFE6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28</a:t>
            </a:fld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6DFC60B-3645-8A44-A109-F33134D65B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691"/>
          <a:stretch/>
        </p:blipFill>
        <p:spPr>
          <a:xfrm>
            <a:off x="1858499" y="1688514"/>
            <a:ext cx="8692270" cy="377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22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BCFAD-F051-DB4F-B3CE-614E3674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i="1" dirty="0"/>
              <a:t>Functies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6996C30-E5C8-0A45-A822-D812A1645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29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218331C-A896-E945-A7B4-E02E0A657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013108"/>
            <a:ext cx="10944226" cy="4660279"/>
          </a:xfrm>
        </p:spPr>
        <p:txBody>
          <a:bodyPr/>
          <a:lstStyle/>
          <a:p>
            <a:pPr>
              <a:spcBef>
                <a:spcPts val="0"/>
              </a:spcBef>
              <a:buFontTx/>
              <a:buNone/>
            </a:pPr>
            <a:r>
              <a:rPr lang="nl-BE" altLang="nl-BE" b="0" dirty="0"/>
              <a:t>Als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nl-BE" altLang="nl-BE" b="0" dirty="0"/>
              <a:t>	elke </a:t>
            </a:r>
            <a:r>
              <a:rPr lang="nl-BE" altLang="nl-BE" dirty="0">
                <a:solidFill>
                  <a:srgbClr val="983466"/>
                </a:solidFill>
              </a:rPr>
              <a:t>X</a:t>
            </a:r>
            <a:r>
              <a:rPr lang="nl-BE" altLang="nl-BE" b="0" dirty="0"/>
              <a:t> overeenkomt met </a:t>
            </a:r>
            <a:r>
              <a:rPr lang="nl-BE" altLang="nl-BE" dirty="0"/>
              <a:t>één </a:t>
            </a:r>
            <a:r>
              <a:rPr lang="nl-BE" altLang="nl-BE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r>
              <a:rPr lang="nl-BE" altLang="nl-BE" b="0" dirty="0"/>
              <a:t>,</a:t>
            </a:r>
          </a:p>
          <a:p>
            <a:pPr>
              <a:spcBef>
                <a:spcPts val="0"/>
              </a:spcBef>
              <a:buFontTx/>
              <a:buNone/>
            </a:pPr>
            <a:endParaRPr lang="nl-BE" altLang="nl-BE" b="0" dirty="0"/>
          </a:p>
          <a:p>
            <a:pPr>
              <a:spcBef>
                <a:spcPts val="0"/>
              </a:spcBef>
              <a:buFontTx/>
              <a:buNone/>
            </a:pPr>
            <a:r>
              <a:rPr lang="nl-BE" altLang="nl-BE" b="0" dirty="0"/>
              <a:t>dan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nl-BE" altLang="nl-BE" b="0" dirty="0"/>
              <a:t>	is </a:t>
            </a:r>
            <a:r>
              <a:rPr lang="nl-BE" altLang="nl-BE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r>
              <a:rPr lang="nl-BE" altLang="nl-BE" b="0" dirty="0"/>
              <a:t> een functie van </a:t>
            </a:r>
            <a:r>
              <a:rPr lang="nl-BE" altLang="nl-BE" dirty="0">
                <a:solidFill>
                  <a:srgbClr val="983466"/>
                </a:solidFill>
              </a:rPr>
              <a:t>X</a:t>
            </a:r>
            <a:br>
              <a:rPr lang="nl-BE" altLang="nl-BE" b="0" dirty="0"/>
            </a:br>
            <a:r>
              <a:rPr lang="nl-BE" altLang="nl-BE" b="0" dirty="0">
                <a:solidFill>
                  <a:schemeClr val="accent1"/>
                </a:solidFill>
              </a:rPr>
              <a:t>Y</a:t>
            </a:r>
            <a:r>
              <a:rPr lang="nl-BE" altLang="nl-BE" b="0" dirty="0"/>
              <a:t>=F(X)</a:t>
            </a:r>
          </a:p>
          <a:p>
            <a:endParaRPr lang="nl-BE" dirty="0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2B1C2911-0F77-EB41-B199-B1A1610B4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9827" y="5151304"/>
            <a:ext cx="720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BE" sz="5400" b="1" baseline="0" dirty="0">
                <a:solidFill>
                  <a:srgbClr val="983466"/>
                </a:solidFill>
              </a:rPr>
              <a:t>X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38984EC6-F3E0-684E-9B8B-724C6670C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8564" y="5186229"/>
            <a:ext cx="7191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NL" altLang="nl-BE" sz="5400" b="1" baseline="0" dirty="0">
                <a:solidFill>
                  <a:schemeClr val="accent6">
                    <a:lumMod val="75000"/>
                  </a:schemeClr>
                </a:solidFill>
              </a:rPr>
              <a:t>Y</a:t>
            </a:r>
          </a:p>
        </p:txBody>
      </p:sp>
      <p:cxnSp>
        <p:nvCxnSpPr>
          <p:cNvPr id="7" name="Straight Arrow Connector 5">
            <a:extLst>
              <a:ext uri="{FF2B5EF4-FFF2-40B4-BE49-F238E27FC236}">
                <a16:creationId xmlns:a16="http://schemas.microsoft.com/office/drawing/2014/main" id="{D134376B-9BA2-4841-885D-DA7AAE7D6FC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96889" y="5629142"/>
            <a:ext cx="1800225" cy="0"/>
          </a:xfrm>
          <a:prstGeom prst="straightConnector1">
            <a:avLst/>
          </a:prstGeom>
          <a:noFill/>
          <a:ln w="12065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kstvak 7">
            <a:extLst>
              <a:ext uri="{FF2B5EF4-FFF2-40B4-BE49-F238E27FC236}">
                <a16:creationId xmlns:a16="http://schemas.microsoft.com/office/drawing/2014/main" id="{F8BB9785-4816-3F42-A774-107A828DF8F1}"/>
              </a:ext>
            </a:extLst>
          </p:cNvPr>
          <p:cNvSpPr txBox="1"/>
          <p:nvPr/>
        </p:nvSpPr>
        <p:spPr>
          <a:xfrm>
            <a:off x="2905479" y="4921117"/>
            <a:ext cx="170309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nl-BE" sz="2000" baseline="0" dirty="0">
                <a:solidFill>
                  <a:srgbClr val="003D62"/>
                </a:solidFill>
                <a:latin typeface="+mj-lt"/>
              </a:rPr>
              <a:t>Onafhankelijke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9A980BDB-8154-5F4D-9007-5F277E6EDF6C}"/>
              </a:ext>
            </a:extLst>
          </p:cNvPr>
          <p:cNvSpPr txBox="1"/>
          <p:nvPr/>
        </p:nvSpPr>
        <p:spPr>
          <a:xfrm>
            <a:off x="8054409" y="4890954"/>
            <a:ext cx="142705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nl-BE" sz="2000" baseline="0" dirty="0">
                <a:solidFill>
                  <a:srgbClr val="003D62"/>
                </a:solidFill>
                <a:latin typeface="+mj-lt"/>
              </a:rPr>
              <a:t>Afhankelijke</a:t>
            </a:r>
          </a:p>
        </p:txBody>
      </p:sp>
    </p:spTree>
    <p:extLst>
      <p:ext uri="{BB962C8B-B14F-4D97-AF65-F5344CB8AC3E}">
        <p14:creationId xmlns:p14="http://schemas.microsoft.com/office/powerpoint/2010/main" val="1885951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BCFAD-F051-DB4F-B3CE-614E3674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i="1" dirty="0"/>
              <a:t>Functies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6996C30-E5C8-0A45-A822-D812A1645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30</a:t>
            </a:fld>
            <a:endParaRPr lang="nl-BE" dirty="0"/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8A4D44DA-9037-D647-B7C3-75ED19171B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164534"/>
              </p:ext>
            </p:extLst>
          </p:nvPr>
        </p:nvGraphicFramePr>
        <p:xfrm>
          <a:off x="9198130" y="1669515"/>
          <a:ext cx="2193925" cy="420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erkblad" r:id="rId3" imgW="2197100" imgH="4203700" progId="Excel.Sheet.8">
                  <p:embed/>
                </p:oleObj>
              </mc:Choice>
              <mc:Fallback>
                <p:oleObj name="Werkblad" r:id="rId3" imgW="2197100" imgH="4203700" progId="Excel.Sheet.8">
                  <p:embed/>
                  <p:pic>
                    <p:nvPicPr>
                      <p:cNvPr id="10" name="Object 2">
                        <a:extLst>
                          <a:ext uri="{FF2B5EF4-FFF2-40B4-BE49-F238E27FC236}">
                            <a16:creationId xmlns:a16="http://schemas.microsoft.com/office/drawing/2014/main" id="{8A4D44DA-9037-D647-B7C3-75ED19171B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8130" y="1669515"/>
                        <a:ext cx="2193925" cy="420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9">
            <a:extLst>
              <a:ext uri="{FF2B5EF4-FFF2-40B4-BE49-F238E27FC236}">
                <a16:creationId xmlns:a16="http://schemas.microsoft.com/office/drawing/2014/main" id="{3BD53ADB-78CC-9042-8CBB-43C650E95A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27238" y="1525125"/>
            <a:ext cx="5114925" cy="5148262"/>
            <a:chOff x="-6" y="821"/>
            <a:chExt cx="3222" cy="3243"/>
          </a:xfrm>
        </p:grpSpPr>
        <p:sp>
          <p:nvSpPr>
            <p:cNvPr id="12" name="AutoShape 18">
              <a:extLst>
                <a:ext uri="{FF2B5EF4-FFF2-40B4-BE49-F238E27FC236}">
                  <a16:creationId xmlns:a16="http://schemas.microsoft.com/office/drawing/2014/main" id="{91A0AC22-1585-6B4E-BF9E-2BE0CB3046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04" y="821"/>
              <a:ext cx="3012" cy="3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0B368955-C80B-7242-8489-0D406E0C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3591"/>
              <a:ext cx="2578" cy="0"/>
            </a:xfrm>
            <a:custGeom>
              <a:avLst/>
              <a:gdLst>
                <a:gd name="T0" fmla="*/ 0 w 4769"/>
                <a:gd name="T1" fmla="*/ 0 w 4769"/>
                <a:gd name="T2" fmla="*/ 35 w 4769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4769">
                  <a:moveTo>
                    <a:pt x="0" y="0"/>
                  </a:moveTo>
                  <a:lnTo>
                    <a:pt x="0" y="0"/>
                  </a:lnTo>
                  <a:lnTo>
                    <a:pt x="4769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07A0A67B-4336-C949-B060-BB08AEE65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DB97CB23-7C6F-8741-8F0B-71D011646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10F5BB3E-7DDC-E14C-89A7-8F6166090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501AF052-A3D7-C448-854D-8865E1208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C6F75644-483B-7342-9660-738836AE0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E857FE2F-A214-B84D-B78E-65DB017DF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B4BAB7DD-6542-B449-91DB-06CFCEFC7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B64C18D0-50F1-154B-9E31-D27D66537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52828866-CD9F-D540-AB98-E1E0B9F30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30">
              <a:extLst>
                <a:ext uri="{FF2B5EF4-FFF2-40B4-BE49-F238E27FC236}">
                  <a16:creationId xmlns:a16="http://schemas.microsoft.com/office/drawing/2014/main" id="{17970544-35AC-E24D-8FBC-67705D510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C75B4680-081B-2F45-9673-31B1AE896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2">
              <a:extLst>
                <a:ext uri="{FF2B5EF4-FFF2-40B4-BE49-F238E27FC236}">
                  <a16:creationId xmlns:a16="http://schemas.microsoft.com/office/drawing/2014/main" id="{474028CC-5AA5-4C42-A02E-0BB16CAE3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9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92A6705C-0EBC-9D4C-A9E8-879539B67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0" cy="2653"/>
            </a:xfrm>
            <a:custGeom>
              <a:avLst/>
              <a:gdLst>
                <a:gd name="T0" fmla="*/ 36 h 4902"/>
                <a:gd name="T1" fmla="*/ 36 h 4902"/>
                <a:gd name="T2" fmla="*/ 0 h 4902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4902">
                  <a:moveTo>
                    <a:pt x="0" y="4902"/>
                  </a:moveTo>
                  <a:lnTo>
                    <a:pt x="0" y="4902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7C0C8688-E4F0-D04A-AD01-432692988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591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8" name="Freeform 35">
              <a:extLst>
                <a:ext uri="{FF2B5EF4-FFF2-40B4-BE49-F238E27FC236}">
                  <a16:creationId xmlns:a16="http://schemas.microsoft.com/office/drawing/2014/main" id="{70A39DAB-2D65-2C49-9879-0B6BC4F01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41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7C259EFA-5F7D-6C4B-981B-234864B1D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238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" name="Freeform 37">
              <a:extLst>
                <a:ext uri="{FF2B5EF4-FFF2-40B4-BE49-F238E27FC236}">
                  <a16:creationId xmlns:a16="http://schemas.microsoft.com/office/drawing/2014/main" id="{B315E356-0A01-764A-B8C9-0BD6C2F41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061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E6623F3F-F6A1-9543-ACB9-98961F646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88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B86C5BBB-A129-4147-B384-6486A7D81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707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02A26B77-A209-1447-92F9-CFDAC67F6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530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9904633C-0B0B-3D4D-ADEB-15064CDAF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35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5" name="Freeform 42">
              <a:extLst>
                <a:ext uri="{FF2B5EF4-FFF2-40B4-BE49-F238E27FC236}">
                  <a16:creationId xmlns:a16="http://schemas.microsoft.com/office/drawing/2014/main" id="{4CD82AD7-CDFB-7147-97D6-8806F285E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177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6" name="Freeform 43">
              <a:extLst>
                <a:ext uri="{FF2B5EF4-FFF2-40B4-BE49-F238E27FC236}">
                  <a16:creationId xmlns:a16="http://schemas.microsoft.com/office/drawing/2014/main" id="{433E4AC6-10F9-4E4F-AC6A-AFFEAAC58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000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A5956FDC-F51B-8248-BCF8-2298387F7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823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8" name="Freeform 45">
              <a:extLst>
                <a:ext uri="{FF2B5EF4-FFF2-40B4-BE49-F238E27FC236}">
                  <a16:creationId xmlns:a16="http://schemas.microsoft.com/office/drawing/2014/main" id="{7D359244-3310-5248-B120-F03908EBA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646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" name="Freeform 46">
              <a:extLst>
                <a:ext uri="{FF2B5EF4-FFF2-40B4-BE49-F238E27FC236}">
                  <a16:creationId xmlns:a16="http://schemas.microsoft.com/office/drawing/2014/main" id="{D455EF0B-0025-9343-BC95-C933C652F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469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6F4E9E10-2345-8741-8FB5-DCD1B9F02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292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1" name="Freeform 48">
              <a:extLst>
                <a:ext uri="{FF2B5EF4-FFF2-40B4-BE49-F238E27FC236}">
                  <a16:creationId xmlns:a16="http://schemas.microsoft.com/office/drawing/2014/main" id="{EFC142E8-79C9-EA4C-819A-C90C62BEA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115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2" name="Freeform 49">
              <a:extLst>
                <a:ext uri="{FF2B5EF4-FFF2-40B4-BE49-F238E27FC236}">
                  <a16:creationId xmlns:a16="http://schemas.microsoft.com/office/drawing/2014/main" id="{A60461DA-B9A8-E945-A40A-F771C172B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938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3" name="Rectangle 50">
              <a:extLst>
                <a:ext uri="{FF2B5EF4-FFF2-40B4-BE49-F238E27FC236}">
                  <a16:creationId xmlns:a16="http://schemas.microsoft.com/office/drawing/2014/main" id="{7ED024C0-529D-6041-B98D-F610B7B78E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51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51">
              <a:extLst>
                <a:ext uri="{FF2B5EF4-FFF2-40B4-BE49-F238E27FC236}">
                  <a16:creationId xmlns:a16="http://schemas.microsoft.com/office/drawing/2014/main" id="{21BBA9C8-770D-B24A-92F8-5659F1C91A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33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52">
              <a:extLst>
                <a:ext uri="{FF2B5EF4-FFF2-40B4-BE49-F238E27FC236}">
                  <a16:creationId xmlns:a16="http://schemas.microsoft.com/office/drawing/2014/main" id="{1DD469D8-2F02-904A-B633-2A4D044DA6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159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53">
              <a:extLst>
                <a:ext uri="{FF2B5EF4-FFF2-40B4-BE49-F238E27FC236}">
                  <a16:creationId xmlns:a16="http://schemas.microsoft.com/office/drawing/2014/main" id="{14F4846F-1C72-4447-BE68-82456DC7A4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98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54">
              <a:extLst>
                <a:ext uri="{FF2B5EF4-FFF2-40B4-BE49-F238E27FC236}">
                  <a16:creationId xmlns:a16="http://schemas.microsoft.com/office/drawing/2014/main" id="{FEE46DF8-0E04-DA41-BF66-B002E41D0C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805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55">
              <a:extLst>
                <a:ext uri="{FF2B5EF4-FFF2-40B4-BE49-F238E27FC236}">
                  <a16:creationId xmlns:a16="http://schemas.microsoft.com/office/drawing/2014/main" id="{BC724DAE-F704-9647-AE0A-3036312DD4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62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56">
              <a:extLst>
                <a:ext uri="{FF2B5EF4-FFF2-40B4-BE49-F238E27FC236}">
                  <a16:creationId xmlns:a16="http://schemas.microsoft.com/office/drawing/2014/main" id="{17755BF7-5175-3D4C-B5A8-D0A92A4933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45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6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57">
              <a:extLst>
                <a:ext uri="{FF2B5EF4-FFF2-40B4-BE49-F238E27FC236}">
                  <a16:creationId xmlns:a16="http://schemas.microsoft.com/office/drawing/2014/main" id="{ECCBA367-1A15-3547-A74F-E3E0469DFE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275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7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58">
              <a:extLst>
                <a:ext uri="{FF2B5EF4-FFF2-40B4-BE49-F238E27FC236}">
                  <a16:creationId xmlns:a16="http://schemas.microsoft.com/office/drawing/2014/main" id="{0AAAD7E4-A1C8-A24A-9896-903EA9F98D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09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59">
              <a:extLst>
                <a:ext uri="{FF2B5EF4-FFF2-40B4-BE49-F238E27FC236}">
                  <a16:creationId xmlns:a16="http://schemas.microsoft.com/office/drawing/2014/main" id="{1F284280-81A1-E944-86BE-8820353E9C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92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9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60">
              <a:extLst>
                <a:ext uri="{FF2B5EF4-FFF2-40B4-BE49-F238E27FC236}">
                  <a16:creationId xmlns:a16="http://schemas.microsoft.com/office/drawing/2014/main" id="{DA75AF3F-0D1E-E441-8199-6CA3D83B0E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76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61">
              <a:extLst>
                <a:ext uri="{FF2B5EF4-FFF2-40B4-BE49-F238E27FC236}">
                  <a16:creationId xmlns:a16="http://schemas.microsoft.com/office/drawing/2014/main" id="{1CCE8094-DD7E-F042-A797-08F8DDBE37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720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" name="Rectangle 62">
              <a:extLst>
                <a:ext uri="{FF2B5EF4-FFF2-40B4-BE49-F238E27FC236}">
                  <a16:creationId xmlns:a16="http://schemas.microsoft.com/office/drawing/2014/main" id="{C6422EAD-2B29-4545-B17F-F652A2B29C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59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63">
              <a:extLst>
                <a:ext uri="{FF2B5EF4-FFF2-40B4-BE49-F238E27FC236}">
                  <a16:creationId xmlns:a16="http://schemas.microsoft.com/office/drawing/2014/main" id="{7E047B82-C385-2048-A46A-50FE5A4A39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54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64">
              <a:extLst>
                <a:ext uri="{FF2B5EF4-FFF2-40B4-BE49-F238E27FC236}">
                  <a16:creationId xmlns:a16="http://schemas.microsoft.com/office/drawing/2014/main" id="{B2F99816-E591-5040-A939-161A489270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414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65">
              <a:extLst>
                <a:ext uri="{FF2B5EF4-FFF2-40B4-BE49-F238E27FC236}">
                  <a16:creationId xmlns:a16="http://schemas.microsoft.com/office/drawing/2014/main" id="{85F89AEE-DC94-AE4F-AF8C-55DB935489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36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66">
              <a:extLst>
                <a:ext uri="{FF2B5EF4-FFF2-40B4-BE49-F238E27FC236}">
                  <a16:creationId xmlns:a16="http://schemas.microsoft.com/office/drawing/2014/main" id="{755CB1B1-857A-E041-89BB-5261C568BF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237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67">
              <a:extLst>
                <a:ext uri="{FF2B5EF4-FFF2-40B4-BE49-F238E27FC236}">
                  <a16:creationId xmlns:a16="http://schemas.microsoft.com/office/drawing/2014/main" id="{109BC590-53CA-B24C-9A0B-C93AFC659A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189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68">
              <a:extLst>
                <a:ext uri="{FF2B5EF4-FFF2-40B4-BE49-F238E27FC236}">
                  <a16:creationId xmlns:a16="http://schemas.microsoft.com/office/drawing/2014/main" id="{FFEA413A-5845-C94F-B9F3-D1BB1EB19A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06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69">
              <a:extLst>
                <a:ext uri="{FF2B5EF4-FFF2-40B4-BE49-F238E27FC236}">
                  <a16:creationId xmlns:a16="http://schemas.microsoft.com/office/drawing/2014/main" id="{09AD785E-45A0-9047-B906-84774E350D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01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70">
              <a:extLst>
                <a:ext uri="{FF2B5EF4-FFF2-40B4-BE49-F238E27FC236}">
                  <a16:creationId xmlns:a16="http://schemas.microsoft.com/office/drawing/2014/main" id="{025A0409-0749-5A43-92AE-657135440E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7" y="884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Rectangle 71">
              <a:extLst>
                <a:ext uri="{FF2B5EF4-FFF2-40B4-BE49-F238E27FC236}">
                  <a16:creationId xmlns:a16="http://schemas.microsoft.com/office/drawing/2014/main" id="{06717DDB-6FD2-C048-8562-A33AF5E650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7" y="83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Freeform 72">
              <a:extLst>
                <a:ext uri="{FF2B5EF4-FFF2-40B4-BE49-F238E27FC236}">
                  <a16:creationId xmlns:a16="http://schemas.microsoft.com/office/drawing/2014/main" id="{A170345A-76F3-CD4F-9251-8F822713C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2578" cy="2653"/>
            </a:xfrm>
            <a:custGeom>
              <a:avLst/>
              <a:gdLst>
                <a:gd name="T0" fmla="*/ 0 w 4769"/>
                <a:gd name="T1" fmla="*/ 36 h 4902"/>
                <a:gd name="T2" fmla="*/ 0 w 4769"/>
                <a:gd name="T3" fmla="*/ 36 h 4902"/>
                <a:gd name="T4" fmla="*/ 35 w 4769"/>
                <a:gd name="T5" fmla="*/ 36 h 4902"/>
                <a:gd name="T6" fmla="*/ 35 w 4769"/>
                <a:gd name="T7" fmla="*/ 0 h 4902"/>
                <a:gd name="T8" fmla="*/ 0 w 4769"/>
                <a:gd name="T9" fmla="*/ 0 h 4902"/>
                <a:gd name="T10" fmla="*/ 0 w 4769"/>
                <a:gd name="T11" fmla="*/ 36 h 49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69" h="4902">
                  <a:moveTo>
                    <a:pt x="0" y="4902"/>
                  </a:moveTo>
                  <a:lnTo>
                    <a:pt x="0" y="4902"/>
                  </a:lnTo>
                  <a:lnTo>
                    <a:pt x="4769" y="4902"/>
                  </a:lnTo>
                  <a:lnTo>
                    <a:pt x="4769" y="0"/>
                  </a:lnTo>
                  <a:lnTo>
                    <a:pt x="0" y="0"/>
                  </a:lnTo>
                  <a:lnTo>
                    <a:pt x="0" y="4902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6" name="Rectangle 73">
              <a:extLst>
                <a:ext uri="{FF2B5EF4-FFF2-40B4-BE49-F238E27FC236}">
                  <a16:creationId xmlns:a16="http://schemas.microsoft.com/office/drawing/2014/main" id="{3A34890D-B949-A443-9AE5-FFB4AB123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3909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74">
              <a:extLst>
                <a:ext uri="{FF2B5EF4-FFF2-40B4-BE49-F238E27FC236}">
                  <a16:creationId xmlns:a16="http://schemas.microsoft.com/office/drawing/2014/main" id="{7867A554-28A8-1B47-8A58-8549CB2EDA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72" y="2168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Freeform 75">
              <a:extLst>
                <a:ext uri="{FF2B5EF4-FFF2-40B4-BE49-F238E27FC236}">
                  <a16:creationId xmlns:a16="http://schemas.microsoft.com/office/drawing/2014/main" id="{4614047A-6194-F940-B02F-E53BC4460A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9" name="Freeform 76">
              <a:extLst>
                <a:ext uri="{FF2B5EF4-FFF2-40B4-BE49-F238E27FC236}">
                  <a16:creationId xmlns:a16="http://schemas.microsoft.com/office/drawing/2014/main" id="{BD4A557B-B487-664E-AD18-94367A9FD0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1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0" name="Freeform 77">
              <a:extLst>
                <a:ext uri="{FF2B5EF4-FFF2-40B4-BE49-F238E27FC236}">
                  <a16:creationId xmlns:a16="http://schemas.microsoft.com/office/drawing/2014/main" id="{751695A8-0407-3744-B1A0-C1F60BC187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9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1" name="Freeform 78">
              <a:extLst>
                <a:ext uri="{FF2B5EF4-FFF2-40B4-BE49-F238E27FC236}">
                  <a16:creationId xmlns:a16="http://schemas.microsoft.com/office/drawing/2014/main" id="{7AA44180-1171-3C4E-8DB5-B53220DD20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6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2" name="Freeform 79">
              <a:extLst>
                <a:ext uri="{FF2B5EF4-FFF2-40B4-BE49-F238E27FC236}">
                  <a16:creationId xmlns:a16="http://schemas.microsoft.com/office/drawing/2014/main" id="{DCD854CB-3E52-544F-A60D-3F6456CFD9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4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3" name="Freeform 80">
              <a:extLst>
                <a:ext uri="{FF2B5EF4-FFF2-40B4-BE49-F238E27FC236}">
                  <a16:creationId xmlns:a16="http://schemas.microsoft.com/office/drawing/2014/main" id="{6819A093-0247-3746-9087-F64E5D0B7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1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4" name="Freeform 81">
              <a:extLst>
                <a:ext uri="{FF2B5EF4-FFF2-40B4-BE49-F238E27FC236}">
                  <a16:creationId xmlns:a16="http://schemas.microsoft.com/office/drawing/2014/main" id="{782E605E-8770-C344-822E-CFE269888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9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5" name="Freeform 82">
              <a:extLst>
                <a:ext uri="{FF2B5EF4-FFF2-40B4-BE49-F238E27FC236}">
                  <a16:creationId xmlns:a16="http://schemas.microsoft.com/office/drawing/2014/main" id="{D14CBAEC-ED90-4D41-AE8D-93B3E53B81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7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6" name="Freeform 83">
              <a:extLst>
                <a:ext uri="{FF2B5EF4-FFF2-40B4-BE49-F238E27FC236}">
                  <a16:creationId xmlns:a16="http://schemas.microsoft.com/office/drawing/2014/main" id="{0662CA86-4A1A-6248-83A1-AFFFC7AAB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5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7" name="Freeform 84">
              <a:extLst>
                <a:ext uri="{FF2B5EF4-FFF2-40B4-BE49-F238E27FC236}">
                  <a16:creationId xmlns:a16="http://schemas.microsoft.com/office/drawing/2014/main" id="{E2FF7A6E-22C6-DA41-8013-D83FDEAC3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41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8" name="Freeform 85">
              <a:extLst>
                <a:ext uri="{FF2B5EF4-FFF2-40B4-BE49-F238E27FC236}">
                  <a16:creationId xmlns:a16="http://schemas.microsoft.com/office/drawing/2014/main" id="{50B3BC20-64BA-214A-8648-438E4D85B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238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9" name="Freeform 86">
              <a:extLst>
                <a:ext uri="{FF2B5EF4-FFF2-40B4-BE49-F238E27FC236}">
                  <a16:creationId xmlns:a16="http://schemas.microsoft.com/office/drawing/2014/main" id="{DE0B187D-E893-FF48-8AF3-D22CC7E64C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061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0" name="Freeform 87">
              <a:extLst>
                <a:ext uri="{FF2B5EF4-FFF2-40B4-BE49-F238E27FC236}">
                  <a16:creationId xmlns:a16="http://schemas.microsoft.com/office/drawing/2014/main" id="{BC165912-B416-0946-A916-D4059EA7F6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88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1" name="Freeform 88">
              <a:extLst>
                <a:ext uri="{FF2B5EF4-FFF2-40B4-BE49-F238E27FC236}">
                  <a16:creationId xmlns:a16="http://schemas.microsoft.com/office/drawing/2014/main" id="{34BC5BA7-3B46-4D46-BFC1-7892367185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707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2" name="Freeform 89">
              <a:extLst>
                <a:ext uri="{FF2B5EF4-FFF2-40B4-BE49-F238E27FC236}">
                  <a16:creationId xmlns:a16="http://schemas.microsoft.com/office/drawing/2014/main" id="{E5D35A1A-B779-0349-B5B3-A733A6DEA5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530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3" name="Freeform 90">
              <a:extLst>
                <a:ext uri="{FF2B5EF4-FFF2-40B4-BE49-F238E27FC236}">
                  <a16:creationId xmlns:a16="http://schemas.microsoft.com/office/drawing/2014/main" id="{326C3AC5-87E9-8741-832F-F07AADF684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35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4" name="Freeform 91">
              <a:extLst>
                <a:ext uri="{FF2B5EF4-FFF2-40B4-BE49-F238E27FC236}">
                  <a16:creationId xmlns:a16="http://schemas.microsoft.com/office/drawing/2014/main" id="{CE7A66AC-659C-5149-A599-5E993BC273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177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5" name="Freeform 92">
              <a:extLst>
                <a:ext uri="{FF2B5EF4-FFF2-40B4-BE49-F238E27FC236}">
                  <a16:creationId xmlns:a16="http://schemas.microsoft.com/office/drawing/2014/main" id="{16C4A6FA-6D70-3D4D-AA02-10752F0DF7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000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6" name="Freeform 93">
              <a:extLst>
                <a:ext uri="{FF2B5EF4-FFF2-40B4-BE49-F238E27FC236}">
                  <a16:creationId xmlns:a16="http://schemas.microsoft.com/office/drawing/2014/main" id="{1ABEB16B-56C9-9541-A619-E67B898BEB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823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7" name="Freeform 94">
              <a:extLst>
                <a:ext uri="{FF2B5EF4-FFF2-40B4-BE49-F238E27FC236}">
                  <a16:creationId xmlns:a16="http://schemas.microsoft.com/office/drawing/2014/main" id="{CFC380E8-C890-C046-A7DD-1F5D3E017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646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8" name="Freeform 95">
              <a:extLst>
                <a:ext uri="{FF2B5EF4-FFF2-40B4-BE49-F238E27FC236}">
                  <a16:creationId xmlns:a16="http://schemas.microsoft.com/office/drawing/2014/main" id="{371A4E42-80B9-C545-96C8-94ACB744F5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469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9" name="Freeform 96">
              <a:extLst>
                <a:ext uri="{FF2B5EF4-FFF2-40B4-BE49-F238E27FC236}">
                  <a16:creationId xmlns:a16="http://schemas.microsoft.com/office/drawing/2014/main" id="{9B99A996-23B5-6A4E-8533-5525DFDED7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292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0" name="Freeform 97">
              <a:extLst>
                <a:ext uri="{FF2B5EF4-FFF2-40B4-BE49-F238E27FC236}">
                  <a16:creationId xmlns:a16="http://schemas.microsoft.com/office/drawing/2014/main" id="{4FBCD335-AC02-9E4E-A051-21B0E08281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115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1" name="Freeform 98">
              <a:extLst>
                <a:ext uri="{FF2B5EF4-FFF2-40B4-BE49-F238E27FC236}">
                  <a16:creationId xmlns:a16="http://schemas.microsoft.com/office/drawing/2014/main" id="{C9B518C2-CB85-D948-BE52-A3DC890AE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2578" cy="1769"/>
            </a:xfrm>
            <a:custGeom>
              <a:avLst/>
              <a:gdLst>
                <a:gd name="T0" fmla="*/ 0 w 4769"/>
                <a:gd name="T1" fmla="*/ 24 h 3268"/>
                <a:gd name="T2" fmla="*/ 0 w 4769"/>
                <a:gd name="T3" fmla="*/ 24 h 3268"/>
                <a:gd name="T4" fmla="*/ 35 w 4769"/>
                <a:gd name="T5" fmla="*/ 0 h 32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69" h="3268">
                  <a:moveTo>
                    <a:pt x="0" y="3268"/>
                  </a:moveTo>
                  <a:lnTo>
                    <a:pt x="0" y="3268"/>
                  </a:lnTo>
                  <a:lnTo>
                    <a:pt x="4769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2" name="Rectangle 103">
              <a:extLst>
                <a:ext uri="{FF2B5EF4-FFF2-40B4-BE49-F238E27FC236}">
                  <a16:creationId xmlns:a16="http://schemas.microsoft.com/office/drawing/2014/main" id="{FDB4318F-CC26-134A-9BAD-3780FB4A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2626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3" name="Rectangle 10">
            <a:extLst>
              <a:ext uri="{FF2B5EF4-FFF2-40B4-BE49-F238E27FC236}">
                <a16:creationId xmlns:a16="http://schemas.microsoft.com/office/drawing/2014/main" id="{1B5184EC-72FD-B64A-9E1B-F9447F233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0525" y="6256534"/>
            <a:ext cx="431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rgbClr val="7E002F"/>
                </a:solidFill>
              </a:rPr>
              <a:t>X</a:t>
            </a:r>
            <a:endParaRPr lang="nl-BE" altLang="nl-BE" sz="2400" baseline="0" dirty="0"/>
          </a:p>
        </p:txBody>
      </p:sp>
      <p:sp>
        <p:nvSpPr>
          <p:cNvPr id="94" name="Rectangle 10">
            <a:extLst>
              <a:ext uri="{FF2B5EF4-FFF2-40B4-BE49-F238E27FC236}">
                <a16:creationId xmlns:a16="http://schemas.microsoft.com/office/drawing/2014/main" id="{94C6E777-F3F4-2743-9175-1BA7F82B5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662" y="3535559"/>
            <a:ext cx="360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endParaRPr lang="nl-BE" altLang="nl-BE" sz="2400" baseline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5" name="Pijl rechts 94">
            <a:extLst>
              <a:ext uri="{FF2B5EF4-FFF2-40B4-BE49-F238E27FC236}">
                <a16:creationId xmlns:a16="http://schemas.microsoft.com/office/drawing/2014/main" id="{AE09B836-DF64-3644-B135-8A272DB65247}"/>
              </a:ext>
            </a:extLst>
          </p:cNvPr>
          <p:cNvSpPr/>
          <p:nvPr/>
        </p:nvSpPr>
        <p:spPr bwMode="auto">
          <a:xfrm>
            <a:off x="7550890" y="3578555"/>
            <a:ext cx="1264980" cy="421482"/>
          </a:xfrm>
          <a:prstGeom prst="leftArrow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5434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BCFAD-F051-DB4F-B3CE-614E3674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i="1" dirty="0"/>
              <a:t>Functies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6996C30-E5C8-0A45-A822-D812A1645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31</a:t>
            </a:fld>
            <a:endParaRPr lang="nl-BE" dirty="0"/>
          </a:p>
        </p:txBody>
      </p:sp>
      <p:grpSp>
        <p:nvGrpSpPr>
          <p:cNvPr id="11" name="Group 19">
            <a:extLst>
              <a:ext uri="{FF2B5EF4-FFF2-40B4-BE49-F238E27FC236}">
                <a16:creationId xmlns:a16="http://schemas.microsoft.com/office/drawing/2014/main" id="{3BD53ADB-78CC-9042-8CBB-43C650E95A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27238" y="1525125"/>
            <a:ext cx="5114925" cy="5148262"/>
            <a:chOff x="-6" y="821"/>
            <a:chExt cx="3222" cy="3243"/>
          </a:xfrm>
        </p:grpSpPr>
        <p:sp>
          <p:nvSpPr>
            <p:cNvPr id="12" name="AutoShape 18">
              <a:extLst>
                <a:ext uri="{FF2B5EF4-FFF2-40B4-BE49-F238E27FC236}">
                  <a16:creationId xmlns:a16="http://schemas.microsoft.com/office/drawing/2014/main" id="{91A0AC22-1585-6B4E-BF9E-2BE0CB3046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04" y="821"/>
              <a:ext cx="3012" cy="3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0B368955-C80B-7242-8489-0D406E0C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3591"/>
              <a:ext cx="2578" cy="0"/>
            </a:xfrm>
            <a:custGeom>
              <a:avLst/>
              <a:gdLst>
                <a:gd name="T0" fmla="*/ 0 w 4769"/>
                <a:gd name="T1" fmla="*/ 0 w 4769"/>
                <a:gd name="T2" fmla="*/ 35 w 4769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4769">
                  <a:moveTo>
                    <a:pt x="0" y="0"/>
                  </a:moveTo>
                  <a:lnTo>
                    <a:pt x="0" y="0"/>
                  </a:lnTo>
                  <a:lnTo>
                    <a:pt x="4769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07A0A67B-4336-C949-B060-BB08AEE65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DB97CB23-7C6F-8741-8F0B-71D011646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10F5BB3E-7DDC-E14C-89A7-8F6166090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501AF052-A3D7-C448-854D-8865E1208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C6F75644-483B-7342-9660-738836AE0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E857FE2F-A214-B84D-B78E-65DB017DF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B4BAB7DD-6542-B449-91DB-06CFCEFC7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B64C18D0-50F1-154B-9E31-D27D66537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52828866-CD9F-D540-AB98-E1E0B9F30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30">
              <a:extLst>
                <a:ext uri="{FF2B5EF4-FFF2-40B4-BE49-F238E27FC236}">
                  <a16:creationId xmlns:a16="http://schemas.microsoft.com/office/drawing/2014/main" id="{17970544-35AC-E24D-8FBC-67705D510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C75B4680-081B-2F45-9673-31B1AE896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2">
              <a:extLst>
                <a:ext uri="{FF2B5EF4-FFF2-40B4-BE49-F238E27FC236}">
                  <a16:creationId xmlns:a16="http://schemas.microsoft.com/office/drawing/2014/main" id="{474028CC-5AA5-4C42-A02E-0BB16CAE3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9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92A6705C-0EBC-9D4C-A9E8-879539B67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0" cy="2653"/>
            </a:xfrm>
            <a:custGeom>
              <a:avLst/>
              <a:gdLst>
                <a:gd name="T0" fmla="*/ 36 h 4902"/>
                <a:gd name="T1" fmla="*/ 36 h 4902"/>
                <a:gd name="T2" fmla="*/ 0 h 4902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4902">
                  <a:moveTo>
                    <a:pt x="0" y="4902"/>
                  </a:moveTo>
                  <a:lnTo>
                    <a:pt x="0" y="4902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7C0C8688-E4F0-D04A-AD01-432692988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591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8" name="Freeform 35">
              <a:extLst>
                <a:ext uri="{FF2B5EF4-FFF2-40B4-BE49-F238E27FC236}">
                  <a16:creationId xmlns:a16="http://schemas.microsoft.com/office/drawing/2014/main" id="{70A39DAB-2D65-2C49-9879-0B6BC4F01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41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7C259EFA-5F7D-6C4B-981B-234864B1D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238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" name="Freeform 37">
              <a:extLst>
                <a:ext uri="{FF2B5EF4-FFF2-40B4-BE49-F238E27FC236}">
                  <a16:creationId xmlns:a16="http://schemas.microsoft.com/office/drawing/2014/main" id="{B315E356-0A01-764A-B8C9-0BD6C2F41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061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E6623F3F-F6A1-9543-ACB9-98961F646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88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B86C5BBB-A129-4147-B384-6486A7D81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707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02A26B77-A209-1447-92F9-CFDAC67F6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530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9904633C-0B0B-3D4D-ADEB-15064CDAF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35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5" name="Freeform 42">
              <a:extLst>
                <a:ext uri="{FF2B5EF4-FFF2-40B4-BE49-F238E27FC236}">
                  <a16:creationId xmlns:a16="http://schemas.microsoft.com/office/drawing/2014/main" id="{4CD82AD7-CDFB-7147-97D6-8806F285E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177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6" name="Freeform 43">
              <a:extLst>
                <a:ext uri="{FF2B5EF4-FFF2-40B4-BE49-F238E27FC236}">
                  <a16:creationId xmlns:a16="http://schemas.microsoft.com/office/drawing/2014/main" id="{433E4AC6-10F9-4E4F-AC6A-AFFEAAC58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000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A5956FDC-F51B-8248-BCF8-2298387F7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823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8" name="Freeform 45">
              <a:extLst>
                <a:ext uri="{FF2B5EF4-FFF2-40B4-BE49-F238E27FC236}">
                  <a16:creationId xmlns:a16="http://schemas.microsoft.com/office/drawing/2014/main" id="{7D359244-3310-5248-B120-F03908EBA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646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" name="Freeform 46">
              <a:extLst>
                <a:ext uri="{FF2B5EF4-FFF2-40B4-BE49-F238E27FC236}">
                  <a16:creationId xmlns:a16="http://schemas.microsoft.com/office/drawing/2014/main" id="{D455EF0B-0025-9343-BC95-C933C652F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469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6F4E9E10-2345-8741-8FB5-DCD1B9F02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292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1" name="Freeform 48">
              <a:extLst>
                <a:ext uri="{FF2B5EF4-FFF2-40B4-BE49-F238E27FC236}">
                  <a16:creationId xmlns:a16="http://schemas.microsoft.com/office/drawing/2014/main" id="{EFC142E8-79C9-EA4C-819A-C90C62BEA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115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2" name="Freeform 49">
              <a:extLst>
                <a:ext uri="{FF2B5EF4-FFF2-40B4-BE49-F238E27FC236}">
                  <a16:creationId xmlns:a16="http://schemas.microsoft.com/office/drawing/2014/main" id="{A60461DA-B9A8-E945-A40A-F771C172B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938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3" name="Rectangle 50">
              <a:extLst>
                <a:ext uri="{FF2B5EF4-FFF2-40B4-BE49-F238E27FC236}">
                  <a16:creationId xmlns:a16="http://schemas.microsoft.com/office/drawing/2014/main" id="{7ED024C0-529D-6041-B98D-F610B7B78E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51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51">
              <a:extLst>
                <a:ext uri="{FF2B5EF4-FFF2-40B4-BE49-F238E27FC236}">
                  <a16:creationId xmlns:a16="http://schemas.microsoft.com/office/drawing/2014/main" id="{21BBA9C8-770D-B24A-92F8-5659F1C91A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33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52">
              <a:extLst>
                <a:ext uri="{FF2B5EF4-FFF2-40B4-BE49-F238E27FC236}">
                  <a16:creationId xmlns:a16="http://schemas.microsoft.com/office/drawing/2014/main" id="{1DD469D8-2F02-904A-B633-2A4D044DA6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159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53">
              <a:extLst>
                <a:ext uri="{FF2B5EF4-FFF2-40B4-BE49-F238E27FC236}">
                  <a16:creationId xmlns:a16="http://schemas.microsoft.com/office/drawing/2014/main" id="{14F4846F-1C72-4447-BE68-82456DC7A4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98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54">
              <a:extLst>
                <a:ext uri="{FF2B5EF4-FFF2-40B4-BE49-F238E27FC236}">
                  <a16:creationId xmlns:a16="http://schemas.microsoft.com/office/drawing/2014/main" id="{FEE46DF8-0E04-DA41-BF66-B002E41D0C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805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55">
              <a:extLst>
                <a:ext uri="{FF2B5EF4-FFF2-40B4-BE49-F238E27FC236}">
                  <a16:creationId xmlns:a16="http://schemas.microsoft.com/office/drawing/2014/main" id="{BC724DAE-F704-9647-AE0A-3036312DD4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62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56">
              <a:extLst>
                <a:ext uri="{FF2B5EF4-FFF2-40B4-BE49-F238E27FC236}">
                  <a16:creationId xmlns:a16="http://schemas.microsoft.com/office/drawing/2014/main" id="{17755BF7-5175-3D4C-B5A8-D0A92A4933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45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6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57">
              <a:extLst>
                <a:ext uri="{FF2B5EF4-FFF2-40B4-BE49-F238E27FC236}">
                  <a16:creationId xmlns:a16="http://schemas.microsoft.com/office/drawing/2014/main" id="{ECCBA367-1A15-3547-A74F-E3E0469DFE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275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7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58">
              <a:extLst>
                <a:ext uri="{FF2B5EF4-FFF2-40B4-BE49-F238E27FC236}">
                  <a16:creationId xmlns:a16="http://schemas.microsoft.com/office/drawing/2014/main" id="{0AAAD7E4-A1C8-A24A-9896-903EA9F98D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09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59">
              <a:extLst>
                <a:ext uri="{FF2B5EF4-FFF2-40B4-BE49-F238E27FC236}">
                  <a16:creationId xmlns:a16="http://schemas.microsoft.com/office/drawing/2014/main" id="{1F284280-81A1-E944-86BE-8820353E9C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92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9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60">
              <a:extLst>
                <a:ext uri="{FF2B5EF4-FFF2-40B4-BE49-F238E27FC236}">
                  <a16:creationId xmlns:a16="http://schemas.microsoft.com/office/drawing/2014/main" id="{DA75AF3F-0D1E-E441-8199-6CA3D83B0E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76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61">
              <a:extLst>
                <a:ext uri="{FF2B5EF4-FFF2-40B4-BE49-F238E27FC236}">
                  <a16:creationId xmlns:a16="http://schemas.microsoft.com/office/drawing/2014/main" id="{1CCE8094-DD7E-F042-A797-08F8DDBE37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720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" name="Rectangle 62">
              <a:extLst>
                <a:ext uri="{FF2B5EF4-FFF2-40B4-BE49-F238E27FC236}">
                  <a16:creationId xmlns:a16="http://schemas.microsoft.com/office/drawing/2014/main" id="{C6422EAD-2B29-4545-B17F-F652A2B29C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59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63">
              <a:extLst>
                <a:ext uri="{FF2B5EF4-FFF2-40B4-BE49-F238E27FC236}">
                  <a16:creationId xmlns:a16="http://schemas.microsoft.com/office/drawing/2014/main" id="{7E047B82-C385-2048-A46A-50FE5A4A39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54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64">
              <a:extLst>
                <a:ext uri="{FF2B5EF4-FFF2-40B4-BE49-F238E27FC236}">
                  <a16:creationId xmlns:a16="http://schemas.microsoft.com/office/drawing/2014/main" id="{B2F99816-E591-5040-A939-161A489270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414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65">
              <a:extLst>
                <a:ext uri="{FF2B5EF4-FFF2-40B4-BE49-F238E27FC236}">
                  <a16:creationId xmlns:a16="http://schemas.microsoft.com/office/drawing/2014/main" id="{85F89AEE-DC94-AE4F-AF8C-55DB935489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36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66">
              <a:extLst>
                <a:ext uri="{FF2B5EF4-FFF2-40B4-BE49-F238E27FC236}">
                  <a16:creationId xmlns:a16="http://schemas.microsoft.com/office/drawing/2014/main" id="{755CB1B1-857A-E041-89BB-5261C568BF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237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67">
              <a:extLst>
                <a:ext uri="{FF2B5EF4-FFF2-40B4-BE49-F238E27FC236}">
                  <a16:creationId xmlns:a16="http://schemas.microsoft.com/office/drawing/2014/main" id="{109BC590-53CA-B24C-9A0B-C93AFC659A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189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68">
              <a:extLst>
                <a:ext uri="{FF2B5EF4-FFF2-40B4-BE49-F238E27FC236}">
                  <a16:creationId xmlns:a16="http://schemas.microsoft.com/office/drawing/2014/main" id="{FFEA413A-5845-C94F-B9F3-D1BB1EB19A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06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69">
              <a:extLst>
                <a:ext uri="{FF2B5EF4-FFF2-40B4-BE49-F238E27FC236}">
                  <a16:creationId xmlns:a16="http://schemas.microsoft.com/office/drawing/2014/main" id="{09AD785E-45A0-9047-B906-84774E350D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01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70">
              <a:extLst>
                <a:ext uri="{FF2B5EF4-FFF2-40B4-BE49-F238E27FC236}">
                  <a16:creationId xmlns:a16="http://schemas.microsoft.com/office/drawing/2014/main" id="{025A0409-0749-5A43-92AE-657135440E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7" y="884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Rectangle 71">
              <a:extLst>
                <a:ext uri="{FF2B5EF4-FFF2-40B4-BE49-F238E27FC236}">
                  <a16:creationId xmlns:a16="http://schemas.microsoft.com/office/drawing/2014/main" id="{06717DDB-6FD2-C048-8562-A33AF5E650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7" y="83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Freeform 72">
              <a:extLst>
                <a:ext uri="{FF2B5EF4-FFF2-40B4-BE49-F238E27FC236}">
                  <a16:creationId xmlns:a16="http://schemas.microsoft.com/office/drawing/2014/main" id="{A170345A-76F3-CD4F-9251-8F822713C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2578" cy="2653"/>
            </a:xfrm>
            <a:custGeom>
              <a:avLst/>
              <a:gdLst>
                <a:gd name="T0" fmla="*/ 0 w 4769"/>
                <a:gd name="T1" fmla="*/ 36 h 4902"/>
                <a:gd name="T2" fmla="*/ 0 w 4769"/>
                <a:gd name="T3" fmla="*/ 36 h 4902"/>
                <a:gd name="T4" fmla="*/ 35 w 4769"/>
                <a:gd name="T5" fmla="*/ 36 h 4902"/>
                <a:gd name="T6" fmla="*/ 35 w 4769"/>
                <a:gd name="T7" fmla="*/ 0 h 4902"/>
                <a:gd name="T8" fmla="*/ 0 w 4769"/>
                <a:gd name="T9" fmla="*/ 0 h 4902"/>
                <a:gd name="T10" fmla="*/ 0 w 4769"/>
                <a:gd name="T11" fmla="*/ 36 h 49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69" h="4902">
                  <a:moveTo>
                    <a:pt x="0" y="4902"/>
                  </a:moveTo>
                  <a:lnTo>
                    <a:pt x="0" y="4902"/>
                  </a:lnTo>
                  <a:lnTo>
                    <a:pt x="4769" y="4902"/>
                  </a:lnTo>
                  <a:lnTo>
                    <a:pt x="4769" y="0"/>
                  </a:lnTo>
                  <a:lnTo>
                    <a:pt x="0" y="0"/>
                  </a:lnTo>
                  <a:lnTo>
                    <a:pt x="0" y="4902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6" name="Rectangle 73">
              <a:extLst>
                <a:ext uri="{FF2B5EF4-FFF2-40B4-BE49-F238E27FC236}">
                  <a16:creationId xmlns:a16="http://schemas.microsoft.com/office/drawing/2014/main" id="{3A34890D-B949-A443-9AE5-FFB4AB123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3909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74">
              <a:extLst>
                <a:ext uri="{FF2B5EF4-FFF2-40B4-BE49-F238E27FC236}">
                  <a16:creationId xmlns:a16="http://schemas.microsoft.com/office/drawing/2014/main" id="{7867A554-28A8-1B47-8A58-8549CB2EDA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72" y="2168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Freeform 75">
              <a:extLst>
                <a:ext uri="{FF2B5EF4-FFF2-40B4-BE49-F238E27FC236}">
                  <a16:creationId xmlns:a16="http://schemas.microsoft.com/office/drawing/2014/main" id="{4614047A-6194-F940-B02F-E53BC4460A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9" name="Freeform 76">
              <a:extLst>
                <a:ext uri="{FF2B5EF4-FFF2-40B4-BE49-F238E27FC236}">
                  <a16:creationId xmlns:a16="http://schemas.microsoft.com/office/drawing/2014/main" id="{BD4A557B-B487-664E-AD18-94367A9FD0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1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0" name="Freeform 77">
              <a:extLst>
                <a:ext uri="{FF2B5EF4-FFF2-40B4-BE49-F238E27FC236}">
                  <a16:creationId xmlns:a16="http://schemas.microsoft.com/office/drawing/2014/main" id="{751695A8-0407-3744-B1A0-C1F60BC187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9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1" name="Freeform 78">
              <a:extLst>
                <a:ext uri="{FF2B5EF4-FFF2-40B4-BE49-F238E27FC236}">
                  <a16:creationId xmlns:a16="http://schemas.microsoft.com/office/drawing/2014/main" id="{7AA44180-1171-3C4E-8DB5-B53220DD20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6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2" name="Freeform 79">
              <a:extLst>
                <a:ext uri="{FF2B5EF4-FFF2-40B4-BE49-F238E27FC236}">
                  <a16:creationId xmlns:a16="http://schemas.microsoft.com/office/drawing/2014/main" id="{DCD854CB-3E52-544F-A60D-3F6456CFD9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4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3" name="Freeform 80">
              <a:extLst>
                <a:ext uri="{FF2B5EF4-FFF2-40B4-BE49-F238E27FC236}">
                  <a16:creationId xmlns:a16="http://schemas.microsoft.com/office/drawing/2014/main" id="{6819A093-0247-3746-9087-F64E5D0B7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1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4" name="Freeform 81">
              <a:extLst>
                <a:ext uri="{FF2B5EF4-FFF2-40B4-BE49-F238E27FC236}">
                  <a16:creationId xmlns:a16="http://schemas.microsoft.com/office/drawing/2014/main" id="{782E605E-8770-C344-822E-CFE269888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9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5" name="Freeform 82">
              <a:extLst>
                <a:ext uri="{FF2B5EF4-FFF2-40B4-BE49-F238E27FC236}">
                  <a16:creationId xmlns:a16="http://schemas.microsoft.com/office/drawing/2014/main" id="{D14CBAEC-ED90-4D41-AE8D-93B3E53B81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7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6" name="Freeform 83">
              <a:extLst>
                <a:ext uri="{FF2B5EF4-FFF2-40B4-BE49-F238E27FC236}">
                  <a16:creationId xmlns:a16="http://schemas.microsoft.com/office/drawing/2014/main" id="{0662CA86-4A1A-6248-83A1-AFFFC7AAB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5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7" name="Freeform 84">
              <a:extLst>
                <a:ext uri="{FF2B5EF4-FFF2-40B4-BE49-F238E27FC236}">
                  <a16:creationId xmlns:a16="http://schemas.microsoft.com/office/drawing/2014/main" id="{E2FF7A6E-22C6-DA41-8013-D83FDEAC3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41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8" name="Freeform 85">
              <a:extLst>
                <a:ext uri="{FF2B5EF4-FFF2-40B4-BE49-F238E27FC236}">
                  <a16:creationId xmlns:a16="http://schemas.microsoft.com/office/drawing/2014/main" id="{50B3BC20-64BA-214A-8648-438E4D85B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238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9" name="Freeform 86">
              <a:extLst>
                <a:ext uri="{FF2B5EF4-FFF2-40B4-BE49-F238E27FC236}">
                  <a16:creationId xmlns:a16="http://schemas.microsoft.com/office/drawing/2014/main" id="{DE0B187D-E893-FF48-8AF3-D22CC7E64C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061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0" name="Freeform 87">
              <a:extLst>
                <a:ext uri="{FF2B5EF4-FFF2-40B4-BE49-F238E27FC236}">
                  <a16:creationId xmlns:a16="http://schemas.microsoft.com/office/drawing/2014/main" id="{BC165912-B416-0946-A916-D4059EA7F6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88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1" name="Freeform 88">
              <a:extLst>
                <a:ext uri="{FF2B5EF4-FFF2-40B4-BE49-F238E27FC236}">
                  <a16:creationId xmlns:a16="http://schemas.microsoft.com/office/drawing/2014/main" id="{34BC5BA7-3B46-4D46-BFC1-7892367185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707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2" name="Freeform 89">
              <a:extLst>
                <a:ext uri="{FF2B5EF4-FFF2-40B4-BE49-F238E27FC236}">
                  <a16:creationId xmlns:a16="http://schemas.microsoft.com/office/drawing/2014/main" id="{E5D35A1A-B779-0349-B5B3-A733A6DEA5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530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3" name="Freeform 90">
              <a:extLst>
                <a:ext uri="{FF2B5EF4-FFF2-40B4-BE49-F238E27FC236}">
                  <a16:creationId xmlns:a16="http://schemas.microsoft.com/office/drawing/2014/main" id="{326C3AC5-87E9-8741-832F-F07AADF684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35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4" name="Freeform 91">
              <a:extLst>
                <a:ext uri="{FF2B5EF4-FFF2-40B4-BE49-F238E27FC236}">
                  <a16:creationId xmlns:a16="http://schemas.microsoft.com/office/drawing/2014/main" id="{CE7A66AC-659C-5149-A599-5E993BC273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177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5" name="Freeform 92">
              <a:extLst>
                <a:ext uri="{FF2B5EF4-FFF2-40B4-BE49-F238E27FC236}">
                  <a16:creationId xmlns:a16="http://schemas.microsoft.com/office/drawing/2014/main" id="{16C4A6FA-6D70-3D4D-AA02-10752F0DF7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000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6" name="Freeform 93">
              <a:extLst>
                <a:ext uri="{FF2B5EF4-FFF2-40B4-BE49-F238E27FC236}">
                  <a16:creationId xmlns:a16="http://schemas.microsoft.com/office/drawing/2014/main" id="{1ABEB16B-56C9-9541-A619-E67B898BEB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823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7" name="Freeform 94">
              <a:extLst>
                <a:ext uri="{FF2B5EF4-FFF2-40B4-BE49-F238E27FC236}">
                  <a16:creationId xmlns:a16="http://schemas.microsoft.com/office/drawing/2014/main" id="{CFC380E8-C890-C046-A7DD-1F5D3E017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646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8" name="Freeform 95">
              <a:extLst>
                <a:ext uri="{FF2B5EF4-FFF2-40B4-BE49-F238E27FC236}">
                  <a16:creationId xmlns:a16="http://schemas.microsoft.com/office/drawing/2014/main" id="{371A4E42-80B9-C545-96C8-94ACB744F5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469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9" name="Freeform 96">
              <a:extLst>
                <a:ext uri="{FF2B5EF4-FFF2-40B4-BE49-F238E27FC236}">
                  <a16:creationId xmlns:a16="http://schemas.microsoft.com/office/drawing/2014/main" id="{9B99A996-23B5-6A4E-8533-5525DFDED7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292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0" name="Freeform 97">
              <a:extLst>
                <a:ext uri="{FF2B5EF4-FFF2-40B4-BE49-F238E27FC236}">
                  <a16:creationId xmlns:a16="http://schemas.microsoft.com/office/drawing/2014/main" id="{4FBCD335-AC02-9E4E-A051-21B0E08281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115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1" name="Freeform 98">
              <a:extLst>
                <a:ext uri="{FF2B5EF4-FFF2-40B4-BE49-F238E27FC236}">
                  <a16:creationId xmlns:a16="http://schemas.microsoft.com/office/drawing/2014/main" id="{C9B518C2-CB85-D948-BE52-A3DC890AE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2578" cy="1769"/>
            </a:xfrm>
            <a:custGeom>
              <a:avLst/>
              <a:gdLst>
                <a:gd name="T0" fmla="*/ 0 w 4769"/>
                <a:gd name="T1" fmla="*/ 24 h 3268"/>
                <a:gd name="T2" fmla="*/ 0 w 4769"/>
                <a:gd name="T3" fmla="*/ 24 h 3268"/>
                <a:gd name="T4" fmla="*/ 35 w 4769"/>
                <a:gd name="T5" fmla="*/ 0 h 32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69" h="3268">
                  <a:moveTo>
                    <a:pt x="0" y="3268"/>
                  </a:moveTo>
                  <a:lnTo>
                    <a:pt x="0" y="3268"/>
                  </a:lnTo>
                  <a:lnTo>
                    <a:pt x="4769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2" name="Rectangle 103">
              <a:extLst>
                <a:ext uri="{FF2B5EF4-FFF2-40B4-BE49-F238E27FC236}">
                  <a16:creationId xmlns:a16="http://schemas.microsoft.com/office/drawing/2014/main" id="{FDB4318F-CC26-134A-9BAD-3780FB4A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2626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3" name="Rectangle 10">
            <a:extLst>
              <a:ext uri="{FF2B5EF4-FFF2-40B4-BE49-F238E27FC236}">
                <a16:creationId xmlns:a16="http://schemas.microsoft.com/office/drawing/2014/main" id="{1B5184EC-72FD-B64A-9E1B-F9447F233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0525" y="6256534"/>
            <a:ext cx="431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rgbClr val="7E002F"/>
                </a:solidFill>
              </a:rPr>
              <a:t>X</a:t>
            </a:r>
            <a:endParaRPr lang="nl-BE" altLang="nl-BE" sz="2400" baseline="0" dirty="0"/>
          </a:p>
        </p:txBody>
      </p:sp>
      <p:sp>
        <p:nvSpPr>
          <p:cNvPr id="94" name="Rectangle 10">
            <a:extLst>
              <a:ext uri="{FF2B5EF4-FFF2-40B4-BE49-F238E27FC236}">
                <a16:creationId xmlns:a16="http://schemas.microsoft.com/office/drawing/2014/main" id="{94C6E777-F3F4-2743-9175-1BA7F82B5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662" y="3535559"/>
            <a:ext cx="360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endParaRPr lang="nl-BE" altLang="nl-BE" sz="2400" baseline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6" name="Rectangle 101">
            <a:extLst>
              <a:ext uri="{FF2B5EF4-FFF2-40B4-BE49-F238E27FC236}">
                <a16:creationId xmlns:a16="http://schemas.microsoft.com/office/drawing/2014/main" id="{8729E46B-6CD3-6244-AA4B-79CF0ABE0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143" y="5107087"/>
            <a:ext cx="592138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100" baseline="0">
                <a:solidFill>
                  <a:srgbClr val="000000"/>
                </a:solidFill>
                <a:latin typeface="Arial" panose="020B0604020202020204" pitchFamily="34" charset="0"/>
              </a:rPr>
              <a:t>Intercept</a:t>
            </a: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5" name="Freeform 98">
            <a:extLst>
              <a:ext uri="{FF2B5EF4-FFF2-40B4-BE49-F238E27FC236}">
                <a16:creationId xmlns:a16="http://schemas.microsoft.com/office/drawing/2014/main" id="{8E2EA08A-BF28-A347-AC05-6AC064A57F72}"/>
              </a:ext>
            </a:extLst>
          </p:cNvPr>
          <p:cNvSpPr>
            <a:spLocks/>
          </p:cNvSpPr>
          <p:nvPr/>
        </p:nvSpPr>
        <p:spPr bwMode="auto">
          <a:xfrm>
            <a:off x="2965867" y="4494312"/>
            <a:ext cx="0" cy="1403350"/>
          </a:xfrm>
          <a:custGeom>
            <a:avLst/>
            <a:gdLst>
              <a:gd name="T0" fmla="*/ 12 h 1634"/>
              <a:gd name="T1" fmla="*/ 12 h 1634"/>
              <a:gd name="T2" fmla="*/ 0 h 1634"/>
              <a:gd name="T3" fmla="*/ 0 60000 65536"/>
              <a:gd name="T4" fmla="*/ 0 60000 65536"/>
              <a:gd name="T5" fmla="*/ 0 60000 65536"/>
            </a:gdLst>
            <a:ahLst/>
            <a:cxnLst>
              <a:cxn ang="T3">
                <a:pos x="0" y="T0"/>
              </a:cxn>
              <a:cxn ang="T4">
                <a:pos x="0" y="T1"/>
              </a:cxn>
              <a:cxn ang="T5">
                <a:pos x="0" y="T2"/>
              </a:cxn>
            </a:cxnLst>
            <a:rect l="0" t="0" r="r" b="b"/>
            <a:pathLst>
              <a:path h="1634">
                <a:moveTo>
                  <a:pt x="0" y="1634"/>
                </a:moveTo>
                <a:lnTo>
                  <a:pt x="0" y="1634"/>
                </a:lnTo>
                <a:lnTo>
                  <a:pt x="0" y="0"/>
                </a:lnTo>
              </a:path>
            </a:pathLst>
          </a:custGeom>
          <a:noFill/>
          <a:ln w="38100" cap="rnd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267" name="Rectangle 10">
            <a:extLst>
              <a:ext uri="{FF2B5EF4-FFF2-40B4-BE49-F238E27FC236}">
                <a16:creationId xmlns:a16="http://schemas.microsoft.com/office/drawing/2014/main" id="{BAC312F6-B68F-1548-ACD4-7DE86058C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9259" y="1575130"/>
            <a:ext cx="4032250" cy="904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1704975" indent="-1704975">
              <a:spcBef>
                <a:spcPct val="20000"/>
              </a:spcBef>
              <a:defRPr/>
            </a:pPr>
            <a:r>
              <a:rPr lang="nl-BE" altLang="nl-BE" u="sng" baseline="0" dirty="0" err="1">
                <a:solidFill>
                  <a:srgbClr val="003D62"/>
                </a:solidFill>
                <a:latin typeface="Verdana" panose="020B0604030504040204" pitchFamily="34" charset="0"/>
              </a:rPr>
              <a:t>Intercept</a:t>
            </a:r>
            <a:r>
              <a:rPr lang="nl-BE" altLang="nl-BE" baseline="0" dirty="0">
                <a:solidFill>
                  <a:srgbClr val="003D62"/>
                </a:solidFill>
                <a:latin typeface="Verdana" panose="020B0604030504040204" pitchFamily="34" charset="0"/>
              </a:rPr>
              <a:t>: ?</a:t>
            </a:r>
            <a:endParaRPr lang="nl-BE" altLang="nl-BE" sz="2000" baseline="0" dirty="0">
              <a:solidFill>
                <a:srgbClr val="003D62"/>
              </a:solidFill>
              <a:latin typeface="Verdana" panose="020B0604030504040204" pitchFamily="34" charset="0"/>
            </a:endParaRPr>
          </a:p>
          <a:p>
            <a:pPr>
              <a:spcBef>
                <a:spcPct val="20000"/>
              </a:spcBef>
              <a:defRPr/>
            </a:pPr>
            <a:endParaRPr lang="nl-BE" altLang="nl-BE" baseline="0" dirty="0">
              <a:solidFill>
                <a:srgbClr val="003D62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940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BCFAD-F051-DB4F-B3CE-614E3674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i="1" dirty="0"/>
              <a:t>Functies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6996C30-E5C8-0A45-A822-D812A1645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32</a:t>
            </a:fld>
            <a:endParaRPr lang="nl-BE" dirty="0"/>
          </a:p>
        </p:txBody>
      </p:sp>
      <p:grpSp>
        <p:nvGrpSpPr>
          <p:cNvPr id="11" name="Group 19">
            <a:extLst>
              <a:ext uri="{FF2B5EF4-FFF2-40B4-BE49-F238E27FC236}">
                <a16:creationId xmlns:a16="http://schemas.microsoft.com/office/drawing/2014/main" id="{3BD53ADB-78CC-9042-8CBB-43C650E95A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27238" y="1525125"/>
            <a:ext cx="5114925" cy="5148262"/>
            <a:chOff x="-6" y="821"/>
            <a:chExt cx="3222" cy="3243"/>
          </a:xfrm>
        </p:grpSpPr>
        <p:sp>
          <p:nvSpPr>
            <p:cNvPr id="12" name="AutoShape 18">
              <a:extLst>
                <a:ext uri="{FF2B5EF4-FFF2-40B4-BE49-F238E27FC236}">
                  <a16:creationId xmlns:a16="http://schemas.microsoft.com/office/drawing/2014/main" id="{91A0AC22-1585-6B4E-BF9E-2BE0CB3046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04" y="821"/>
              <a:ext cx="3012" cy="3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0B368955-C80B-7242-8489-0D406E0C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3591"/>
              <a:ext cx="2578" cy="0"/>
            </a:xfrm>
            <a:custGeom>
              <a:avLst/>
              <a:gdLst>
                <a:gd name="T0" fmla="*/ 0 w 4769"/>
                <a:gd name="T1" fmla="*/ 0 w 4769"/>
                <a:gd name="T2" fmla="*/ 35 w 4769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4769">
                  <a:moveTo>
                    <a:pt x="0" y="0"/>
                  </a:moveTo>
                  <a:lnTo>
                    <a:pt x="0" y="0"/>
                  </a:lnTo>
                  <a:lnTo>
                    <a:pt x="4769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07A0A67B-4336-C949-B060-BB08AEE65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DB97CB23-7C6F-8741-8F0B-71D011646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10F5BB3E-7DDC-E14C-89A7-8F6166090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501AF052-A3D7-C448-854D-8865E1208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C6F75644-483B-7342-9660-738836AE0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E857FE2F-A214-B84D-B78E-65DB017DF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B4BAB7DD-6542-B449-91DB-06CFCEFC7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B64C18D0-50F1-154B-9E31-D27D66537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52828866-CD9F-D540-AB98-E1E0B9F30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30">
              <a:extLst>
                <a:ext uri="{FF2B5EF4-FFF2-40B4-BE49-F238E27FC236}">
                  <a16:creationId xmlns:a16="http://schemas.microsoft.com/office/drawing/2014/main" id="{17970544-35AC-E24D-8FBC-67705D510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C75B4680-081B-2F45-9673-31B1AE896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2">
              <a:extLst>
                <a:ext uri="{FF2B5EF4-FFF2-40B4-BE49-F238E27FC236}">
                  <a16:creationId xmlns:a16="http://schemas.microsoft.com/office/drawing/2014/main" id="{474028CC-5AA5-4C42-A02E-0BB16CAE3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9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92A6705C-0EBC-9D4C-A9E8-879539B67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0" cy="2653"/>
            </a:xfrm>
            <a:custGeom>
              <a:avLst/>
              <a:gdLst>
                <a:gd name="T0" fmla="*/ 36 h 4902"/>
                <a:gd name="T1" fmla="*/ 36 h 4902"/>
                <a:gd name="T2" fmla="*/ 0 h 4902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4902">
                  <a:moveTo>
                    <a:pt x="0" y="4902"/>
                  </a:moveTo>
                  <a:lnTo>
                    <a:pt x="0" y="4902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7C0C8688-E4F0-D04A-AD01-432692988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591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8" name="Freeform 35">
              <a:extLst>
                <a:ext uri="{FF2B5EF4-FFF2-40B4-BE49-F238E27FC236}">
                  <a16:creationId xmlns:a16="http://schemas.microsoft.com/office/drawing/2014/main" id="{70A39DAB-2D65-2C49-9879-0B6BC4F01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41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7C259EFA-5F7D-6C4B-981B-234864B1D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238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" name="Freeform 37">
              <a:extLst>
                <a:ext uri="{FF2B5EF4-FFF2-40B4-BE49-F238E27FC236}">
                  <a16:creationId xmlns:a16="http://schemas.microsoft.com/office/drawing/2014/main" id="{B315E356-0A01-764A-B8C9-0BD6C2F41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061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E6623F3F-F6A1-9543-ACB9-98961F646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88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B86C5BBB-A129-4147-B384-6486A7D81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707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02A26B77-A209-1447-92F9-CFDAC67F6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530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9904633C-0B0B-3D4D-ADEB-15064CDAF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35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5" name="Freeform 42">
              <a:extLst>
                <a:ext uri="{FF2B5EF4-FFF2-40B4-BE49-F238E27FC236}">
                  <a16:creationId xmlns:a16="http://schemas.microsoft.com/office/drawing/2014/main" id="{4CD82AD7-CDFB-7147-97D6-8806F285E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177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6" name="Freeform 43">
              <a:extLst>
                <a:ext uri="{FF2B5EF4-FFF2-40B4-BE49-F238E27FC236}">
                  <a16:creationId xmlns:a16="http://schemas.microsoft.com/office/drawing/2014/main" id="{433E4AC6-10F9-4E4F-AC6A-AFFEAAC58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000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A5956FDC-F51B-8248-BCF8-2298387F7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823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8" name="Freeform 45">
              <a:extLst>
                <a:ext uri="{FF2B5EF4-FFF2-40B4-BE49-F238E27FC236}">
                  <a16:creationId xmlns:a16="http://schemas.microsoft.com/office/drawing/2014/main" id="{7D359244-3310-5248-B120-F03908EBA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646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" name="Freeform 46">
              <a:extLst>
                <a:ext uri="{FF2B5EF4-FFF2-40B4-BE49-F238E27FC236}">
                  <a16:creationId xmlns:a16="http://schemas.microsoft.com/office/drawing/2014/main" id="{D455EF0B-0025-9343-BC95-C933C652F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469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6F4E9E10-2345-8741-8FB5-DCD1B9F02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292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1" name="Freeform 48">
              <a:extLst>
                <a:ext uri="{FF2B5EF4-FFF2-40B4-BE49-F238E27FC236}">
                  <a16:creationId xmlns:a16="http://schemas.microsoft.com/office/drawing/2014/main" id="{EFC142E8-79C9-EA4C-819A-C90C62BEA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115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2" name="Freeform 49">
              <a:extLst>
                <a:ext uri="{FF2B5EF4-FFF2-40B4-BE49-F238E27FC236}">
                  <a16:creationId xmlns:a16="http://schemas.microsoft.com/office/drawing/2014/main" id="{A60461DA-B9A8-E945-A40A-F771C172B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938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3" name="Rectangle 50">
              <a:extLst>
                <a:ext uri="{FF2B5EF4-FFF2-40B4-BE49-F238E27FC236}">
                  <a16:creationId xmlns:a16="http://schemas.microsoft.com/office/drawing/2014/main" id="{7ED024C0-529D-6041-B98D-F610B7B78E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51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51">
              <a:extLst>
                <a:ext uri="{FF2B5EF4-FFF2-40B4-BE49-F238E27FC236}">
                  <a16:creationId xmlns:a16="http://schemas.microsoft.com/office/drawing/2014/main" id="{21BBA9C8-770D-B24A-92F8-5659F1C91A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33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52">
              <a:extLst>
                <a:ext uri="{FF2B5EF4-FFF2-40B4-BE49-F238E27FC236}">
                  <a16:creationId xmlns:a16="http://schemas.microsoft.com/office/drawing/2014/main" id="{1DD469D8-2F02-904A-B633-2A4D044DA6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159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53">
              <a:extLst>
                <a:ext uri="{FF2B5EF4-FFF2-40B4-BE49-F238E27FC236}">
                  <a16:creationId xmlns:a16="http://schemas.microsoft.com/office/drawing/2014/main" id="{14F4846F-1C72-4447-BE68-82456DC7A4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98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54">
              <a:extLst>
                <a:ext uri="{FF2B5EF4-FFF2-40B4-BE49-F238E27FC236}">
                  <a16:creationId xmlns:a16="http://schemas.microsoft.com/office/drawing/2014/main" id="{FEE46DF8-0E04-DA41-BF66-B002E41D0C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805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55">
              <a:extLst>
                <a:ext uri="{FF2B5EF4-FFF2-40B4-BE49-F238E27FC236}">
                  <a16:creationId xmlns:a16="http://schemas.microsoft.com/office/drawing/2014/main" id="{BC724DAE-F704-9647-AE0A-3036312DD4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62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56">
              <a:extLst>
                <a:ext uri="{FF2B5EF4-FFF2-40B4-BE49-F238E27FC236}">
                  <a16:creationId xmlns:a16="http://schemas.microsoft.com/office/drawing/2014/main" id="{17755BF7-5175-3D4C-B5A8-D0A92A4933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45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6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57">
              <a:extLst>
                <a:ext uri="{FF2B5EF4-FFF2-40B4-BE49-F238E27FC236}">
                  <a16:creationId xmlns:a16="http://schemas.microsoft.com/office/drawing/2014/main" id="{ECCBA367-1A15-3547-A74F-E3E0469DFE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275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7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58">
              <a:extLst>
                <a:ext uri="{FF2B5EF4-FFF2-40B4-BE49-F238E27FC236}">
                  <a16:creationId xmlns:a16="http://schemas.microsoft.com/office/drawing/2014/main" id="{0AAAD7E4-A1C8-A24A-9896-903EA9F98D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09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59">
              <a:extLst>
                <a:ext uri="{FF2B5EF4-FFF2-40B4-BE49-F238E27FC236}">
                  <a16:creationId xmlns:a16="http://schemas.microsoft.com/office/drawing/2014/main" id="{1F284280-81A1-E944-86BE-8820353E9C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92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9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60">
              <a:extLst>
                <a:ext uri="{FF2B5EF4-FFF2-40B4-BE49-F238E27FC236}">
                  <a16:creationId xmlns:a16="http://schemas.microsoft.com/office/drawing/2014/main" id="{DA75AF3F-0D1E-E441-8199-6CA3D83B0E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76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61">
              <a:extLst>
                <a:ext uri="{FF2B5EF4-FFF2-40B4-BE49-F238E27FC236}">
                  <a16:creationId xmlns:a16="http://schemas.microsoft.com/office/drawing/2014/main" id="{1CCE8094-DD7E-F042-A797-08F8DDBE37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720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" name="Rectangle 62">
              <a:extLst>
                <a:ext uri="{FF2B5EF4-FFF2-40B4-BE49-F238E27FC236}">
                  <a16:creationId xmlns:a16="http://schemas.microsoft.com/office/drawing/2014/main" id="{C6422EAD-2B29-4545-B17F-F652A2B29C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59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63">
              <a:extLst>
                <a:ext uri="{FF2B5EF4-FFF2-40B4-BE49-F238E27FC236}">
                  <a16:creationId xmlns:a16="http://schemas.microsoft.com/office/drawing/2014/main" id="{7E047B82-C385-2048-A46A-50FE5A4A39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54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64">
              <a:extLst>
                <a:ext uri="{FF2B5EF4-FFF2-40B4-BE49-F238E27FC236}">
                  <a16:creationId xmlns:a16="http://schemas.microsoft.com/office/drawing/2014/main" id="{B2F99816-E591-5040-A939-161A489270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414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65">
              <a:extLst>
                <a:ext uri="{FF2B5EF4-FFF2-40B4-BE49-F238E27FC236}">
                  <a16:creationId xmlns:a16="http://schemas.microsoft.com/office/drawing/2014/main" id="{85F89AEE-DC94-AE4F-AF8C-55DB935489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36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66">
              <a:extLst>
                <a:ext uri="{FF2B5EF4-FFF2-40B4-BE49-F238E27FC236}">
                  <a16:creationId xmlns:a16="http://schemas.microsoft.com/office/drawing/2014/main" id="{755CB1B1-857A-E041-89BB-5261C568BF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237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67">
              <a:extLst>
                <a:ext uri="{FF2B5EF4-FFF2-40B4-BE49-F238E27FC236}">
                  <a16:creationId xmlns:a16="http://schemas.microsoft.com/office/drawing/2014/main" id="{109BC590-53CA-B24C-9A0B-C93AFC659A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189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68">
              <a:extLst>
                <a:ext uri="{FF2B5EF4-FFF2-40B4-BE49-F238E27FC236}">
                  <a16:creationId xmlns:a16="http://schemas.microsoft.com/office/drawing/2014/main" id="{FFEA413A-5845-C94F-B9F3-D1BB1EB19A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06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69">
              <a:extLst>
                <a:ext uri="{FF2B5EF4-FFF2-40B4-BE49-F238E27FC236}">
                  <a16:creationId xmlns:a16="http://schemas.microsoft.com/office/drawing/2014/main" id="{09AD785E-45A0-9047-B906-84774E350D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01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70">
              <a:extLst>
                <a:ext uri="{FF2B5EF4-FFF2-40B4-BE49-F238E27FC236}">
                  <a16:creationId xmlns:a16="http://schemas.microsoft.com/office/drawing/2014/main" id="{025A0409-0749-5A43-92AE-657135440E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7" y="884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Rectangle 71">
              <a:extLst>
                <a:ext uri="{FF2B5EF4-FFF2-40B4-BE49-F238E27FC236}">
                  <a16:creationId xmlns:a16="http://schemas.microsoft.com/office/drawing/2014/main" id="{06717DDB-6FD2-C048-8562-A33AF5E650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7" y="83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Freeform 72">
              <a:extLst>
                <a:ext uri="{FF2B5EF4-FFF2-40B4-BE49-F238E27FC236}">
                  <a16:creationId xmlns:a16="http://schemas.microsoft.com/office/drawing/2014/main" id="{A170345A-76F3-CD4F-9251-8F822713C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2578" cy="2653"/>
            </a:xfrm>
            <a:custGeom>
              <a:avLst/>
              <a:gdLst>
                <a:gd name="T0" fmla="*/ 0 w 4769"/>
                <a:gd name="T1" fmla="*/ 36 h 4902"/>
                <a:gd name="T2" fmla="*/ 0 w 4769"/>
                <a:gd name="T3" fmla="*/ 36 h 4902"/>
                <a:gd name="T4" fmla="*/ 35 w 4769"/>
                <a:gd name="T5" fmla="*/ 36 h 4902"/>
                <a:gd name="T6" fmla="*/ 35 w 4769"/>
                <a:gd name="T7" fmla="*/ 0 h 4902"/>
                <a:gd name="T8" fmla="*/ 0 w 4769"/>
                <a:gd name="T9" fmla="*/ 0 h 4902"/>
                <a:gd name="T10" fmla="*/ 0 w 4769"/>
                <a:gd name="T11" fmla="*/ 36 h 49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69" h="4902">
                  <a:moveTo>
                    <a:pt x="0" y="4902"/>
                  </a:moveTo>
                  <a:lnTo>
                    <a:pt x="0" y="4902"/>
                  </a:lnTo>
                  <a:lnTo>
                    <a:pt x="4769" y="4902"/>
                  </a:lnTo>
                  <a:lnTo>
                    <a:pt x="4769" y="0"/>
                  </a:lnTo>
                  <a:lnTo>
                    <a:pt x="0" y="0"/>
                  </a:lnTo>
                  <a:lnTo>
                    <a:pt x="0" y="4902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6" name="Rectangle 73">
              <a:extLst>
                <a:ext uri="{FF2B5EF4-FFF2-40B4-BE49-F238E27FC236}">
                  <a16:creationId xmlns:a16="http://schemas.microsoft.com/office/drawing/2014/main" id="{3A34890D-B949-A443-9AE5-FFB4AB123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3909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74">
              <a:extLst>
                <a:ext uri="{FF2B5EF4-FFF2-40B4-BE49-F238E27FC236}">
                  <a16:creationId xmlns:a16="http://schemas.microsoft.com/office/drawing/2014/main" id="{7867A554-28A8-1B47-8A58-8549CB2EDA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72" y="2168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Freeform 75">
              <a:extLst>
                <a:ext uri="{FF2B5EF4-FFF2-40B4-BE49-F238E27FC236}">
                  <a16:creationId xmlns:a16="http://schemas.microsoft.com/office/drawing/2014/main" id="{4614047A-6194-F940-B02F-E53BC4460A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9" name="Freeform 76">
              <a:extLst>
                <a:ext uri="{FF2B5EF4-FFF2-40B4-BE49-F238E27FC236}">
                  <a16:creationId xmlns:a16="http://schemas.microsoft.com/office/drawing/2014/main" id="{BD4A557B-B487-664E-AD18-94367A9FD0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1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0" name="Freeform 77">
              <a:extLst>
                <a:ext uri="{FF2B5EF4-FFF2-40B4-BE49-F238E27FC236}">
                  <a16:creationId xmlns:a16="http://schemas.microsoft.com/office/drawing/2014/main" id="{751695A8-0407-3744-B1A0-C1F60BC187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9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1" name="Freeform 78">
              <a:extLst>
                <a:ext uri="{FF2B5EF4-FFF2-40B4-BE49-F238E27FC236}">
                  <a16:creationId xmlns:a16="http://schemas.microsoft.com/office/drawing/2014/main" id="{7AA44180-1171-3C4E-8DB5-B53220DD20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6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2" name="Freeform 79">
              <a:extLst>
                <a:ext uri="{FF2B5EF4-FFF2-40B4-BE49-F238E27FC236}">
                  <a16:creationId xmlns:a16="http://schemas.microsoft.com/office/drawing/2014/main" id="{DCD854CB-3E52-544F-A60D-3F6456CFD9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4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3" name="Freeform 80">
              <a:extLst>
                <a:ext uri="{FF2B5EF4-FFF2-40B4-BE49-F238E27FC236}">
                  <a16:creationId xmlns:a16="http://schemas.microsoft.com/office/drawing/2014/main" id="{6819A093-0247-3746-9087-F64E5D0B7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1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4" name="Freeform 81">
              <a:extLst>
                <a:ext uri="{FF2B5EF4-FFF2-40B4-BE49-F238E27FC236}">
                  <a16:creationId xmlns:a16="http://schemas.microsoft.com/office/drawing/2014/main" id="{782E605E-8770-C344-822E-CFE269888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9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5" name="Freeform 82">
              <a:extLst>
                <a:ext uri="{FF2B5EF4-FFF2-40B4-BE49-F238E27FC236}">
                  <a16:creationId xmlns:a16="http://schemas.microsoft.com/office/drawing/2014/main" id="{D14CBAEC-ED90-4D41-AE8D-93B3E53B81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7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6" name="Freeform 83">
              <a:extLst>
                <a:ext uri="{FF2B5EF4-FFF2-40B4-BE49-F238E27FC236}">
                  <a16:creationId xmlns:a16="http://schemas.microsoft.com/office/drawing/2014/main" id="{0662CA86-4A1A-6248-83A1-AFFFC7AAB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5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7" name="Freeform 84">
              <a:extLst>
                <a:ext uri="{FF2B5EF4-FFF2-40B4-BE49-F238E27FC236}">
                  <a16:creationId xmlns:a16="http://schemas.microsoft.com/office/drawing/2014/main" id="{E2FF7A6E-22C6-DA41-8013-D83FDEAC3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41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8" name="Freeform 85">
              <a:extLst>
                <a:ext uri="{FF2B5EF4-FFF2-40B4-BE49-F238E27FC236}">
                  <a16:creationId xmlns:a16="http://schemas.microsoft.com/office/drawing/2014/main" id="{50B3BC20-64BA-214A-8648-438E4D85B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238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9" name="Freeform 86">
              <a:extLst>
                <a:ext uri="{FF2B5EF4-FFF2-40B4-BE49-F238E27FC236}">
                  <a16:creationId xmlns:a16="http://schemas.microsoft.com/office/drawing/2014/main" id="{DE0B187D-E893-FF48-8AF3-D22CC7E64C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061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0" name="Freeform 87">
              <a:extLst>
                <a:ext uri="{FF2B5EF4-FFF2-40B4-BE49-F238E27FC236}">
                  <a16:creationId xmlns:a16="http://schemas.microsoft.com/office/drawing/2014/main" id="{BC165912-B416-0946-A916-D4059EA7F6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88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1" name="Freeform 88">
              <a:extLst>
                <a:ext uri="{FF2B5EF4-FFF2-40B4-BE49-F238E27FC236}">
                  <a16:creationId xmlns:a16="http://schemas.microsoft.com/office/drawing/2014/main" id="{34BC5BA7-3B46-4D46-BFC1-7892367185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707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2" name="Freeform 89">
              <a:extLst>
                <a:ext uri="{FF2B5EF4-FFF2-40B4-BE49-F238E27FC236}">
                  <a16:creationId xmlns:a16="http://schemas.microsoft.com/office/drawing/2014/main" id="{E5D35A1A-B779-0349-B5B3-A733A6DEA5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530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3" name="Freeform 90">
              <a:extLst>
                <a:ext uri="{FF2B5EF4-FFF2-40B4-BE49-F238E27FC236}">
                  <a16:creationId xmlns:a16="http://schemas.microsoft.com/office/drawing/2014/main" id="{326C3AC5-87E9-8741-832F-F07AADF684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35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4" name="Freeform 91">
              <a:extLst>
                <a:ext uri="{FF2B5EF4-FFF2-40B4-BE49-F238E27FC236}">
                  <a16:creationId xmlns:a16="http://schemas.microsoft.com/office/drawing/2014/main" id="{CE7A66AC-659C-5149-A599-5E993BC273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177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5" name="Freeform 92">
              <a:extLst>
                <a:ext uri="{FF2B5EF4-FFF2-40B4-BE49-F238E27FC236}">
                  <a16:creationId xmlns:a16="http://schemas.microsoft.com/office/drawing/2014/main" id="{16C4A6FA-6D70-3D4D-AA02-10752F0DF7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000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6" name="Freeform 93">
              <a:extLst>
                <a:ext uri="{FF2B5EF4-FFF2-40B4-BE49-F238E27FC236}">
                  <a16:creationId xmlns:a16="http://schemas.microsoft.com/office/drawing/2014/main" id="{1ABEB16B-56C9-9541-A619-E67B898BEB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823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7" name="Freeform 94">
              <a:extLst>
                <a:ext uri="{FF2B5EF4-FFF2-40B4-BE49-F238E27FC236}">
                  <a16:creationId xmlns:a16="http://schemas.microsoft.com/office/drawing/2014/main" id="{CFC380E8-C890-C046-A7DD-1F5D3E017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646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8" name="Freeform 95">
              <a:extLst>
                <a:ext uri="{FF2B5EF4-FFF2-40B4-BE49-F238E27FC236}">
                  <a16:creationId xmlns:a16="http://schemas.microsoft.com/office/drawing/2014/main" id="{371A4E42-80B9-C545-96C8-94ACB744F5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469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9" name="Freeform 96">
              <a:extLst>
                <a:ext uri="{FF2B5EF4-FFF2-40B4-BE49-F238E27FC236}">
                  <a16:creationId xmlns:a16="http://schemas.microsoft.com/office/drawing/2014/main" id="{9B99A996-23B5-6A4E-8533-5525DFDED7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292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0" name="Freeform 97">
              <a:extLst>
                <a:ext uri="{FF2B5EF4-FFF2-40B4-BE49-F238E27FC236}">
                  <a16:creationId xmlns:a16="http://schemas.microsoft.com/office/drawing/2014/main" id="{4FBCD335-AC02-9E4E-A051-21B0E08281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115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1" name="Freeform 98">
              <a:extLst>
                <a:ext uri="{FF2B5EF4-FFF2-40B4-BE49-F238E27FC236}">
                  <a16:creationId xmlns:a16="http://schemas.microsoft.com/office/drawing/2014/main" id="{C9B518C2-CB85-D948-BE52-A3DC890AE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2578" cy="1769"/>
            </a:xfrm>
            <a:custGeom>
              <a:avLst/>
              <a:gdLst>
                <a:gd name="T0" fmla="*/ 0 w 4769"/>
                <a:gd name="T1" fmla="*/ 24 h 3268"/>
                <a:gd name="T2" fmla="*/ 0 w 4769"/>
                <a:gd name="T3" fmla="*/ 24 h 3268"/>
                <a:gd name="T4" fmla="*/ 35 w 4769"/>
                <a:gd name="T5" fmla="*/ 0 h 32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69" h="3268">
                  <a:moveTo>
                    <a:pt x="0" y="3268"/>
                  </a:moveTo>
                  <a:lnTo>
                    <a:pt x="0" y="3268"/>
                  </a:lnTo>
                  <a:lnTo>
                    <a:pt x="4769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2" name="Rectangle 103">
              <a:extLst>
                <a:ext uri="{FF2B5EF4-FFF2-40B4-BE49-F238E27FC236}">
                  <a16:creationId xmlns:a16="http://schemas.microsoft.com/office/drawing/2014/main" id="{FDB4318F-CC26-134A-9BAD-3780FB4A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2626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3" name="Rectangle 10">
            <a:extLst>
              <a:ext uri="{FF2B5EF4-FFF2-40B4-BE49-F238E27FC236}">
                <a16:creationId xmlns:a16="http://schemas.microsoft.com/office/drawing/2014/main" id="{1B5184EC-72FD-B64A-9E1B-F9447F233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0525" y="6256534"/>
            <a:ext cx="431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rgbClr val="7E002F"/>
                </a:solidFill>
              </a:rPr>
              <a:t>X</a:t>
            </a:r>
            <a:endParaRPr lang="nl-BE" altLang="nl-BE" sz="2400" baseline="0" dirty="0"/>
          </a:p>
        </p:txBody>
      </p:sp>
      <p:sp>
        <p:nvSpPr>
          <p:cNvPr id="94" name="Rectangle 10">
            <a:extLst>
              <a:ext uri="{FF2B5EF4-FFF2-40B4-BE49-F238E27FC236}">
                <a16:creationId xmlns:a16="http://schemas.microsoft.com/office/drawing/2014/main" id="{94C6E777-F3F4-2743-9175-1BA7F82B5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662" y="3535559"/>
            <a:ext cx="360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endParaRPr lang="nl-BE" altLang="nl-BE" sz="2400" baseline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6" name="Rectangle 101">
            <a:extLst>
              <a:ext uri="{FF2B5EF4-FFF2-40B4-BE49-F238E27FC236}">
                <a16:creationId xmlns:a16="http://schemas.microsoft.com/office/drawing/2014/main" id="{8729E46B-6CD3-6244-AA4B-79CF0ABE0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143" y="5107087"/>
            <a:ext cx="592138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100" baseline="0">
                <a:solidFill>
                  <a:srgbClr val="000000"/>
                </a:solidFill>
                <a:latin typeface="Arial" panose="020B0604020202020204" pitchFamily="34" charset="0"/>
              </a:rPr>
              <a:t>Intercept</a:t>
            </a: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5" name="Freeform 98">
            <a:extLst>
              <a:ext uri="{FF2B5EF4-FFF2-40B4-BE49-F238E27FC236}">
                <a16:creationId xmlns:a16="http://schemas.microsoft.com/office/drawing/2014/main" id="{8E2EA08A-BF28-A347-AC05-6AC064A57F72}"/>
              </a:ext>
            </a:extLst>
          </p:cNvPr>
          <p:cNvSpPr>
            <a:spLocks/>
          </p:cNvSpPr>
          <p:nvPr/>
        </p:nvSpPr>
        <p:spPr bwMode="auto">
          <a:xfrm>
            <a:off x="2965867" y="4494312"/>
            <a:ext cx="0" cy="1403350"/>
          </a:xfrm>
          <a:custGeom>
            <a:avLst/>
            <a:gdLst>
              <a:gd name="T0" fmla="*/ 12 h 1634"/>
              <a:gd name="T1" fmla="*/ 12 h 1634"/>
              <a:gd name="T2" fmla="*/ 0 h 1634"/>
              <a:gd name="T3" fmla="*/ 0 60000 65536"/>
              <a:gd name="T4" fmla="*/ 0 60000 65536"/>
              <a:gd name="T5" fmla="*/ 0 60000 65536"/>
            </a:gdLst>
            <a:ahLst/>
            <a:cxnLst>
              <a:cxn ang="T3">
                <a:pos x="0" y="T0"/>
              </a:cxn>
              <a:cxn ang="T4">
                <a:pos x="0" y="T1"/>
              </a:cxn>
              <a:cxn ang="T5">
                <a:pos x="0" y="T2"/>
              </a:cxn>
            </a:cxnLst>
            <a:rect l="0" t="0" r="r" b="b"/>
            <a:pathLst>
              <a:path h="1634">
                <a:moveTo>
                  <a:pt x="0" y="1634"/>
                </a:moveTo>
                <a:lnTo>
                  <a:pt x="0" y="1634"/>
                </a:lnTo>
                <a:lnTo>
                  <a:pt x="0" y="0"/>
                </a:lnTo>
              </a:path>
            </a:pathLst>
          </a:custGeom>
          <a:noFill/>
          <a:ln w="38100" cap="rnd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267" name="Rectangle 10">
            <a:extLst>
              <a:ext uri="{FF2B5EF4-FFF2-40B4-BE49-F238E27FC236}">
                <a16:creationId xmlns:a16="http://schemas.microsoft.com/office/drawing/2014/main" id="{BAC312F6-B68F-1548-ACD4-7DE86058C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9259" y="1575130"/>
            <a:ext cx="4032250" cy="904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1704975" indent="-1704975">
              <a:spcBef>
                <a:spcPct val="20000"/>
              </a:spcBef>
              <a:defRPr/>
            </a:pPr>
            <a:r>
              <a:rPr lang="nl-BE" altLang="nl-BE" u="sng" baseline="0" dirty="0" err="1">
                <a:solidFill>
                  <a:srgbClr val="003D62"/>
                </a:solidFill>
                <a:latin typeface="Verdana" panose="020B0604030504040204" pitchFamily="34" charset="0"/>
              </a:rPr>
              <a:t>Intercept</a:t>
            </a:r>
            <a:r>
              <a:rPr lang="nl-BE" altLang="nl-BE" baseline="0" dirty="0">
                <a:solidFill>
                  <a:srgbClr val="003D62"/>
                </a:solidFill>
                <a:latin typeface="Verdana" panose="020B0604030504040204" pitchFamily="34" charset="0"/>
              </a:rPr>
              <a:t>: ?</a:t>
            </a:r>
            <a:endParaRPr lang="nl-BE" altLang="nl-BE" sz="2000" baseline="0" dirty="0">
              <a:solidFill>
                <a:srgbClr val="003D62"/>
              </a:solidFill>
              <a:latin typeface="Verdana" panose="020B0604030504040204" pitchFamily="34" charset="0"/>
            </a:endParaRPr>
          </a:p>
          <a:p>
            <a:pPr>
              <a:spcBef>
                <a:spcPct val="20000"/>
              </a:spcBef>
              <a:defRPr/>
            </a:pPr>
            <a:endParaRPr lang="nl-BE" altLang="nl-BE" baseline="0" dirty="0">
              <a:solidFill>
                <a:srgbClr val="003D62"/>
              </a:solidFill>
              <a:latin typeface="Verdana" panose="020B0604030504040204" pitchFamily="34" charset="0"/>
            </a:endParaRPr>
          </a:p>
        </p:txBody>
      </p:sp>
      <p:sp>
        <p:nvSpPr>
          <p:cNvPr id="268" name="Rectangle 10">
            <a:extLst>
              <a:ext uri="{FF2B5EF4-FFF2-40B4-BE49-F238E27FC236}">
                <a16:creationId xmlns:a16="http://schemas.microsoft.com/office/drawing/2014/main" id="{7D655BD9-0B4B-EA46-8804-C47A3B689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3271" y="1575130"/>
            <a:ext cx="2376488" cy="1273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aseline="0" dirty="0"/>
              <a:t>Waarde van </a:t>
            </a:r>
            <a:r>
              <a:rPr lang="nl-BE" altLang="nl-BE" sz="2400" b="1" baseline="0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r>
              <a:rPr lang="nl-BE" altLang="nl-BE" sz="2400" baseline="0" dirty="0"/>
              <a:t> indien </a:t>
            </a:r>
            <a:r>
              <a:rPr lang="nl-BE" altLang="nl-BE" sz="2400" b="1" baseline="0" dirty="0">
                <a:solidFill>
                  <a:srgbClr val="983466"/>
                </a:solidFill>
              </a:rPr>
              <a:t>X</a:t>
            </a:r>
            <a:r>
              <a:rPr lang="nl-BE" altLang="nl-BE" sz="2400" baseline="0" dirty="0"/>
              <a:t>=0</a:t>
            </a:r>
            <a:endParaRPr lang="nl-BE" altLang="nl-BE" sz="2000" baseline="0" dirty="0"/>
          </a:p>
          <a:p>
            <a:pPr>
              <a:buFontTx/>
              <a:buNone/>
            </a:pPr>
            <a:endParaRPr lang="nl-BE" altLang="nl-BE" sz="2400" baseline="0" dirty="0"/>
          </a:p>
        </p:txBody>
      </p:sp>
    </p:spTree>
    <p:extLst>
      <p:ext uri="{BB962C8B-B14F-4D97-AF65-F5344CB8AC3E}">
        <p14:creationId xmlns:p14="http://schemas.microsoft.com/office/powerpoint/2010/main" val="595515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BCFAD-F051-DB4F-B3CE-614E3674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i="1" dirty="0"/>
              <a:t>Functies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6996C30-E5C8-0A45-A822-D812A1645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33</a:t>
            </a:fld>
            <a:endParaRPr lang="nl-BE" dirty="0"/>
          </a:p>
        </p:txBody>
      </p:sp>
      <p:grpSp>
        <p:nvGrpSpPr>
          <p:cNvPr id="11" name="Group 19">
            <a:extLst>
              <a:ext uri="{FF2B5EF4-FFF2-40B4-BE49-F238E27FC236}">
                <a16:creationId xmlns:a16="http://schemas.microsoft.com/office/drawing/2014/main" id="{3BD53ADB-78CC-9042-8CBB-43C650E95A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27238" y="1525125"/>
            <a:ext cx="5114925" cy="5148262"/>
            <a:chOff x="-6" y="821"/>
            <a:chExt cx="3222" cy="3243"/>
          </a:xfrm>
        </p:grpSpPr>
        <p:sp>
          <p:nvSpPr>
            <p:cNvPr id="12" name="AutoShape 18">
              <a:extLst>
                <a:ext uri="{FF2B5EF4-FFF2-40B4-BE49-F238E27FC236}">
                  <a16:creationId xmlns:a16="http://schemas.microsoft.com/office/drawing/2014/main" id="{91A0AC22-1585-6B4E-BF9E-2BE0CB3046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04" y="821"/>
              <a:ext cx="3012" cy="3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0B368955-C80B-7242-8489-0D406E0C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3591"/>
              <a:ext cx="2578" cy="0"/>
            </a:xfrm>
            <a:custGeom>
              <a:avLst/>
              <a:gdLst>
                <a:gd name="T0" fmla="*/ 0 w 4769"/>
                <a:gd name="T1" fmla="*/ 0 w 4769"/>
                <a:gd name="T2" fmla="*/ 35 w 4769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4769">
                  <a:moveTo>
                    <a:pt x="0" y="0"/>
                  </a:moveTo>
                  <a:lnTo>
                    <a:pt x="0" y="0"/>
                  </a:lnTo>
                  <a:lnTo>
                    <a:pt x="4769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07A0A67B-4336-C949-B060-BB08AEE65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DB97CB23-7C6F-8741-8F0B-71D011646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10F5BB3E-7DDC-E14C-89A7-8F6166090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501AF052-A3D7-C448-854D-8865E1208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C6F75644-483B-7342-9660-738836AE0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E857FE2F-A214-B84D-B78E-65DB017DF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B4BAB7DD-6542-B449-91DB-06CFCEFC7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B64C18D0-50F1-154B-9E31-D27D66537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52828866-CD9F-D540-AB98-E1E0B9F30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30">
              <a:extLst>
                <a:ext uri="{FF2B5EF4-FFF2-40B4-BE49-F238E27FC236}">
                  <a16:creationId xmlns:a16="http://schemas.microsoft.com/office/drawing/2014/main" id="{17970544-35AC-E24D-8FBC-67705D510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C75B4680-081B-2F45-9673-31B1AE896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2">
              <a:extLst>
                <a:ext uri="{FF2B5EF4-FFF2-40B4-BE49-F238E27FC236}">
                  <a16:creationId xmlns:a16="http://schemas.microsoft.com/office/drawing/2014/main" id="{474028CC-5AA5-4C42-A02E-0BB16CAE3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9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92A6705C-0EBC-9D4C-A9E8-879539B67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0" cy="2653"/>
            </a:xfrm>
            <a:custGeom>
              <a:avLst/>
              <a:gdLst>
                <a:gd name="T0" fmla="*/ 36 h 4902"/>
                <a:gd name="T1" fmla="*/ 36 h 4902"/>
                <a:gd name="T2" fmla="*/ 0 h 4902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4902">
                  <a:moveTo>
                    <a:pt x="0" y="4902"/>
                  </a:moveTo>
                  <a:lnTo>
                    <a:pt x="0" y="4902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7C0C8688-E4F0-D04A-AD01-432692988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591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8" name="Freeform 35">
              <a:extLst>
                <a:ext uri="{FF2B5EF4-FFF2-40B4-BE49-F238E27FC236}">
                  <a16:creationId xmlns:a16="http://schemas.microsoft.com/office/drawing/2014/main" id="{70A39DAB-2D65-2C49-9879-0B6BC4F01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41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7C259EFA-5F7D-6C4B-981B-234864B1D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238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" name="Freeform 37">
              <a:extLst>
                <a:ext uri="{FF2B5EF4-FFF2-40B4-BE49-F238E27FC236}">
                  <a16:creationId xmlns:a16="http://schemas.microsoft.com/office/drawing/2014/main" id="{B315E356-0A01-764A-B8C9-0BD6C2F41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061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E6623F3F-F6A1-9543-ACB9-98961F646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88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B86C5BBB-A129-4147-B384-6486A7D81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707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02A26B77-A209-1447-92F9-CFDAC67F6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530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9904633C-0B0B-3D4D-ADEB-15064CDAF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35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5" name="Freeform 42">
              <a:extLst>
                <a:ext uri="{FF2B5EF4-FFF2-40B4-BE49-F238E27FC236}">
                  <a16:creationId xmlns:a16="http://schemas.microsoft.com/office/drawing/2014/main" id="{4CD82AD7-CDFB-7147-97D6-8806F285E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177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6" name="Freeform 43">
              <a:extLst>
                <a:ext uri="{FF2B5EF4-FFF2-40B4-BE49-F238E27FC236}">
                  <a16:creationId xmlns:a16="http://schemas.microsoft.com/office/drawing/2014/main" id="{433E4AC6-10F9-4E4F-AC6A-AFFEAAC58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000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A5956FDC-F51B-8248-BCF8-2298387F7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823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8" name="Freeform 45">
              <a:extLst>
                <a:ext uri="{FF2B5EF4-FFF2-40B4-BE49-F238E27FC236}">
                  <a16:creationId xmlns:a16="http://schemas.microsoft.com/office/drawing/2014/main" id="{7D359244-3310-5248-B120-F03908EBA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646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" name="Freeform 46">
              <a:extLst>
                <a:ext uri="{FF2B5EF4-FFF2-40B4-BE49-F238E27FC236}">
                  <a16:creationId xmlns:a16="http://schemas.microsoft.com/office/drawing/2014/main" id="{D455EF0B-0025-9343-BC95-C933C652F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469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6F4E9E10-2345-8741-8FB5-DCD1B9F02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292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1" name="Freeform 48">
              <a:extLst>
                <a:ext uri="{FF2B5EF4-FFF2-40B4-BE49-F238E27FC236}">
                  <a16:creationId xmlns:a16="http://schemas.microsoft.com/office/drawing/2014/main" id="{EFC142E8-79C9-EA4C-819A-C90C62BEA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115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2" name="Freeform 49">
              <a:extLst>
                <a:ext uri="{FF2B5EF4-FFF2-40B4-BE49-F238E27FC236}">
                  <a16:creationId xmlns:a16="http://schemas.microsoft.com/office/drawing/2014/main" id="{A60461DA-B9A8-E945-A40A-F771C172B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938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3" name="Rectangle 50">
              <a:extLst>
                <a:ext uri="{FF2B5EF4-FFF2-40B4-BE49-F238E27FC236}">
                  <a16:creationId xmlns:a16="http://schemas.microsoft.com/office/drawing/2014/main" id="{7ED024C0-529D-6041-B98D-F610B7B78E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51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51">
              <a:extLst>
                <a:ext uri="{FF2B5EF4-FFF2-40B4-BE49-F238E27FC236}">
                  <a16:creationId xmlns:a16="http://schemas.microsoft.com/office/drawing/2014/main" id="{21BBA9C8-770D-B24A-92F8-5659F1C91A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33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52">
              <a:extLst>
                <a:ext uri="{FF2B5EF4-FFF2-40B4-BE49-F238E27FC236}">
                  <a16:creationId xmlns:a16="http://schemas.microsoft.com/office/drawing/2014/main" id="{1DD469D8-2F02-904A-B633-2A4D044DA6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159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53">
              <a:extLst>
                <a:ext uri="{FF2B5EF4-FFF2-40B4-BE49-F238E27FC236}">
                  <a16:creationId xmlns:a16="http://schemas.microsoft.com/office/drawing/2014/main" id="{14F4846F-1C72-4447-BE68-82456DC7A4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98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54">
              <a:extLst>
                <a:ext uri="{FF2B5EF4-FFF2-40B4-BE49-F238E27FC236}">
                  <a16:creationId xmlns:a16="http://schemas.microsoft.com/office/drawing/2014/main" id="{FEE46DF8-0E04-DA41-BF66-B002E41D0C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805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55">
              <a:extLst>
                <a:ext uri="{FF2B5EF4-FFF2-40B4-BE49-F238E27FC236}">
                  <a16:creationId xmlns:a16="http://schemas.microsoft.com/office/drawing/2014/main" id="{BC724DAE-F704-9647-AE0A-3036312DD4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62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56">
              <a:extLst>
                <a:ext uri="{FF2B5EF4-FFF2-40B4-BE49-F238E27FC236}">
                  <a16:creationId xmlns:a16="http://schemas.microsoft.com/office/drawing/2014/main" id="{17755BF7-5175-3D4C-B5A8-D0A92A4933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45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6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57">
              <a:extLst>
                <a:ext uri="{FF2B5EF4-FFF2-40B4-BE49-F238E27FC236}">
                  <a16:creationId xmlns:a16="http://schemas.microsoft.com/office/drawing/2014/main" id="{ECCBA367-1A15-3547-A74F-E3E0469DFE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275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7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58">
              <a:extLst>
                <a:ext uri="{FF2B5EF4-FFF2-40B4-BE49-F238E27FC236}">
                  <a16:creationId xmlns:a16="http://schemas.microsoft.com/office/drawing/2014/main" id="{0AAAD7E4-A1C8-A24A-9896-903EA9F98D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09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59">
              <a:extLst>
                <a:ext uri="{FF2B5EF4-FFF2-40B4-BE49-F238E27FC236}">
                  <a16:creationId xmlns:a16="http://schemas.microsoft.com/office/drawing/2014/main" id="{1F284280-81A1-E944-86BE-8820353E9C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92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9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60">
              <a:extLst>
                <a:ext uri="{FF2B5EF4-FFF2-40B4-BE49-F238E27FC236}">
                  <a16:creationId xmlns:a16="http://schemas.microsoft.com/office/drawing/2014/main" id="{DA75AF3F-0D1E-E441-8199-6CA3D83B0E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76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61">
              <a:extLst>
                <a:ext uri="{FF2B5EF4-FFF2-40B4-BE49-F238E27FC236}">
                  <a16:creationId xmlns:a16="http://schemas.microsoft.com/office/drawing/2014/main" id="{1CCE8094-DD7E-F042-A797-08F8DDBE37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720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" name="Rectangle 62">
              <a:extLst>
                <a:ext uri="{FF2B5EF4-FFF2-40B4-BE49-F238E27FC236}">
                  <a16:creationId xmlns:a16="http://schemas.microsoft.com/office/drawing/2014/main" id="{C6422EAD-2B29-4545-B17F-F652A2B29C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59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63">
              <a:extLst>
                <a:ext uri="{FF2B5EF4-FFF2-40B4-BE49-F238E27FC236}">
                  <a16:creationId xmlns:a16="http://schemas.microsoft.com/office/drawing/2014/main" id="{7E047B82-C385-2048-A46A-50FE5A4A39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54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64">
              <a:extLst>
                <a:ext uri="{FF2B5EF4-FFF2-40B4-BE49-F238E27FC236}">
                  <a16:creationId xmlns:a16="http://schemas.microsoft.com/office/drawing/2014/main" id="{B2F99816-E591-5040-A939-161A489270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414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65">
              <a:extLst>
                <a:ext uri="{FF2B5EF4-FFF2-40B4-BE49-F238E27FC236}">
                  <a16:creationId xmlns:a16="http://schemas.microsoft.com/office/drawing/2014/main" id="{85F89AEE-DC94-AE4F-AF8C-55DB935489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36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66">
              <a:extLst>
                <a:ext uri="{FF2B5EF4-FFF2-40B4-BE49-F238E27FC236}">
                  <a16:creationId xmlns:a16="http://schemas.microsoft.com/office/drawing/2014/main" id="{755CB1B1-857A-E041-89BB-5261C568BF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237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67">
              <a:extLst>
                <a:ext uri="{FF2B5EF4-FFF2-40B4-BE49-F238E27FC236}">
                  <a16:creationId xmlns:a16="http://schemas.microsoft.com/office/drawing/2014/main" id="{109BC590-53CA-B24C-9A0B-C93AFC659A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189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68">
              <a:extLst>
                <a:ext uri="{FF2B5EF4-FFF2-40B4-BE49-F238E27FC236}">
                  <a16:creationId xmlns:a16="http://schemas.microsoft.com/office/drawing/2014/main" id="{FFEA413A-5845-C94F-B9F3-D1BB1EB19A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06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69">
              <a:extLst>
                <a:ext uri="{FF2B5EF4-FFF2-40B4-BE49-F238E27FC236}">
                  <a16:creationId xmlns:a16="http://schemas.microsoft.com/office/drawing/2014/main" id="{09AD785E-45A0-9047-B906-84774E350D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01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70">
              <a:extLst>
                <a:ext uri="{FF2B5EF4-FFF2-40B4-BE49-F238E27FC236}">
                  <a16:creationId xmlns:a16="http://schemas.microsoft.com/office/drawing/2014/main" id="{025A0409-0749-5A43-92AE-657135440E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7" y="884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Rectangle 71">
              <a:extLst>
                <a:ext uri="{FF2B5EF4-FFF2-40B4-BE49-F238E27FC236}">
                  <a16:creationId xmlns:a16="http://schemas.microsoft.com/office/drawing/2014/main" id="{06717DDB-6FD2-C048-8562-A33AF5E650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7" y="83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Freeform 72">
              <a:extLst>
                <a:ext uri="{FF2B5EF4-FFF2-40B4-BE49-F238E27FC236}">
                  <a16:creationId xmlns:a16="http://schemas.microsoft.com/office/drawing/2014/main" id="{A170345A-76F3-CD4F-9251-8F822713C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2578" cy="2653"/>
            </a:xfrm>
            <a:custGeom>
              <a:avLst/>
              <a:gdLst>
                <a:gd name="T0" fmla="*/ 0 w 4769"/>
                <a:gd name="T1" fmla="*/ 36 h 4902"/>
                <a:gd name="T2" fmla="*/ 0 w 4769"/>
                <a:gd name="T3" fmla="*/ 36 h 4902"/>
                <a:gd name="T4" fmla="*/ 35 w 4769"/>
                <a:gd name="T5" fmla="*/ 36 h 4902"/>
                <a:gd name="T6" fmla="*/ 35 w 4769"/>
                <a:gd name="T7" fmla="*/ 0 h 4902"/>
                <a:gd name="T8" fmla="*/ 0 w 4769"/>
                <a:gd name="T9" fmla="*/ 0 h 4902"/>
                <a:gd name="T10" fmla="*/ 0 w 4769"/>
                <a:gd name="T11" fmla="*/ 36 h 49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69" h="4902">
                  <a:moveTo>
                    <a:pt x="0" y="4902"/>
                  </a:moveTo>
                  <a:lnTo>
                    <a:pt x="0" y="4902"/>
                  </a:lnTo>
                  <a:lnTo>
                    <a:pt x="4769" y="4902"/>
                  </a:lnTo>
                  <a:lnTo>
                    <a:pt x="4769" y="0"/>
                  </a:lnTo>
                  <a:lnTo>
                    <a:pt x="0" y="0"/>
                  </a:lnTo>
                  <a:lnTo>
                    <a:pt x="0" y="4902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6" name="Rectangle 73">
              <a:extLst>
                <a:ext uri="{FF2B5EF4-FFF2-40B4-BE49-F238E27FC236}">
                  <a16:creationId xmlns:a16="http://schemas.microsoft.com/office/drawing/2014/main" id="{3A34890D-B949-A443-9AE5-FFB4AB123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3909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74">
              <a:extLst>
                <a:ext uri="{FF2B5EF4-FFF2-40B4-BE49-F238E27FC236}">
                  <a16:creationId xmlns:a16="http://schemas.microsoft.com/office/drawing/2014/main" id="{7867A554-28A8-1B47-8A58-8549CB2EDA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72" y="2168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Freeform 75">
              <a:extLst>
                <a:ext uri="{FF2B5EF4-FFF2-40B4-BE49-F238E27FC236}">
                  <a16:creationId xmlns:a16="http://schemas.microsoft.com/office/drawing/2014/main" id="{4614047A-6194-F940-B02F-E53BC4460A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9" name="Freeform 76">
              <a:extLst>
                <a:ext uri="{FF2B5EF4-FFF2-40B4-BE49-F238E27FC236}">
                  <a16:creationId xmlns:a16="http://schemas.microsoft.com/office/drawing/2014/main" id="{BD4A557B-B487-664E-AD18-94367A9FD0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1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0" name="Freeform 77">
              <a:extLst>
                <a:ext uri="{FF2B5EF4-FFF2-40B4-BE49-F238E27FC236}">
                  <a16:creationId xmlns:a16="http://schemas.microsoft.com/office/drawing/2014/main" id="{751695A8-0407-3744-B1A0-C1F60BC187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9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1" name="Freeform 78">
              <a:extLst>
                <a:ext uri="{FF2B5EF4-FFF2-40B4-BE49-F238E27FC236}">
                  <a16:creationId xmlns:a16="http://schemas.microsoft.com/office/drawing/2014/main" id="{7AA44180-1171-3C4E-8DB5-B53220DD20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6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2" name="Freeform 79">
              <a:extLst>
                <a:ext uri="{FF2B5EF4-FFF2-40B4-BE49-F238E27FC236}">
                  <a16:creationId xmlns:a16="http://schemas.microsoft.com/office/drawing/2014/main" id="{DCD854CB-3E52-544F-A60D-3F6456CFD9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4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3" name="Freeform 80">
              <a:extLst>
                <a:ext uri="{FF2B5EF4-FFF2-40B4-BE49-F238E27FC236}">
                  <a16:creationId xmlns:a16="http://schemas.microsoft.com/office/drawing/2014/main" id="{6819A093-0247-3746-9087-F64E5D0B7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1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4" name="Freeform 81">
              <a:extLst>
                <a:ext uri="{FF2B5EF4-FFF2-40B4-BE49-F238E27FC236}">
                  <a16:creationId xmlns:a16="http://schemas.microsoft.com/office/drawing/2014/main" id="{782E605E-8770-C344-822E-CFE269888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9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5" name="Freeform 82">
              <a:extLst>
                <a:ext uri="{FF2B5EF4-FFF2-40B4-BE49-F238E27FC236}">
                  <a16:creationId xmlns:a16="http://schemas.microsoft.com/office/drawing/2014/main" id="{D14CBAEC-ED90-4D41-AE8D-93B3E53B81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7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6" name="Freeform 83">
              <a:extLst>
                <a:ext uri="{FF2B5EF4-FFF2-40B4-BE49-F238E27FC236}">
                  <a16:creationId xmlns:a16="http://schemas.microsoft.com/office/drawing/2014/main" id="{0662CA86-4A1A-6248-83A1-AFFFC7AAB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5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7" name="Freeform 84">
              <a:extLst>
                <a:ext uri="{FF2B5EF4-FFF2-40B4-BE49-F238E27FC236}">
                  <a16:creationId xmlns:a16="http://schemas.microsoft.com/office/drawing/2014/main" id="{E2FF7A6E-22C6-DA41-8013-D83FDEAC3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41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8" name="Freeform 85">
              <a:extLst>
                <a:ext uri="{FF2B5EF4-FFF2-40B4-BE49-F238E27FC236}">
                  <a16:creationId xmlns:a16="http://schemas.microsoft.com/office/drawing/2014/main" id="{50B3BC20-64BA-214A-8648-438E4D85B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238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9" name="Freeform 86">
              <a:extLst>
                <a:ext uri="{FF2B5EF4-FFF2-40B4-BE49-F238E27FC236}">
                  <a16:creationId xmlns:a16="http://schemas.microsoft.com/office/drawing/2014/main" id="{DE0B187D-E893-FF48-8AF3-D22CC7E64C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061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0" name="Freeform 87">
              <a:extLst>
                <a:ext uri="{FF2B5EF4-FFF2-40B4-BE49-F238E27FC236}">
                  <a16:creationId xmlns:a16="http://schemas.microsoft.com/office/drawing/2014/main" id="{BC165912-B416-0946-A916-D4059EA7F6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88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1" name="Freeform 88">
              <a:extLst>
                <a:ext uri="{FF2B5EF4-FFF2-40B4-BE49-F238E27FC236}">
                  <a16:creationId xmlns:a16="http://schemas.microsoft.com/office/drawing/2014/main" id="{34BC5BA7-3B46-4D46-BFC1-7892367185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707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2" name="Freeform 89">
              <a:extLst>
                <a:ext uri="{FF2B5EF4-FFF2-40B4-BE49-F238E27FC236}">
                  <a16:creationId xmlns:a16="http://schemas.microsoft.com/office/drawing/2014/main" id="{E5D35A1A-B779-0349-B5B3-A733A6DEA5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530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3" name="Freeform 90">
              <a:extLst>
                <a:ext uri="{FF2B5EF4-FFF2-40B4-BE49-F238E27FC236}">
                  <a16:creationId xmlns:a16="http://schemas.microsoft.com/office/drawing/2014/main" id="{326C3AC5-87E9-8741-832F-F07AADF684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35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4" name="Freeform 91">
              <a:extLst>
                <a:ext uri="{FF2B5EF4-FFF2-40B4-BE49-F238E27FC236}">
                  <a16:creationId xmlns:a16="http://schemas.microsoft.com/office/drawing/2014/main" id="{CE7A66AC-659C-5149-A599-5E993BC273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177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5" name="Freeform 92">
              <a:extLst>
                <a:ext uri="{FF2B5EF4-FFF2-40B4-BE49-F238E27FC236}">
                  <a16:creationId xmlns:a16="http://schemas.microsoft.com/office/drawing/2014/main" id="{16C4A6FA-6D70-3D4D-AA02-10752F0DF7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000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6" name="Freeform 93">
              <a:extLst>
                <a:ext uri="{FF2B5EF4-FFF2-40B4-BE49-F238E27FC236}">
                  <a16:creationId xmlns:a16="http://schemas.microsoft.com/office/drawing/2014/main" id="{1ABEB16B-56C9-9541-A619-E67B898BEB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823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7" name="Freeform 94">
              <a:extLst>
                <a:ext uri="{FF2B5EF4-FFF2-40B4-BE49-F238E27FC236}">
                  <a16:creationId xmlns:a16="http://schemas.microsoft.com/office/drawing/2014/main" id="{CFC380E8-C890-C046-A7DD-1F5D3E017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646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8" name="Freeform 95">
              <a:extLst>
                <a:ext uri="{FF2B5EF4-FFF2-40B4-BE49-F238E27FC236}">
                  <a16:creationId xmlns:a16="http://schemas.microsoft.com/office/drawing/2014/main" id="{371A4E42-80B9-C545-96C8-94ACB744F5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469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9" name="Freeform 96">
              <a:extLst>
                <a:ext uri="{FF2B5EF4-FFF2-40B4-BE49-F238E27FC236}">
                  <a16:creationId xmlns:a16="http://schemas.microsoft.com/office/drawing/2014/main" id="{9B99A996-23B5-6A4E-8533-5525DFDED7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292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0" name="Freeform 97">
              <a:extLst>
                <a:ext uri="{FF2B5EF4-FFF2-40B4-BE49-F238E27FC236}">
                  <a16:creationId xmlns:a16="http://schemas.microsoft.com/office/drawing/2014/main" id="{4FBCD335-AC02-9E4E-A051-21B0E08281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115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1" name="Freeform 98">
              <a:extLst>
                <a:ext uri="{FF2B5EF4-FFF2-40B4-BE49-F238E27FC236}">
                  <a16:creationId xmlns:a16="http://schemas.microsoft.com/office/drawing/2014/main" id="{C9B518C2-CB85-D948-BE52-A3DC890AE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2578" cy="1769"/>
            </a:xfrm>
            <a:custGeom>
              <a:avLst/>
              <a:gdLst>
                <a:gd name="T0" fmla="*/ 0 w 4769"/>
                <a:gd name="T1" fmla="*/ 24 h 3268"/>
                <a:gd name="T2" fmla="*/ 0 w 4769"/>
                <a:gd name="T3" fmla="*/ 24 h 3268"/>
                <a:gd name="T4" fmla="*/ 35 w 4769"/>
                <a:gd name="T5" fmla="*/ 0 h 32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69" h="3268">
                  <a:moveTo>
                    <a:pt x="0" y="3268"/>
                  </a:moveTo>
                  <a:lnTo>
                    <a:pt x="0" y="3268"/>
                  </a:lnTo>
                  <a:lnTo>
                    <a:pt x="4769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2" name="Rectangle 103">
              <a:extLst>
                <a:ext uri="{FF2B5EF4-FFF2-40B4-BE49-F238E27FC236}">
                  <a16:creationId xmlns:a16="http://schemas.microsoft.com/office/drawing/2014/main" id="{FDB4318F-CC26-134A-9BAD-3780FB4A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2626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3" name="Rectangle 10">
            <a:extLst>
              <a:ext uri="{FF2B5EF4-FFF2-40B4-BE49-F238E27FC236}">
                <a16:creationId xmlns:a16="http://schemas.microsoft.com/office/drawing/2014/main" id="{1B5184EC-72FD-B64A-9E1B-F9447F233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0525" y="6256534"/>
            <a:ext cx="431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rgbClr val="7E002F"/>
                </a:solidFill>
              </a:rPr>
              <a:t>X</a:t>
            </a:r>
            <a:endParaRPr lang="nl-BE" altLang="nl-BE" sz="2400" baseline="0" dirty="0"/>
          </a:p>
        </p:txBody>
      </p:sp>
      <p:sp>
        <p:nvSpPr>
          <p:cNvPr id="94" name="Rectangle 10">
            <a:extLst>
              <a:ext uri="{FF2B5EF4-FFF2-40B4-BE49-F238E27FC236}">
                <a16:creationId xmlns:a16="http://schemas.microsoft.com/office/drawing/2014/main" id="{94C6E777-F3F4-2743-9175-1BA7F82B5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662" y="3535559"/>
            <a:ext cx="360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endParaRPr lang="nl-BE" altLang="nl-BE" sz="2400" baseline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6" name="Rectangle 101">
            <a:extLst>
              <a:ext uri="{FF2B5EF4-FFF2-40B4-BE49-F238E27FC236}">
                <a16:creationId xmlns:a16="http://schemas.microsoft.com/office/drawing/2014/main" id="{8729E46B-6CD3-6244-AA4B-79CF0ABE0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143" y="5107087"/>
            <a:ext cx="592138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100" baseline="0">
                <a:solidFill>
                  <a:srgbClr val="000000"/>
                </a:solidFill>
                <a:latin typeface="Arial" panose="020B0604020202020204" pitchFamily="34" charset="0"/>
              </a:rPr>
              <a:t>Intercept</a:t>
            </a: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7" name="Rectangle 10">
            <a:extLst>
              <a:ext uri="{FF2B5EF4-FFF2-40B4-BE49-F238E27FC236}">
                <a16:creationId xmlns:a16="http://schemas.microsoft.com/office/drawing/2014/main" id="{BAC312F6-B68F-1548-ACD4-7DE86058C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9259" y="1575130"/>
            <a:ext cx="4032250" cy="904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1704975" indent="-1704975">
              <a:spcBef>
                <a:spcPct val="20000"/>
              </a:spcBef>
              <a:defRPr/>
            </a:pPr>
            <a:r>
              <a:rPr lang="nl-BE" altLang="nl-BE" u="sng" baseline="0" dirty="0" err="1">
                <a:solidFill>
                  <a:schemeClr val="bg2"/>
                </a:solidFill>
                <a:latin typeface="Verdana" panose="020B0604030504040204" pitchFamily="34" charset="0"/>
              </a:rPr>
              <a:t>Intercept</a:t>
            </a:r>
            <a:r>
              <a:rPr lang="nl-BE" altLang="nl-BE" baseline="0" dirty="0">
                <a:solidFill>
                  <a:schemeClr val="bg2"/>
                </a:solidFill>
                <a:latin typeface="Verdana" panose="020B0604030504040204" pitchFamily="34" charset="0"/>
              </a:rPr>
              <a:t>: ?</a:t>
            </a:r>
            <a:endParaRPr lang="nl-BE" altLang="nl-BE" sz="2000" baseline="0" dirty="0">
              <a:solidFill>
                <a:schemeClr val="bg2"/>
              </a:solidFill>
              <a:latin typeface="Verdana" panose="020B0604030504040204" pitchFamily="34" charset="0"/>
            </a:endParaRPr>
          </a:p>
          <a:p>
            <a:pPr>
              <a:spcBef>
                <a:spcPct val="20000"/>
              </a:spcBef>
              <a:defRPr/>
            </a:pPr>
            <a:endParaRPr lang="nl-BE" altLang="nl-BE" baseline="0" dirty="0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95" name="Freeform 83">
            <a:extLst>
              <a:ext uri="{FF2B5EF4-FFF2-40B4-BE49-F238E27FC236}">
                <a16:creationId xmlns:a16="http://schemas.microsoft.com/office/drawing/2014/main" id="{19EEF2CA-14D9-5F4E-B103-9FCAE25B69F1}"/>
              </a:ext>
            </a:extLst>
          </p:cNvPr>
          <p:cNvSpPr>
            <a:spLocks noEditPoints="1"/>
          </p:cNvSpPr>
          <p:nvPr/>
        </p:nvSpPr>
        <p:spPr bwMode="auto">
          <a:xfrm>
            <a:off x="2925519" y="4522447"/>
            <a:ext cx="4086225" cy="0"/>
          </a:xfrm>
          <a:custGeom>
            <a:avLst/>
            <a:gdLst>
              <a:gd name="T0" fmla="*/ 1 w 4762"/>
              <a:gd name="T1" fmla="*/ 1 w 4762"/>
              <a:gd name="T2" fmla="*/ 2 w 4762"/>
              <a:gd name="T3" fmla="*/ 2 w 4762"/>
              <a:gd name="T4" fmla="*/ 3 w 4762"/>
              <a:gd name="T5" fmla="*/ 3 w 4762"/>
              <a:gd name="T6" fmla="*/ 4 w 4762"/>
              <a:gd name="T7" fmla="*/ 5 w 4762"/>
              <a:gd name="T8" fmla="*/ 5 w 4762"/>
              <a:gd name="T9" fmla="*/ 6 w 4762"/>
              <a:gd name="T10" fmla="*/ 7 w 4762"/>
              <a:gd name="T11" fmla="*/ 8 w 4762"/>
              <a:gd name="T12" fmla="*/ 8 w 4762"/>
              <a:gd name="T13" fmla="*/ 9 w 4762"/>
              <a:gd name="T14" fmla="*/ 9 w 4762"/>
              <a:gd name="T15" fmla="*/ 10 w 4762"/>
              <a:gd name="T16" fmla="*/ 11 w 4762"/>
              <a:gd name="T17" fmla="*/ 11 w 4762"/>
              <a:gd name="T18" fmla="*/ 12 w 4762"/>
              <a:gd name="T19" fmla="*/ 13 w 4762"/>
              <a:gd name="T20" fmla="*/ 13 w 4762"/>
              <a:gd name="T21" fmla="*/ 14 w 4762"/>
              <a:gd name="T22" fmla="*/ 15 w 4762"/>
              <a:gd name="T23" fmla="*/ 15 w 4762"/>
              <a:gd name="T24" fmla="*/ 16 w 4762"/>
              <a:gd name="T25" fmla="*/ 17 w 4762"/>
              <a:gd name="T26" fmla="*/ 17 w 4762"/>
              <a:gd name="T27" fmla="*/ 18 w 4762"/>
              <a:gd name="T28" fmla="*/ 19 w 4762"/>
              <a:gd name="T29" fmla="*/ 19 w 4762"/>
              <a:gd name="T30" fmla="*/ 20 w 4762"/>
              <a:gd name="T31" fmla="*/ 21 w 4762"/>
              <a:gd name="T32" fmla="*/ 21 w 4762"/>
              <a:gd name="T33" fmla="*/ 22 w 4762"/>
              <a:gd name="T34" fmla="*/ 23 w 4762"/>
              <a:gd name="T35" fmla="*/ 23 w 4762"/>
              <a:gd name="T36" fmla="*/ 24 w 4762"/>
              <a:gd name="T37" fmla="*/ 24 w 4762"/>
              <a:gd name="T38" fmla="*/ 25 w 4762"/>
              <a:gd name="T39" fmla="*/ 26 w 4762"/>
              <a:gd name="T40" fmla="*/ 26 w 4762"/>
              <a:gd name="T41" fmla="*/ 27 w 4762"/>
              <a:gd name="T42" fmla="*/ 28 w 4762"/>
              <a:gd name="T43" fmla="*/ 28 w 4762"/>
              <a:gd name="T44" fmla="*/ 29 w 4762"/>
              <a:gd name="T45" fmla="*/ 30 w 4762"/>
              <a:gd name="T46" fmla="*/ 30 w 4762"/>
              <a:gd name="T47" fmla="*/ 31 w 4762"/>
              <a:gd name="T48" fmla="*/ 31 w 4762"/>
              <a:gd name="T49" fmla="*/ 32 w 4762"/>
              <a:gd name="T50" fmla="*/ 33 w 4762"/>
              <a:gd name="T51" fmla="*/ 34 w 4762"/>
              <a:gd name="T52" fmla="*/ 34 w 4762"/>
              <a:gd name="T53" fmla="*/ 35 w 476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54">
                <a:pos x="T0" y="0"/>
              </a:cxn>
              <a:cxn ang="T55">
                <a:pos x="T1" y="0"/>
              </a:cxn>
              <a:cxn ang="T56">
                <a:pos x="T2" y="0"/>
              </a:cxn>
              <a:cxn ang="T57">
                <a:pos x="T3" y="0"/>
              </a:cxn>
              <a:cxn ang="T58">
                <a:pos x="T4" y="0"/>
              </a:cxn>
              <a:cxn ang="T59">
                <a:pos x="T5" y="0"/>
              </a:cxn>
              <a:cxn ang="T60">
                <a:pos x="T6" y="0"/>
              </a:cxn>
              <a:cxn ang="T61">
                <a:pos x="T7" y="0"/>
              </a:cxn>
              <a:cxn ang="T62">
                <a:pos x="T8" y="0"/>
              </a:cxn>
              <a:cxn ang="T63">
                <a:pos x="T9" y="0"/>
              </a:cxn>
              <a:cxn ang="T64">
                <a:pos x="T10" y="0"/>
              </a:cxn>
              <a:cxn ang="T65">
                <a:pos x="T11" y="0"/>
              </a:cxn>
              <a:cxn ang="T66">
                <a:pos x="T12" y="0"/>
              </a:cxn>
              <a:cxn ang="T67">
                <a:pos x="T13" y="0"/>
              </a:cxn>
              <a:cxn ang="T68">
                <a:pos x="T14" y="0"/>
              </a:cxn>
              <a:cxn ang="T69">
                <a:pos x="T15" y="0"/>
              </a:cxn>
              <a:cxn ang="T70">
                <a:pos x="T16" y="0"/>
              </a:cxn>
              <a:cxn ang="T71">
                <a:pos x="T17" y="0"/>
              </a:cxn>
              <a:cxn ang="T72">
                <a:pos x="T18" y="0"/>
              </a:cxn>
              <a:cxn ang="T73">
                <a:pos x="T19" y="0"/>
              </a:cxn>
              <a:cxn ang="T74">
                <a:pos x="T20" y="0"/>
              </a:cxn>
              <a:cxn ang="T75">
                <a:pos x="T21" y="0"/>
              </a:cxn>
              <a:cxn ang="T76">
                <a:pos x="T22" y="0"/>
              </a:cxn>
              <a:cxn ang="T77">
                <a:pos x="T23" y="0"/>
              </a:cxn>
              <a:cxn ang="T78">
                <a:pos x="T24" y="0"/>
              </a:cxn>
              <a:cxn ang="T79">
                <a:pos x="T25" y="0"/>
              </a:cxn>
              <a:cxn ang="T80">
                <a:pos x="T26" y="0"/>
              </a:cxn>
              <a:cxn ang="T81">
                <a:pos x="T27" y="0"/>
              </a:cxn>
              <a:cxn ang="T82">
                <a:pos x="T28" y="0"/>
              </a:cxn>
              <a:cxn ang="T83">
                <a:pos x="T29" y="0"/>
              </a:cxn>
              <a:cxn ang="T84">
                <a:pos x="T30" y="0"/>
              </a:cxn>
              <a:cxn ang="T85">
                <a:pos x="T31" y="0"/>
              </a:cxn>
              <a:cxn ang="T86">
                <a:pos x="T32" y="0"/>
              </a:cxn>
              <a:cxn ang="T87">
                <a:pos x="T33" y="0"/>
              </a:cxn>
              <a:cxn ang="T88">
                <a:pos x="T34" y="0"/>
              </a:cxn>
              <a:cxn ang="T89">
                <a:pos x="T35" y="0"/>
              </a:cxn>
              <a:cxn ang="T90">
                <a:pos x="T36" y="0"/>
              </a:cxn>
              <a:cxn ang="T91">
                <a:pos x="T37" y="0"/>
              </a:cxn>
              <a:cxn ang="T92">
                <a:pos x="T38" y="0"/>
              </a:cxn>
              <a:cxn ang="T93">
                <a:pos x="T39" y="0"/>
              </a:cxn>
              <a:cxn ang="T94">
                <a:pos x="T40" y="0"/>
              </a:cxn>
              <a:cxn ang="T95">
                <a:pos x="T41" y="0"/>
              </a:cxn>
              <a:cxn ang="T96">
                <a:pos x="T42" y="0"/>
              </a:cxn>
              <a:cxn ang="T97">
                <a:pos x="T43" y="0"/>
              </a:cxn>
              <a:cxn ang="T98">
                <a:pos x="T44" y="0"/>
              </a:cxn>
              <a:cxn ang="T99">
                <a:pos x="T45" y="0"/>
              </a:cxn>
              <a:cxn ang="T100">
                <a:pos x="T46" y="0"/>
              </a:cxn>
              <a:cxn ang="T101">
                <a:pos x="T47" y="0"/>
              </a:cxn>
              <a:cxn ang="T102">
                <a:pos x="T48" y="0"/>
              </a:cxn>
              <a:cxn ang="T103">
                <a:pos x="T49" y="0"/>
              </a:cxn>
              <a:cxn ang="T104">
                <a:pos x="T50" y="0"/>
              </a:cxn>
              <a:cxn ang="T105">
                <a:pos x="T51" y="0"/>
              </a:cxn>
              <a:cxn ang="T106">
                <a:pos x="T52" y="0"/>
              </a:cxn>
              <a:cxn ang="T107">
                <a:pos x="T53" y="0"/>
              </a:cxn>
            </a:cxnLst>
            <a:rect l="0" t="0" r="r" b="b"/>
            <a:pathLst>
              <a:path w="4762">
                <a:moveTo>
                  <a:pt x="0" y="0"/>
                </a:moveTo>
                <a:lnTo>
                  <a:pt x="0" y="0"/>
                </a:lnTo>
                <a:lnTo>
                  <a:pt x="13" y="0"/>
                </a:lnTo>
                <a:moveTo>
                  <a:pt x="53" y="0"/>
                </a:moveTo>
                <a:lnTo>
                  <a:pt x="53" y="0"/>
                </a:lnTo>
                <a:lnTo>
                  <a:pt x="67" y="0"/>
                </a:lnTo>
                <a:moveTo>
                  <a:pt x="107" y="0"/>
                </a:moveTo>
                <a:lnTo>
                  <a:pt x="107" y="0"/>
                </a:lnTo>
                <a:lnTo>
                  <a:pt x="120" y="0"/>
                </a:lnTo>
                <a:moveTo>
                  <a:pt x="160" y="0"/>
                </a:moveTo>
                <a:lnTo>
                  <a:pt x="160" y="0"/>
                </a:lnTo>
                <a:lnTo>
                  <a:pt x="173" y="0"/>
                </a:lnTo>
                <a:moveTo>
                  <a:pt x="213" y="0"/>
                </a:moveTo>
                <a:lnTo>
                  <a:pt x="213" y="0"/>
                </a:lnTo>
                <a:lnTo>
                  <a:pt x="227" y="0"/>
                </a:lnTo>
                <a:moveTo>
                  <a:pt x="267" y="0"/>
                </a:moveTo>
                <a:lnTo>
                  <a:pt x="267" y="0"/>
                </a:lnTo>
                <a:lnTo>
                  <a:pt x="280" y="0"/>
                </a:lnTo>
                <a:moveTo>
                  <a:pt x="320" y="0"/>
                </a:moveTo>
                <a:lnTo>
                  <a:pt x="320" y="0"/>
                </a:lnTo>
                <a:lnTo>
                  <a:pt x="334" y="0"/>
                </a:lnTo>
                <a:moveTo>
                  <a:pt x="374" y="0"/>
                </a:moveTo>
                <a:lnTo>
                  <a:pt x="374" y="0"/>
                </a:lnTo>
                <a:lnTo>
                  <a:pt x="387" y="0"/>
                </a:lnTo>
                <a:moveTo>
                  <a:pt x="427" y="0"/>
                </a:moveTo>
                <a:lnTo>
                  <a:pt x="427" y="0"/>
                </a:lnTo>
                <a:lnTo>
                  <a:pt x="440" y="0"/>
                </a:lnTo>
                <a:moveTo>
                  <a:pt x="480" y="0"/>
                </a:moveTo>
                <a:lnTo>
                  <a:pt x="480" y="0"/>
                </a:lnTo>
                <a:lnTo>
                  <a:pt x="494" y="0"/>
                </a:lnTo>
                <a:moveTo>
                  <a:pt x="534" y="0"/>
                </a:moveTo>
                <a:lnTo>
                  <a:pt x="534" y="0"/>
                </a:lnTo>
                <a:lnTo>
                  <a:pt x="547" y="0"/>
                </a:lnTo>
                <a:moveTo>
                  <a:pt x="587" y="0"/>
                </a:moveTo>
                <a:lnTo>
                  <a:pt x="587" y="0"/>
                </a:lnTo>
                <a:lnTo>
                  <a:pt x="600" y="0"/>
                </a:lnTo>
                <a:moveTo>
                  <a:pt x="640" y="0"/>
                </a:moveTo>
                <a:lnTo>
                  <a:pt x="640" y="0"/>
                </a:lnTo>
                <a:lnTo>
                  <a:pt x="654" y="0"/>
                </a:lnTo>
                <a:moveTo>
                  <a:pt x="694" y="0"/>
                </a:moveTo>
                <a:lnTo>
                  <a:pt x="694" y="0"/>
                </a:lnTo>
                <a:lnTo>
                  <a:pt x="707" y="0"/>
                </a:lnTo>
                <a:moveTo>
                  <a:pt x="747" y="0"/>
                </a:moveTo>
                <a:lnTo>
                  <a:pt x="747" y="0"/>
                </a:lnTo>
                <a:lnTo>
                  <a:pt x="760" y="0"/>
                </a:lnTo>
                <a:moveTo>
                  <a:pt x="800" y="0"/>
                </a:moveTo>
                <a:lnTo>
                  <a:pt x="800" y="0"/>
                </a:lnTo>
                <a:lnTo>
                  <a:pt x="814" y="0"/>
                </a:lnTo>
                <a:moveTo>
                  <a:pt x="854" y="0"/>
                </a:moveTo>
                <a:lnTo>
                  <a:pt x="854" y="0"/>
                </a:lnTo>
                <a:lnTo>
                  <a:pt x="867" y="0"/>
                </a:lnTo>
                <a:moveTo>
                  <a:pt x="907" y="0"/>
                </a:moveTo>
                <a:lnTo>
                  <a:pt x="907" y="0"/>
                </a:lnTo>
                <a:lnTo>
                  <a:pt x="920" y="0"/>
                </a:lnTo>
                <a:moveTo>
                  <a:pt x="960" y="0"/>
                </a:moveTo>
                <a:lnTo>
                  <a:pt x="960" y="0"/>
                </a:lnTo>
                <a:lnTo>
                  <a:pt x="974" y="0"/>
                </a:lnTo>
                <a:moveTo>
                  <a:pt x="1014" y="0"/>
                </a:moveTo>
                <a:lnTo>
                  <a:pt x="1014" y="0"/>
                </a:lnTo>
                <a:lnTo>
                  <a:pt x="1027" y="0"/>
                </a:lnTo>
                <a:moveTo>
                  <a:pt x="1067" y="0"/>
                </a:moveTo>
                <a:lnTo>
                  <a:pt x="1067" y="0"/>
                </a:lnTo>
                <a:lnTo>
                  <a:pt x="1080" y="0"/>
                </a:lnTo>
                <a:moveTo>
                  <a:pt x="1121" y="0"/>
                </a:moveTo>
                <a:lnTo>
                  <a:pt x="1121" y="0"/>
                </a:lnTo>
                <a:lnTo>
                  <a:pt x="1134" y="0"/>
                </a:lnTo>
                <a:moveTo>
                  <a:pt x="1174" y="0"/>
                </a:moveTo>
                <a:lnTo>
                  <a:pt x="1174" y="0"/>
                </a:lnTo>
                <a:lnTo>
                  <a:pt x="1187" y="0"/>
                </a:lnTo>
                <a:moveTo>
                  <a:pt x="1227" y="0"/>
                </a:moveTo>
                <a:lnTo>
                  <a:pt x="1227" y="0"/>
                </a:lnTo>
                <a:lnTo>
                  <a:pt x="1241" y="0"/>
                </a:lnTo>
                <a:moveTo>
                  <a:pt x="1281" y="0"/>
                </a:moveTo>
                <a:lnTo>
                  <a:pt x="1281" y="0"/>
                </a:lnTo>
                <a:lnTo>
                  <a:pt x="1294" y="0"/>
                </a:lnTo>
                <a:moveTo>
                  <a:pt x="1334" y="0"/>
                </a:moveTo>
                <a:lnTo>
                  <a:pt x="1334" y="0"/>
                </a:lnTo>
                <a:lnTo>
                  <a:pt x="1347" y="0"/>
                </a:lnTo>
                <a:moveTo>
                  <a:pt x="1387" y="0"/>
                </a:moveTo>
                <a:lnTo>
                  <a:pt x="1387" y="0"/>
                </a:lnTo>
                <a:lnTo>
                  <a:pt x="1401" y="0"/>
                </a:lnTo>
                <a:moveTo>
                  <a:pt x="1441" y="0"/>
                </a:moveTo>
                <a:lnTo>
                  <a:pt x="1441" y="0"/>
                </a:lnTo>
                <a:lnTo>
                  <a:pt x="1454" y="0"/>
                </a:lnTo>
                <a:moveTo>
                  <a:pt x="1494" y="0"/>
                </a:moveTo>
                <a:lnTo>
                  <a:pt x="1494" y="0"/>
                </a:lnTo>
                <a:lnTo>
                  <a:pt x="1507" y="0"/>
                </a:lnTo>
                <a:moveTo>
                  <a:pt x="1547" y="0"/>
                </a:moveTo>
                <a:lnTo>
                  <a:pt x="1547" y="0"/>
                </a:lnTo>
                <a:lnTo>
                  <a:pt x="1561" y="0"/>
                </a:lnTo>
                <a:moveTo>
                  <a:pt x="1601" y="0"/>
                </a:moveTo>
                <a:lnTo>
                  <a:pt x="1601" y="0"/>
                </a:lnTo>
                <a:lnTo>
                  <a:pt x="1614" y="0"/>
                </a:lnTo>
                <a:moveTo>
                  <a:pt x="1654" y="0"/>
                </a:moveTo>
                <a:lnTo>
                  <a:pt x="1654" y="0"/>
                </a:lnTo>
                <a:lnTo>
                  <a:pt x="1667" y="0"/>
                </a:lnTo>
                <a:moveTo>
                  <a:pt x="1707" y="0"/>
                </a:moveTo>
                <a:lnTo>
                  <a:pt x="1707" y="0"/>
                </a:lnTo>
                <a:lnTo>
                  <a:pt x="1721" y="0"/>
                </a:lnTo>
                <a:moveTo>
                  <a:pt x="1761" y="0"/>
                </a:moveTo>
                <a:lnTo>
                  <a:pt x="1761" y="0"/>
                </a:lnTo>
                <a:lnTo>
                  <a:pt x="1774" y="0"/>
                </a:lnTo>
                <a:moveTo>
                  <a:pt x="1814" y="0"/>
                </a:moveTo>
                <a:lnTo>
                  <a:pt x="1814" y="0"/>
                </a:lnTo>
                <a:lnTo>
                  <a:pt x="1827" y="0"/>
                </a:lnTo>
                <a:moveTo>
                  <a:pt x="1867" y="0"/>
                </a:moveTo>
                <a:lnTo>
                  <a:pt x="1867" y="0"/>
                </a:lnTo>
                <a:lnTo>
                  <a:pt x="1881" y="0"/>
                </a:lnTo>
                <a:moveTo>
                  <a:pt x="1921" y="0"/>
                </a:moveTo>
                <a:lnTo>
                  <a:pt x="1921" y="0"/>
                </a:lnTo>
                <a:lnTo>
                  <a:pt x="1934" y="0"/>
                </a:lnTo>
                <a:moveTo>
                  <a:pt x="1974" y="0"/>
                </a:moveTo>
                <a:lnTo>
                  <a:pt x="1974" y="0"/>
                </a:lnTo>
                <a:lnTo>
                  <a:pt x="1988" y="0"/>
                </a:lnTo>
                <a:moveTo>
                  <a:pt x="2028" y="0"/>
                </a:moveTo>
                <a:lnTo>
                  <a:pt x="2028" y="0"/>
                </a:lnTo>
                <a:lnTo>
                  <a:pt x="2041" y="0"/>
                </a:lnTo>
                <a:moveTo>
                  <a:pt x="2081" y="0"/>
                </a:moveTo>
                <a:lnTo>
                  <a:pt x="2081" y="0"/>
                </a:lnTo>
                <a:lnTo>
                  <a:pt x="2094" y="0"/>
                </a:lnTo>
                <a:moveTo>
                  <a:pt x="2134" y="0"/>
                </a:moveTo>
                <a:lnTo>
                  <a:pt x="2134" y="0"/>
                </a:lnTo>
                <a:lnTo>
                  <a:pt x="2148" y="0"/>
                </a:lnTo>
                <a:moveTo>
                  <a:pt x="2188" y="0"/>
                </a:moveTo>
                <a:lnTo>
                  <a:pt x="2188" y="0"/>
                </a:lnTo>
                <a:lnTo>
                  <a:pt x="2201" y="0"/>
                </a:lnTo>
                <a:moveTo>
                  <a:pt x="2241" y="0"/>
                </a:moveTo>
                <a:lnTo>
                  <a:pt x="2241" y="0"/>
                </a:lnTo>
                <a:lnTo>
                  <a:pt x="2254" y="0"/>
                </a:lnTo>
                <a:moveTo>
                  <a:pt x="2294" y="0"/>
                </a:moveTo>
                <a:lnTo>
                  <a:pt x="2294" y="0"/>
                </a:lnTo>
                <a:lnTo>
                  <a:pt x="2308" y="0"/>
                </a:lnTo>
                <a:moveTo>
                  <a:pt x="2348" y="0"/>
                </a:moveTo>
                <a:lnTo>
                  <a:pt x="2348" y="0"/>
                </a:lnTo>
                <a:lnTo>
                  <a:pt x="2361" y="0"/>
                </a:lnTo>
                <a:moveTo>
                  <a:pt x="2401" y="0"/>
                </a:moveTo>
                <a:lnTo>
                  <a:pt x="2401" y="0"/>
                </a:lnTo>
                <a:lnTo>
                  <a:pt x="2414" y="0"/>
                </a:lnTo>
                <a:moveTo>
                  <a:pt x="2454" y="0"/>
                </a:moveTo>
                <a:lnTo>
                  <a:pt x="2454" y="0"/>
                </a:lnTo>
                <a:lnTo>
                  <a:pt x="2468" y="0"/>
                </a:lnTo>
                <a:moveTo>
                  <a:pt x="2508" y="0"/>
                </a:moveTo>
                <a:lnTo>
                  <a:pt x="2508" y="0"/>
                </a:lnTo>
                <a:lnTo>
                  <a:pt x="2521" y="0"/>
                </a:lnTo>
                <a:moveTo>
                  <a:pt x="2561" y="0"/>
                </a:moveTo>
                <a:lnTo>
                  <a:pt x="2561" y="0"/>
                </a:lnTo>
                <a:lnTo>
                  <a:pt x="2574" y="0"/>
                </a:lnTo>
                <a:moveTo>
                  <a:pt x="2614" y="0"/>
                </a:moveTo>
                <a:lnTo>
                  <a:pt x="2614" y="0"/>
                </a:lnTo>
                <a:lnTo>
                  <a:pt x="2628" y="0"/>
                </a:lnTo>
                <a:moveTo>
                  <a:pt x="2668" y="0"/>
                </a:moveTo>
                <a:lnTo>
                  <a:pt x="2668" y="0"/>
                </a:lnTo>
                <a:lnTo>
                  <a:pt x="2681" y="0"/>
                </a:lnTo>
                <a:moveTo>
                  <a:pt x="2721" y="0"/>
                </a:moveTo>
                <a:lnTo>
                  <a:pt x="2721" y="0"/>
                </a:lnTo>
                <a:lnTo>
                  <a:pt x="2735" y="0"/>
                </a:lnTo>
                <a:moveTo>
                  <a:pt x="2775" y="0"/>
                </a:moveTo>
                <a:lnTo>
                  <a:pt x="2775" y="0"/>
                </a:lnTo>
                <a:lnTo>
                  <a:pt x="2788" y="0"/>
                </a:lnTo>
                <a:moveTo>
                  <a:pt x="2828" y="0"/>
                </a:moveTo>
                <a:lnTo>
                  <a:pt x="2828" y="0"/>
                </a:lnTo>
                <a:lnTo>
                  <a:pt x="2841" y="0"/>
                </a:lnTo>
                <a:moveTo>
                  <a:pt x="2881" y="0"/>
                </a:moveTo>
                <a:lnTo>
                  <a:pt x="2881" y="0"/>
                </a:lnTo>
                <a:lnTo>
                  <a:pt x="2895" y="0"/>
                </a:lnTo>
                <a:moveTo>
                  <a:pt x="2935" y="0"/>
                </a:moveTo>
                <a:lnTo>
                  <a:pt x="2935" y="0"/>
                </a:lnTo>
                <a:lnTo>
                  <a:pt x="2948" y="0"/>
                </a:lnTo>
                <a:moveTo>
                  <a:pt x="2988" y="0"/>
                </a:moveTo>
                <a:lnTo>
                  <a:pt x="2988" y="0"/>
                </a:lnTo>
                <a:lnTo>
                  <a:pt x="3001" y="0"/>
                </a:lnTo>
                <a:moveTo>
                  <a:pt x="3041" y="0"/>
                </a:moveTo>
                <a:lnTo>
                  <a:pt x="3041" y="0"/>
                </a:lnTo>
                <a:lnTo>
                  <a:pt x="3055" y="0"/>
                </a:lnTo>
                <a:moveTo>
                  <a:pt x="3095" y="0"/>
                </a:moveTo>
                <a:lnTo>
                  <a:pt x="3095" y="0"/>
                </a:lnTo>
                <a:lnTo>
                  <a:pt x="3108" y="0"/>
                </a:lnTo>
                <a:moveTo>
                  <a:pt x="3148" y="0"/>
                </a:moveTo>
                <a:lnTo>
                  <a:pt x="3148" y="0"/>
                </a:lnTo>
                <a:lnTo>
                  <a:pt x="3161" y="0"/>
                </a:lnTo>
                <a:moveTo>
                  <a:pt x="3201" y="0"/>
                </a:moveTo>
                <a:lnTo>
                  <a:pt x="3201" y="0"/>
                </a:lnTo>
                <a:lnTo>
                  <a:pt x="3215" y="0"/>
                </a:lnTo>
                <a:moveTo>
                  <a:pt x="3255" y="0"/>
                </a:moveTo>
                <a:lnTo>
                  <a:pt x="3255" y="0"/>
                </a:lnTo>
                <a:lnTo>
                  <a:pt x="3268" y="0"/>
                </a:lnTo>
                <a:moveTo>
                  <a:pt x="3308" y="0"/>
                </a:moveTo>
                <a:lnTo>
                  <a:pt x="3308" y="0"/>
                </a:lnTo>
                <a:lnTo>
                  <a:pt x="3321" y="0"/>
                </a:lnTo>
                <a:moveTo>
                  <a:pt x="3361" y="0"/>
                </a:moveTo>
                <a:lnTo>
                  <a:pt x="3361" y="0"/>
                </a:lnTo>
                <a:lnTo>
                  <a:pt x="3375" y="0"/>
                </a:lnTo>
                <a:moveTo>
                  <a:pt x="3415" y="0"/>
                </a:moveTo>
                <a:lnTo>
                  <a:pt x="3415" y="0"/>
                </a:lnTo>
                <a:lnTo>
                  <a:pt x="3428" y="0"/>
                </a:lnTo>
                <a:moveTo>
                  <a:pt x="3468" y="0"/>
                </a:moveTo>
                <a:lnTo>
                  <a:pt x="3468" y="0"/>
                </a:lnTo>
                <a:lnTo>
                  <a:pt x="3482" y="0"/>
                </a:lnTo>
                <a:moveTo>
                  <a:pt x="3522" y="0"/>
                </a:moveTo>
                <a:lnTo>
                  <a:pt x="3522" y="0"/>
                </a:lnTo>
                <a:lnTo>
                  <a:pt x="3535" y="0"/>
                </a:lnTo>
                <a:moveTo>
                  <a:pt x="3575" y="0"/>
                </a:moveTo>
                <a:lnTo>
                  <a:pt x="3575" y="0"/>
                </a:lnTo>
                <a:lnTo>
                  <a:pt x="3588" y="0"/>
                </a:lnTo>
                <a:moveTo>
                  <a:pt x="3628" y="0"/>
                </a:moveTo>
                <a:lnTo>
                  <a:pt x="3628" y="0"/>
                </a:lnTo>
                <a:lnTo>
                  <a:pt x="3642" y="0"/>
                </a:lnTo>
                <a:moveTo>
                  <a:pt x="3682" y="0"/>
                </a:moveTo>
                <a:lnTo>
                  <a:pt x="3682" y="0"/>
                </a:lnTo>
                <a:lnTo>
                  <a:pt x="3695" y="0"/>
                </a:lnTo>
                <a:moveTo>
                  <a:pt x="3735" y="0"/>
                </a:moveTo>
                <a:lnTo>
                  <a:pt x="3735" y="0"/>
                </a:lnTo>
                <a:lnTo>
                  <a:pt x="3748" y="0"/>
                </a:lnTo>
                <a:moveTo>
                  <a:pt x="3788" y="0"/>
                </a:moveTo>
                <a:lnTo>
                  <a:pt x="3788" y="0"/>
                </a:lnTo>
                <a:lnTo>
                  <a:pt x="3802" y="0"/>
                </a:lnTo>
                <a:moveTo>
                  <a:pt x="3842" y="0"/>
                </a:moveTo>
                <a:lnTo>
                  <a:pt x="3842" y="0"/>
                </a:lnTo>
                <a:lnTo>
                  <a:pt x="3855" y="0"/>
                </a:lnTo>
                <a:moveTo>
                  <a:pt x="3895" y="0"/>
                </a:moveTo>
                <a:lnTo>
                  <a:pt x="3895" y="0"/>
                </a:lnTo>
                <a:lnTo>
                  <a:pt x="3908" y="0"/>
                </a:lnTo>
                <a:moveTo>
                  <a:pt x="3948" y="0"/>
                </a:moveTo>
                <a:lnTo>
                  <a:pt x="3948" y="0"/>
                </a:lnTo>
                <a:lnTo>
                  <a:pt x="3962" y="0"/>
                </a:lnTo>
                <a:moveTo>
                  <a:pt x="4002" y="0"/>
                </a:moveTo>
                <a:lnTo>
                  <a:pt x="4002" y="0"/>
                </a:lnTo>
                <a:lnTo>
                  <a:pt x="4015" y="0"/>
                </a:lnTo>
                <a:moveTo>
                  <a:pt x="4055" y="0"/>
                </a:moveTo>
                <a:lnTo>
                  <a:pt x="4055" y="0"/>
                </a:lnTo>
                <a:lnTo>
                  <a:pt x="4068" y="0"/>
                </a:lnTo>
                <a:moveTo>
                  <a:pt x="4108" y="0"/>
                </a:moveTo>
                <a:lnTo>
                  <a:pt x="4108" y="0"/>
                </a:lnTo>
                <a:lnTo>
                  <a:pt x="4122" y="0"/>
                </a:lnTo>
                <a:moveTo>
                  <a:pt x="4162" y="0"/>
                </a:moveTo>
                <a:lnTo>
                  <a:pt x="4162" y="0"/>
                </a:lnTo>
                <a:lnTo>
                  <a:pt x="4175" y="0"/>
                </a:lnTo>
                <a:moveTo>
                  <a:pt x="4215" y="0"/>
                </a:moveTo>
                <a:lnTo>
                  <a:pt x="4215" y="0"/>
                </a:lnTo>
                <a:lnTo>
                  <a:pt x="4228" y="0"/>
                </a:lnTo>
                <a:moveTo>
                  <a:pt x="4269" y="0"/>
                </a:moveTo>
                <a:lnTo>
                  <a:pt x="4269" y="0"/>
                </a:lnTo>
                <a:lnTo>
                  <a:pt x="4282" y="0"/>
                </a:lnTo>
                <a:moveTo>
                  <a:pt x="4322" y="0"/>
                </a:moveTo>
                <a:lnTo>
                  <a:pt x="4322" y="0"/>
                </a:lnTo>
                <a:lnTo>
                  <a:pt x="4335" y="0"/>
                </a:lnTo>
                <a:moveTo>
                  <a:pt x="4375" y="0"/>
                </a:moveTo>
                <a:lnTo>
                  <a:pt x="4375" y="0"/>
                </a:lnTo>
                <a:lnTo>
                  <a:pt x="4389" y="0"/>
                </a:lnTo>
                <a:moveTo>
                  <a:pt x="4429" y="0"/>
                </a:moveTo>
                <a:lnTo>
                  <a:pt x="4429" y="0"/>
                </a:lnTo>
                <a:lnTo>
                  <a:pt x="4442" y="0"/>
                </a:lnTo>
                <a:moveTo>
                  <a:pt x="4482" y="0"/>
                </a:moveTo>
                <a:lnTo>
                  <a:pt x="4482" y="0"/>
                </a:lnTo>
                <a:lnTo>
                  <a:pt x="4495" y="0"/>
                </a:lnTo>
                <a:moveTo>
                  <a:pt x="4535" y="0"/>
                </a:moveTo>
                <a:lnTo>
                  <a:pt x="4535" y="0"/>
                </a:lnTo>
                <a:lnTo>
                  <a:pt x="4549" y="0"/>
                </a:lnTo>
                <a:moveTo>
                  <a:pt x="4589" y="0"/>
                </a:moveTo>
                <a:lnTo>
                  <a:pt x="4589" y="0"/>
                </a:lnTo>
                <a:lnTo>
                  <a:pt x="4602" y="0"/>
                </a:lnTo>
                <a:moveTo>
                  <a:pt x="4642" y="0"/>
                </a:moveTo>
                <a:lnTo>
                  <a:pt x="4642" y="0"/>
                </a:lnTo>
                <a:lnTo>
                  <a:pt x="4655" y="0"/>
                </a:lnTo>
                <a:moveTo>
                  <a:pt x="4695" y="0"/>
                </a:moveTo>
                <a:lnTo>
                  <a:pt x="4695" y="0"/>
                </a:lnTo>
                <a:lnTo>
                  <a:pt x="4709" y="0"/>
                </a:lnTo>
                <a:moveTo>
                  <a:pt x="4749" y="0"/>
                </a:moveTo>
                <a:lnTo>
                  <a:pt x="4749" y="0"/>
                </a:lnTo>
                <a:lnTo>
                  <a:pt x="4762" y="0"/>
                </a:lnTo>
              </a:path>
            </a:pathLst>
          </a:custGeom>
          <a:noFill/>
          <a:ln w="28575" cap="rnd">
            <a:solidFill>
              <a:srgbClr val="D3D3D3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96" name="Freeform 96">
            <a:extLst>
              <a:ext uri="{FF2B5EF4-FFF2-40B4-BE49-F238E27FC236}">
                <a16:creationId xmlns:a16="http://schemas.microsoft.com/office/drawing/2014/main" id="{7F77F48E-3E54-0944-9C42-A5E388E9A3E6}"/>
              </a:ext>
            </a:extLst>
          </p:cNvPr>
          <p:cNvSpPr>
            <a:spLocks/>
          </p:cNvSpPr>
          <p:nvPr/>
        </p:nvSpPr>
        <p:spPr bwMode="auto">
          <a:xfrm>
            <a:off x="3744669" y="3962059"/>
            <a:ext cx="0" cy="560387"/>
          </a:xfrm>
          <a:custGeom>
            <a:avLst/>
            <a:gdLst>
              <a:gd name="T0" fmla="*/ 5 h 653"/>
              <a:gd name="T1" fmla="*/ 5 h 653"/>
              <a:gd name="T2" fmla="*/ 0 h 653"/>
              <a:gd name="T3" fmla="*/ 0 60000 65536"/>
              <a:gd name="T4" fmla="*/ 0 60000 65536"/>
              <a:gd name="T5" fmla="*/ 0 60000 65536"/>
            </a:gdLst>
            <a:ahLst/>
            <a:cxnLst>
              <a:cxn ang="T3">
                <a:pos x="0" y="T0"/>
              </a:cxn>
              <a:cxn ang="T4">
                <a:pos x="0" y="T1"/>
              </a:cxn>
              <a:cxn ang="T5">
                <a:pos x="0" y="T2"/>
              </a:cxn>
            </a:cxnLst>
            <a:rect l="0" t="0" r="r" b="b"/>
            <a:pathLst>
              <a:path h="653">
                <a:moveTo>
                  <a:pt x="0" y="653"/>
                </a:moveTo>
                <a:lnTo>
                  <a:pt x="0" y="653"/>
                </a:lnTo>
                <a:lnTo>
                  <a:pt x="0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97" name="Rectangle 98">
            <a:extLst>
              <a:ext uri="{FF2B5EF4-FFF2-40B4-BE49-F238E27FC236}">
                <a16:creationId xmlns:a16="http://schemas.microsoft.com/office/drawing/2014/main" id="{2E1967F8-B89D-D64D-B601-EFF3A0CF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306" y="4393859"/>
            <a:ext cx="215900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100" baseline="0" dirty="0">
                <a:solidFill>
                  <a:srgbClr val="000000"/>
                </a:solidFill>
                <a:latin typeface="Arial" panose="020B0604020202020204" pitchFamily="34" charset="0"/>
              </a:rPr>
              <a:t>+1</a:t>
            </a:r>
            <a:endParaRPr lang="nl-BE" altLang="nl-BE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" name="Rectangle 99">
            <a:extLst>
              <a:ext uri="{FF2B5EF4-FFF2-40B4-BE49-F238E27FC236}">
                <a16:creationId xmlns:a16="http://schemas.microsoft.com/office/drawing/2014/main" id="{198446B8-902B-4644-A492-CA1EFE455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219" y="4152559"/>
            <a:ext cx="1428750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100" baseline="0">
                <a:solidFill>
                  <a:srgbClr val="000000"/>
                </a:solidFill>
                <a:latin typeface="Arial" panose="020B0604020202020204" pitchFamily="34" charset="0"/>
              </a:rPr>
              <a:t>Slope (=hellingsgraad)</a:t>
            </a: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" name="Rectangle 10">
            <a:extLst>
              <a:ext uri="{FF2B5EF4-FFF2-40B4-BE49-F238E27FC236}">
                <a16:creationId xmlns:a16="http://schemas.microsoft.com/office/drawing/2014/main" id="{DC2E7B02-6BC2-1947-802C-FAC0A9BDA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3271" y="1575130"/>
            <a:ext cx="2376488" cy="1273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aseline="0" dirty="0">
                <a:solidFill>
                  <a:schemeClr val="bg2"/>
                </a:solidFill>
              </a:rPr>
              <a:t>Waarde van </a:t>
            </a:r>
            <a:r>
              <a:rPr lang="nl-BE" altLang="nl-BE" sz="2400" b="1" baseline="0" dirty="0">
                <a:solidFill>
                  <a:schemeClr val="bg2"/>
                </a:solidFill>
              </a:rPr>
              <a:t>Y</a:t>
            </a:r>
            <a:r>
              <a:rPr lang="nl-BE" altLang="nl-BE" sz="2400" baseline="0" dirty="0">
                <a:solidFill>
                  <a:schemeClr val="bg2"/>
                </a:solidFill>
              </a:rPr>
              <a:t> indien </a:t>
            </a:r>
            <a:r>
              <a:rPr lang="nl-BE" altLang="nl-BE" sz="2400" b="1" baseline="0" dirty="0">
                <a:solidFill>
                  <a:schemeClr val="bg2"/>
                </a:solidFill>
              </a:rPr>
              <a:t>X</a:t>
            </a:r>
            <a:r>
              <a:rPr lang="nl-BE" altLang="nl-BE" sz="2400" baseline="0" dirty="0">
                <a:solidFill>
                  <a:schemeClr val="bg2"/>
                </a:solidFill>
              </a:rPr>
              <a:t>=0</a:t>
            </a:r>
            <a:endParaRPr lang="nl-BE" altLang="nl-BE" sz="2000" baseline="0" dirty="0">
              <a:solidFill>
                <a:schemeClr val="bg2"/>
              </a:solidFill>
            </a:endParaRPr>
          </a:p>
          <a:p>
            <a:pPr>
              <a:buFontTx/>
              <a:buNone/>
            </a:pPr>
            <a:endParaRPr lang="nl-BE" altLang="nl-BE" sz="2400" baseline="0" dirty="0"/>
          </a:p>
        </p:txBody>
      </p:sp>
      <p:sp>
        <p:nvSpPr>
          <p:cNvPr id="100" name="Rectangle 10">
            <a:extLst>
              <a:ext uri="{FF2B5EF4-FFF2-40B4-BE49-F238E27FC236}">
                <a16:creationId xmlns:a16="http://schemas.microsoft.com/office/drawing/2014/main" id="{1595E978-750D-0744-B5F7-58E29FFA2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5120" y="3380095"/>
            <a:ext cx="3286125" cy="904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1704975" indent="-1704975">
              <a:spcBef>
                <a:spcPct val="20000"/>
              </a:spcBef>
              <a:defRPr/>
            </a:pPr>
            <a:r>
              <a:rPr lang="nl-BE" altLang="nl-BE" u="sng" baseline="0" dirty="0" err="1">
                <a:solidFill>
                  <a:srgbClr val="003D62"/>
                </a:solidFill>
                <a:latin typeface="Verdana" panose="020B0604030504040204" pitchFamily="34" charset="0"/>
              </a:rPr>
              <a:t>Slope</a:t>
            </a:r>
            <a:r>
              <a:rPr lang="nl-BE" altLang="nl-BE" baseline="0" dirty="0">
                <a:solidFill>
                  <a:srgbClr val="003D62"/>
                </a:solidFill>
                <a:latin typeface="Verdana" panose="020B0604030504040204" pitchFamily="34" charset="0"/>
              </a:rPr>
              <a:t>: ?</a:t>
            </a:r>
            <a:endParaRPr lang="nl-BE" altLang="nl-BE" sz="2000" baseline="0" dirty="0">
              <a:solidFill>
                <a:srgbClr val="003D62"/>
              </a:solidFill>
              <a:latin typeface="Verdana" panose="020B0604030504040204" pitchFamily="34" charset="0"/>
            </a:endParaRPr>
          </a:p>
          <a:p>
            <a:pPr>
              <a:spcBef>
                <a:spcPct val="20000"/>
              </a:spcBef>
              <a:defRPr/>
            </a:pPr>
            <a:endParaRPr lang="nl-BE" altLang="nl-BE" baseline="0" dirty="0">
              <a:solidFill>
                <a:srgbClr val="003D62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639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BCFAD-F051-DB4F-B3CE-614E3674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i="1" dirty="0"/>
              <a:t>Functies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6996C30-E5C8-0A45-A822-D812A1645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34</a:t>
            </a:fld>
            <a:endParaRPr lang="nl-BE" dirty="0"/>
          </a:p>
        </p:txBody>
      </p:sp>
      <p:grpSp>
        <p:nvGrpSpPr>
          <p:cNvPr id="11" name="Group 19">
            <a:extLst>
              <a:ext uri="{FF2B5EF4-FFF2-40B4-BE49-F238E27FC236}">
                <a16:creationId xmlns:a16="http://schemas.microsoft.com/office/drawing/2014/main" id="{3BD53ADB-78CC-9042-8CBB-43C650E95A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27238" y="1525125"/>
            <a:ext cx="5114925" cy="5148262"/>
            <a:chOff x="-6" y="821"/>
            <a:chExt cx="3222" cy="3243"/>
          </a:xfrm>
        </p:grpSpPr>
        <p:sp>
          <p:nvSpPr>
            <p:cNvPr id="12" name="AutoShape 18">
              <a:extLst>
                <a:ext uri="{FF2B5EF4-FFF2-40B4-BE49-F238E27FC236}">
                  <a16:creationId xmlns:a16="http://schemas.microsoft.com/office/drawing/2014/main" id="{91A0AC22-1585-6B4E-BF9E-2BE0CB3046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04" y="821"/>
              <a:ext cx="3012" cy="3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0B368955-C80B-7242-8489-0D406E0C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3591"/>
              <a:ext cx="2578" cy="0"/>
            </a:xfrm>
            <a:custGeom>
              <a:avLst/>
              <a:gdLst>
                <a:gd name="T0" fmla="*/ 0 w 4769"/>
                <a:gd name="T1" fmla="*/ 0 w 4769"/>
                <a:gd name="T2" fmla="*/ 35 w 4769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4769">
                  <a:moveTo>
                    <a:pt x="0" y="0"/>
                  </a:moveTo>
                  <a:lnTo>
                    <a:pt x="0" y="0"/>
                  </a:lnTo>
                  <a:lnTo>
                    <a:pt x="4769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07A0A67B-4336-C949-B060-BB08AEE65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DB97CB23-7C6F-8741-8F0B-71D011646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10F5BB3E-7DDC-E14C-89A7-8F6166090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501AF052-A3D7-C448-854D-8865E1208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C6F75644-483B-7342-9660-738836AE0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E857FE2F-A214-B84D-B78E-65DB017DF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B4BAB7DD-6542-B449-91DB-06CFCEFC7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B64C18D0-50F1-154B-9E31-D27D66537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52828866-CD9F-D540-AB98-E1E0B9F30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30">
              <a:extLst>
                <a:ext uri="{FF2B5EF4-FFF2-40B4-BE49-F238E27FC236}">
                  <a16:creationId xmlns:a16="http://schemas.microsoft.com/office/drawing/2014/main" id="{17970544-35AC-E24D-8FBC-67705D510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C75B4680-081B-2F45-9673-31B1AE896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2">
              <a:extLst>
                <a:ext uri="{FF2B5EF4-FFF2-40B4-BE49-F238E27FC236}">
                  <a16:creationId xmlns:a16="http://schemas.microsoft.com/office/drawing/2014/main" id="{474028CC-5AA5-4C42-A02E-0BB16CAE3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9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92A6705C-0EBC-9D4C-A9E8-879539B67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0" cy="2653"/>
            </a:xfrm>
            <a:custGeom>
              <a:avLst/>
              <a:gdLst>
                <a:gd name="T0" fmla="*/ 36 h 4902"/>
                <a:gd name="T1" fmla="*/ 36 h 4902"/>
                <a:gd name="T2" fmla="*/ 0 h 4902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4902">
                  <a:moveTo>
                    <a:pt x="0" y="4902"/>
                  </a:moveTo>
                  <a:lnTo>
                    <a:pt x="0" y="4902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7C0C8688-E4F0-D04A-AD01-432692988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591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8" name="Freeform 35">
              <a:extLst>
                <a:ext uri="{FF2B5EF4-FFF2-40B4-BE49-F238E27FC236}">
                  <a16:creationId xmlns:a16="http://schemas.microsoft.com/office/drawing/2014/main" id="{70A39DAB-2D65-2C49-9879-0B6BC4F01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41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7C259EFA-5F7D-6C4B-981B-234864B1D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238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" name="Freeform 37">
              <a:extLst>
                <a:ext uri="{FF2B5EF4-FFF2-40B4-BE49-F238E27FC236}">
                  <a16:creationId xmlns:a16="http://schemas.microsoft.com/office/drawing/2014/main" id="{B315E356-0A01-764A-B8C9-0BD6C2F41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061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E6623F3F-F6A1-9543-ACB9-98961F646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88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B86C5BBB-A129-4147-B384-6486A7D81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707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02A26B77-A209-1447-92F9-CFDAC67F6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530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9904633C-0B0B-3D4D-ADEB-15064CDAF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35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5" name="Freeform 42">
              <a:extLst>
                <a:ext uri="{FF2B5EF4-FFF2-40B4-BE49-F238E27FC236}">
                  <a16:creationId xmlns:a16="http://schemas.microsoft.com/office/drawing/2014/main" id="{4CD82AD7-CDFB-7147-97D6-8806F285E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177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6" name="Freeform 43">
              <a:extLst>
                <a:ext uri="{FF2B5EF4-FFF2-40B4-BE49-F238E27FC236}">
                  <a16:creationId xmlns:a16="http://schemas.microsoft.com/office/drawing/2014/main" id="{433E4AC6-10F9-4E4F-AC6A-AFFEAAC58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000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A5956FDC-F51B-8248-BCF8-2298387F7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823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8" name="Freeform 45">
              <a:extLst>
                <a:ext uri="{FF2B5EF4-FFF2-40B4-BE49-F238E27FC236}">
                  <a16:creationId xmlns:a16="http://schemas.microsoft.com/office/drawing/2014/main" id="{7D359244-3310-5248-B120-F03908EBA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646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" name="Freeform 46">
              <a:extLst>
                <a:ext uri="{FF2B5EF4-FFF2-40B4-BE49-F238E27FC236}">
                  <a16:creationId xmlns:a16="http://schemas.microsoft.com/office/drawing/2014/main" id="{D455EF0B-0025-9343-BC95-C933C652F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469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6F4E9E10-2345-8741-8FB5-DCD1B9F02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292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1" name="Freeform 48">
              <a:extLst>
                <a:ext uri="{FF2B5EF4-FFF2-40B4-BE49-F238E27FC236}">
                  <a16:creationId xmlns:a16="http://schemas.microsoft.com/office/drawing/2014/main" id="{EFC142E8-79C9-EA4C-819A-C90C62BEA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115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2" name="Freeform 49">
              <a:extLst>
                <a:ext uri="{FF2B5EF4-FFF2-40B4-BE49-F238E27FC236}">
                  <a16:creationId xmlns:a16="http://schemas.microsoft.com/office/drawing/2014/main" id="{A60461DA-B9A8-E945-A40A-F771C172B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938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3" name="Rectangle 50">
              <a:extLst>
                <a:ext uri="{FF2B5EF4-FFF2-40B4-BE49-F238E27FC236}">
                  <a16:creationId xmlns:a16="http://schemas.microsoft.com/office/drawing/2014/main" id="{7ED024C0-529D-6041-B98D-F610B7B78E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51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51">
              <a:extLst>
                <a:ext uri="{FF2B5EF4-FFF2-40B4-BE49-F238E27FC236}">
                  <a16:creationId xmlns:a16="http://schemas.microsoft.com/office/drawing/2014/main" id="{21BBA9C8-770D-B24A-92F8-5659F1C91A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33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52">
              <a:extLst>
                <a:ext uri="{FF2B5EF4-FFF2-40B4-BE49-F238E27FC236}">
                  <a16:creationId xmlns:a16="http://schemas.microsoft.com/office/drawing/2014/main" id="{1DD469D8-2F02-904A-B633-2A4D044DA6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159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53">
              <a:extLst>
                <a:ext uri="{FF2B5EF4-FFF2-40B4-BE49-F238E27FC236}">
                  <a16:creationId xmlns:a16="http://schemas.microsoft.com/office/drawing/2014/main" id="{14F4846F-1C72-4447-BE68-82456DC7A4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98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54">
              <a:extLst>
                <a:ext uri="{FF2B5EF4-FFF2-40B4-BE49-F238E27FC236}">
                  <a16:creationId xmlns:a16="http://schemas.microsoft.com/office/drawing/2014/main" id="{FEE46DF8-0E04-DA41-BF66-B002E41D0C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805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55">
              <a:extLst>
                <a:ext uri="{FF2B5EF4-FFF2-40B4-BE49-F238E27FC236}">
                  <a16:creationId xmlns:a16="http://schemas.microsoft.com/office/drawing/2014/main" id="{BC724DAE-F704-9647-AE0A-3036312DD4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62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56">
              <a:extLst>
                <a:ext uri="{FF2B5EF4-FFF2-40B4-BE49-F238E27FC236}">
                  <a16:creationId xmlns:a16="http://schemas.microsoft.com/office/drawing/2014/main" id="{17755BF7-5175-3D4C-B5A8-D0A92A4933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45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6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57">
              <a:extLst>
                <a:ext uri="{FF2B5EF4-FFF2-40B4-BE49-F238E27FC236}">
                  <a16:creationId xmlns:a16="http://schemas.microsoft.com/office/drawing/2014/main" id="{ECCBA367-1A15-3547-A74F-E3E0469DFE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275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7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58">
              <a:extLst>
                <a:ext uri="{FF2B5EF4-FFF2-40B4-BE49-F238E27FC236}">
                  <a16:creationId xmlns:a16="http://schemas.microsoft.com/office/drawing/2014/main" id="{0AAAD7E4-A1C8-A24A-9896-903EA9F98D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09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59">
              <a:extLst>
                <a:ext uri="{FF2B5EF4-FFF2-40B4-BE49-F238E27FC236}">
                  <a16:creationId xmlns:a16="http://schemas.microsoft.com/office/drawing/2014/main" id="{1F284280-81A1-E944-86BE-8820353E9C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92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9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60">
              <a:extLst>
                <a:ext uri="{FF2B5EF4-FFF2-40B4-BE49-F238E27FC236}">
                  <a16:creationId xmlns:a16="http://schemas.microsoft.com/office/drawing/2014/main" id="{DA75AF3F-0D1E-E441-8199-6CA3D83B0E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76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61">
              <a:extLst>
                <a:ext uri="{FF2B5EF4-FFF2-40B4-BE49-F238E27FC236}">
                  <a16:creationId xmlns:a16="http://schemas.microsoft.com/office/drawing/2014/main" id="{1CCE8094-DD7E-F042-A797-08F8DDBE37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720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" name="Rectangle 62">
              <a:extLst>
                <a:ext uri="{FF2B5EF4-FFF2-40B4-BE49-F238E27FC236}">
                  <a16:creationId xmlns:a16="http://schemas.microsoft.com/office/drawing/2014/main" id="{C6422EAD-2B29-4545-B17F-F652A2B29C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59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63">
              <a:extLst>
                <a:ext uri="{FF2B5EF4-FFF2-40B4-BE49-F238E27FC236}">
                  <a16:creationId xmlns:a16="http://schemas.microsoft.com/office/drawing/2014/main" id="{7E047B82-C385-2048-A46A-50FE5A4A39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54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64">
              <a:extLst>
                <a:ext uri="{FF2B5EF4-FFF2-40B4-BE49-F238E27FC236}">
                  <a16:creationId xmlns:a16="http://schemas.microsoft.com/office/drawing/2014/main" id="{B2F99816-E591-5040-A939-161A489270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414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65">
              <a:extLst>
                <a:ext uri="{FF2B5EF4-FFF2-40B4-BE49-F238E27FC236}">
                  <a16:creationId xmlns:a16="http://schemas.microsoft.com/office/drawing/2014/main" id="{85F89AEE-DC94-AE4F-AF8C-55DB935489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36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66">
              <a:extLst>
                <a:ext uri="{FF2B5EF4-FFF2-40B4-BE49-F238E27FC236}">
                  <a16:creationId xmlns:a16="http://schemas.microsoft.com/office/drawing/2014/main" id="{755CB1B1-857A-E041-89BB-5261C568BF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237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67">
              <a:extLst>
                <a:ext uri="{FF2B5EF4-FFF2-40B4-BE49-F238E27FC236}">
                  <a16:creationId xmlns:a16="http://schemas.microsoft.com/office/drawing/2014/main" id="{109BC590-53CA-B24C-9A0B-C93AFC659A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189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68">
              <a:extLst>
                <a:ext uri="{FF2B5EF4-FFF2-40B4-BE49-F238E27FC236}">
                  <a16:creationId xmlns:a16="http://schemas.microsoft.com/office/drawing/2014/main" id="{FFEA413A-5845-C94F-B9F3-D1BB1EB19A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06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69">
              <a:extLst>
                <a:ext uri="{FF2B5EF4-FFF2-40B4-BE49-F238E27FC236}">
                  <a16:creationId xmlns:a16="http://schemas.microsoft.com/office/drawing/2014/main" id="{09AD785E-45A0-9047-B906-84774E350D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01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70">
              <a:extLst>
                <a:ext uri="{FF2B5EF4-FFF2-40B4-BE49-F238E27FC236}">
                  <a16:creationId xmlns:a16="http://schemas.microsoft.com/office/drawing/2014/main" id="{025A0409-0749-5A43-92AE-657135440E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7" y="884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Rectangle 71">
              <a:extLst>
                <a:ext uri="{FF2B5EF4-FFF2-40B4-BE49-F238E27FC236}">
                  <a16:creationId xmlns:a16="http://schemas.microsoft.com/office/drawing/2014/main" id="{06717DDB-6FD2-C048-8562-A33AF5E650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7" y="83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Freeform 72">
              <a:extLst>
                <a:ext uri="{FF2B5EF4-FFF2-40B4-BE49-F238E27FC236}">
                  <a16:creationId xmlns:a16="http://schemas.microsoft.com/office/drawing/2014/main" id="{A170345A-76F3-CD4F-9251-8F822713C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2578" cy="2653"/>
            </a:xfrm>
            <a:custGeom>
              <a:avLst/>
              <a:gdLst>
                <a:gd name="T0" fmla="*/ 0 w 4769"/>
                <a:gd name="T1" fmla="*/ 36 h 4902"/>
                <a:gd name="T2" fmla="*/ 0 w 4769"/>
                <a:gd name="T3" fmla="*/ 36 h 4902"/>
                <a:gd name="T4" fmla="*/ 35 w 4769"/>
                <a:gd name="T5" fmla="*/ 36 h 4902"/>
                <a:gd name="T6" fmla="*/ 35 w 4769"/>
                <a:gd name="T7" fmla="*/ 0 h 4902"/>
                <a:gd name="T8" fmla="*/ 0 w 4769"/>
                <a:gd name="T9" fmla="*/ 0 h 4902"/>
                <a:gd name="T10" fmla="*/ 0 w 4769"/>
                <a:gd name="T11" fmla="*/ 36 h 49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69" h="4902">
                  <a:moveTo>
                    <a:pt x="0" y="4902"/>
                  </a:moveTo>
                  <a:lnTo>
                    <a:pt x="0" y="4902"/>
                  </a:lnTo>
                  <a:lnTo>
                    <a:pt x="4769" y="4902"/>
                  </a:lnTo>
                  <a:lnTo>
                    <a:pt x="4769" y="0"/>
                  </a:lnTo>
                  <a:lnTo>
                    <a:pt x="0" y="0"/>
                  </a:lnTo>
                  <a:lnTo>
                    <a:pt x="0" y="4902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6" name="Rectangle 73">
              <a:extLst>
                <a:ext uri="{FF2B5EF4-FFF2-40B4-BE49-F238E27FC236}">
                  <a16:creationId xmlns:a16="http://schemas.microsoft.com/office/drawing/2014/main" id="{3A34890D-B949-A443-9AE5-FFB4AB123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3909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74">
              <a:extLst>
                <a:ext uri="{FF2B5EF4-FFF2-40B4-BE49-F238E27FC236}">
                  <a16:creationId xmlns:a16="http://schemas.microsoft.com/office/drawing/2014/main" id="{7867A554-28A8-1B47-8A58-8549CB2EDA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72" y="2168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Freeform 75">
              <a:extLst>
                <a:ext uri="{FF2B5EF4-FFF2-40B4-BE49-F238E27FC236}">
                  <a16:creationId xmlns:a16="http://schemas.microsoft.com/office/drawing/2014/main" id="{4614047A-6194-F940-B02F-E53BC4460A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9" name="Freeform 76">
              <a:extLst>
                <a:ext uri="{FF2B5EF4-FFF2-40B4-BE49-F238E27FC236}">
                  <a16:creationId xmlns:a16="http://schemas.microsoft.com/office/drawing/2014/main" id="{BD4A557B-B487-664E-AD18-94367A9FD0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1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0" name="Freeform 77">
              <a:extLst>
                <a:ext uri="{FF2B5EF4-FFF2-40B4-BE49-F238E27FC236}">
                  <a16:creationId xmlns:a16="http://schemas.microsoft.com/office/drawing/2014/main" id="{751695A8-0407-3744-B1A0-C1F60BC187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9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1" name="Freeform 78">
              <a:extLst>
                <a:ext uri="{FF2B5EF4-FFF2-40B4-BE49-F238E27FC236}">
                  <a16:creationId xmlns:a16="http://schemas.microsoft.com/office/drawing/2014/main" id="{7AA44180-1171-3C4E-8DB5-B53220DD20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6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2" name="Freeform 79">
              <a:extLst>
                <a:ext uri="{FF2B5EF4-FFF2-40B4-BE49-F238E27FC236}">
                  <a16:creationId xmlns:a16="http://schemas.microsoft.com/office/drawing/2014/main" id="{DCD854CB-3E52-544F-A60D-3F6456CFD9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4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3" name="Freeform 80">
              <a:extLst>
                <a:ext uri="{FF2B5EF4-FFF2-40B4-BE49-F238E27FC236}">
                  <a16:creationId xmlns:a16="http://schemas.microsoft.com/office/drawing/2014/main" id="{6819A093-0247-3746-9087-F64E5D0B7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1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4" name="Freeform 81">
              <a:extLst>
                <a:ext uri="{FF2B5EF4-FFF2-40B4-BE49-F238E27FC236}">
                  <a16:creationId xmlns:a16="http://schemas.microsoft.com/office/drawing/2014/main" id="{782E605E-8770-C344-822E-CFE269888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9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5" name="Freeform 82">
              <a:extLst>
                <a:ext uri="{FF2B5EF4-FFF2-40B4-BE49-F238E27FC236}">
                  <a16:creationId xmlns:a16="http://schemas.microsoft.com/office/drawing/2014/main" id="{D14CBAEC-ED90-4D41-AE8D-93B3E53B81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7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6" name="Freeform 83">
              <a:extLst>
                <a:ext uri="{FF2B5EF4-FFF2-40B4-BE49-F238E27FC236}">
                  <a16:creationId xmlns:a16="http://schemas.microsoft.com/office/drawing/2014/main" id="{0662CA86-4A1A-6248-83A1-AFFFC7AAB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5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7" name="Freeform 84">
              <a:extLst>
                <a:ext uri="{FF2B5EF4-FFF2-40B4-BE49-F238E27FC236}">
                  <a16:creationId xmlns:a16="http://schemas.microsoft.com/office/drawing/2014/main" id="{E2FF7A6E-22C6-DA41-8013-D83FDEAC3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41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8" name="Freeform 85">
              <a:extLst>
                <a:ext uri="{FF2B5EF4-FFF2-40B4-BE49-F238E27FC236}">
                  <a16:creationId xmlns:a16="http://schemas.microsoft.com/office/drawing/2014/main" id="{50B3BC20-64BA-214A-8648-438E4D85B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238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9" name="Freeform 86">
              <a:extLst>
                <a:ext uri="{FF2B5EF4-FFF2-40B4-BE49-F238E27FC236}">
                  <a16:creationId xmlns:a16="http://schemas.microsoft.com/office/drawing/2014/main" id="{DE0B187D-E893-FF48-8AF3-D22CC7E64C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061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0" name="Freeform 87">
              <a:extLst>
                <a:ext uri="{FF2B5EF4-FFF2-40B4-BE49-F238E27FC236}">
                  <a16:creationId xmlns:a16="http://schemas.microsoft.com/office/drawing/2014/main" id="{BC165912-B416-0946-A916-D4059EA7F6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88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1" name="Freeform 88">
              <a:extLst>
                <a:ext uri="{FF2B5EF4-FFF2-40B4-BE49-F238E27FC236}">
                  <a16:creationId xmlns:a16="http://schemas.microsoft.com/office/drawing/2014/main" id="{34BC5BA7-3B46-4D46-BFC1-7892367185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707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2" name="Freeform 89">
              <a:extLst>
                <a:ext uri="{FF2B5EF4-FFF2-40B4-BE49-F238E27FC236}">
                  <a16:creationId xmlns:a16="http://schemas.microsoft.com/office/drawing/2014/main" id="{E5D35A1A-B779-0349-B5B3-A733A6DEA5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530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3" name="Freeform 90">
              <a:extLst>
                <a:ext uri="{FF2B5EF4-FFF2-40B4-BE49-F238E27FC236}">
                  <a16:creationId xmlns:a16="http://schemas.microsoft.com/office/drawing/2014/main" id="{326C3AC5-87E9-8741-832F-F07AADF684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35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4" name="Freeform 91">
              <a:extLst>
                <a:ext uri="{FF2B5EF4-FFF2-40B4-BE49-F238E27FC236}">
                  <a16:creationId xmlns:a16="http://schemas.microsoft.com/office/drawing/2014/main" id="{CE7A66AC-659C-5149-A599-5E993BC273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177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5" name="Freeform 92">
              <a:extLst>
                <a:ext uri="{FF2B5EF4-FFF2-40B4-BE49-F238E27FC236}">
                  <a16:creationId xmlns:a16="http://schemas.microsoft.com/office/drawing/2014/main" id="{16C4A6FA-6D70-3D4D-AA02-10752F0DF7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000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6" name="Freeform 93">
              <a:extLst>
                <a:ext uri="{FF2B5EF4-FFF2-40B4-BE49-F238E27FC236}">
                  <a16:creationId xmlns:a16="http://schemas.microsoft.com/office/drawing/2014/main" id="{1ABEB16B-56C9-9541-A619-E67B898BEB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823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7" name="Freeform 94">
              <a:extLst>
                <a:ext uri="{FF2B5EF4-FFF2-40B4-BE49-F238E27FC236}">
                  <a16:creationId xmlns:a16="http://schemas.microsoft.com/office/drawing/2014/main" id="{CFC380E8-C890-C046-A7DD-1F5D3E017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646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8" name="Freeform 95">
              <a:extLst>
                <a:ext uri="{FF2B5EF4-FFF2-40B4-BE49-F238E27FC236}">
                  <a16:creationId xmlns:a16="http://schemas.microsoft.com/office/drawing/2014/main" id="{371A4E42-80B9-C545-96C8-94ACB744F5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469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9" name="Freeform 96">
              <a:extLst>
                <a:ext uri="{FF2B5EF4-FFF2-40B4-BE49-F238E27FC236}">
                  <a16:creationId xmlns:a16="http://schemas.microsoft.com/office/drawing/2014/main" id="{9B99A996-23B5-6A4E-8533-5525DFDED7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292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0" name="Freeform 97">
              <a:extLst>
                <a:ext uri="{FF2B5EF4-FFF2-40B4-BE49-F238E27FC236}">
                  <a16:creationId xmlns:a16="http://schemas.microsoft.com/office/drawing/2014/main" id="{4FBCD335-AC02-9E4E-A051-21B0E08281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115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1" name="Freeform 98">
              <a:extLst>
                <a:ext uri="{FF2B5EF4-FFF2-40B4-BE49-F238E27FC236}">
                  <a16:creationId xmlns:a16="http://schemas.microsoft.com/office/drawing/2014/main" id="{C9B518C2-CB85-D948-BE52-A3DC890AE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2578" cy="1769"/>
            </a:xfrm>
            <a:custGeom>
              <a:avLst/>
              <a:gdLst>
                <a:gd name="T0" fmla="*/ 0 w 4769"/>
                <a:gd name="T1" fmla="*/ 24 h 3268"/>
                <a:gd name="T2" fmla="*/ 0 w 4769"/>
                <a:gd name="T3" fmla="*/ 24 h 3268"/>
                <a:gd name="T4" fmla="*/ 35 w 4769"/>
                <a:gd name="T5" fmla="*/ 0 h 32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69" h="3268">
                  <a:moveTo>
                    <a:pt x="0" y="3268"/>
                  </a:moveTo>
                  <a:lnTo>
                    <a:pt x="0" y="3268"/>
                  </a:lnTo>
                  <a:lnTo>
                    <a:pt x="4769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2" name="Rectangle 103">
              <a:extLst>
                <a:ext uri="{FF2B5EF4-FFF2-40B4-BE49-F238E27FC236}">
                  <a16:creationId xmlns:a16="http://schemas.microsoft.com/office/drawing/2014/main" id="{FDB4318F-CC26-134A-9BAD-3780FB4A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2626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3" name="Rectangle 10">
            <a:extLst>
              <a:ext uri="{FF2B5EF4-FFF2-40B4-BE49-F238E27FC236}">
                <a16:creationId xmlns:a16="http://schemas.microsoft.com/office/drawing/2014/main" id="{1B5184EC-72FD-B64A-9E1B-F9447F233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0525" y="6256534"/>
            <a:ext cx="431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rgbClr val="7E002F"/>
                </a:solidFill>
              </a:rPr>
              <a:t>X</a:t>
            </a:r>
            <a:endParaRPr lang="nl-BE" altLang="nl-BE" sz="2400" baseline="0" dirty="0"/>
          </a:p>
        </p:txBody>
      </p:sp>
      <p:sp>
        <p:nvSpPr>
          <p:cNvPr id="94" name="Rectangle 10">
            <a:extLst>
              <a:ext uri="{FF2B5EF4-FFF2-40B4-BE49-F238E27FC236}">
                <a16:creationId xmlns:a16="http://schemas.microsoft.com/office/drawing/2014/main" id="{94C6E777-F3F4-2743-9175-1BA7F82B5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662" y="3535559"/>
            <a:ext cx="360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endParaRPr lang="nl-BE" altLang="nl-BE" sz="2400" baseline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6" name="Rectangle 101">
            <a:extLst>
              <a:ext uri="{FF2B5EF4-FFF2-40B4-BE49-F238E27FC236}">
                <a16:creationId xmlns:a16="http://schemas.microsoft.com/office/drawing/2014/main" id="{8729E46B-6CD3-6244-AA4B-79CF0ABE0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143" y="5107087"/>
            <a:ext cx="592138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100" baseline="0">
                <a:solidFill>
                  <a:srgbClr val="000000"/>
                </a:solidFill>
                <a:latin typeface="Arial" panose="020B0604020202020204" pitchFamily="34" charset="0"/>
              </a:rPr>
              <a:t>Intercept</a:t>
            </a: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" name="Freeform 83">
            <a:extLst>
              <a:ext uri="{FF2B5EF4-FFF2-40B4-BE49-F238E27FC236}">
                <a16:creationId xmlns:a16="http://schemas.microsoft.com/office/drawing/2014/main" id="{19EEF2CA-14D9-5F4E-B103-9FCAE25B69F1}"/>
              </a:ext>
            </a:extLst>
          </p:cNvPr>
          <p:cNvSpPr>
            <a:spLocks noEditPoints="1"/>
          </p:cNvSpPr>
          <p:nvPr/>
        </p:nvSpPr>
        <p:spPr bwMode="auto">
          <a:xfrm>
            <a:off x="2925519" y="4522447"/>
            <a:ext cx="4086225" cy="0"/>
          </a:xfrm>
          <a:custGeom>
            <a:avLst/>
            <a:gdLst>
              <a:gd name="T0" fmla="*/ 1 w 4762"/>
              <a:gd name="T1" fmla="*/ 1 w 4762"/>
              <a:gd name="T2" fmla="*/ 2 w 4762"/>
              <a:gd name="T3" fmla="*/ 2 w 4762"/>
              <a:gd name="T4" fmla="*/ 3 w 4762"/>
              <a:gd name="T5" fmla="*/ 3 w 4762"/>
              <a:gd name="T6" fmla="*/ 4 w 4762"/>
              <a:gd name="T7" fmla="*/ 5 w 4762"/>
              <a:gd name="T8" fmla="*/ 5 w 4762"/>
              <a:gd name="T9" fmla="*/ 6 w 4762"/>
              <a:gd name="T10" fmla="*/ 7 w 4762"/>
              <a:gd name="T11" fmla="*/ 8 w 4762"/>
              <a:gd name="T12" fmla="*/ 8 w 4762"/>
              <a:gd name="T13" fmla="*/ 9 w 4762"/>
              <a:gd name="T14" fmla="*/ 9 w 4762"/>
              <a:gd name="T15" fmla="*/ 10 w 4762"/>
              <a:gd name="T16" fmla="*/ 11 w 4762"/>
              <a:gd name="T17" fmla="*/ 11 w 4762"/>
              <a:gd name="T18" fmla="*/ 12 w 4762"/>
              <a:gd name="T19" fmla="*/ 13 w 4762"/>
              <a:gd name="T20" fmla="*/ 13 w 4762"/>
              <a:gd name="T21" fmla="*/ 14 w 4762"/>
              <a:gd name="T22" fmla="*/ 15 w 4762"/>
              <a:gd name="T23" fmla="*/ 15 w 4762"/>
              <a:gd name="T24" fmla="*/ 16 w 4762"/>
              <a:gd name="T25" fmla="*/ 17 w 4762"/>
              <a:gd name="T26" fmla="*/ 17 w 4762"/>
              <a:gd name="T27" fmla="*/ 18 w 4762"/>
              <a:gd name="T28" fmla="*/ 19 w 4762"/>
              <a:gd name="T29" fmla="*/ 19 w 4762"/>
              <a:gd name="T30" fmla="*/ 20 w 4762"/>
              <a:gd name="T31" fmla="*/ 21 w 4762"/>
              <a:gd name="T32" fmla="*/ 21 w 4762"/>
              <a:gd name="T33" fmla="*/ 22 w 4762"/>
              <a:gd name="T34" fmla="*/ 23 w 4762"/>
              <a:gd name="T35" fmla="*/ 23 w 4762"/>
              <a:gd name="T36" fmla="*/ 24 w 4762"/>
              <a:gd name="T37" fmla="*/ 24 w 4762"/>
              <a:gd name="T38" fmla="*/ 25 w 4762"/>
              <a:gd name="T39" fmla="*/ 26 w 4762"/>
              <a:gd name="T40" fmla="*/ 26 w 4762"/>
              <a:gd name="T41" fmla="*/ 27 w 4762"/>
              <a:gd name="T42" fmla="*/ 28 w 4762"/>
              <a:gd name="T43" fmla="*/ 28 w 4762"/>
              <a:gd name="T44" fmla="*/ 29 w 4762"/>
              <a:gd name="T45" fmla="*/ 30 w 4762"/>
              <a:gd name="T46" fmla="*/ 30 w 4762"/>
              <a:gd name="T47" fmla="*/ 31 w 4762"/>
              <a:gd name="T48" fmla="*/ 31 w 4762"/>
              <a:gd name="T49" fmla="*/ 32 w 4762"/>
              <a:gd name="T50" fmla="*/ 33 w 4762"/>
              <a:gd name="T51" fmla="*/ 34 w 4762"/>
              <a:gd name="T52" fmla="*/ 34 w 4762"/>
              <a:gd name="T53" fmla="*/ 35 w 476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54">
                <a:pos x="T0" y="0"/>
              </a:cxn>
              <a:cxn ang="T55">
                <a:pos x="T1" y="0"/>
              </a:cxn>
              <a:cxn ang="T56">
                <a:pos x="T2" y="0"/>
              </a:cxn>
              <a:cxn ang="T57">
                <a:pos x="T3" y="0"/>
              </a:cxn>
              <a:cxn ang="T58">
                <a:pos x="T4" y="0"/>
              </a:cxn>
              <a:cxn ang="T59">
                <a:pos x="T5" y="0"/>
              </a:cxn>
              <a:cxn ang="T60">
                <a:pos x="T6" y="0"/>
              </a:cxn>
              <a:cxn ang="T61">
                <a:pos x="T7" y="0"/>
              </a:cxn>
              <a:cxn ang="T62">
                <a:pos x="T8" y="0"/>
              </a:cxn>
              <a:cxn ang="T63">
                <a:pos x="T9" y="0"/>
              </a:cxn>
              <a:cxn ang="T64">
                <a:pos x="T10" y="0"/>
              </a:cxn>
              <a:cxn ang="T65">
                <a:pos x="T11" y="0"/>
              </a:cxn>
              <a:cxn ang="T66">
                <a:pos x="T12" y="0"/>
              </a:cxn>
              <a:cxn ang="T67">
                <a:pos x="T13" y="0"/>
              </a:cxn>
              <a:cxn ang="T68">
                <a:pos x="T14" y="0"/>
              </a:cxn>
              <a:cxn ang="T69">
                <a:pos x="T15" y="0"/>
              </a:cxn>
              <a:cxn ang="T70">
                <a:pos x="T16" y="0"/>
              </a:cxn>
              <a:cxn ang="T71">
                <a:pos x="T17" y="0"/>
              </a:cxn>
              <a:cxn ang="T72">
                <a:pos x="T18" y="0"/>
              </a:cxn>
              <a:cxn ang="T73">
                <a:pos x="T19" y="0"/>
              </a:cxn>
              <a:cxn ang="T74">
                <a:pos x="T20" y="0"/>
              </a:cxn>
              <a:cxn ang="T75">
                <a:pos x="T21" y="0"/>
              </a:cxn>
              <a:cxn ang="T76">
                <a:pos x="T22" y="0"/>
              </a:cxn>
              <a:cxn ang="T77">
                <a:pos x="T23" y="0"/>
              </a:cxn>
              <a:cxn ang="T78">
                <a:pos x="T24" y="0"/>
              </a:cxn>
              <a:cxn ang="T79">
                <a:pos x="T25" y="0"/>
              </a:cxn>
              <a:cxn ang="T80">
                <a:pos x="T26" y="0"/>
              </a:cxn>
              <a:cxn ang="T81">
                <a:pos x="T27" y="0"/>
              </a:cxn>
              <a:cxn ang="T82">
                <a:pos x="T28" y="0"/>
              </a:cxn>
              <a:cxn ang="T83">
                <a:pos x="T29" y="0"/>
              </a:cxn>
              <a:cxn ang="T84">
                <a:pos x="T30" y="0"/>
              </a:cxn>
              <a:cxn ang="T85">
                <a:pos x="T31" y="0"/>
              </a:cxn>
              <a:cxn ang="T86">
                <a:pos x="T32" y="0"/>
              </a:cxn>
              <a:cxn ang="T87">
                <a:pos x="T33" y="0"/>
              </a:cxn>
              <a:cxn ang="T88">
                <a:pos x="T34" y="0"/>
              </a:cxn>
              <a:cxn ang="T89">
                <a:pos x="T35" y="0"/>
              </a:cxn>
              <a:cxn ang="T90">
                <a:pos x="T36" y="0"/>
              </a:cxn>
              <a:cxn ang="T91">
                <a:pos x="T37" y="0"/>
              </a:cxn>
              <a:cxn ang="T92">
                <a:pos x="T38" y="0"/>
              </a:cxn>
              <a:cxn ang="T93">
                <a:pos x="T39" y="0"/>
              </a:cxn>
              <a:cxn ang="T94">
                <a:pos x="T40" y="0"/>
              </a:cxn>
              <a:cxn ang="T95">
                <a:pos x="T41" y="0"/>
              </a:cxn>
              <a:cxn ang="T96">
                <a:pos x="T42" y="0"/>
              </a:cxn>
              <a:cxn ang="T97">
                <a:pos x="T43" y="0"/>
              </a:cxn>
              <a:cxn ang="T98">
                <a:pos x="T44" y="0"/>
              </a:cxn>
              <a:cxn ang="T99">
                <a:pos x="T45" y="0"/>
              </a:cxn>
              <a:cxn ang="T100">
                <a:pos x="T46" y="0"/>
              </a:cxn>
              <a:cxn ang="T101">
                <a:pos x="T47" y="0"/>
              </a:cxn>
              <a:cxn ang="T102">
                <a:pos x="T48" y="0"/>
              </a:cxn>
              <a:cxn ang="T103">
                <a:pos x="T49" y="0"/>
              </a:cxn>
              <a:cxn ang="T104">
                <a:pos x="T50" y="0"/>
              </a:cxn>
              <a:cxn ang="T105">
                <a:pos x="T51" y="0"/>
              </a:cxn>
              <a:cxn ang="T106">
                <a:pos x="T52" y="0"/>
              </a:cxn>
              <a:cxn ang="T107">
                <a:pos x="T53" y="0"/>
              </a:cxn>
            </a:cxnLst>
            <a:rect l="0" t="0" r="r" b="b"/>
            <a:pathLst>
              <a:path w="4762">
                <a:moveTo>
                  <a:pt x="0" y="0"/>
                </a:moveTo>
                <a:lnTo>
                  <a:pt x="0" y="0"/>
                </a:lnTo>
                <a:lnTo>
                  <a:pt x="13" y="0"/>
                </a:lnTo>
                <a:moveTo>
                  <a:pt x="53" y="0"/>
                </a:moveTo>
                <a:lnTo>
                  <a:pt x="53" y="0"/>
                </a:lnTo>
                <a:lnTo>
                  <a:pt x="67" y="0"/>
                </a:lnTo>
                <a:moveTo>
                  <a:pt x="107" y="0"/>
                </a:moveTo>
                <a:lnTo>
                  <a:pt x="107" y="0"/>
                </a:lnTo>
                <a:lnTo>
                  <a:pt x="120" y="0"/>
                </a:lnTo>
                <a:moveTo>
                  <a:pt x="160" y="0"/>
                </a:moveTo>
                <a:lnTo>
                  <a:pt x="160" y="0"/>
                </a:lnTo>
                <a:lnTo>
                  <a:pt x="173" y="0"/>
                </a:lnTo>
                <a:moveTo>
                  <a:pt x="213" y="0"/>
                </a:moveTo>
                <a:lnTo>
                  <a:pt x="213" y="0"/>
                </a:lnTo>
                <a:lnTo>
                  <a:pt x="227" y="0"/>
                </a:lnTo>
                <a:moveTo>
                  <a:pt x="267" y="0"/>
                </a:moveTo>
                <a:lnTo>
                  <a:pt x="267" y="0"/>
                </a:lnTo>
                <a:lnTo>
                  <a:pt x="280" y="0"/>
                </a:lnTo>
                <a:moveTo>
                  <a:pt x="320" y="0"/>
                </a:moveTo>
                <a:lnTo>
                  <a:pt x="320" y="0"/>
                </a:lnTo>
                <a:lnTo>
                  <a:pt x="334" y="0"/>
                </a:lnTo>
                <a:moveTo>
                  <a:pt x="374" y="0"/>
                </a:moveTo>
                <a:lnTo>
                  <a:pt x="374" y="0"/>
                </a:lnTo>
                <a:lnTo>
                  <a:pt x="387" y="0"/>
                </a:lnTo>
                <a:moveTo>
                  <a:pt x="427" y="0"/>
                </a:moveTo>
                <a:lnTo>
                  <a:pt x="427" y="0"/>
                </a:lnTo>
                <a:lnTo>
                  <a:pt x="440" y="0"/>
                </a:lnTo>
                <a:moveTo>
                  <a:pt x="480" y="0"/>
                </a:moveTo>
                <a:lnTo>
                  <a:pt x="480" y="0"/>
                </a:lnTo>
                <a:lnTo>
                  <a:pt x="494" y="0"/>
                </a:lnTo>
                <a:moveTo>
                  <a:pt x="534" y="0"/>
                </a:moveTo>
                <a:lnTo>
                  <a:pt x="534" y="0"/>
                </a:lnTo>
                <a:lnTo>
                  <a:pt x="547" y="0"/>
                </a:lnTo>
                <a:moveTo>
                  <a:pt x="587" y="0"/>
                </a:moveTo>
                <a:lnTo>
                  <a:pt x="587" y="0"/>
                </a:lnTo>
                <a:lnTo>
                  <a:pt x="600" y="0"/>
                </a:lnTo>
                <a:moveTo>
                  <a:pt x="640" y="0"/>
                </a:moveTo>
                <a:lnTo>
                  <a:pt x="640" y="0"/>
                </a:lnTo>
                <a:lnTo>
                  <a:pt x="654" y="0"/>
                </a:lnTo>
                <a:moveTo>
                  <a:pt x="694" y="0"/>
                </a:moveTo>
                <a:lnTo>
                  <a:pt x="694" y="0"/>
                </a:lnTo>
                <a:lnTo>
                  <a:pt x="707" y="0"/>
                </a:lnTo>
                <a:moveTo>
                  <a:pt x="747" y="0"/>
                </a:moveTo>
                <a:lnTo>
                  <a:pt x="747" y="0"/>
                </a:lnTo>
                <a:lnTo>
                  <a:pt x="760" y="0"/>
                </a:lnTo>
                <a:moveTo>
                  <a:pt x="800" y="0"/>
                </a:moveTo>
                <a:lnTo>
                  <a:pt x="800" y="0"/>
                </a:lnTo>
                <a:lnTo>
                  <a:pt x="814" y="0"/>
                </a:lnTo>
                <a:moveTo>
                  <a:pt x="854" y="0"/>
                </a:moveTo>
                <a:lnTo>
                  <a:pt x="854" y="0"/>
                </a:lnTo>
                <a:lnTo>
                  <a:pt x="867" y="0"/>
                </a:lnTo>
                <a:moveTo>
                  <a:pt x="907" y="0"/>
                </a:moveTo>
                <a:lnTo>
                  <a:pt x="907" y="0"/>
                </a:lnTo>
                <a:lnTo>
                  <a:pt x="920" y="0"/>
                </a:lnTo>
                <a:moveTo>
                  <a:pt x="960" y="0"/>
                </a:moveTo>
                <a:lnTo>
                  <a:pt x="960" y="0"/>
                </a:lnTo>
                <a:lnTo>
                  <a:pt x="974" y="0"/>
                </a:lnTo>
                <a:moveTo>
                  <a:pt x="1014" y="0"/>
                </a:moveTo>
                <a:lnTo>
                  <a:pt x="1014" y="0"/>
                </a:lnTo>
                <a:lnTo>
                  <a:pt x="1027" y="0"/>
                </a:lnTo>
                <a:moveTo>
                  <a:pt x="1067" y="0"/>
                </a:moveTo>
                <a:lnTo>
                  <a:pt x="1067" y="0"/>
                </a:lnTo>
                <a:lnTo>
                  <a:pt x="1080" y="0"/>
                </a:lnTo>
                <a:moveTo>
                  <a:pt x="1121" y="0"/>
                </a:moveTo>
                <a:lnTo>
                  <a:pt x="1121" y="0"/>
                </a:lnTo>
                <a:lnTo>
                  <a:pt x="1134" y="0"/>
                </a:lnTo>
                <a:moveTo>
                  <a:pt x="1174" y="0"/>
                </a:moveTo>
                <a:lnTo>
                  <a:pt x="1174" y="0"/>
                </a:lnTo>
                <a:lnTo>
                  <a:pt x="1187" y="0"/>
                </a:lnTo>
                <a:moveTo>
                  <a:pt x="1227" y="0"/>
                </a:moveTo>
                <a:lnTo>
                  <a:pt x="1227" y="0"/>
                </a:lnTo>
                <a:lnTo>
                  <a:pt x="1241" y="0"/>
                </a:lnTo>
                <a:moveTo>
                  <a:pt x="1281" y="0"/>
                </a:moveTo>
                <a:lnTo>
                  <a:pt x="1281" y="0"/>
                </a:lnTo>
                <a:lnTo>
                  <a:pt x="1294" y="0"/>
                </a:lnTo>
                <a:moveTo>
                  <a:pt x="1334" y="0"/>
                </a:moveTo>
                <a:lnTo>
                  <a:pt x="1334" y="0"/>
                </a:lnTo>
                <a:lnTo>
                  <a:pt x="1347" y="0"/>
                </a:lnTo>
                <a:moveTo>
                  <a:pt x="1387" y="0"/>
                </a:moveTo>
                <a:lnTo>
                  <a:pt x="1387" y="0"/>
                </a:lnTo>
                <a:lnTo>
                  <a:pt x="1401" y="0"/>
                </a:lnTo>
                <a:moveTo>
                  <a:pt x="1441" y="0"/>
                </a:moveTo>
                <a:lnTo>
                  <a:pt x="1441" y="0"/>
                </a:lnTo>
                <a:lnTo>
                  <a:pt x="1454" y="0"/>
                </a:lnTo>
                <a:moveTo>
                  <a:pt x="1494" y="0"/>
                </a:moveTo>
                <a:lnTo>
                  <a:pt x="1494" y="0"/>
                </a:lnTo>
                <a:lnTo>
                  <a:pt x="1507" y="0"/>
                </a:lnTo>
                <a:moveTo>
                  <a:pt x="1547" y="0"/>
                </a:moveTo>
                <a:lnTo>
                  <a:pt x="1547" y="0"/>
                </a:lnTo>
                <a:lnTo>
                  <a:pt x="1561" y="0"/>
                </a:lnTo>
                <a:moveTo>
                  <a:pt x="1601" y="0"/>
                </a:moveTo>
                <a:lnTo>
                  <a:pt x="1601" y="0"/>
                </a:lnTo>
                <a:lnTo>
                  <a:pt x="1614" y="0"/>
                </a:lnTo>
                <a:moveTo>
                  <a:pt x="1654" y="0"/>
                </a:moveTo>
                <a:lnTo>
                  <a:pt x="1654" y="0"/>
                </a:lnTo>
                <a:lnTo>
                  <a:pt x="1667" y="0"/>
                </a:lnTo>
                <a:moveTo>
                  <a:pt x="1707" y="0"/>
                </a:moveTo>
                <a:lnTo>
                  <a:pt x="1707" y="0"/>
                </a:lnTo>
                <a:lnTo>
                  <a:pt x="1721" y="0"/>
                </a:lnTo>
                <a:moveTo>
                  <a:pt x="1761" y="0"/>
                </a:moveTo>
                <a:lnTo>
                  <a:pt x="1761" y="0"/>
                </a:lnTo>
                <a:lnTo>
                  <a:pt x="1774" y="0"/>
                </a:lnTo>
                <a:moveTo>
                  <a:pt x="1814" y="0"/>
                </a:moveTo>
                <a:lnTo>
                  <a:pt x="1814" y="0"/>
                </a:lnTo>
                <a:lnTo>
                  <a:pt x="1827" y="0"/>
                </a:lnTo>
                <a:moveTo>
                  <a:pt x="1867" y="0"/>
                </a:moveTo>
                <a:lnTo>
                  <a:pt x="1867" y="0"/>
                </a:lnTo>
                <a:lnTo>
                  <a:pt x="1881" y="0"/>
                </a:lnTo>
                <a:moveTo>
                  <a:pt x="1921" y="0"/>
                </a:moveTo>
                <a:lnTo>
                  <a:pt x="1921" y="0"/>
                </a:lnTo>
                <a:lnTo>
                  <a:pt x="1934" y="0"/>
                </a:lnTo>
                <a:moveTo>
                  <a:pt x="1974" y="0"/>
                </a:moveTo>
                <a:lnTo>
                  <a:pt x="1974" y="0"/>
                </a:lnTo>
                <a:lnTo>
                  <a:pt x="1988" y="0"/>
                </a:lnTo>
                <a:moveTo>
                  <a:pt x="2028" y="0"/>
                </a:moveTo>
                <a:lnTo>
                  <a:pt x="2028" y="0"/>
                </a:lnTo>
                <a:lnTo>
                  <a:pt x="2041" y="0"/>
                </a:lnTo>
                <a:moveTo>
                  <a:pt x="2081" y="0"/>
                </a:moveTo>
                <a:lnTo>
                  <a:pt x="2081" y="0"/>
                </a:lnTo>
                <a:lnTo>
                  <a:pt x="2094" y="0"/>
                </a:lnTo>
                <a:moveTo>
                  <a:pt x="2134" y="0"/>
                </a:moveTo>
                <a:lnTo>
                  <a:pt x="2134" y="0"/>
                </a:lnTo>
                <a:lnTo>
                  <a:pt x="2148" y="0"/>
                </a:lnTo>
                <a:moveTo>
                  <a:pt x="2188" y="0"/>
                </a:moveTo>
                <a:lnTo>
                  <a:pt x="2188" y="0"/>
                </a:lnTo>
                <a:lnTo>
                  <a:pt x="2201" y="0"/>
                </a:lnTo>
                <a:moveTo>
                  <a:pt x="2241" y="0"/>
                </a:moveTo>
                <a:lnTo>
                  <a:pt x="2241" y="0"/>
                </a:lnTo>
                <a:lnTo>
                  <a:pt x="2254" y="0"/>
                </a:lnTo>
                <a:moveTo>
                  <a:pt x="2294" y="0"/>
                </a:moveTo>
                <a:lnTo>
                  <a:pt x="2294" y="0"/>
                </a:lnTo>
                <a:lnTo>
                  <a:pt x="2308" y="0"/>
                </a:lnTo>
                <a:moveTo>
                  <a:pt x="2348" y="0"/>
                </a:moveTo>
                <a:lnTo>
                  <a:pt x="2348" y="0"/>
                </a:lnTo>
                <a:lnTo>
                  <a:pt x="2361" y="0"/>
                </a:lnTo>
                <a:moveTo>
                  <a:pt x="2401" y="0"/>
                </a:moveTo>
                <a:lnTo>
                  <a:pt x="2401" y="0"/>
                </a:lnTo>
                <a:lnTo>
                  <a:pt x="2414" y="0"/>
                </a:lnTo>
                <a:moveTo>
                  <a:pt x="2454" y="0"/>
                </a:moveTo>
                <a:lnTo>
                  <a:pt x="2454" y="0"/>
                </a:lnTo>
                <a:lnTo>
                  <a:pt x="2468" y="0"/>
                </a:lnTo>
                <a:moveTo>
                  <a:pt x="2508" y="0"/>
                </a:moveTo>
                <a:lnTo>
                  <a:pt x="2508" y="0"/>
                </a:lnTo>
                <a:lnTo>
                  <a:pt x="2521" y="0"/>
                </a:lnTo>
                <a:moveTo>
                  <a:pt x="2561" y="0"/>
                </a:moveTo>
                <a:lnTo>
                  <a:pt x="2561" y="0"/>
                </a:lnTo>
                <a:lnTo>
                  <a:pt x="2574" y="0"/>
                </a:lnTo>
                <a:moveTo>
                  <a:pt x="2614" y="0"/>
                </a:moveTo>
                <a:lnTo>
                  <a:pt x="2614" y="0"/>
                </a:lnTo>
                <a:lnTo>
                  <a:pt x="2628" y="0"/>
                </a:lnTo>
                <a:moveTo>
                  <a:pt x="2668" y="0"/>
                </a:moveTo>
                <a:lnTo>
                  <a:pt x="2668" y="0"/>
                </a:lnTo>
                <a:lnTo>
                  <a:pt x="2681" y="0"/>
                </a:lnTo>
                <a:moveTo>
                  <a:pt x="2721" y="0"/>
                </a:moveTo>
                <a:lnTo>
                  <a:pt x="2721" y="0"/>
                </a:lnTo>
                <a:lnTo>
                  <a:pt x="2735" y="0"/>
                </a:lnTo>
                <a:moveTo>
                  <a:pt x="2775" y="0"/>
                </a:moveTo>
                <a:lnTo>
                  <a:pt x="2775" y="0"/>
                </a:lnTo>
                <a:lnTo>
                  <a:pt x="2788" y="0"/>
                </a:lnTo>
                <a:moveTo>
                  <a:pt x="2828" y="0"/>
                </a:moveTo>
                <a:lnTo>
                  <a:pt x="2828" y="0"/>
                </a:lnTo>
                <a:lnTo>
                  <a:pt x="2841" y="0"/>
                </a:lnTo>
                <a:moveTo>
                  <a:pt x="2881" y="0"/>
                </a:moveTo>
                <a:lnTo>
                  <a:pt x="2881" y="0"/>
                </a:lnTo>
                <a:lnTo>
                  <a:pt x="2895" y="0"/>
                </a:lnTo>
                <a:moveTo>
                  <a:pt x="2935" y="0"/>
                </a:moveTo>
                <a:lnTo>
                  <a:pt x="2935" y="0"/>
                </a:lnTo>
                <a:lnTo>
                  <a:pt x="2948" y="0"/>
                </a:lnTo>
                <a:moveTo>
                  <a:pt x="2988" y="0"/>
                </a:moveTo>
                <a:lnTo>
                  <a:pt x="2988" y="0"/>
                </a:lnTo>
                <a:lnTo>
                  <a:pt x="3001" y="0"/>
                </a:lnTo>
                <a:moveTo>
                  <a:pt x="3041" y="0"/>
                </a:moveTo>
                <a:lnTo>
                  <a:pt x="3041" y="0"/>
                </a:lnTo>
                <a:lnTo>
                  <a:pt x="3055" y="0"/>
                </a:lnTo>
                <a:moveTo>
                  <a:pt x="3095" y="0"/>
                </a:moveTo>
                <a:lnTo>
                  <a:pt x="3095" y="0"/>
                </a:lnTo>
                <a:lnTo>
                  <a:pt x="3108" y="0"/>
                </a:lnTo>
                <a:moveTo>
                  <a:pt x="3148" y="0"/>
                </a:moveTo>
                <a:lnTo>
                  <a:pt x="3148" y="0"/>
                </a:lnTo>
                <a:lnTo>
                  <a:pt x="3161" y="0"/>
                </a:lnTo>
                <a:moveTo>
                  <a:pt x="3201" y="0"/>
                </a:moveTo>
                <a:lnTo>
                  <a:pt x="3201" y="0"/>
                </a:lnTo>
                <a:lnTo>
                  <a:pt x="3215" y="0"/>
                </a:lnTo>
                <a:moveTo>
                  <a:pt x="3255" y="0"/>
                </a:moveTo>
                <a:lnTo>
                  <a:pt x="3255" y="0"/>
                </a:lnTo>
                <a:lnTo>
                  <a:pt x="3268" y="0"/>
                </a:lnTo>
                <a:moveTo>
                  <a:pt x="3308" y="0"/>
                </a:moveTo>
                <a:lnTo>
                  <a:pt x="3308" y="0"/>
                </a:lnTo>
                <a:lnTo>
                  <a:pt x="3321" y="0"/>
                </a:lnTo>
                <a:moveTo>
                  <a:pt x="3361" y="0"/>
                </a:moveTo>
                <a:lnTo>
                  <a:pt x="3361" y="0"/>
                </a:lnTo>
                <a:lnTo>
                  <a:pt x="3375" y="0"/>
                </a:lnTo>
                <a:moveTo>
                  <a:pt x="3415" y="0"/>
                </a:moveTo>
                <a:lnTo>
                  <a:pt x="3415" y="0"/>
                </a:lnTo>
                <a:lnTo>
                  <a:pt x="3428" y="0"/>
                </a:lnTo>
                <a:moveTo>
                  <a:pt x="3468" y="0"/>
                </a:moveTo>
                <a:lnTo>
                  <a:pt x="3468" y="0"/>
                </a:lnTo>
                <a:lnTo>
                  <a:pt x="3482" y="0"/>
                </a:lnTo>
                <a:moveTo>
                  <a:pt x="3522" y="0"/>
                </a:moveTo>
                <a:lnTo>
                  <a:pt x="3522" y="0"/>
                </a:lnTo>
                <a:lnTo>
                  <a:pt x="3535" y="0"/>
                </a:lnTo>
                <a:moveTo>
                  <a:pt x="3575" y="0"/>
                </a:moveTo>
                <a:lnTo>
                  <a:pt x="3575" y="0"/>
                </a:lnTo>
                <a:lnTo>
                  <a:pt x="3588" y="0"/>
                </a:lnTo>
                <a:moveTo>
                  <a:pt x="3628" y="0"/>
                </a:moveTo>
                <a:lnTo>
                  <a:pt x="3628" y="0"/>
                </a:lnTo>
                <a:lnTo>
                  <a:pt x="3642" y="0"/>
                </a:lnTo>
                <a:moveTo>
                  <a:pt x="3682" y="0"/>
                </a:moveTo>
                <a:lnTo>
                  <a:pt x="3682" y="0"/>
                </a:lnTo>
                <a:lnTo>
                  <a:pt x="3695" y="0"/>
                </a:lnTo>
                <a:moveTo>
                  <a:pt x="3735" y="0"/>
                </a:moveTo>
                <a:lnTo>
                  <a:pt x="3735" y="0"/>
                </a:lnTo>
                <a:lnTo>
                  <a:pt x="3748" y="0"/>
                </a:lnTo>
                <a:moveTo>
                  <a:pt x="3788" y="0"/>
                </a:moveTo>
                <a:lnTo>
                  <a:pt x="3788" y="0"/>
                </a:lnTo>
                <a:lnTo>
                  <a:pt x="3802" y="0"/>
                </a:lnTo>
                <a:moveTo>
                  <a:pt x="3842" y="0"/>
                </a:moveTo>
                <a:lnTo>
                  <a:pt x="3842" y="0"/>
                </a:lnTo>
                <a:lnTo>
                  <a:pt x="3855" y="0"/>
                </a:lnTo>
                <a:moveTo>
                  <a:pt x="3895" y="0"/>
                </a:moveTo>
                <a:lnTo>
                  <a:pt x="3895" y="0"/>
                </a:lnTo>
                <a:lnTo>
                  <a:pt x="3908" y="0"/>
                </a:lnTo>
                <a:moveTo>
                  <a:pt x="3948" y="0"/>
                </a:moveTo>
                <a:lnTo>
                  <a:pt x="3948" y="0"/>
                </a:lnTo>
                <a:lnTo>
                  <a:pt x="3962" y="0"/>
                </a:lnTo>
                <a:moveTo>
                  <a:pt x="4002" y="0"/>
                </a:moveTo>
                <a:lnTo>
                  <a:pt x="4002" y="0"/>
                </a:lnTo>
                <a:lnTo>
                  <a:pt x="4015" y="0"/>
                </a:lnTo>
                <a:moveTo>
                  <a:pt x="4055" y="0"/>
                </a:moveTo>
                <a:lnTo>
                  <a:pt x="4055" y="0"/>
                </a:lnTo>
                <a:lnTo>
                  <a:pt x="4068" y="0"/>
                </a:lnTo>
                <a:moveTo>
                  <a:pt x="4108" y="0"/>
                </a:moveTo>
                <a:lnTo>
                  <a:pt x="4108" y="0"/>
                </a:lnTo>
                <a:lnTo>
                  <a:pt x="4122" y="0"/>
                </a:lnTo>
                <a:moveTo>
                  <a:pt x="4162" y="0"/>
                </a:moveTo>
                <a:lnTo>
                  <a:pt x="4162" y="0"/>
                </a:lnTo>
                <a:lnTo>
                  <a:pt x="4175" y="0"/>
                </a:lnTo>
                <a:moveTo>
                  <a:pt x="4215" y="0"/>
                </a:moveTo>
                <a:lnTo>
                  <a:pt x="4215" y="0"/>
                </a:lnTo>
                <a:lnTo>
                  <a:pt x="4228" y="0"/>
                </a:lnTo>
                <a:moveTo>
                  <a:pt x="4269" y="0"/>
                </a:moveTo>
                <a:lnTo>
                  <a:pt x="4269" y="0"/>
                </a:lnTo>
                <a:lnTo>
                  <a:pt x="4282" y="0"/>
                </a:lnTo>
                <a:moveTo>
                  <a:pt x="4322" y="0"/>
                </a:moveTo>
                <a:lnTo>
                  <a:pt x="4322" y="0"/>
                </a:lnTo>
                <a:lnTo>
                  <a:pt x="4335" y="0"/>
                </a:lnTo>
                <a:moveTo>
                  <a:pt x="4375" y="0"/>
                </a:moveTo>
                <a:lnTo>
                  <a:pt x="4375" y="0"/>
                </a:lnTo>
                <a:lnTo>
                  <a:pt x="4389" y="0"/>
                </a:lnTo>
                <a:moveTo>
                  <a:pt x="4429" y="0"/>
                </a:moveTo>
                <a:lnTo>
                  <a:pt x="4429" y="0"/>
                </a:lnTo>
                <a:lnTo>
                  <a:pt x="4442" y="0"/>
                </a:lnTo>
                <a:moveTo>
                  <a:pt x="4482" y="0"/>
                </a:moveTo>
                <a:lnTo>
                  <a:pt x="4482" y="0"/>
                </a:lnTo>
                <a:lnTo>
                  <a:pt x="4495" y="0"/>
                </a:lnTo>
                <a:moveTo>
                  <a:pt x="4535" y="0"/>
                </a:moveTo>
                <a:lnTo>
                  <a:pt x="4535" y="0"/>
                </a:lnTo>
                <a:lnTo>
                  <a:pt x="4549" y="0"/>
                </a:lnTo>
                <a:moveTo>
                  <a:pt x="4589" y="0"/>
                </a:moveTo>
                <a:lnTo>
                  <a:pt x="4589" y="0"/>
                </a:lnTo>
                <a:lnTo>
                  <a:pt x="4602" y="0"/>
                </a:lnTo>
                <a:moveTo>
                  <a:pt x="4642" y="0"/>
                </a:moveTo>
                <a:lnTo>
                  <a:pt x="4642" y="0"/>
                </a:lnTo>
                <a:lnTo>
                  <a:pt x="4655" y="0"/>
                </a:lnTo>
                <a:moveTo>
                  <a:pt x="4695" y="0"/>
                </a:moveTo>
                <a:lnTo>
                  <a:pt x="4695" y="0"/>
                </a:lnTo>
                <a:lnTo>
                  <a:pt x="4709" y="0"/>
                </a:lnTo>
                <a:moveTo>
                  <a:pt x="4749" y="0"/>
                </a:moveTo>
                <a:lnTo>
                  <a:pt x="4749" y="0"/>
                </a:lnTo>
                <a:lnTo>
                  <a:pt x="4762" y="0"/>
                </a:lnTo>
              </a:path>
            </a:pathLst>
          </a:custGeom>
          <a:noFill/>
          <a:ln w="28575" cap="rnd">
            <a:solidFill>
              <a:srgbClr val="D3D3D3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96" name="Freeform 96">
            <a:extLst>
              <a:ext uri="{FF2B5EF4-FFF2-40B4-BE49-F238E27FC236}">
                <a16:creationId xmlns:a16="http://schemas.microsoft.com/office/drawing/2014/main" id="{7F77F48E-3E54-0944-9C42-A5E388E9A3E6}"/>
              </a:ext>
            </a:extLst>
          </p:cNvPr>
          <p:cNvSpPr>
            <a:spLocks/>
          </p:cNvSpPr>
          <p:nvPr/>
        </p:nvSpPr>
        <p:spPr bwMode="auto">
          <a:xfrm>
            <a:off x="3744669" y="3962059"/>
            <a:ext cx="0" cy="560387"/>
          </a:xfrm>
          <a:custGeom>
            <a:avLst/>
            <a:gdLst>
              <a:gd name="T0" fmla="*/ 5 h 653"/>
              <a:gd name="T1" fmla="*/ 5 h 653"/>
              <a:gd name="T2" fmla="*/ 0 h 653"/>
              <a:gd name="T3" fmla="*/ 0 60000 65536"/>
              <a:gd name="T4" fmla="*/ 0 60000 65536"/>
              <a:gd name="T5" fmla="*/ 0 60000 65536"/>
            </a:gdLst>
            <a:ahLst/>
            <a:cxnLst>
              <a:cxn ang="T3">
                <a:pos x="0" y="T0"/>
              </a:cxn>
              <a:cxn ang="T4">
                <a:pos x="0" y="T1"/>
              </a:cxn>
              <a:cxn ang="T5">
                <a:pos x="0" y="T2"/>
              </a:cxn>
            </a:cxnLst>
            <a:rect l="0" t="0" r="r" b="b"/>
            <a:pathLst>
              <a:path h="653">
                <a:moveTo>
                  <a:pt x="0" y="653"/>
                </a:moveTo>
                <a:lnTo>
                  <a:pt x="0" y="653"/>
                </a:lnTo>
                <a:lnTo>
                  <a:pt x="0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97" name="Rectangle 98">
            <a:extLst>
              <a:ext uri="{FF2B5EF4-FFF2-40B4-BE49-F238E27FC236}">
                <a16:creationId xmlns:a16="http://schemas.microsoft.com/office/drawing/2014/main" id="{2E1967F8-B89D-D64D-B601-EFF3A0CF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306" y="4393859"/>
            <a:ext cx="215900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100" baseline="0" dirty="0">
                <a:solidFill>
                  <a:srgbClr val="000000"/>
                </a:solidFill>
                <a:latin typeface="Arial" panose="020B0604020202020204" pitchFamily="34" charset="0"/>
              </a:rPr>
              <a:t>+1</a:t>
            </a:r>
            <a:endParaRPr lang="nl-BE" altLang="nl-BE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" name="Rectangle 99">
            <a:extLst>
              <a:ext uri="{FF2B5EF4-FFF2-40B4-BE49-F238E27FC236}">
                <a16:creationId xmlns:a16="http://schemas.microsoft.com/office/drawing/2014/main" id="{198446B8-902B-4644-A492-CA1EFE455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219" y="4152559"/>
            <a:ext cx="1428750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100" baseline="0">
                <a:solidFill>
                  <a:srgbClr val="000000"/>
                </a:solidFill>
                <a:latin typeface="Arial" panose="020B0604020202020204" pitchFamily="34" charset="0"/>
              </a:rPr>
              <a:t>Slope (=hellingsgraad)</a:t>
            </a: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" name="Rectangle 10">
            <a:extLst>
              <a:ext uri="{FF2B5EF4-FFF2-40B4-BE49-F238E27FC236}">
                <a16:creationId xmlns:a16="http://schemas.microsoft.com/office/drawing/2014/main" id="{6660B1F2-E00E-704F-9D92-D9C0A56B0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733" y="3115006"/>
            <a:ext cx="4391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r>
              <a:rPr lang="nl-BE" altLang="nl-BE" sz="2400" baseline="0" dirty="0"/>
              <a:t> = 	intercept + slope * </a:t>
            </a:r>
            <a:r>
              <a:rPr lang="nl-BE" altLang="nl-BE" sz="2400" b="1" baseline="0" dirty="0">
                <a:solidFill>
                  <a:srgbClr val="7E002F"/>
                </a:solidFill>
              </a:rPr>
              <a:t>X</a:t>
            </a:r>
            <a:endParaRPr lang="nl-BE" altLang="nl-BE" sz="2400" baseline="0" dirty="0"/>
          </a:p>
        </p:txBody>
      </p:sp>
      <p:sp>
        <p:nvSpPr>
          <p:cNvPr id="103" name="Rectangle 10">
            <a:extLst>
              <a:ext uri="{FF2B5EF4-FFF2-40B4-BE49-F238E27FC236}">
                <a16:creationId xmlns:a16="http://schemas.microsoft.com/office/drawing/2014/main" id="{0042DBFA-C2BB-CF49-97CA-8FB4126C6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745" y="3703968"/>
            <a:ext cx="43910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r>
              <a:rPr lang="nl-BE" altLang="nl-BE" sz="2400" baseline="0" dirty="0"/>
              <a:t> = 	     5       +   2    * </a:t>
            </a:r>
            <a:r>
              <a:rPr lang="nl-BE" altLang="nl-BE" sz="2400" b="1" baseline="0" dirty="0">
                <a:solidFill>
                  <a:srgbClr val="7E002F"/>
                </a:solidFill>
              </a:rPr>
              <a:t>X</a:t>
            </a:r>
            <a:endParaRPr lang="nl-BE" altLang="nl-BE" sz="2400" baseline="0" dirty="0"/>
          </a:p>
        </p:txBody>
      </p:sp>
      <p:sp>
        <p:nvSpPr>
          <p:cNvPr id="104" name="Rechthoek 103">
            <a:extLst>
              <a:ext uri="{FF2B5EF4-FFF2-40B4-BE49-F238E27FC236}">
                <a16:creationId xmlns:a16="http://schemas.microsoft.com/office/drawing/2014/main" id="{E0D6015F-DDE1-8D42-B351-B9FC8DB08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7705" y="3770313"/>
            <a:ext cx="504825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" name="Rechthoek 104">
            <a:extLst>
              <a:ext uri="{FF2B5EF4-FFF2-40B4-BE49-F238E27FC236}">
                <a16:creationId xmlns:a16="http://schemas.microsoft.com/office/drawing/2014/main" id="{04AA3414-76DD-CF42-B180-BB7A058CA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42" y="3719513"/>
            <a:ext cx="503238" cy="561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796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BCFAD-F051-DB4F-B3CE-614E3674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i="1" dirty="0"/>
              <a:t>Functies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6996C30-E5C8-0A45-A822-D812A1645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35</a:t>
            </a:fld>
            <a:endParaRPr lang="nl-BE" dirty="0"/>
          </a:p>
        </p:txBody>
      </p:sp>
      <p:grpSp>
        <p:nvGrpSpPr>
          <p:cNvPr id="11" name="Group 19">
            <a:extLst>
              <a:ext uri="{FF2B5EF4-FFF2-40B4-BE49-F238E27FC236}">
                <a16:creationId xmlns:a16="http://schemas.microsoft.com/office/drawing/2014/main" id="{3BD53ADB-78CC-9042-8CBB-43C650E95A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27238" y="1525125"/>
            <a:ext cx="5114925" cy="5148262"/>
            <a:chOff x="-6" y="821"/>
            <a:chExt cx="3222" cy="3243"/>
          </a:xfrm>
        </p:grpSpPr>
        <p:sp>
          <p:nvSpPr>
            <p:cNvPr id="12" name="AutoShape 18">
              <a:extLst>
                <a:ext uri="{FF2B5EF4-FFF2-40B4-BE49-F238E27FC236}">
                  <a16:creationId xmlns:a16="http://schemas.microsoft.com/office/drawing/2014/main" id="{91A0AC22-1585-6B4E-BF9E-2BE0CB3046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04" y="821"/>
              <a:ext cx="3012" cy="3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0B368955-C80B-7242-8489-0D406E0C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3591"/>
              <a:ext cx="2578" cy="0"/>
            </a:xfrm>
            <a:custGeom>
              <a:avLst/>
              <a:gdLst>
                <a:gd name="T0" fmla="*/ 0 w 4769"/>
                <a:gd name="T1" fmla="*/ 0 w 4769"/>
                <a:gd name="T2" fmla="*/ 35 w 4769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4769">
                  <a:moveTo>
                    <a:pt x="0" y="0"/>
                  </a:moveTo>
                  <a:lnTo>
                    <a:pt x="0" y="0"/>
                  </a:lnTo>
                  <a:lnTo>
                    <a:pt x="4769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07A0A67B-4336-C949-B060-BB08AEE65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DB97CB23-7C6F-8741-8F0B-71D011646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10F5BB3E-7DDC-E14C-89A7-8F6166090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501AF052-A3D7-C448-854D-8865E1208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C6F75644-483B-7342-9660-738836AE0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E857FE2F-A214-B84D-B78E-65DB017DF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3591"/>
              <a:ext cx="0" cy="52"/>
            </a:xfrm>
            <a:custGeom>
              <a:avLst/>
              <a:gdLst>
                <a:gd name="T0" fmla="*/ 0 h 96"/>
                <a:gd name="T1" fmla="*/ 0 h 96"/>
                <a:gd name="T2" fmla="*/ 1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B4BAB7DD-6542-B449-91DB-06CFCEFC7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B64C18D0-50F1-154B-9E31-D27D66537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52828866-CD9F-D540-AB98-E1E0B9F30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30">
              <a:extLst>
                <a:ext uri="{FF2B5EF4-FFF2-40B4-BE49-F238E27FC236}">
                  <a16:creationId xmlns:a16="http://schemas.microsoft.com/office/drawing/2014/main" id="{17970544-35AC-E24D-8FBC-67705D510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C75B4680-081B-2F45-9673-31B1AE896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2">
              <a:extLst>
                <a:ext uri="{FF2B5EF4-FFF2-40B4-BE49-F238E27FC236}">
                  <a16:creationId xmlns:a16="http://schemas.microsoft.com/office/drawing/2014/main" id="{474028CC-5AA5-4C42-A02E-0BB16CAE3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9" y="370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92A6705C-0EBC-9D4C-A9E8-879539B67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0" cy="2653"/>
            </a:xfrm>
            <a:custGeom>
              <a:avLst/>
              <a:gdLst>
                <a:gd name="T0" fmla="*/ 36 h 4902"/>
                <a:gd name="T1" fmla="*/ 36 h 4902"/>
                <a:gd name="T2" fmla="*/ 0 h 4902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4902">
                  <a:moveTo>
                    <a:pt x="0" y="4902"/>
                  </a:moveTo>
                  <a:lnTo>
                    <a:pt x="0" y="4902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7C0C8688-E4F0-D04A-AD01-432692988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591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8" name="Freeform 35">
              <a:extLst>
                <a:ext uri="{FF2B5EF4-FFF2-40B4-BE49-F238E27FC236}">
                  <a16:creationId xmlns:a16="http://schemas.microsoft.com/office/drawing/2014/main" id="{70A39DAB-2D65-2C49-9879-0B6BC4F01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41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7C259EFA-5F7D-6C4B-981B-234864B1D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238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" name="Freeform 37">
              <a:extLst>
                <a:ext uri="{FF2B5EF4-FFF2-40B4-BE49-F238E27FC236}">
                  <a16:creationId xmlns:a16="http://schemas.microsoft.com/office/drawing/2014/main" id="{B315E356-0A01-764A-B8C9-0BD6C2F41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3061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E6623F3F-F6A1-9543-ACB9-98961F646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88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B86C5BBB-A129-4147-B384-6486A7D81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707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02A26B77-A209-1447-92F9-CFDAC67F6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530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9904633C-0B0B-3D4D-ADEB-15064CDAF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354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5" name="Freeform 42">
              <a:extLst>
                <a:ext uri="{FF2B5EF4-FFF2-40B4-BE49-F238E27FC236}">
                  <a16:creationId xmlns:a16="http://schemas.microsoft.com/office/drawing/2014/main" id="{4CD82AD7-CDFB-7147-97D6-8806F285E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177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6" name="Freeform 43">
              <a:extLst>
                <a:ext uri="{FF2B5EF4-FFF2-40B4-BE49-F238E27FC236}">
                  <a16:creationId xmlns:a16="http://schemas.microsoft.com/office/drawing/2014/main" id="{433E4AC6-10F9-4E4F-AC6A-AFFEAAC58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2000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A5956FDC-F51B-8248-BCF8-2298387F7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823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8" name="Freeform 45">
              <a:extLst>
                <a:ext uri="{FF2B5EF4-FFF2-40B4-BE49-F238E27FC236}">
                  <a16:creationId xmlns:a16="http://schemas.microsoft.com/office/drawing/2014/main" id="{7D359244-3310-5248-B120-F03908EBA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646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9" name="Freeform 46">
              <a:extLst>
                <a:ext uri="{FF2B5EF4-FFF2-40B4-BE49-F238E27FC236}">
                  <a16:creationId xmlns:a16="http://schemas.microsoft.com/office/drawing/2014/main" id="{D455EF0B-0025-9343-BC95-C933C652F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469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6F4E9E10-2345-8741-8FB5-DCD1B9F02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292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1" name="Freeform 48">
              <a:extLst>
                <a:ext uri="{FF2B5EF4-FFF2-40B4-BE49-F238E27FC236}">
                  <a16:creationId xmlns:a16="http://schemas.microsoft.com/office/drawing/2014/main" id="{EFC142E8-79C9-EA4C-819A-C90C62BEA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1115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2" name="Freeform 49">
              <a:extLst>
                <a:ext uri="{FF2B5EF4-FFF2-40B4-BE49-F238E27FC236}">
                  <a16:creationId xmlns:a16="http://schemas.microsoft.com/office/drawing/2014/main" id="{A60461DA-B9A8-E945-A40A-F771C172B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" y="938"/>
              <a:ext cx="52" cy="0"/>
            </a:xfrm>
            <a:custGeom>
              <a:avLst/>
              <a:gdLst>
                <a:gd name="T0" fmla="*/ 1 w 96"/>
                <a:gd name="T1" fmla="*/ 1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43" name="Rectangle 50">
              <a:extLst>
                <a:ext uri="{FF2B5EF4-FFF2-40B4-BE49-F238E27FC236}">
                  <a16:creationId xmlns:a16="http://schemas.microsoft.com/office/drawing/2014/main" id="{7ED024C0-529D-6041-B98D-F610B7B78E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51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51">
              <a:extLst>
                <a:ext uri="{FF2B5EF4-FFF2-40B4-BE49-F238E27FC236}">
                  <a16:creationId xmlns:a16="http://schemas.microsoft.com/office/drawing/2014/main" id="{21BBA9C8-770D-B24A-92F8-5659F1C91A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33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52">
              <a:extLst>
                <a:ext uri="{FF2B5EF4-FFF2-40B4-BE49-F238E27FC236}">
                  <a16:creationId xmlns:a16="http://schemas.microsoft.com/office/drawing/2014/main" id="{1DD469D8-2F02-904A-B633-2A4D044DA6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3159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53">
              <a:extLst>
                <a:ext uri="{FF2B5EF4-FFF2-40B4-BE49-F238E27FC236}">
                  <a16:creationId xmlns:a16="http://schemas.microsoft.com/office/drawing/2014/main" id="{14F4846F-1C72-4447-BE68-82456DC7A4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982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54">
              <a:extLst>
                <a:ext uri="{FF2B5EF4-FFF2-40B4-BE49-F238E27FC236}">
                  <a16:creationId xmlns:a16="http://schemas.microsoft.com/office/drawing/2014/main" id="{FEE46DF8-0E04-DA41-BF66-B002E41D0C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805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55">
              <a:extLst>
                <a:ext uri="{FF2B5EF4-FFF2-40B4-BE49-F238E27FC236}">
                  <a16:creationId xmlns:a16="http://schemas.microsoft.com/office/drawing/2014/main" id="{BC724DAE-F704-9647-AE0A-3036312DD4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62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56">
              <a:extLst>
                <a:ext uri="{FF2B5EF4-FFF2-40B4-BE49-F238E27FC236}">
                  <a16:creationId xmlns:a16="http://schemas.microsoft.com/office/drawing/2014/main" id="{17755BF7-5175-3D4C-B5A8-D0A92A4933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45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6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57">
              <a:extLst>
                <a:ext uri="{FF2B5EF4-FFF2-40B4-BE49-F238E27FC236}">
                  <a16:creationId xmlns:a16="http://schemas.microsoft.com/office/drawing/2014/main" id="{ECCBA367-1A15-3547-A74F-E3E0469DFE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275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7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58">
              <a:extLst>
                <a:ext uri="{FF2B5EF4-FFF2-40B4-BE49-F238E27FC236}">
                  <a16:creationId xmlns:a16="http://schemas.microsoft.com/office/drawing/2014/main" id="{0AAAD7E4-A1C8-A24A-9896-903EA9F98D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209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59">
              <a:extLst>
                <a:ext uri="{FF2B5EF4-FFF2-40B4-BE49-F238E27FC236}">
                  <a16:creationId xmlns:a16="http://schemas.microsoft.com/office/drawing/2014/main" id="{1F284280-81A1-E944-86BE-8820353E9C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92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9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60">
              <a:extLst>
                <a:ext uri="{FF2B5EF4-FFF2-40B4-BE49-F238E27FC236}">
                  <a16:creationId xmlns:a16="http://schemas.microsoft.com/office/drawing/2014/main" id="{DA75AF3F-0D1E-E441-8199-6CA3D83B0E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768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61">
              <a:extLst>
                <a:ext uri="{FF2B5EF4-FFF2-40B4-BE49-F238E27FC236}">
                  <a16:creationId xmlns:a16="http://schemas.microsoft.com/office/drawing/2014/main" id="{1CCE8094-DD7E-F042-A797-08F8DDBE37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720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" name="Rectangle 62">
              <a:extLst>
                <a:ext uri="{FF2B5EF4-FFF2-40B4-BE49-F238E27FC236}">
                  <a16:creationId xmlns:a16="http://schemas.microsoft.com/office/drawing/2014/main" id="{C6422EAD-2B29-4545-B17F-F652A2B29C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59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63">
              <a:extLst>
                <a:ext uri="{FF2B5EF4-FFF2-40B4-BE49-F238E27FC236}">
                  <a16:creationId xmlns:a16="http://schemas.microsoft.com/office/drawing/2014/main" id="{7E047B82-C385-2048-A46A-50FE5A4A39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54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64">
              <a:extLst>
                <a:ext uri="{FF2B5EF4-FFF2-40B4-BE49-F238E27FC236}">
                  <a16:creationId xmlns:a16="http://schemas.microsoft.com/office/drawing/2014/main" id="{B2F99816-E591-5040-A939-161A489270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414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65">
              <a:extLst>
                <a:ext uri="{FF2B5EF4-FFF2-40B4-BE49-F238E27FC236}">
                  <a16:creationId xmlns:a16="http://schemas.microsoft.com/office/drawing/2014/main" id="{85F89AEE-DC94-AE4F-AF8C-55DB935489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36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66">
              <a:extLst>
                <a:ext uri="{FF2B5EF4-FFF2-40B4-BE49-F238E27FC236}">
                  <a16:creationId xmlns:a16="http://schemas.microsoft.com/office/drawing/2014/main" id="{755CB1B1-857A-E041-89BB-5261C568BF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237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67">
              <a:extLst>
                <a:ext uri="{FF2B5EF4-FFF2-40B4-BE49-F238E27FC236}">
                  <a16:creationId xmlns:a16="http://schemas.microsoft.com/office/drawing/2014/main" id="{109BC590-53CA-B24C-9A0B-C93AFC659A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189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68">
              <a:extLst>
                <a:ext uri="{FF2B5EF4-FFF2-40B4-BE49-F238E27FC236}">
                  <a16:creationId xmlns:a16="http://schemas.microsoft.com/office/drawing/2014/main" id="{FFEA413A-5845-C94F-B9F3-D1BB1EB19A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061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69">
              <a:extLst>
                <a:ext uri="{FF2B5EF4-FFF2-40B4-BE49-F238E27FC236}">
                  <a16:creationId xmlns:a16="http://schemas.microsoft.com/office/drawing/2014/main" id="{09AD785E-45A0-9047-B906-84774E350D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8" y="1013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70">
              <a:extLst>
                <a:ext uri="{FF2B5EF4-FFF2-40B4-BE49-F238E27FC236}">
                  <a16:creationId xmlns:a16="http://schemas.microsoft.com/office/drawing/2014/main" id="{025A0409-0749-5A43-92AE-657135440E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7" y="884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Rectangle 71">
              <a:extLst>
                <a:ext uri="{FF2B5EF4-FFF2-40B4-BE49-F238E27FC236}">
                  <a16:creationId xmlns:a16="http://schemas.microsoft.com/office/drawing/2014/main" id="{06717DDB-6FD2-C048-8562-A33AF5E650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37" y="836"/>
              <a:ext cx="8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nl-BE" altLang="nl-BE" sz="1100" baseline="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Freeform 72">
              <a:extLst>
                <a:ext uri="{FF2B5EF4-FFF2-40B4-BE49-F238E27FC236}">
                  <a16:creationId xmlns:a16="http://schemas.microsoft.com/office/drawing/2014/main" id="{A170345A-76F3-CD4F-9251-8F822713C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2578" cy="2653"/>
            </a:xfrm>
            <a:custGeom>
              <a:avLst/>
              <a:gdLst>
                <a:gd name="T0" fmla="*/ 0 w 4769"/>
                <a:gd name="T1" fmla="*/ 36 h 4902"/>
                <a:gd name="T2" fmla="*/ 0 w 4769"/>
                <a:gd name="T3" fmla="*/ 36 h 4902"/>
                <a:gd name="T4" fmla="*/ 35 w 4769"/>
                <a:gd name="T5" fmla="*/ 36 h 4902"/>
                <a:gd name="T6" fmla="*/ 35 w 4769"/>
                <a:gd name="T7" fmla="*/ 0 h 4902"/>
                <a:gd name="T8" fmla="*/ 0 w 4769"/>
                <a:gd name="T9" fmla="*/ 0 h 4902"/>
                <a:gd name="T10" fmla="*/ 0 w 4769"/>
                <a:gd name="T11" fmla="*/ 36 h 49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69" h="4902">
                  <a:moveTo>
                    <a:pt x="0" y="4902"/>
                  </a:moveTo>
                  <a:lnTo>
                    <a:pt x="0" y="4902"/>
                  </a:lnTo>
                  <a:lnTo>
                    <a:pt x="4769" y="4902"/>
                  </a:lnTo>
                  <a:lnTo>
                    <a:pt x="4769" y="0"/>
                  </a:lnTo>
                  <a:lnTo>
                    <a:pt x="0" y="0"/>
                  </a:lnTo>
                  <a:lnTo>
                    <a:pt x="0" y="4902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6" name="Rectangle 73">
              <a:extLst>
                <a:ext uri="{FF2B5EF4-FFF2-40B4-BE49-F238E27FC236}">
                  <a16:creationId xmlns:a16="http://schemas.microsoft.com/office/drawing/2014/main" id="{3A34890D-B949-A443-9AE5-FFB4AB123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" y="3909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74">
              <a:extLst>
                <a:ext uri="{FF2B5EF4-FFF2-40B4-BE49-F238E27FC236}">
                  <a16:creationId xmlns:a16="http://schemas.microsoft.com/office/drawing/2014/main" id="{7867A554-28A8-1B47-8A58-8549CB2EDA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72" y="2168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Freeform 75">
              <a:extLst>
                <a:ext uri="{FF2B5EF4-FFF2-40B4-BE49-F238E27FC236}">
                  <a16:creationId xmlns:a16="http://schemas.microsoft.com/office/drawing/2014/main" id="{4614047A-6194-F940-B02F-E53BC4460A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69" name="Freeform 76">
              <a:extLst>
                <a:ext uri="{FF2B5EF4-FFF2-40B4-BE49-F238E27FC236}">
                  <a16:creationId xmlns:a16="http://schemas.microsoft.com/office/drawing/2014/main" id="{BD4A557B-B487-664E-AD18-94367A9FD0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1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0" name="Freeform 77">
              <a:extLst>
                <a:ext uri="{FF2B5EF4-FFF2-40B4-BE49-F238E27FC236}">
                  <a16:creationId xmlns:a16="http://schemas.microsoft.com/office/drawing/2014/main" id="{751695A8-0407-3744-B1A0-C1F60BC187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9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1" name="Freeform 78">
              <a:extLst>
                <a:ext uri="{FF2B5EF4-FFF2-40B4-BE49-F238E27FC236}">
                  <a16:creationId xmlns:a16="http://schemas.microsoft.com/office/drawing/2014/main" id="{7AA44180-1171-3C4E-8DB5-B53220DD20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6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2" name="Freeform 79">
              <a:extLst>
                <a:ext uri="{FF2B5EF4-FFF2-40B4-BE49-F238E27FC236}">
                  <a16:creationId xmlns:a16="http://schemas.microsoft.com/office/drawing/2014/main" id="{DCD854CB-3E52-544F-A60D-3F6456CFD9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4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3" name="Freeform 80">
              <a:extLst>
                <a:ext uri="{FF2B5EF4-FFF2-40B4-BE49-F238E27FC236}">
                  <a16:creationId xmlns:a16="http://schemas.microsoft.com/office/drawing/2014/main" id="{6819A093-0247-3746-9087-F64E5D0B7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1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4" name="Freeform 81">
              <a:extLst>
                <a:ext uri="{FF2B5EF4-FFF2-40B4-BE49-F238E27FC236}">
                  <a16:creationId xmlns:a16="http://schemas.microsoft.com/office/drawing/2014/main" id="{782E605E-8770-C344-822E-CFE269888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9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5" name="Freeform 82">
              <a:extLst>
                <a:ext uri="{FF2B5EF4-FFF2-40B4-BE49-F238E27FC236}">
                  <a16:creationId xmlns:a16="http://schemas.microsoft.com/office/drawing/2014/main" id="{D14CBAEC-ED90-4D41-AE8D-93B3E53B81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7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6" name="Freeform 83">
              <a:extLst>
                <a:ext uri="{FF2B5EF4-FFF2-40B4-BE49-F238E27FC236}">
                  <a16:creationId xmlns:a16="http://schemas.microsoft.com/office/drawing/2014/main" id="{0662CA86-4A1A-6248-83A1-AFFFC7AAB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5" y="959"/>
              <a:ext cx="0" cy="2632"/>
            </a:xfrm>
            <a:custGeom>
              <a:avLst/>
              <a:gdLst>
                <a:gd name="T0" fmla="*/ 35 h 4863"/>
                <a:gd name="T1" fmla="*/ 35 h 4863"/>
                <a:gd name="T2" fmla="*/ 34 h 4863"/>
                <a:gd name="T3" fmla="*/ 34 h 4863"/>
                <a:gd name="T4" fmla="*/ 32 h 4863"/>
                <a:gd name="T5" fmla="*/ 32 h 4863"/>
                <a:gd name="T6" fmla="*/ 31 h 4863"/>
                <a:gd name="T7" fmla="*/ 31 h 4863"/>
                <a:gd name="T8" fmla="*/ 30 h 4863"/>
                <a:gd name="T9" fmla="*/ 30 h 4863"/>
                <a:gd name="T10" fmla="*/ 29 h 4863"/>
                <a:gd name="T11" fmla="*/ 28 h 4863"/>
                <a:gd name="T12" fmla="*/ 28 h 4863"/>
                <a:gd name="T13" fmla="*/ 27 h 4863"/>
                <a:gd name="T14" fmla="*/ 27 h 4863"/>
                <a:gd name="T15" fmla="*/ 26 h 4863"/>
                <a:gd name="T16" fmla="*/ 24 h 4863"/>
                <a:gd name="T17" fmla="*/ 24 h 4863"/>
                <a:gd name="T18" fmla="*/ 24 h 4863"/>
                <a:gd name="T19" fmla="*/ 23 h 4863"/>
                <a:gd name="T20" fmla="*/ 22 h 4863"/>
                <a:gd name="T21" fmla="*/ 22 h 4863"/>
                <a:gd name="T22" fmla="*/ 21 h 4863"/>
                <a:gd name="T23" fmla="*/ 21 h 4863"/>
                <a:gd name="T24" fmla="*/ 19 h 4863"/>
                <a:gd name="T25" fmla="*/ 19 h 4863"/>
                <a:gd name="T26" fmla="*/ 18 h 4863"/>
                <a:gd name="T27" fmla="*/ 18 h 4863"/>
                <a:gd name="T28" fmla="*/ 17 h 4863"/>
                <a:gd name="T29" fmla="*/ 16 h 4863"/>
                <a:gd name="T30" fmla="*/ 16 h 4863"/>
                <a:gd name="T31" fmla="*/ 15 h 4863"/>
                <a:gd name="T32" fmla="*/ 15 h 4863"/>
                <a:gd name="T33" fmla="*/ 14 h 4863"/>
                <a:gd name="T34" fmla="*/ 13 h 4863"/>
                <a:gd name="T35" fmla="*/ 12 h 4863"/>
                <a:gd name="T36" fmla="*/ 12 h 4863"/>
                <a:gd name="T37" fmla="*/ 11 h 4863"/>
                <a:gd name="T38" fmla="*/ 10 h 4863"/>
                <a:gd name="T39" fmla="*/ 10 h 4863"/>
                <a:gd name="T40" fmla="*/ 9 h 4863"/>
                <a:gd name="T41" fmla="*/ 9 h 4863"/>
                <a:gd name="T42" fmla="*/ 8 h 4863"/>
                <a:gd name="T43" fmla="*/ 7 h 4863"/>
                <a:gd name="T44" fmla="*/ 6 h 4863"/>
                <a:gd name="T45" fmla="*/ 6 h 4863"/>
                <a:gd name="T46" fmla="*/ 5 h 4863"/>
                <a:gd name="T47" fmla="*/ 5 h 4863"/>
                <a:gd name="T48" fmla="*/ 4 h 4863"/>
                <a:gd name="T49" fmla="*/ 3 h 4863"/>
                <a:gd name="T50" fmla="*/ 3 h 4863"/>
                <a:gd name="T51" fmla="*/ 2 h 4863"/>
                <a:gd name="T52" fmla="*/ 1 h 4863"/>
                <a:gd name="T53" fmla="*/ 1 h 4863"/>
                <a:gd name="T54" fmla="*/ 1 h 4863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</a:gdLst>
              <a:ahLst/>
              <a:cxnLst>
                <a:cxn ang="T55">
                  <a:pos x="0" y="T0"/>
                </a:cxn>
                <a:cxn ang="T56">
                  <a:pos x="0" y="T1"/>
                </a:cxn>
                <a:cxn ang="T57">
                  <a:pos x="0" y="T2"/>
                </a:cxn>
                <a:cxn ang="T58">
                  <a:pos x="0" y="T3"/>
                </a:cxn>
                <a:cxn ang="T59">
                  <a:pos x="0" y="T4"/>
                </a:cxn>
                <a:cxn ang="T60">
                  <a:pos x="0" y="T5"/>
                </a:cxn>
                <a:cxn ang="T61">
                  <a:pos x="0" y="T6"/>
                </a:cxn>
                <a:cxn ang="T62">
                  <a:pos x="0" y="T7"/>
                </a:cxn>
                <a:cxn ang="T63">
                  <a:pos x="0" y="T8"/>
                </a:cxn>
                <a:cxn ang="T64">
                  <a:pos x="0" y="T9"/>
                </a:cxn>
                <a:cxn ang="T65">
                  <a:pos x="0" y="T10"/>
                </a:cxn>
                <a:cxn ang="T66">
                  <a:pos x="0" y="T11"/>
                </a:cxn>
                <a:cxn ang="T67">
                  <a:pos x="0" y="T12"/>
                </a:cxn>
                <a:cxn ang="T68">
                  <a:pos x="0" y="T13"/>
                </a:cxn>
                <a:cxn ang="T69">
                  <a:pos x="0" y="T14"/>
                </a:cxn>
                <a:cxn ang="T70">
                  <a:pos x="0" y="T15"/>
                </a:cxn>
                <a:cxn ang="T71">
                  <a:pos x="0" y="T16"/>
                </a:cxn>
                <a:cxn ang="T72">
                  <a:pos x="0" y="T17"/>
                </a:cxn>
                <a:cxn ang="T73">
                  <a:pos x="0" y="T18"/>
                </a:cxn>
                <a:cxn ang="T74">
                  <a:pos x="0" y="T19"/>
                </a:cxn>
                <a:cxn ang="T75">
                  <a:pos x="0" y="T20"/>
                </a:cxn>
                <a:cxn ang="T76">
                  <a:pos x="0" y="T21"/>
                </a:cxn>
                <a:cxn ang="T77">
                  <a:pos x="0" y="T22"/>
                </a:cxn>
                <a:cxn ang="T78">
                  <a:pos x="0" y="T23"/>
                </a:cxn>
                <a:cxn ang="T79">
                  <a:pos x="0" y="T24"/>
                </a:cxn>
                <a:cxn ang="T80">
                  <a:pos x="0" y="T25"/>
                </a:cxn>
                <a:cxn ang="T81">
                  <a:pos x="0" y="T26"/>
                </a:cxn>
                <a:cxn ang="T82">
                  <a:pos x="0" y="T27"/>
                </a:cxn>
                <a:cxn ang="T83">
                  <a:pos x="0" y="T28"/>
                </a:cxn>
                <a:cxn ang="T84">
                  <a:pos x="0" y="T29"/>
                </a:cxn>
                <a:cxn ang="T85">
                  <a:pos x="0" y="T30"/>
                </a:cxn>
                <a:cxn ang="T86">
                  <a:pos x="0" y="T31"/>
                </a:cxn>
                <a:cxn ang="T87">
                  <a:pos x="0" y="T32"/>
                </a:cxn>
                <a:cxn ang="T88">
                  <a:pos x="0" y="T33"/>
                </a:cxn>
                <a:cxn ang="T89">
                  <a:pos x="0" y="T34"/>
                </a:cxn>
                <a:cxn ang="T90">
                  <a:pos x="0" y="T35"/>
                </a:cxn>
                <a:cxn ang="T91">
                  <a:pos x="0" y="T36"/>
                </a:cxn>
                <a:cxn ang="T92">
                  <a:pos x="0" y="T37"/>
                </a:cxn>
                <a:cxn ang="T93">
                  <a:pos x="0" y="T38"/>
                </a:cxn>
                <a:cxn ang="T94">
                  <a:pos x="0" y="T39"/>
                </a:cxn>
                <a:cxn ang="T95">
                  <a:pos x="0" y="T40"/>
                </a:cxn>
                <a:cxn ang="T96">
                  <a:pos x="0" y="T41"/>
                </a:cxn>
                <a:cxn ang="T97">
                  <a:pos x="0" y="T42"/>
                </a:cxn>
                <a:cxn ang="T98">
                  <a:pos x="0" y="T43"/>
                </a:cxn>
                <a:cxn ang="T99">
                  <a:pos x="0" y="T44"/>
                </a:cxn>
                <a:cxn ang="T100">
                  <a:pos x="0" y="T45"/>
                </a:cxn>
                <a:cxn ang="T101">
                  <a:pos x="0" y="T46"/>
                </a:cxn>
                <a:cxn ang="T102">
                  <a:pos x="0" y="T47"/>
                </a:cxn>
                <a:cxn ang="T103">
                  <a:pos x="0" y="T48"/>
                </a:cxn>
                <a:cxn ang="T104">
                  <a:pos x="0" y="T49"/>
                </a:cxn>
                <a:cxn ang="T105">
                  <a:pos x="0" y="T50"/>
                </a:cxn>
                <a:cxn ang="T106">
                  <a:pos x="0" y="T51"/>
                </a:cxn>
                <a:cxn ang="T107">
                  <a:pos x="0" y="T52"/>
                </a:cxn>
                <a:cxn ang="T108">
                  <a:pos x="0" y="T53"/>
                </a:cxn>
                <a:cxn ang="T109">
                  <a:pos x="0" y="T54"/>
                </a:cxn>
              </a:cxnLst>
              <a:rect l="0" t="0" r="r" b="b"/>
              <a:pathLst>
                <a:path h="4863">
                  <a:moveTo>
                    <a:pt x="0" y="4863"/>
                  </a:moveTo>
                  <a:lnTo>
                    <a:pt x="0" y="4863"/>
                  </a:lnTo>
                  <a:lnTo>
                    <a:pt x="0" y="4850"/>
                  </a:lnTo>
                  <a:moveTo>
                    <a:pt x="0" y="4810"/>
                  </a:moveTo>
                  <a:lnTo>
                    <a:pt x="0" y="4810"/>
                  </a:lnTo>
                  <a:lnTo>
                    <a:pt x="0" y="4796"/>
                  </a:lnTo>
                  <a:moveTo>
                    <a:pt x="0" y="4757"/>
                  </a:moveTo>
                  <a:lnTo>
                    <a:pt x="0" y="4757"/>
                  </a:lnTo>
                  <a:lnTo>
                    <a:pt x="0" y="4743"/>
                  </a:lnTo>
                  <a:moveTo>
                    <a:pt x="0" y="4703"/>
                  </a:moveTo>
                  <a:lnTo>
                    <a:pt x="0" y="4703"/>
                  </a:lnTo>
                  <a:lnTo>
                    <a:pt x="0" y="4690"/>
                  </a:lnTo>
                  <a:moveTo>
                    <a:pt x="0" y="4650"/>
                  </a:moveTo>
                  <a:lnTo>
                    <a:pt x="0" y="4650"/>
                  </a:lnTo>
                  <a:lnTo>
                    <a:pt x="0" y="4637"/>
                  </a:lnTo>
                  <a:moveTo>
                    <a:pt x="0" y="4597"/>
                  </a:moveTo>
                  <a:lnTo>
                    <a:pt x="0" y="4597"/>
                  </a:lnTo>
                  <a:lnTo>
                    <a:pt x="0" y="4583"/>
                  </a:lnTo>
                  <a:moveTo>
                    <a:pt x="0" y="4543"/>
                  </a:moveTo>
                  <a:lnTo>
                    <a:pt x="0" y="4543"/>
                  </a:lnTo>
                  <a:lnTo>
                    <a:pt x="0" y="4530"/>
                  </a:lnTo>
                  <a:moveTo>
                    <a:pt x="0" y="4490"/>
                  </a:moveTo>
                  <a:lnTo>
                    <a:pt x="0" y="4490"/>
                  </a:lnTo>
                  <a:lnTo>
                    <a:pt x="0" y="4477"/>
                  </a:lnTo>
                  <a:moveTo>
                    <a:pt x="0" y="4437"/>
                  </a:moveTo>
                  <a:lnTo>
                    <a:pt x="0" y="4437"/>
                  </a:lnTo>
                  <a:lnTo>
                    <a:pt x="0" y="4423"/>
                  </a:lnTo>
                  <a:moveTo>
                    <a:pt x="0" y="4383"/>
                  </a:moveTo>
                  <a:lnTo>
                    <a:pt x="0" y="4383"/>
                  </a:lnTo>
                  <a:lnTo>
                    <a:pt x="0" y="4370"/>
                  </a:lnTo>
                  <a:moveTo>
                    <a:pt x="0" y="4330"/>
                  </a:moveTo>
                  <a:lnTo>
                    <a:pt x="0" y="4330"/>
                  </a:lnTo>
                  <a:lnTo>
                    <a:pt x="0" y="4317"/>
                  </a:lnTo>
                  <a:moveTo>
                    <a:pt x="0" y="4277"/>
                  </a:moveTo>
                  <a:lnTo>
                    <a:pt x="0" y="4277"/>
                  </a:lnTo>
                  <a:lnTo>
                    <a:pt x="0" y="4264"/>
                  </a:lnTo>
                  <a:moveTo>
                    <a:pt x="0" y="4224"/>
                  </a:moveTo>
                  <a:lnTo>
                    <a:pt x="0" y="4224"/>
                  </a:lnTo>
                  <a:lnTo>
                    <a:pt x="0" y="4210"/>
                  </a:lnTo>
                  <a:moveTo>
                    <a:pt x="0" y="4170"/>
                  </a:moveTo>
                  <a:lnTo>
                    <a:pt x="0" y="4170"/>
                  </a:lnTo>
                  <a:lnTo>
                    <a:pt x="0" y="4157"/>
                  </a:lnTo>
                  <a:moveTo>
                    <a:pt x="0" y="4117"/>
                  </a:moveTo>
                  <a:lnTo>
                    <a:pt x="0" y="4117"/>
                  </a:lnTo>
                  <a:lnTo>
                    <a:pt x="0" y="4104"/>
                  </a:lnTo>
                  <a:moveTo>
                    <a:pt x="0" y="4064"/>
                  </a:moveTo>
                  <a:lnTo>
                    <a:pt x="0" y="4064"/>
                  </a:lnTo>
                  <a:lnTo>
                    <a:pt x="0" y="4050"/>
                  </a:lnTo>
                  <a:moveTo>
                    <a:pt x="0" y="4010"/>
                  </a:moveTo>
                  <a:lnTo>
                    <a:pt x="0" y="4010"/>
                  </a:lnTo>
                  <a:lnTo>
                    <a:pt x="0" y="3997"/>
                  </a:lnTo>
                  <a:moveTo>
                    <a:pt x="0" y="3957"/>
                  </a:moveTo>
                  <a:lnTo>
                    <a:pt x="0" y="3957"/>
                  </a:lnTo>
                  <a:lnTo>
                    <a:pt x="0" y="3944"/>
                  </a:lnTo>
                  <a:moveTo>
                    <a:pt x="0" y="3904"/>
                  </a:moveTo>
                  <a:lnTo>
                    <a:pt x="0" y="3904"/>
                  </a:lnTo>
                  <a:lnTo>
                    <a:pt x="0" y="3891"/>
                  </a:lnTo>
                  <a:moveTo>
                    <a:pt x="0" y="3851"/>
                  </a:moveTo>
                  <a:lnTo>
                    <a:pt x="0" y="3851"/>
                  </a:lnTo>
                  <a:lnTo>
                    <a:pt x="0" y="3837"/>
                  </a:lnTo>
                  <a:moveTo>
                    <a:pt x="0" y="3797"/>
                  </a:moveTo>
                  <a:lnTo>
                    <a:pt x="0" y="3797"/>
                  </a:lnTo>
                  <a:lnTo>
                    <a:pt x="0" y="3784"/>
                  </a:lnTo>
                  <a:moveTo>
                    <a:pt x="0" y="3744"/>
                  </a:moveTo>
                  <a:lnTo>
                    <a:pt x="0" y="3744"/>
                  </a:lnTo>
                  <a:lnTo>
                    <a:pt x="0" y="3731"/>
                  </a:lnTo>
                  <a:moveTo>
                    <a:pt x="0" y="3691"/>
                  </a:moveTo>
                  <a:lnTo>
                    <a:pt x="0" y="3691"/>
                  </a:lnTo>
                  <a:lnTo>
                    <a:pt x="0" y="3677"/>
                  </a:lnTo>
                  <a:moveTo>
                    <a:pt x="0" y="3637"/>
                  </a:moveTo>
                  <a:lnTo>
                    <a:pt x="0" y="3637"/>
                  </a:lnTo>
                  <a:lnTo>
                    <a:pt x="0" y="3624"/>
                  </a:lnTo>
                  <a:moveTo>
                    <a:pt x="0" y="3584"/>
                  </a:moveTo>
                  <a:lnTo>
                    <a:pt x="0" y="3584"/>
                  </a:lnTo>
                  <a:lnTo>
                    <a:pt x="0" y="3571"/>
                  </a:lnTo>
                  <a:moveTo>
                    <a:pt x="0" y="3531"/>
                  </a:moveTo>
                  <a:lnTo>
                    <a:pt x="0" y="3531"/>
                  </a:lnTo>
                  <a:lnTo>
                    <a:pt x="0" y="3518"/>
                  </a:lnTo>
                  <a:moveTo>
                    <a:pt x="0" y="3478"/>
                  </a:moveTo>
                  <a:lnTo>
                    <a:pt x="0" y="3478"/>
                  </a:lnTo>
                  <a:lnTo>
                    <a:pt x="0" y="3464"/>
                  </a:lnTo>
                  <a:moveTo>
                    <a:pt x="0" y="3424"/>
                  </a:moveTo>
                  <a:lnTo>
                    <a:pt x="0" y="3424"/>
                  </a:lnTo>
                  <a:lnTo>
                    <a:pt x="0" y="3411"/>
                  </a:lnTo>
                  <a:moveTo>
                    <a:pt x="0" y="3371"/>
                  </a:moveTo>
                  <a:lnTo>
                    <a:pt x="0" y="3371"/>
                  </a:lnTo>
                  <a:lnTo>
                    <a:pt x="0" y="3358"/>
                  </a:lnTo>
                  <a:moveTo>
                    <a:pt x="0" y="3318"/>
                  </a:moveTo>
                  <a:lnTo>
                    <a:pt x="0" y="3318"/>
                  </a:lnTo>
                  <a:lnTo>
                    <a:pt x="0" y="3304"/>
                  </a:lnTo>
                  <a:moveTo>
                    <a:pt x="0" y="3264"/>
                  </a:moveTo>
                  <a:lnTo>
                    <a:pt x="0" y="3264"/>
                  </a:lnTo>
                  <a:lnTo>
                    <a:pt x="0" y="3251"/>
                  </a:lnTo>
                  <a:moveTo>
                    <a:pt x="0" y="3211"/>
                  </a:moveTo>
                  <a:lnTo>
                    <a:pt x="0" y="3211"/>
                  </a:lnTo>
                  <a:lnTo>
                    <a:pt x="0" y="3198"/>
                  </a:lnTo>
                  <a:moveTo>
                    <a:pt x="0" y="3158"/>
                  </a:moveTo>
                  <a:lnTo>
                    <a:pt x="0" y="3158"/>
                  </a:lnTo>
                  <a:lnTo>
                    <a:pt x="0" y="3145"/>
                  </a:lnTo>
                  <a:moveTo>
                    <a:pt x="0" y="3105"/>
                  </a:moveTo>
                  <a:lnTo>
                    <a:pt x="0" y="3105"/>
                  </a:lnTo>
                  <a:lnTo>
                    <a:pt x="0" y="3091"/>
                  </a:lnTo>
                  <a:moveTo>
                    <a:pt x="0" y="3051"/>
                  </a:moveTo>
                  <a:lnTo>
                    <a:pt x="0" y="3051"/>
                  </a:lnTo>
                  <a:lnTo>
                    <a:pt x="0" y="3038"/>
                  </a:lnTo>
                  <a:moveTo>
                    <a:pt x="0" y="2998"/>
                  </a:moveTo>
                  <a:lnTo>
                    <a:pt x="0" y="2998"/>
                  </a:lnTo>
                  <a:lnTo>
                    <a:pt x="0" y="2985"/>
                  </a:lnTo>
                  <a:moveTo>
                    <a:pt x="0" y="2945"/>
                  </a:moveTo>
                  <a:lnTo>
                    <a:pt x="0" y="2945"/>
                  </a:lnTo>
                  <a:lnTo>
                    <a:pt x="0" y="2931"/>
                  </a:lnTo>
                  <a:moveTo>
                    <a:pt x="0" y="2891"/>
                  </a:moveTo>
                  <a:lnTo>
                    <a:pt x="0" y="2891"/>
                  </a:lnTo>
                  <a:lnTo>
                    <a:pt x="0" y="2878"/>
                  </a:lnTo>
                  <a:moveTo>
                    <a:pt x="0" y="2838"/>
                  </a:moveTo>
                  <a:lnTo>
                    <a:pt x="0" y="2838"/>
                  </a:lnTo>
                  <a:lnTo>
                    <a:pt x="0" y="2825"/>
                  </a:lnTo>
                  <a:moveTo>
                    <a:pt x="0" y="2785"/>
                  </a:moveTo>
                  <a:lnTo>
                    <a:pt x="0" y="2785"/>
                  </a:lnTo>
                  <a:lnTo>
                    <a:pt x="0" y="2771"/>
                  </a:lnTo>
                  <a:moveTo>
                    <a:pt x="0" y="2732"/>
                  </a:moveTo>
                  <a:lnTo>
                    <a:pt x="0" y="2732"/>
                  </a:lnTo>
                  <a:lnTo>
                    <a:pt x="0" y="2718"/>
                  </a:lnTo>
                  <a:moveTo>
                    <a:pt x="0" y="2678"/>
                  </a:moveTo>
                  <a:lnTo>
                    <a:pt x="0" y="2678"/>
                  </a:lnTo>
                  <a:lnTo>
                    <a:pt x="0" y="2665"/>
                  </a:lnTo>
                  <a:moveTo>
                    <a:pt x="0" y="2625"/>
                  </a:moveTo>
                  <a:lnTo>
                    <a:pt x="0" y="2625"/>
                  </a:lnTo>
                  <a:lnTo>
                    <a:pt x="0" y="2612"/>
                  </a:lnTo>
                  <a:moveTo>
                    <a:pt x="0" y="2572"/>
                  </a:moveTo>
                  <a:lnTo>
                    <a:pt x="0" y="2572"/>
                  </a:lnTo>
                  <a:lnTo>
                    <a:pt x="0" y="2558"/>
                  </a:lnTo>
                  <a:moveTo>
                    <a:pt x="0" y="2518"/>
                  </a:moveTo>
                  <a:lnTo>
                    <a:pt x="0" y="2518"/>
                  </a:lnTo>
                  <a:lnTo>
                    <a:pt x="0" y="2505"/>
                  </a:lnTo>
                  <a:moveTo>
                    <a:pt x="0" y="2465"/>
                  </a:moveTo>
                  <a:lnTo>
                    <a:pt x="0" y="2465"/>
                  </a:lnTo>
                  <a:lnTo>
                    <a:pt x="0" y="2452"/>
                  </a:lnTo>
                  <a:moveTo>
                    <a:pt x="0" y="2412"/>
                  </a:moveTo>
                  <a:lnTo>
                    <a:pt x="0" y="2412"/>
                  </a:lnTo>
                  <a:lnTo>
                    <a:pt x="0" y="2398"/>
                  </a:lnTo>
                  <a:moveTo>
                    <a:pt x="0" y="2358"/>
                  </a:moveTo>
                  <a:lnTo>
                    <a:pt x="0" y="2358"/>
                  </a:lnTo>
                  <a:lnTo>
                    <a:pt x="0" y="2345"/>
                  </a:lnTo>
                  <a:moveTo>
                    <a:pt x="0" y="2305"/>
                  </a:moveTo>
                  <a:lnTo>
                    <a:pt x="0" y="2305"/>
                  </a:lnTo>
                  <a:lnTo>
                    <a:pt x="0" y="2292"/>
                  </a:lnTo>
                  <a:moveTo>
                    <a:pt x="0" y="2252"/>
                  </a:moveTo>
                  <a:lnTo>
                    <a:pt x="0" y="2252"/>
                  </a:lnTo>
                  <a:lnTo>
                    <a:pt x="0" y="2239"/>
                  </a:lnTo>
                  <a:moveTo>
                    <a:pt x="0" y="2199"/>
                  </a:moveTo>
                  <a:lnTo>
                    <a:pt x="0" y="2199"/>
                  </a:lnTo>
                  <a:lnTo>
                    <a:pt x="0" y="2185"/>
                  </a:lnTo>
                  <a:moveTo>
                    <a:pt x="0" y="2145"/>
                  </a:moveTo>
                  <a:lnTo>
                    <a:pt x="0" y="2145"/>
                  </a:lnTo>
                  <a:lnTo>
                    <a:pt x="0" y="2132"/>
                  </a:lnTo>
                  <a:moveTo>
                    <a:pt x="0" y="2092"/>
                  </a:moveTo>
                  <a:lnTo>
                    <a:pt x="0" y="2092"/>
                  </a:lnTo>
                  <a:lnTo>
                    <a:pt x="0" y="2079"/>
                  </a:lnTo>
                  <a:moveTo>
                    <a:pt x="0" y="2039"/>
                  </a:moveTo>
                  <a:lnTo>
                    <a:pt x="0" y="2039"/>
                  </a:lnTo>
                  <a:lnTo>
                    <a:pt x="0" y="2025"/>
                  </a:lnTo>
                  <a:moveTo>
                    <a:pt x="0" y="1985"/>
                  </a:moveTo>
                  <a:lnTo>
                    <a:pt x="0" y="1985"/>
                  </a:lnTo>
                  <a:lnTo>
                    <a:pt x="0" y="1972"/>
                  </a:lnTo>
                  <a:moveTo>
                    <a:pt x="0" y="1932"/>
                  </a:moveTo>
                  <a:lnTo>
                    <a:pt x="0" y="1932"/>
                  </a:lnTo>
                  <a:lnTo>
                    <a:pt x="0" y="1919"/>
                  </a:lnTo>
                  <a:moveTo>
                    <a:pt x="0" y="1879"/>
                  </a:moveTo>
                  <a:lnTo>
                    <a:pt x="0" y="1879"/>
                  </a:lnTo>
                  <a:lnTo>
                    <a:pt x="0" y="1866"/>
                  </a:lnTo>
                  <a:moveTo>
                    <a:pt x="0" y="1826"/>
                  </a:moveTo>
                  <a:lnTo>
                    <a:pt x="0" y="1826"/>
                  </a:lnTo>
                  <a:lnTo>
                    <a:pt x="0" y="1812"/>
                  </a:lnTo>
                  <a:moveTo>
                    <a:pt x="0" y="1772"/>
                  </a:moveTo>
                  <a:lnTo>
                    <a:pt x="0" y="1772"/>
                  </a:lnTo>
                  <a:lnTo>
                    <a:pt x="0" y="1759"/>
                  </a:lnTo>
                  <a:moveTo>
                    <a:pt x="0" y="1719"/>
                  </a:moveTo>
                  <a:lnTo>
                    <a:pt x="0" y="1719"/>
                  </a:lnTo>
                  <a:lnTo>
                    <a:pt x="0" y="1706"/>
                  </a:lnTo>
                  <a:moveTo>
                    <a:pt x="0" y="1666"/>
                  </a:moveTo>
                  <a:lnTo>
                    <a:pt x="0" y="1666"/>
                  </a:lnTo>
                  <a:lnTo>
                    <a:pt x="0" y="1652"/>
                  </a:lnTo>
                  <a:moveTo>
                    <a:pt x="0" y="1612"/>
                  </a:moveTo>
                  <a:lnTo>
                    <a:pt x="0" y="1612"/>
                  </a:lnTo>
                  <a:lnTo>
                    <a:pt x="0" y="1599"/>
                  </a:lnTo>
                  <a:moveTo>
                    <a:pt x="0" y="1559"/>
                  </a:moveTo>
                  <a:lnTo>
                    <a:pt x="0" y="1559"/>
                  </a:lnTo>
                  <a:lnTo>
                    <a:pt x="0" y="1546"/>
                  </a:lnTo>
                  <a:moveTo>
                    <a:pt x="0" y="1506"/>
                  </a:moveTo>
                  <a:lnTo>
                    <a:pt x="0" y="1506"/>
                  </a:lnTo>
                  <a:lnTo>
                    <a:pt x="0" y="1493"/>
                  </a:lnTo>
                  <a:moveTo>
                    <a:pt x="0" y="1453"/>
                  </a:moveTo>
                  <a:lnTo>
                    <a:pt x="0" y="1453"/>
                  </a:lnTo>
                  <a:lnTo>
                    <a:pt x="0" y="1439"/>
                  </a:lnTo>
                  <a:moveTo>
                    <a:pt x="0" y="1399"/>
                  </a:moveTo>
                  <a:lnTo>
                    <a:pt x="0" y="1399"/>
                  </a:lnTo>
                  <a:lnTo>
                    <a:pt x="0" y="1386"/>
                  </a:lnTo>
                  <a:moveTo>
                    <a:pt x="0" y="1346"/>
                  </a:moveTo>
                  <a:lnTo>
                    <a:pt x="0" y="1346"/>
                  </a:lnTo>
                  <a:lnTo>
                    <a:pt x="0" y="1333"/>
                  </a:lnTo>
                  <a:moveTo>
                    <a:pt x="0" y="1293"/>
                  </a:moveTo>
                  <a:lnTo>
                    <a:pt x="0" y="1293"/>
                  </a:lnTo>
                  <a:lnTo>
                    <a:pt x="0" y="1279"/>
                  </a:lnTo>
                  <a:moveTo>
                    <a:pt x="0" y="1239"/>
                  </a:moveTo>
                  <a:lnTo>
                    <a:pt x="0" y="1239"/>
                  </a:lnTo>
                  <a:lnTo>
                    <a:pt x="0" y="1226"/>
                  </a:lnTo>
                  <a:moveTo>
                    <a:pt x="0" y="1186"/>
                  </a:moveTo>
                  <a:lnTo>
                    <a:pt x="0" y="1186"/>
                  </a:lnTo>
                  <a:lnTo>
                    <a:pt x="0" y="1173"/>
                  </a:lnTo>
                  <a:moveTo>
                    <a:pt x="0" y="1133"/>
                  </a:moveTo>
                  <a:lnTo>
                    <a:pt x="0" y="1133"/>
                  </a:lnTo>
                  <a:lnTo>
                    <a:pt x="0" y="1120"/>
                  </a:lnTo>
                  <a:moveTo>
                    <a:pt x="0" y="1080"/>
                  </a:moveTo>
                  <a:lnTo>
                    <a:pt x="0" y="1080"/>
                  </a:lnTo>
                  <a:lnTo>
                    <a:pt x="0" y="1066"/>
                  </a:lnTo>
                  <a:moveTo>
                    <a:pt x="0" y="1026"/>
                  </a:moveTo>
                  <a:lnTo>
                    <a:pt x="0" y="1026"/>
                  </a:lnTo>
                  <a:lnTo>
                    <a:pt x="0" y="1013"/>
                  </a:lnTo>
                  <a:moveTo>
                    <a:pt x="0" y="973"/>
                  </a:moveTo>
                  <a:lnTo>
                    <a:pt x="0" y="973"/>
                  </a:lnTo>
                  <a:lnTo>
                    <a:pt x="0" y="960"/>
                  </a:lnTo>
                  <a:moveTo>
                    <a:pt x="0" y="920"/>
                  </a:moveTo>
                  <a:lnTo>
                    <a:pt x="0" y="920"/>
                  </a:lnTo>
                  <a:lnTo>
                    <a:pt x="0" y="906"/>
                  </a:lnTo>
                  <a:moveTo>
                    <a:pt x="0" y="866"/>
                  </a:moveTo>
                  <a:lnTo>
                    <a:pt x="0" y="866"/>
                  </a:lnTo>
                  <a:lnTo>
                    <a:pt x="0" y="853"/>
                  </a:lnTo>
                  <a:moveTo>
                    <a:pt x="0" y="813"/>
                  </a:moveTo>
                  <a:lnTo>
                    <a:pt x="0" y="813"/>
                  </a:lnTo>
                  <a:lnTo>
                    <a:pt x="0" y="800"/>
                  </a:lnTo>
                  <a:moveTo>
                    <a:pt x="0" y="760"/>
                  </a:moveTo>
                  <a:lnTo>
                    <a:pt x="0" y="760"/>
                  </a:lnTo>
                  <a:lnTo>
                    <a:pt x="0" y="746"/>
                  </a:lnTo>
                  <a:moveTo>
                    <a:pt x="0" y="707"/>
                  </a:moveTo>
                  <a:lnTo>
                    <a:pt x="0" y="707"/>
                  </a:lnTo>
                  <a:lnTo>
                    <a:pt x="0" y="693"/>
                  </a:lnTo>
                  <a:moveTo>
                    <a:pt x="0" y="653"/>
                  </a:moveTo>
                  <a:lnTo>
                    <a:pt x="0" y="653"/>
                  </a:lnTo>
                  <a:lnTo>
                    <a:pt x="0" y="640"/>
                  </a:lnTo>
                  <a:moveTo>
                    <a:pt x="0" y="600"/>
                  </a:moveTo>
                  <a:lnTo>
                    <a:pt x="0" y="600"/>
                  </a:lnTo>
                  <a:lnTo>
                    <a:pt x="0" y="587"/>
                  </a:lnTo>
                  <a:moveTo>
                    <a:pt x="0" y="547"/>
                  </a:moveTo>
                  <a:lnTo>
                    <a:pt x="0" y="547"/>
                  </a:lnTo>
                  <a:lnTo>
                    <a:pt x="0" y="533"/>
                  </a:lnTo>
                  <a:moveTo>
                    <a:pt x="0" y="493"/>
                  </a:moveTo>
                  <a:lnTo>
                    <a:pt x="0" y="493"/>
                  </a:lnTo>
                  <a:lnTo>
                    <a:pt x="0" y="480"/>
                  </a:lnTo>
                  <a:moveTo>
                    <a:pt x="0" y="440"/>
                  </a:moveTo>
                  <a:lnTo>
                    <a:pt x="0" y="440"/>
                  </a:lnTo>
                  <a:lnTo>
                    <a:pt x="0" y="427"/>
                  </a:lnTo>
                  <a:moveTo>
                    <a:pt x="0" y="387"/>
                  </a:moveTo>
                  <a:lnTo>
                    <a:pt x="0" y="387"/>
                  </a:lnTo>
                  <a:lnTo>
                    <a:pt x="0" y="373"/>
                  </a:lnTo>
                  <a:moveTo>
                    <a:pt x="0" y="333"/>
                  </a:moveTo>
                  <a:lnTo>
                    <a:pt x="0" y="333"/>
                  </a:lnTo>
                  <a:lnTo>
                    <a:pt x="0" y="320"/>
                  </a:lnTo>
                  <a:moveTo>
                    <a:pt x="0" y="280"/>
                  </a:moveTo>
                  <a:lnTo>
                    <a:pt x="0" y="280"/>
                  </a:lnTo>
                  <a:lnTo>
                    <a:pt x="0" y="267"/>
                  </a:lnTo>
                  <a:moveTo>
                    <a:pt x="0" y="227"/>
                  </a:moveTo>
                  <a:lnTo>
                    <a:pt x="0" y="227"/>
                  </a:lnTo>
                  <a:lnTo>
                    <a:pt x="0" y="214"/>
                  </a:lnTo>
                  <a:moveTo>
                    <a:pt x="0" y="174"/>
                  </a:moveTo>
                  <a:lnTo>
                    <a:pt x="0" y="174"/>
                  </a:lnTo>
                  <a:lnTo>
                    <a:pt x="0" y="160"/>
                  </a:lnTo>
                  <a:moveTo>
                    <a:pt x="0" y="120"/>
                  </a:moveTo>
                  <a:lnTo>
                    <a:pt x="0" y="120"/>
                  </a:lnTo>
                  <a:lnTo>
                    <a:pt x="0" y="107"/>
                  </a:lnTo>
                  <a:moveTo>
                    <a:pt x="0" y="67"/>
                  </a:moveTo>
                  <a:lnTo>
                    <a:pt x="0" y="67"/>
                  </a:lnTo>
                  <a:lnTo>
                    <a:pt x="0" y="54"/>
                  </a:lnTo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7" name="Freeform 84">
              <a:extLst>
                <a:ext uri="{FF2B5EF4-FFF2-40B4-BE49-F238E27FC236}">
                  <a16:creationId xmlns:a16="http://schemas.microsoft.com/office/drawing/2014/main" id="{E2FF7A6E-22C6-DA41-8013-D83FDEAC3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41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8" name="Freeform 85">
              <a:extLst>
                <a:ext uri="{FF2B5EF4-FFF2-40B4-BE49-F238E27FC236}">
                  <a16:creationId xmlns:a16="http://schemas.microsoft.com/office/drawing/2014/main" id="{50B3BC20-64BA-214A-8648-438E4D85B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238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9" name="Freeform 86">
              <a:extLst>
                <a:ext uri="{FF2B5EF4-FFF2-40B4-BE49-F238E27FC236}">
                  <a16:creationId xmlns:a16="http://schemas.microsoft.com/office/drawing/2014/main" id="{DE0B187D-E893-FF48-8AF3-D22CC7E64C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3061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0" name="Freeform 87">
              <a:extLst>
                <a:ext uri="{FF2B5EF4-FFF2-40B4-BE49-F238E27FC236}">
                  <a16:creationId xmlns:a16="http://schemas.microsoft.com/office/drawing/2014/main" id="{BC165912-B416-0946-A916-D4059EA7F6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88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1" name="Freeform 88">
              <a:extLst>
                <a:ext uri="{FF2B5EF4-FFF2-40B4-BE49-F238E27FC236}">
                  <a16:creationId xmlns:a16="http://schemas.microsoft.com/office/drawing/2014/main" id="{34BC5BA7-3B46-4D46-BFC1-7892367185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707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2" name="Freeform 89">
              <a:extLst>
                <a:ext uri="{FF2B5EF4-FFF2-40B4-BE49-F238E27FC236}">
                  <a16:creationId xmlns:a16="http://schemas.microsoft.com/office/drawing/2014/main" id="{E5D35A1A-B779-0349-B5B3-A733A6DEA5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530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3" name="Freeform 90">
              <a:extLst>
                <a:ext uri="{FF2B5EF4-FFF2-40B4-BE49-F238E27FC236}">
                  <a16:creationId xmlns:a16="http://schemas.microsoft.com/office/drawing/2014/main" id="{326C3AC5-87E9-8741-832F-F07AADF684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354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4" name="Freeform 91">
              <a:extLst>
                <a:ext uri="{FF2B5EF4-FFF2-40B4-BE49-F238E27FC236}">
                  <a16:creationId xmlns:a16="http://schemas.microsoft.com/office/drawing/2014/main" id="{CE7A66AC-659C-5149-A599-5E993BC273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177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5" name="Freeform 92">
              <a:extLst>
                <a:ext uri="{FF2B5EF4-FFF2-40B4-BE49-F238E27FC236}">
                  <a16:creationId xmlns:a16="http://schemas.microsoft.com/office/drawing/2014/main" id="{16C4A6FA-6D70-3D4D-AA02-10752F0DF7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2000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6" name="Freeform 93">
              <a:extLst>
                <a:ext uri="{FF2B5EF4-FFF2-40B4-BE49-F238E27FC236}">
                  <a16:creationId xmlns:a16="http://schemas.microsoft.com/office/drawing/2014/main" id="{1ABEB16B-56C9-9541-A619-E67B898BEB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823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7" name="Freeform 94">
              <a:extLst>
                <a:ext uri="{FF2B5EF4-FFF2-40B4-BE49-F238E27FC236}">
                  <a16:creationId xmlns:a16="http://schemas.microsoft.com/office/drawing/2014/main" id="{CFC380E8-C890-C046-A7DD-1F5D3E017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646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8" name="Freeform 95">
              <a:extLst>
                <a:ext uri="{FF2B5EF4-FFF2-40B4-BE49-F238E27FC236}">
                  <a16:creationId xmlns:a16="http://schemas.microsoft.com/office/drawing/2014/main" id="{371A4E42-80B9-C545-96C8-94ACB744F5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469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9" name="Freeform 96">
              <a:extLst>
                <a:ext uri="{FF2B5EF4-FFF2-40B4-BE49-F238E27FC236}">
                  <a16:creationId xmlns:a16="http://schemas.microsoft.com/office/drawing/2014/main" id="{9B99A996-23B5-6A4E-8533-5525DFDED7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292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0" name="Freeform 97">
              <a:extLst>
                <a:ext uri="{FF2B5EF4-FFF2-40B4-BE49-F238E27FC236}">
                  <a16:creationId xmlns:a16="http://schemas.microsoft.com/office/drawing/2014/main" id="{4FBCD335-AC02-9E4E-A051-21B0E08281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" y="1115"/>
              <a:ext cx="2574" cy="0"/>
            </a:xfrm>
            <a:custGeom>
              <a:avLst/>
              <a:gdLst>
                <a:gd name="T0" fmla="*/ 1 w 4762"/>
                <a:gd name="T1" fmla="*/ 1 w 4762"/>
                <a:gd name="T2" fmla="*/ 2 w 4762"/>
                <a:gd name="T3" fmla="*/ 2 w 4762"/>
                <a:gd name="T4" fmla="*/ 3 w 4762"/>
                <a:gd name="T5" fmla="*/ 3 w 4762"/>
                <a:gd name="T6" fmla="*/ 4 w 4762"/>
                <a:gd name="T7" fmla="*/ 5 w 4762"/>
                <a:gd name="T8" fmla="*/ 5 w 4762"/>
                <a:gd name="T9" fmla="*/ 6 w 4762"/>
                <a:gd name="T10" fmla="*/ 7 w 4762"/>
                <a:gd name="T11" fmla="*/ 8 w 4762"/>
                <a:gd name="T12" fmla="*/ 8 w 4762"/>
                <a:gd name="T13" fmla="*/ 9 w 4762"/>
                <a:gd name="T14" fmla="*/ 9 w 4762"/>
                <a:gd name="T15" fmla="*/ 10 w 4762"/>
                <a:gd name="T16" fmla="*/ 11 w 4762"/>
                <a:gd name="T17" fmla="*/ 11 w 4762"/>
                <a:gd name="T18" fmla="*/ 12 w 4762"/>
                <a:gd name="T19" fmla="*/ 13 w 4762"/>
                <a:gd name="T20" fmla="*/ 13 w 4762"/>
                <a:gd name="T21" fmla="*/ 14 w 4762"/>
                <a:gd name="T22" fmla="*/ 15 w 4762"/>
                <a:gd name="T23" fmla="*/ 15 w 4762"/>
                <a:gd name="T24" fmla="*/ 16 w 4762"/>
                <a:gd name="T25" fmla="*/ 17 w 4762"/>
                <a:gd name="T26" fmla="*/ 17 w 4762"/>
                <a:gd name="T27" fmla="*/ 18 w 4762"/>
                <a:gd name="T28" fmla="*/ 19 w 4762"/>
                <a:gd name="T29" fmla="*/ 19 w 4762"/>
                <a:gd name="T30" fmla="*/ 20 w 4762"/>
                <a:gd name="T31" fmla="*/ 21 w 4762"/>
                <a:gd name="T32" fmla="*/ 21 w 4762"/>
                <a:gd name="T33" fmla="*/ 22 w 4762"/>
                <a:gd name="T34" fmla="*/ 23 w 4762"/>
                <a:gd name="T35" fmla="*/ 23 w 4762"/>
                <a:gd name="T36" fmla="*/ 24 w 4762"/>
                <a:gd name="T37" fmla="*/ 24 w 4762"/>
                <a:gd name="T38" fmla="*/ 25 w 4762"/>
                <a:gd name="T39" fmla="*/ 26 w 4762"/>
                <a:gd name="T40" fmla="*/ 26 w 4762"/>
                <a:gd name="T41" fmla="*/ 27 w 4762"/>
                <a:gd name="T42" fmla="*/ 28 w 4762"/>
                <a:gd name="T43" fmla="*/ 28 w 4762"/>
                <a:gd name="T44" fmla="*/ 29 w 4762"/>
                <a:gd name="T45" fmla="*/ 30 w 4762"/>
                <a:gd name="T46" fmla="*/ 30 w 4762"/>
                <a:gd name="T47" fmla="*/ 31 w 4762"/>
                <a:gd name="T48" fmla="*/ 31 w 4762"/>
                <a:gd name="T49" fmla="*/ 32 w 4762"/>
                <a:gd name="T50" fmla="*/ 33 w 4762"/>
                <a:gd name="T51" fmla="*/ 34 w 4762"/>
                <a:gd name="T52" fmla="*/ 34 w 4762"/>
                <a:gd name="T53" fmla="*/ 35 w 47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54">
                  <a:pos x="T0" y="0"/>
                </a:cxn>
                <a:cxn ang="T55">
                  <a:pos x="T1" y="0"/>
                </a:cxn>
                <a:cxn ang="T56">
                  <a:pos x="T2" y="0"/>
                </a:cxn>
                <a:cxn ang="T57">
                  <a:pos x="T3" y="0"/>
                </a:cxn>
                <a:cxn ang="T58">
                  <a:pos x="T4" y="0"/>
                </a:cxn>
                <a:cxn ang="T59">
                  <a:pos x="T5" y="0"/>
                </a:cxn>
                <a:cxn ang="T60">
                  <a:pos x="T6" y="0"/>
                </a:cxn>
                <a:cxn ang="T61">
                  <a:pos x="T7" y="0"/>
                </a:cxn>
                <a:cxn ang="T62">
                  <a:pos x="T8" y="0"/>
                </a:cxn>
                <a:cxn ang="T63">
                  <a:pos x="T9" y="0"/>
                </a:cxn>
                <a:cxn ang="T64">
                  <a:pos x="T10" y="0"/>
                </a:cxn>
                <a:cxn ang="T65">
                  <a:pos x="T11" y="0"/>
                </a:cxn>
                <a:cxn ang="T66">
                  <a:pos x="T12" y="0"/>
                </a:cxn>
                <a:cxn ang="T67">
                  <a:pos x="T13" y="0"/>
                </a:cxn>
                <a:cxn ang="T68">
                  <a:pos x="T14" y="0"/>
                </a:cxn>
                <a:cxn ang="T69">
                  <a:pos x="T15" y="0"/>
                </a:cxn>
                <a:cxn ang="T70">
                  <a:pos x="T16" y="0"/>
                </a:cxn>
                <a:cxn ang="T71">
                  <a:pos x="T17" y="0"/>
                </a:cxn>
                <a:cxn ang="T72">
                  <a:pos x="T18" y="0"/>
                </a:cxn>
                <a:cxn ang="T73">
                  <a:pos x="T19" y="0"/>
                </a:cxn>
                <a:cxn ang="T74">
                  <a:pos x="T20" y="0"/>
                </a:cxn>
                <a:cxn ang="T75">
                  <a:pos x="T21" y="0"/>
                </a:cxn>
                <a:cxn ang="T76">
                  <a:pos x="T22" y="0"/>
                </a:cxn>
                <a:cxn ang="T77">
                  <a:pos x="T23" y="0"/>
                </a:cxn>
                <a:cxn ang="T78">
                  <a:pos x="T24" y="0"/>
                </a:cxn>
                <a:cxn ang="T79">
                  <a:pos x="T25" y="0"/>
                </a:cxn>
                <a:cxn ang="T80">
                  <a:pos x="T26" y="0"/>
                </a:cxn>
                <a:cxn ang="T81">
                  <a:pos x="T27" y="0"/>
                </a:cxn>
                <a:cxn ang="T82">
                  <a:pos x="T28" y="0"/>
                </a:cxn>
                <a:cxn ang="T83">
                  <a:pos x="T29" y="0"/>
                </a:cxn>
                <a:cxn ang="T84">
                  <a:pos x="T30" y="0"/>
                </a:cxn>
                <a:cxn ang="T85">
                  <a:pos x="T31" y="0"/>
                </a:cxn>
                <a:cxn ang="T86">
                  <a:pos x="T32" y="0"/>
                </a:cxn>
                <a:cxn ang="T87">
                  <a:pos x="T33" y="0"/>
                </a:cxn>
                <a:cxn ang="T88">
                  <a:pos x="T34" y="0"/>
                </a:cxn>
                <a:cxn ang="T89">
                  <a:pos x="T35" y="0"/>
                </a:cxn>
                <a:cxn ang="T90">
                  <a:pos x="T36" y="0"/>
                </a:cxn>
                <a:cxn ang="T91">
                  <a:pos x="T37" y="0"/>
                </a:cxn>
                <a:cxn ang="T92">
                  <a:pos x="T38" y="0"/>
                </a:cxn>
                <a:cxn ang="T93">
                  <a:pos x="T39" y="0"/>
                </a:cxn>
                <a:cxn ang="T94">
                  <a:pos x="T40" y="0"/>
                </a:cxn>
                <a:cxn ang="T95">
                  <a:pos x="T41" y="0"/>
                </a:cxn>
                <a:cxn ang="T96">
                  <a:pos x="T42" y="0"/>
                </a:cxn>
                <a:cxn ang="T97">
                  <a:pos x="T43" y="0"/>
                </a:cxn>
                <a:cxn ang="T98">
                  <a:pos x="T44" y="0"/>
                </a:cxn>
                <a:cxn ang="T99">
                  <a:pos x="T45" y="0"/>
                </a:cxn>
                <a:cxn ang="T100">
                  <a:pos x="T46" y="0"/>
                </a:cxn>
                <a:cxn ang="T101">
                  <a:pos x="T47" y="0"/>
                </a:cxn>
                <a:cxn ang="T102">
                  <a:pos x="T48" y="0"/>
                </a:cxn>
                <a:cxn ang="T103">
                  <a:pos x="T49" y="0"/>
                </a:cxn>
                <a:cxn ang="T104">
                  <a:pos x="T50" y="0"/>
                </a:cxn>
                <a:cxn ang="T105">
                  <a:pos x="T51" y="0"/>
                </a:cxn>
                <a:cxn ang="T106">
                  <a:pos x="T52" y="0"/>
                </a:cxn>
                <a:cxn ang="T107">
                  <a:pos x="T53" y="0"/>
                </a:cxn>
              </a:cxnLst>
              <a:rect l="0" t="0" r="r" b="b"/>
              <a:pathLst>
                <a:path w="4762">
                  <a:moveTo>
                    <a:pt x="0" y="0"/>
                  </a:moveTo>
                  <a:lnTo>
                    <a:pt x="0" y="0"/>
                  </a:lnTo>
                  <a:lnTo>
                    <a:pt x="13" y="0"/>
                  </a:lnTo>
                  <a:moveTo>
                    <a:pt x="53" y="0"/>
                  </a:moveTo>
                  <a:lnTo>
                    <a:pt x="53" y="0"/>
                  </a:lnTo>
                  <a:lnTo>
                    <a:pt x="67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20" y="0"/>
                  </a:lnTo>
                  <a:moveTo>
                    <a:pt x="160" y="0"/>
                  </a:moveTo>
                  <a:lnTo>
                    <a:pt x="160" y="0"/>
                  </a:lnTo>
                  <a:lnTo>
                    <a:pt x="173" y="0"/>
                  </a:lnTo>
                  <a:moveTo>
                    <a:pt x="213" y="0"/>
                  </a:moveTo>
                  <a:lnTo>
                    <a:pt x="213" y="0"/>
                  </a:lnTo>
                  <a:lnTo>
                    <a:pt x="227" y="0"/>
                  </a:lnTo>
                  <a:moveTo>
                    <a:pt x="267" y="0"/>
                  </a:moveTo>
                  <a:lnTo>
                    <a:pt x="267" y="0"/>
                  </a:lnTo>
                  <a:lnTo>
                    <a:pt x="280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34" y="0"/>
                  </a:lnTo>
                  <a:moveTo>
                    <a:pt x="374" y="0"/>
                  </a:moveTo>
                  <a:lnTo>
                    <a:pt x="374" y="0"/>
                  </a:lnTo>
                  <a:lnTo>
                    <a:pt x="387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40" y="0"/>
                  </a:lnTo>
                  <a:moveTo>
                    <a:pt x="480" y="0"/>
                  </a:moveTo>
                  <a:lnTo>
                    <a:pt x="480" y="0"/>
                  </a:lnTo>
                  <a:lnTo>
                    <a:pt x="494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47" y="0"/>
                  </a:lnTo>
                  <a:moveTo>
                    <a:pt x="587" y="0"/>
                  </a:moveTo>
                  <a:lnTo>
                    <a:pt x="587" y="0"/>
                  </a:lnTo>
                  <a:lnTo>
                    <a:pt x="600" y="0"/>
                  </a:lnTo>
                  <a:moveTo>
                    <a:pt x="640" y="0"/>
                  </a:moveTo>
                  <a:lnTo>
                    <a:pt x="640" y="0"/>
                  </a:lnTo>
                  <a:lnTo>
                    <a:pt x="654" y="0"/>
                  </a:lnTo>
                  <a:moveTo>
                    <a:pt x="694" y="0"/>
                  </a:moveTo>
                  <a:lnTo>
                    <a:pt x="694" y="0"/>
                  </a:lnTo>
                  <a:lnTo>
                    <a:pt x="707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760" y="0"/>
                  </a:lnTo>
                  <a:moveTo>
                    <a:pt x="800" y="0"/>
                  </a:moveTo>
                  <a:lnTo>
                    <a:pt x="800" y="0"/>
                  </a:lnTo>
                  <a:lnTo>
                    <a:pt x="814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867" y="0"/>
                  </a:lnTo>
                  <a:moveTo>
                    <a:pt x="907" y="0"/>
                  </a:moveTo>
                  <a:lnTo>
                    <a:pt x="907" y="0"/>
                  </a:lnTo>
                  <a:lnTo>
                    <a:pt x="920" y="0"/>
                  </a:lnTo>
                  <a:moveTo>
                    <a:pt x="960" y="0"/>
                  </a:moveTo>
                  <a:lnTo>
                    <a:pt x="960" y="0"/>
                  </a:lnTo>
                  <a:lnTo>
                    <a:pt x="974" y="0"/>
                  </a:lnTo>
                  <a:moveTo>
                    <a:pt x="1014" y="0"/>
                  </a:moveTo>
                  <a:lnTo>
                    <a:pt x="1014" y="0"/>
                  </a:lnTo>
                  <a:lnTo>
                    <a:pt x="1027" y="0"/>
                  </a:lnTo>
                  <a:moveTo>
                    <a:pt x="1067" y="0"/>
                  </a:moveTo>
                  <a:lnTo>
                    <a:pt x="1067" y="0"/>
                  </a:lnTo>
                  <a:lnTo>
                    <a:pt x="1080" y="0"/>
                  </a:lnTo>
                  <a:moveTo>
                    <a:pt x="1121" y="0"/>
                  </a:moveTo>
                  <a:lnTo>
                    <a:pt x="1121" y="0"/>
                  </a:lnTo>
                  <a:lnTo>
                    <a:pt x="1134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187" y="0"/>
                  </a:lnTo>
                  <a:moveTo>
                    <a:pt x="1227" y="0"/>
                  </a:moveTo>
                  <a:lnTo>
                    <a:pt x="1227" y="0"/>
                  </a:lnTo>
                  <a:lnTo>
                    <a:pt x="1241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294" y="0"/>
                  </a:lnTo>
                  <a:moveTo>
                    <a:pt x="1334" y="0"/>
                  </a:moveTo>
                  <a:lnTo>
                    <a:pt x="1334" y="0"/>
                  </a:lnTo>
                  <a:lnTo>
                    <a:pt x="1347" y="0"/>
                  </a:lnTo>
                  <a:moveTo>
                    <a:pt x="1387" y="0"/>
                  </a:moveTo>
                  <a:lnTo>
                    <a:pt x="1387" y="0"/>
                  </a:lnTo>
                  <a:lnTo>
                    <a:pt x="1401" y="0"/>
                  </a:lnTo>
                  <a:moveTo>
                    <a:pt x="1441" y="0"/>
                  </a:moveTo>
                  <a:lnTo>
                    <a:pt x="1441" y="0"/>
                  </a:lnTo>
                  <a:lnTo>
                    <a:pt x="1454" y="0"/>
                  </a:lnTo>
                  <a:moveTo>
                    <a:pt x="1494" y="0"/>
                  </a:moveTo>
                  <a:lnTo>
                    <a:pt x="1494" y="0"/>
                  </a:lnTo>
                  <a:lnTo>
                    <a:pt x="1507" y="0"/>
                  </a:lnTo>
                  <a:moveTo>
                    <a:pt x="1547" y="0"/>
                  </a:moveTo>
                  <a:lnTo>
                    <a:pt x="1547" y="0"/>
                  </a:lnTo>
                  <a:lnTo>
                    <a:pt x="1561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14" y="0"/>
                  </a:lnTo>
                  <a:moveTo>
                    <a:pt x="1654" y="0"/>
                  </a:moveTo>
                  <a:lnTo>
                    <a:pt x="1654" y="0"/>
                  </a:lnTo>
                  <a:lnTo>
                    <a:pt x="1667" y="0"/>
                  </a:lnTo>
                  <a:moveTo>
                    <a:pt x="1707" y="0"/>
                  </a:moveTo>
                  <a:lnTo>
                    <a:pt x="1707" y="0"/>
                  </a:lnTo>
                  <a:lnTo>
                    <a:pt x="1721" y="0"/>
                  </a:lnTo>
                  <a:moveTo>
                    <a:pt x="1761" y="0"/>
                  </a:moveTo>
                  <a:lnTo>
                    <a:pt x="1761" y="0"/>
                  </a:lnTo>
                  <a:lnTo>
                    <a:pt x="1774" y="0"/>
                  </a:lnTo>
                  <a:moveTo>
                    <a:pt x="1814" y="0"/>
                  </a:moveTo>
                  <a:lnTo>
                    <a:pt x="1814" y="0"/>
                  </a:lnTo>
                  <a:lnTo>
                    <a:pt x="1827" y="0"/>
                  </a:lnTo>
                  <a:moveTo>
                    <a:pt x="1867" y="0"/>
                  </a:moveTo>
                  <a:lnTo>
                    <a:pt x="1867" y="0"/>
                  </a:lnTo>
                  <a:lnTo>
                    <a:pt x="1881" y="0"/>
                  </a:lnTo>
                  <a:moveTo>
                    <a:pt x="1921" y="0"/>
                  </a:moveTo>
                  <a:lnTo>
                    <a:pt x="1921" y="0"/>
                  </a:lnTo>
                  <a:lnTo>
                    <a:pt x="1934" y="0"/>
                  </a:lnTo>
                  <a:moveTo>
                    <a:pt x="1974" y="0"/>
                  </a:moveTo>
                  <a:lnTo>
                    <a:pt x="1974" y="0"/>
                  </a:lnTo>
                  <a:lnTo>
                    <a:pt x="1988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41" y="0"/>
                  </a:lnTo>
                  <a:moveTo>
                    <a:pt x="2081" y="0"/>
                  </a:moveTo>
                  <a:lnTo>
                    <a:pt x="2081" y="0"/>
                  </a:lnTo>
                  <a:lnTo>
                    <a:pt x="2094" y="0"/>
                  </a:lnTo>
                  <a:moveTo>
                    <a:pt x="2134" y="0"/>
                  </a:moveTo>
                  <a:lnTo>
                    <a:pt x="2134" y="0"/>
                  </a:lnTo>
                  <a:lnTo>
                    <a:pt x="2148" y="0"/>
                  </a:lnTo>
                  <a:moveTo>
                    <a:pt x="2188" y="0"/>
                  </a:moveTo>
                  <a:lnTo>
                    <a:pt x="2188" y="0"/>
                  </a:lnTo>
                  <a:lnTo>
                    <a:pt x="2201" y="0"/>
                  </a:lnTo>
                  <a:moveTo>
                    <a:pt x="2241" y="0"/>
                  </a:moveTo>
                  <a:lnTo>
                    <a:pt x="2241" y="0"/>
                  </a:lnTo>
                  <a:lnTo>
                    <a:pt x="2254" y="0"/>
                  </a:lnTo>
                  <a:moveTo>
                    <a:pt x="2294" y="0"/>
                  </a:moveTo>
                  <a:lnTo>
                    <a:pt x="2294" y="0"/>
                  </a:lnTo>
                  <a:lnTo>
                    <a:pt x="2308" y="0"/>
                  </a:lnTo>
                  <a:moveTo>
                    <a:pt x="2348" y="0"/>
                  </a:moveTo>
                  <a:lnTo>
                    <a:pt x="2348" y="0"/>
                  </a:lnTo>
                  <a:lnTo>
                    <a:pt x="2361" y="0"/>
                  </a:lnTo>
                  <a:moveTo>
                    <a:pt x="2401" y="0"/>
                  </a:moveTo>
                  <a:lnTo>
                    <a:pt x="2401" y="0"/>
                  </a:lnTo>
                  <a:lnTo>
                    <a:pt x="2414" y="0"/>
                  </a:lnTo>
                  <a:moveTo>
                    <a:pt x="2454" y="0"/>
                  </a:moveTo>
                  <a:lnTo>
                    <a:pt x="2454" y="0"/>
                  </a:lnTo>
                  <a:lnTo>
                    <a:pt x="2468" y="0"/>
                  </a:lnTo>
                  <a:moveTo>
                    <a:pt x="2508" y="0"/>
                  </a:moveTo>
                  <a:lnTo>
                    <a:pt x="2508" y="0"/>
                  </a:lnTo>
                  <a:lnTo>
                    <a:pt x="2521" y="0"/>
                  </a:lnTo>
                  <a:moveTo>
                    <a:pt x="2561" y="0"/>
                  </a:moveTo>
                  <a:lnTo>
                    <a:pt x="2561" y="0"/>
                  </a:lnTo>
                  <a:lnTo>
                    <a:pt x="2574" y="0"/>
                  </a:lnTo>
                  <a:moveTo>
                    <a:pt x="2614" y="0"/>
                  </a:moveTo>
                  <a:lnTo>
                    <a:pt x="2614" y="0"/>
                  </a:lnTo>
                  <a:lnTo>
                    <a:pt x="2628" y="0"/>
                  </a:lnTo>
                  <a:moveTo>
                    <a:pt x="2668" y="0"/>
                  </a:moveTo>
                  <a:lnTo>
                    <a:pt x="2668" y="0"/>
                  </a:lnTo>
                  <a:lnTo>
                    <a:pt x="2681" y="0"/>
                  </a:lnTo>
                  <a:moveTo>
                    <a:pt x="2721" y="0"/>
                  </a:moveTo>
                  <a:lnTo>
                    <a:pt x="2721" y="0"/>
                  </a:lnTo>
                  <a:lnTo>
                    <a:pt x="2735" y="0"/>
                  </a:lnTo>
                  <a:moveTo>
                    <a:pt x="2775" y="0"/>
                  </a:moveTo>
                  <a:lnTo>
                    <a:pt x="2775" y="0"/>
                  </a:lnTo>
                  <a:lnTo>
                    <a:pt x="2788" y="0"/>
                  </a:lnTo>
                  <a:moveTo>
                    <a:pt x="2828" y="0"/>
                  </a:moveTo>
                  <a:lnTo>
                    <a:pt x="2828" y="0"/>
                  </a:lnTo>
                  <a:lnTo>
                    <a:pt x="2841" y="0"/>
                  </a:lnTo>
                  <a:moveTo>
                    <a:pt x="2881" y="0"/>
                  </a:moveTo>
                  <a:lnTo>
                    <a:pt x="2881" y="0"/>
                  </a:lnTo>
                  <a:lnTo>
                    <a:pt x="2895" y="0"/>
                  </a:lnTo>
                  <a:moveTo>
                    <a:pt x="2935" y="0"/>
                  </a:moveTo>
                  <a:lnTo>
                    <a:pt x="2935" y="0"/>
                  </a:lnTo>
                  <a:lnTo>
                    <a:pt x="2948" y="0"/>
                  </a:lnTo>
                  <a:moveTo>
                    <a:pt x="2988" y="0"/>
                  </a:moveTo>
                  <a:lnTo>
                    <a:pt x="2988" y="0"/>
                  </a:lnTo>
                  <a:lnTo>
                    <a:pt x="3001" y="0"/>
                  </a:lnTo>
                  <a:moveTo>
                    <a:pt x="3041" y="0"/>
                  </a:moveTo>
                  <a:lnTo>
                    <a:pt x="3041" y="0"/>
                  </a:lnTo>
                  <a:lnTo>
                    <a:pt x="3055" y="0"/>
                  </a:lnTo>
                  <a:moveTo>
                    <a:pt x="3095" y="0"/>
                  </a:moveTo>
                  <a:lnTo>
                    <a:pt x="3095" y="0"/>
                  </a:lnTo>
                  <a:lnTo>
                    <a:pt x="3108" y="0"/>
                  </a:lnTo>
                  <a:moveTo>
                    <a:pt x="3148" y="0"/>
                  </a:moveTo>
                  <a:lnTo>
                    <a:pt x="3148" y="0"/>
                  </a:lnTo>
                  <a:lnTo>
                    <a:pt x="3161" y="0"/>
                  </a:lnTo>
                  <a:moveTo>
                    <a:pt x="3201" y="0"/>
                  </a:moveTo>
                  <a:lnTo>
                    <a:pt x="3201" y="0"/>
                  </a:lnTo>
                  <a:lnTo>
                    <a:pt x="3215" y="0"/>
                  </a:lnTo>
                  <a:moveTo>
                    <a:pt x="3255" y="0"/>
                  </a:moveTo>
                  <a:lnTo>
                    <a:pt x="3255" y="0"/>
                  </a:lnTo>
                  <a:lnTo>
                    <a:pt x="3268" y="0"/>
                  </a:lnTo>
                  <a:moveTo>
                    <a:pt x="3308" y="0"/>
                  </a:moveTo>
                  <a:lnTo>
                    <a:pt x="3308" y="0"/>
                  </a:lnTo>
                  <a:lnTo>
                    <a:pt x="3321" y="0"/>
                  </a:lnTo>
                  <a:moveTo>
                    <a:pt x="3361" y="0"/>
                  </a:moveTo>
                  <a:lnTo>
                    <a:pt x="3361" y="0"/>
                  </a:lnTo>
                  <a:lnTo>
                    <a:pt x="3375" y="0"/>
                  </a:lnTo>
                  <a:moveTo>
                    <a:pt x="3415" y="0"/>
                  </a:moveTo>
                  <a:lnTo>
                    <a:pt x="3415" y="0"/>
                  </a:lnTo>
                  <a:lnTo>
                    <a:pt x="3428" y="0"/>
                  </a:lnTo>
                  <a:moveTo>
                    <a:pt x="3468" y="0"/>
                  </a:moveTo>
                  <a:lnTo>
                    <a:pt x="3468" y="0"/>
                  </a:lnTo>
                  <a:lnTo>
                    <a:pt x="3482" y="0"/>
                  </a:lnTo>
                  <a:moveTo>
                    <a:pt x="3522" y="0"/>
                  </a:moveTo>
                  <a:lnTo>
                    <a:pt x="3522" y="0"/>
                  </a:lnTo>
                  <a:lnTo>
                    <a:pt x="3535" y="0"/>
                  </a:lnTo>
                  <a:moveTo>
                    <a:pt x="3575" y="0"/>
                  </a:moveTo>
                  <a:lnTo>
                    <a:pt x="3575" y="0"/>
                  </a:lnTo>
                  <a:lnTo>
                    <a:pt x="3588" y="0"/>
                  </a:lnTo>
                  <a:moveTo>
                    <a:pt x="3628" y="0"/>
                  </a:moveTo>
                  <a:lnTo>
                    <a:pt x="3628" y="0"/>
                  </a:lnTo>
                  <a:lnTo>
                    <a:pt x="3642" y="0"/>
                  </a:lnTo>
                  <a:moveTo>
                    <a:pt x="3682" y="0"/>
                  </a:moveTo>
                  <a:lnTo>
                    <a:pt x="3682" y="0"/>
                  </a:lnTo>
                  <a:lnTo>
                    <a:pt x="3695" y="0"/>
                  </a:lnTo>
                  <a:moveTo>
                    <a:pt x="3735" y="0"/>
                  </a:moveTo>
                  <a:lnTo>
                    <a:pt x="3735" y="0"/>
                  </a:lnTo>
                  <a:lnTo>
                    <a:pt x="3748" y="0"/>
                  </a:lnTo>
                  <a:moveTo>
                    <a:pt x="3788" y="0"/>
                  </a:moveTo>
                  <a:lnTo>
                    <a:pt x="3788" y="0"/>
                  </a:lnTo>
                  <a:lnTo>
                    <a:pt x="3802" y="0"/>
                  </a:lnTo>
                  <a:moveTo>
                    <a:pt x="3842" y="0"/>
                  </a:moveTo>
                  <a:lnTo>
                    <a:pt x="3842" y="0"/>
                  </a:lnTo>
                  <a:lnTo>
                    <a:pt x="3855" y="0"/>
                  </a:lnTo>
                  <a:moveTo>
                    <a:pt x="3895" y="0"/>
                  </a:moveTo>
                  <a:lnTo>
                    <a:pt x="3895" y="0"/>
                  </a:lnTo>
                  <a:lnTo>
                    <a:pt x="3908" y="0"/>
                  </a:lnTo>
                  <a:moveTo>
                    <a:pt x="3948" y="0"/>
                  </a:moveTo>
                  <a:lnTo>
                    <a:pt x="3948" y="0"/>
                  </a:lnTo>
                  <a:lnTo>
                    <a:pt x="3962" y="0"/>
                  </a:lnTo>
                  <a:moveTo>
                    <a:pt x="4002" y="0"/>
                  </a:moveTo>
                  <a:lnTo>
                    <a:pt x="4002" y="0"/>
                  </a:lnTo>
                  <a:lnTo>
                    <a:pt x="4015" y="0"/>
                  </a:lnTo>
                  <a:moveTo>
                    <a:pt x="4055" y="0"/>
                  </a:moveTo>
                  <a:lnTo>
                    <a:pt x="4055" y="0"/>
                  </a:lnTo>
                  <a:lnTo>
                    <a:pt x="4068" y="0"/>
                  </a:lnTo>
                  <a:moveTo>
                    <a:pt x="4108" y="0"/>
                  </a:moveTo>
                  <a:lnTo>
                    <a:pt x="4108" y="0"/>
                  </a:lnTo>
                  <a:lnTo>
                    <a:pt x="4122" y="0"/>
                  </a:lnTo>
                  <a:moveTo>
                    <a:pt x="4162" y="0"/>
                  </a:moveTo>
                  <a:lnTo>
                    <a:pt x="4162" y="0"/>
                  </a:lnTo>
                  <a:lnTo>
                    <a:pt x="4175" y="0"/>
                  </a:lnTo>
                  <a:moveTo>
                    <a:pt x="4215" y="0"/>
                  </a:moveTo>
                  <a:lnTo>
                    <a:pt x="4215" y="0"/>
                  </a:lnTo>
                  <a:lnTo>
                    <a:pt x="4228" y="0"/>
                  </a:lnTo>
                  <a:moveTo>
                    <a:pt x="4269" y="0"/>
                  </a:moveTo>
                  <a:lnTo>
                    <a:pt x="4269" y="0"/>
                  </a:lnTo>
                  <a:lnTo>
                    <a:pt x="4282" y="0"/>
                  </a:lnTo>
                  <a:moveTo>
                    <a:pt x="4322" y="0"/>
                  </a:moveTo>
                  <a:lnTo>
                    <a:pt x="4322" y="0"/>
                  </a:lnTo>
                  <a:lnTo>
                    <a:pt x="4335" y="0"/>
                  </a:lnTo>
                  <a:moveTo>
                    <a:pt x="4375" y="0"/>
                  </a:moveTo>
                  <a:lnTo>
                    <a:pt x="4375" y="0"/>
                  </a:lnTo>
                  <a:lnTo>
                    <a:pt x="4389" y="0"/>
                  </a:lnTo>
                  <a:moveTo>
                    <a:pt x="4429" y="0"/>
                  </a:moveTo>
                  <a:lnTo>
                    <a:pt x="4429" y="0"/>
                  </a:lnTo>
                  <a:lnTo>
                    <a:pt x="4442" y="0"/>
                  </a:lnTo>
                  <a:moveTo>
                    <a:pt x="4482" y="0"/>
                  </a:moveTo>
                  <a:lnTo>
                    <a:pt x="4482" y="0"/>
                  </a:lnTo>
                  <a:lnTo>
                    <a:pt x="4495" y="0"/>
                  </a:lnTo>
                  <a:moveTo>
                    <a:pt x="4535" y="0"/>
                  </a:moveTo>
                  <a:lnTo>
                    <a:pt x="4535" y="0"/>
                  </a:lnTo>
                  <a:lnTo>
                    <a:pt x="4549" y="0"/>
                  </a:lnTo>
                  <a:moveTo>
                    <a:pt x="4589" y="0"/>
                  </a:moveTo>
                  <a:lnTo>
                    <a:pt x="4589" y="0"/>
                  </a:lnTo>
                  <a:lnTo>
                    <a:pt x="4602" y="0"/>
                  </a:lnTo>
                  <a:moveTo>
                    <a:pt x="4642" y="0"/>
                  </a:moveTo>
                  <a:lnTo>
                    <a:pt x="4642" y="0"/>
                  </a:lnTo>
                  <a:lnTo>
                    <a:pt x="4655" y="0"/>
                  </a:lnTo>
                  <a:moveTo>
                    <a:pt x="4695" y="0"/>
                  </a:moveTo>
                  <a:lnTo>
                    <a:pt x="4695" y="0"/>
                  </a:lnTo>
                  <a:lnTo>
                    <a:pt x="4709" y="0"/>
                  </a:lnTo>
                  <a:moveTo>
                    <a:pt x="4749" y="0"/>
                  </a:moveTo>
                  <a:lnTo>
                    <a:pt x="4749" y="0"/>
                  </a:lnTo>
                  <a:lnTo>
                    <a:pt x="4762" y="0"/>
                  </a:lnTo>
                </a:path>
              </a:pathLst>
            </a:custGeom>
            <a:noFill/>
            <a:ln w="7938" cap="rnd">
              <a:solidFill>
                <a:srgbClr val="D3D3D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1" name="Freeform 98">
              <a:extLst>
                <a:ext uri="{FF2B5EF4-FFF2-40B4-BE49-F238E27FC236}">
                  <a16:creationId xmlns:a16="http://schemas.microsoft.com/office/drawing/2014/main" id="{C9B518C2-CB85-D948-BE52-A3DC890AE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" y="938"/>
              <a:ext cx="2578" cy="1769"/>
            </a:xfrm>
            <a:custGeom>
              <a:avLst/>
              <a:gdLst>
                <a:gd name="T0" fmla="*/ 0 w 4769"/>
                <a:gd name="T1" fmla="*/ 24 h 3268"/>
                <a:gd name="T2" fmla="*/ 0 w 4769"/>
                <a:gd name="T3" fmla="*/ 24 h 3268"/>
                <a:gd name="T4" fmla="*/ 35 w 4769"/>
                <a:gd name="T5" fmla="*/ 0 h 32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69" h="3268">
                  <a:moveTo>
                    <a:pt x="0" y="3268"/>
                  </a:moveTo>
                  <a:lnTo>
                    <a:pt x="0" y="3268"/>
                  </a:lnTo>
                  <a:lnTo>
                    <a:pt x="4769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2" name="Rectangle 103">
              <a:extLst>
                <a:ext uri="{FF2B5EF4-FFF2-40B4-BE49-F238E27FC236}">
                  <a16:creationId xmlns:a16="http://schemas.microsoft.com/office/drawing/2014/main" id="{FDB4318F-CC26-134A-9BAD-3780FB4A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2626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5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-"/>
                <a:defRPr sz="22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-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rgbClr val="003D62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nl-BE" altLang="nl-BE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3" name="Rectangle 10">
            <a:extLst>
              <a:ext uri="{FF2B5EF4-FFF2-40B4-BE49-F238E27FC236}">
                <a16:creationId xmlns:a16="http://schemas.microsoft.com/office/drawing/2014/main" id="{1B5184EC-72FD-B64A-9E1B-F9447F233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0525" y="6256534"/>
            <a:ext cx="431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rgbClr val="7E002F"/>
                </a:solidFill>
              </a:rPr>
              <a:t>X</a:t>
            </a:r>
            <a:endParaRPr lang="nl-BE" altLang="nl-BE" sz="2400" baseline="0" dirty="0"/>
          </a:p>
        </p:txBody>
      </p:sp>
      <p:sp>
        <p:nvSpPr>
          <p:cNvPr id="94" name="Rectangle 10">
            <a:extLst>
              <a:ext uri="{FF2B5EF4-FFF2-40B4-BE49-F238E27FC236}">
                <a16:creationId xmlns:a16="http://schemas.microsoft.com/office/drawing/2014/main" id="{94C6E777-F3F4-2743-9175-1BA7F82B5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662" y="3535559"/>
            <a:ext cx="360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endParaRPr lang="nl-BE" altLang="nl-BE" sz="2400" baseline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6" name="Rectangle 101">
            <a:extLst>
              <a:ext uri="{FF2B5EF4-FFF2-40B4-BE49-F238E27FC236}">
                <a16:creationId xmlns:a16="http://schemas.microsoft.com/office/drawing/2014/main" id="{8729E46B-6CD3-6244-AA4B-79CF0ABE0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143" y="5107087"/>
            <a:ext cx="592138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100" baseline="0">
                <a:solidFill>
                  <a:srgbClr val="000000"/>
                </a:solidFill>
                <a:latin typeface="Arial" panose="020B0604020202020204" pitchFamily="34" charset="0"/>
              </a:rPr>
              <a:t>Intercept</a:t>
            </a: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" name="Freeform 83">
            <a:extLst>
              <a:ext uri="{FF2B5EF4-FFF2-40B4-BE49-F238E27FC236}">
                <a16:creationId xmlns:a16="http://schemas.microsoft.com/office/drawing/2014/main" id="{19EEF2CA-14D9-5F4E-B103-9FCAE25B69F1}"/>
              </a:ext>
            </a:extLst>
          </p:cNvPr>
          <p:cNvSpPr>
            <a:spLocks noEditPoints="1"/>
          </p:cNvSpPr>
          <p:nvPr/>
        </p:nvSpPr>
        <p:spPr bwMode="auto">
          <a:xfrm>
            <a:off x="2925519" y="4522447"/>
            <a:ext cx="4086225" cy="0"/>
          </a:xfrm>
          <a:custGeom>
            <a:avLst/>
            <a:gdLst>
              <a:gd name="T0" fmla="*/ 1 w 4762"/>
              <a:gd name="T1" fmla="*/ 1 w 4762"/>
              <a:gd name="T2" fmla="*/ 2 w 4762"/>
              <a:gd name="T3" fmla="*/ 2 w 4762"/>
              <a:gd name="T4" fmla="*/ 3 w 4762"/>
              <a:gd name="T5" fmla="*/ 3 w 4762"/>
              <a:gd name="T6" fmla="*/ 4 w 4762"/>
              <a:gd name="T7" fmla="*/ 5 w 4762"/>
              <a:gd name="T8" fmla="*/ 5 w 4762"/>
              <a:gd name="T9" fmla="*/ 6 w 4762"/>
              <a:gd name="T10" fmla="*/ 7 w 4762"/>
              <a:gd name="T11" fmla="*/ 8 w 4762"/>
              <a:gd name="T12" fmla="*/ 8 w 4762"/>
              <a:gd name="T13" fmla="*/ 9 w 4762"/>
              <a:gd name="T14" fmla="*/ 9 w 4762"/>
              <a:gd name="T15" fmla="*/ 10 w 4762"/>
              <a:gd name="T16" fmla="*/ 11 w 4762"/>
              <a:gd name="T17" fmla="*/ 11 w 4762"/>
              <a:gd name="T18" fmla="*/ 12 w 4762"/>
              <a:gd name="T19" fmla="*/ 13 w 4762"/>
              <a:gd name="T20" fmla="*/ 13 w 4762"/>
              <a:gd name="T21" fmla="*/ 14 w 4762"/>
              <a:gd name="T22" fmla="*/ 15 w 4762"/>
              <a:gd name="T23" fmla="*/ 15 w 4762"/>
              <a:gd name="T24" fmla="*/ 16 w 4762"/>
              <a:gd name="T25" fmla="*/ 17 w 4762"/>
              <a:gd name="T26" fmla="*/ 17 w 4762"/>
              <a:gd name="T27" fmla="*/ 18 w 4762"/>
              <a:gd name="T28" fmla="*/ 19 w 4762"/>
              <a:gd name="T29" fmla="*/ 19 w 4762"/>
              <a:gd name="T30" fmla="*/ 20 w 4762"/>
              <a:gd name="T31" fmla="*/ 21 w 4762"/>
              <a:gd name="T32" fmla="*/ 21 w 4762"/>
              <a:gd name="T33" fmla="*/ 22 w 4762"/>
              <a:gd name="T34" fmla="*/ 23 w 4762"/>
              <a:gd name="T35" fmla="*/ 23 w 4762"/>
              <a:gd name="T36" fmla="*/ 24 w 4762"/>
              <a:gd name="T37" fmla="*/ 24 w 4762"/>
              <a:gd name="T38" fmla="*/ 25 w 4762"/>
              <a:gd name="T39" fmla="*/ 26 w 4762"/>
              <a:gd name="T40" fmla="*/ 26 w 4762"/>
              <a:gd name="T41" fmla="*/ 27 w 4762"/>
              <a:gd name="T42" fmla="*/ 28 w 4762"/>
              <a:gd name="T43" fmla="*/ 28 w 4762"/>
              <a:gd name="T44" fmla="*/ 29 w 4762"/>
              <a:gd name="T45" fmla="*/ 30 w 4762"/>
              <a:gd name="T46" fmla="*/ 30 w 4762"/>
              <a:gd name="T47" fmla="*/ 31 w 4762"/>
              <a:gd name="T48" fmla="*/ 31 w 4762"/>
              <a:gd name="T49" fmla="*/ 32 w 4762"/>
              <a:gd name="T50" fmla="*/ 33 w 4762"/>
              <a:gd name="T51" fmla="*/ 34 w 4762"/>
              <a:gd name="T52" fmla="*/ 34 w 4762"/>
              <a:gd name="T53" fmla="*/ 35 w 476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54">
                <a:pos x="T0" y="0"/>
              </a:cxn>
              <a:cxn ang="T55">
                <a:pos x="T1" y="0"/>
              </a:cxn>
              <a:cxn ang="T56">
                <a:pos x="T2" y="0"/>
              </a:cxn>
              <a:cxn ang="T57">
                <a:pos x="T3" y="0"/>
              </a:cxn>
              <a:cxn ang="T58">
                <a:pos x="T4" y="0"/>
              </a:cxn>
              <a:cxn ang="T59">
                <a:pos x="T5" y="0"/>
              </a:cxn>
              <a:cxn ang="T60">
                <a:pos x="T6" y="0"/>
              </a:cxn>
              <a:cxn ang="T61">
                <a:pos x="T7" y="0"/>
              </a:cxn>
              <a:cxn ang="T62">
                <a:pos x="T8" y="0"/>
              </a:cxn>
              <a:cxn ang="T63">
                <a:pos x="T9" y="0"/>
              </a:cxn>
              <a:cxn ang="T64">
                <a:pos x="T10" y="0"/>
              </a:cxn>
              <a:cxn ang="T65">
                <a:pos x="T11" y="0"/>
              </a:cxn>
              <a:cxn ang="T66">
                <a:pos x="T12" y="0"/>
              </a:cxn>
              <a:cxn ang="T67">
                <a:pos x="T13" y="0"/>
              </a:cxn>
              <a:cxn ang="T68">
                <a:pos x="T14" y="0"/>
              </a:cxn>
              <a:cxn ang="T69">
                <a:pos x="T15" y="0"/>
              </a:cxn>
              <a:cxn ang="T70">
                <a:pos x="T16" y="0"/>
              </a:cxn>
              <a:cxn ang="T71">
                <a:pos x="T17" y="0"/>
              </a:cxn>
              <a:cxn ang="T72">
                <a:pos x="T18" y="0"/>
              </a:cxn>
              <a:cxn ang="T73">
                <a:pos x="T19" y="0"/>
              </a:cxn>
              <a:cxn ang="T74">
                <a:pos x="T20" y="0"/>
              </a:cxn>
              <a:cxn ang="T75">
                <a:pos x="T21" y="0"/>
              </a:cxn>
              <a:cxn ang="T76">
                <a:pos x="T22" y="0"/>
              </a:cxn>
              <a:cxn ang="T77">
                <a:pos x="T23" y="0"/>
              </a:cxn>
              <a:cxn ang="T78">
                <a:pos x="T24" y="0"/>
              </a:cxn>
              <a:cxn ang="T79">
                <a:pos x="T25" y="0"/>
              </a:cxn>
              <a:cxn ang="T80">
                <a:pos x="T26" y="0"/>
              </a:cxn>
              <a:cxn ang="T81">
                <a:pos x="T27" y="0"/>
              </a:cxn>
              <a:cxn ang="T82">
                <a:pos x="T28" y="0"/>
              </a:cxn>
              <a:cxn ang="T83">
                <a:pos x="T29" y="0"/>
              </a:cxn>
              <a:cxn ang="T84">
                <a:pos x="T30" y="0"/>
              </a:cxn>
              <a:cxn ang="T85">
                <a:pos x="T31" y="0"/>
              </a:cxn>
              <a:cxn ang="T86">
                <a:pos x="T32" y="0"/>
              </a:cxn>
              <a:cxn ang="T87">
                <a:pos x="T33" y="0"/>
              </a:cxn>
              <a:cxn ang="T88">
                <a:pos x="T34" y="0"/>
              </a:cxn>
              <a:cxn ang="T89">
                <a:pos x="T35" y="0"/>
              </a:cxn>
              <a:cxn ang="T90">
                <a:pos x="T36" y="0"/>
              </a:cxn>
              <a:cxn ang="T91">
                <a:pos x="T37" y="0"/>
              </a:cxn>
              <a:cxn ang="T92">
                <a:pos x="T38" y="0"/>
              </a:cxn>
              <a:cxn ang="T93">
                <a:pos x="T39" y="0"/>
              </a:cxn>
              <a:cxn ang="T94">
                <a:pos x="T40" y="0"/>
              </a:cxn>
              <a:cxn ang="T95">
                <a:pos x="T41" y="0"/>
              </a:cxn>
              <a:cxn ang="T96">
                <a:pos x="T42" y="0"/>
              </a:cxn>
              <a:cxn ang="T97">
                <a:pos x="T43" y="0"/>
              </a:cxn>
              <a:cxn ang="T98">
                <a:pos x="T44" y="0"/>
              </a:cxn>
              <a:cxn ang="T99">
                <a:pos x="T45" y="0"/>
              </a:cxn>
              <a:cxn ang="T100">
                <a:pos x="T46" y="0"/>
              </a:cxn>
              <a:cxn ang="T101">
                <a:pos x="T47" y="0"/>
              </a:cxn>
              <a:cxn ang="T102">
                <a:pos x="T48" y="0"/>
              </a:cxn>
              <a:cxn ang="T103">
                <a:pos x="T49" y="0"/>
              </a:cxn>
              <a:cxn ang="T104">
                <a:pos x="T50" y="0"/>
              </a:cxn>
              <a:cxn ang="T105">
                <a:pos x="T51" y="0"/>
              </a:cxn>
              <a:cxn ang="T106">
                <a:pos x="T52" y="0"/>
              </a:cxn>
              <a:cxn ang="T107">
                <a:pos x="T53" y="0"/>
              </a:cxn>
            </a:cxnLst>
            <a:rect l="0" t="0" r="r" b="b"/>
            <a:pathLst>
              <a:path w="4762">
                <a:moveTo>
                  <a:pt x="0" y="0"/>
                </a:moveTo>
                <a:lnTo>
                  <a:pt x="0" y="0"/>
                </a:lnTo>
                <a:lnTo>
                  <a:pt x="13" y="0"/>
                </a:lnTo>
                <a:moveTo>
                  <a:pt x="53" y="0"/>
                </a:moveTo>
                <a:lnTo>
                  <a:pt x="53" y="0"/>
                </a:lnTo>
                <a:lnTo>
                  <a:pt x="67" y="0"/>
                </a:lnTo>
                <a:moveTo>
                  <a:pt x="107" y="0"/>
                </a:moveTo>
                <a:lnTo>
                  <a:pt x="107" y="0"/>
                </a:lnTo>
                <a:lnTo>
                  <a:pt x="120" y="0"/>
                </a:lnTo>
                <a:moveTo>
                  <a:pt x="160" y="0"/>
                </a:moveTo>
                <a:lnTo>
                  <a:pt x="160" y="0"/>
                </a:lnTo>
                <a:lnTo>
                  <a:pt x="173" y="0"/>
                </a:lnTo>
                <a:moveTo>
                  <a:pt x="213" y="0"/>
                </a:moveTo>
                <a:lnTo>
                  <a:pt x="213" y="0"/>
                </a:lnTo>
                <a:lnTo>
                  <a:pt x="227" y="0"/>
                </a:lnTo>
                <a:moveTo>
                  <a:pt x="267" y="0"/>
                </a:moveTo>
                <a:lnTo>
                  <a:pt x="267" y="0"/>
                </a:lnTo>
                <a:lnTo>
                  <a:pt x="280" y="0"/>
                </a:lnTo>
                <a:moveTo>
                  <a:pt x="320" y="0"/>
                </a:moveTo>
                <a:lnTo>
                  <a:pt x="320" y="0"/>
                </a:lnTo>
                <a:lnTo>
                  <a:pt x="334" y="0"/>
                </a:lnTo>
                <a:moveTo>
                  <a:pt x="374" y="0"/>
                </a:moveTo>
                <a:lnTo>
                  <a:pt x="374" y="0"/>
                </a:lnTo>
                <a:lnTo>
                  <a:pt x="387" y="0"/>
                </a:lnTo>
                <a:moveTo>
                  <a:pt x="427" y="0"/>
                </a:moveTo>
                <a:lnTo>
                  <a:pt x="427" y="0"/>
                </a:lnTo>
                <a:lnTo>
                  <a:pt x="440" y="0"/>
                </a:lnTo>
                <a:moveTo>
                  <a:pt x="480" y="0"/>
                </a:moveTo>
                <a:lnTo>
                  <a:pt x="480" y="0"/>
                </a:lnTo>
                <a:lnTo>
                  <a:pt x="494" y="0"/>
                </a:lnTo>
                <a:moveTo>
                  <a:pt x="534" y="0"/>
                </a:moveTo>
                <a:lnTo>
                  <a:pt x="534" y="0"/>
                </a:lnTo>
                <a:lnTo>
                  <a:pt x="547" y="0"/>
                </a:lnTo>
                <a:moveTo>
                  <a:pt x="587" y="0"/>
                </a:moveTo>
                <a:lnTo>
                  <a:pt x="587" y="0"/>
                </a:lnTo>
                <a:lnTo>
                  <a:pt x="600" y="0"/>
                </a:lnTo>
                <a:moveTo>
                  <a:pt x="640" y="0"/>
                </a:moveTo>
                <a:lnTo>
                  <a:pt x="640" y="0"/>
                </a:lnTo>
                <a:lnTo>
                  <a:pt x="654" y="0"/>
                </a:lnTo>
                <a:moveTo>
                  <a:pt x="694" y="0"/>
                </a:moveTo>
                <a:lnTo>
                  <a:pt x="694" y="0"/>
                </a:lnTo>
                <a:lnTo>
                  <a:pt x="707" y="0"/>
                </a:lnTo>
                <a:moveTo>
                  <a:pt x="747" y="0"/>
                </a:moveTo>
                <a:lnTo>
                  <a:pt x="747" y="0"/>
                </a:lnTo>
                <a:lnTo>
                  <a:pt x="760" y="0"/>
                </a:lnTo>
                <a:moveTo>
                  <a:pt x="800" y="0"/>
                </a:moveTo>
                <a:lnTo>
                  <a:pt x="800" y="0"/>
                </a:lnTo>
                <a:lnTo>
                  <a:pt x="814" y="0"/>
                </a:lnTo>
                <a:moveTo>
                  <a:pt x="854" y="0"/>
                </a:moveTo>
                <a:lnTo>
                  <a:pt x="854" y="0"/>
                </a:lnTo>
                <a:lnTo>
                  <a:pt x="867" y="0"/>
                </a:lnTo>
                <a:moveTo>
                  <a:pt x="907" y="0"/>
                </a:moveTo>
                <a:lnTo>
                  <a:pt x="907" y="0"/>
                </a:lnTo>
                <a:lnTo>
                  <a:pt x="920" y="0"/>
                </a:lnTo>
                <a:moveTo>
                  <a:pt x="960" y="0"/>
                </a:moveTo>
                <a:lnTo>
                  <a:pt x="960" y="0"/>
                </a:lnTo>
                <a:lnTo>
                  <a:pt x="974" y="0"/>
                </a:lnTo>
                <a:moveTo>
                  <a:pt x="1014" y="0"/>
                </a:moveTo>
                <a:lnTo>
                  <a:pt x="1014" y="0"/>
                </a:lnTo>
                <a:lnTo>
                  <a:pt x="1027" y="0"/>
                </a:lnTo>
                <a:moveTo>
                  <a:pt x="1067" y="0"/>
                </a:moveTo>
                <a:lnTo>
                  <a:pt x="1067" y="0"/>
                </a:lnTo>
                <a:lnTo>
                  <a:pt x="1080" y="0"/>
                </a:lnTo>
                <a:moveTo>
                  <a:pt x="1121" y="0"/>
                </a:moveTo>
                <a:lnTo>
                  <a:pt x="1121" y="0"/>
                </a:lnTo>
                <a:lnTo>
                  <a:pt x="1134" y="0"/>
                </a:lnTo>
                <a:moveTo>
                  <a:pt x="1174" y="0"/>
                </a:moveTo>
                <a:lnTo>
                  <a:pt x="1174" y="0"/>
                </a:lnTo>
                <a:lnTo>
                  <a:pt x="1187" y="0"/>
                </a:lnTo>
                <a:moveTo>
                  <a:pt x="1227" y="0"/>
                </a:moveTo>
                <a:lnTo>
                  <a:pt x="1227" y="0"/>
                </a:lnTo>
                <a:lnTo>
                  <a:pt x="1241" y="0"/>
                </a:lnTo>
                <a:moveTo>
                  <a:pt x="1281" y="0"/>
                </a:moveTo>
                <a:lnTo>
                  <a:pt x="1281" y="0"/>
                </a:lnTo>
                <a:lnTo>
                  <a:pt x="1294" y="0"/>
                </a:lnTo>
                <a:moveTo>
                  <a:pt x="1334" y="0"/>
                </a:moveTo>
                <a:lnTo>
                  <a:pt x="1334" y="0"/>
                </a:lnTo>
                <a:lnTo>
                  <a:pt x="1347" y="0"/>
                </a:lnTo>
                <a:moveTo>
                  <a:pt x="1387" y="0"/>
                </a:moveTo>
                <a:lnTo>
                  <a:pt x="1387" y="0"/>
                </a:lnTo>
                <a:lnTo>
                  <a:pt x="1401" y="0"/>
                </a:lnTo>
                <a:moveTo>
                  <a:pt x="1441" y="0"/>
                </a:moveTo>
                <a:lnTo>
                  <a:pt x="1441" y="0"/>
                </a:lnTo>
                <a:lnTo>
                  <a:pt x="1454" y="0"/>
                </a:lnTo>
                <a:moveTo>
                  <a:pt x="1494" y="0"/>
                </a:moveTo>
                <a:lnTo>
                  <a:pt x="1494" y="0"/>
                </a:lnTo>
                <a:lnTo>
                  <a:pt x="1507" y="0"/>
                </a:lnTo>
                <a:moveTo>
                  <a:pt x="1547" y="0"/>
                </a:moveTo>
                <a:lnTo>
                  <a:pt x="1547" y="0"/>
                </a:lnTo>
                <a:lnTo>
                  <a:pt x="1561" y="0"/>
                </a:lnTo>
                <a:moveTo>
                  <a:pt x="1601" y="0"/>
                </a:moveTo>
                <a:lnTo>
                  <a:pt x="1601" y="0"/>
                </a:lnTo>
                <a:lnTo>
                  <a:pt x="1614" y="0"/>
                </a:lnTo>
                <a:moveTo>
                  <a:pt x="1654" y="0"/>
                </a:moveTo>
                <a:lnTo>
                  <a:pt x="1654" y="0"/>
                </a:lnTo>
                <a:lnTo>
                  <a:pt x="1667" y="0"/>
                </a:lnTo>
                <a:moveTo>
                  <a:pt x="1707" y="0"/>
                </a:moveTo>
                <a:lnTo>
                  <a:pt x="1707" y="0"/>
                </a:lnTo>
                <a:lnTo>
                  <a:pt x="1721" y="0"/>
                </a:lnTo>
                <a:moveTo>
                  <a:pt x="1761" y="0"/>
                </a:moveTo>
                <a:lnTo>
                  <a:pt x="1761" y="0"/>
                </a:lnTo>
                <a:lnTo>
                  <a:pt x="1774" y="0"/>
                </a:lnTo>
                <a:moveTo>
                  <a:pt x="1814" y="0"/>
                </a:moveTo>
                <a:lnTo>
                  <a:pt x="1814" y="0"/>
                </a:lnTo>
                <a:lnTo>
                  <a:pt x="1827" y="0"/>
                </a:lnTo>
                <a:moveTo>
                  <a:pt x="1867" y="0"/>
                </a:moveTo>
                <a:lnTo>
                  <a:pt x="1867" y="0"/>
                </a:lnTo>
                <a:lnTo>
                  <a:pt x="1881" y="0"/>
                </a:lnTo>
                <a:moveTo>
                  <a:pt x="1921" y="0"/>
                </a:moveTo>
                <a:lnTo>
                  <a:pt x="1921" y="0"/>
                </a:lnTo>
                <a:lnTo>
                  <a:pt x="1934" y="0"/>
                </a:lnTo>
                <a:moveTo>
                  <a:pt x="1974" y="0"/>
                </a:moveTo>
                <a:lnTo>
                  <a:pt x="1974" y="0"/>
                </a:lnTo>
                <a:lnTo>
                  <a:pt x="1988" y="0"/>
                </a:lnTo>
                <a:moveTo>
                  <a:pt x="2028" y="0"/>
                </a:moveTo>
                <a:lnTo>
                  <a:pt x="2028" y="0"/>
                </a:lnTo>
                <a:lnTo>
                  <a:pt x="2041" y="0"/>
                </a:lnTo>
                <a:moveTo>
                  <a:pt x="2081" y="0"/>
                </a:moveTo>
                <a:lnTo>
                  <a:pt x="2081" y="0"/>
                </a:lnTo>
                <a:lnTo>
                  <a:pt x="2094" y="0"/>
                </a:lnTo>
                <a:moveTo>
                  <a:pt x="2134" y="0"/>
                </a:moveTo>
                <a:lnTo>
                  <a:pt x="2134" y="0"/>
                </a:lnTo>
                <a:lnTo>
                  <a:pt x="2148" y="0"/>
                </a:lnTo>
                <a:moveTo>
                  <a:pt x="2188" y="0"/>
                </a:moveTo>
                <a:lnTo>
                  <a:pt x="2188" y="0"/>
                </a:lnTo>
                <a:lnTo>
                  <a:pt x="2201" y="0"/>
                </a:lnTo>
                <a:moveTo>
                  <a:pt x="2241" y="0"/>
                </a:moveTo>
                <a:lnTo>
                  <a:pt x="2241" y="0"/>
                </a:lnTo>
                <a:lnTo>
                  <a:pt x="2254" y="0"/>
                </a:lnTo>
                <a:moveTo>
                  <a:pt x="2294" y="0"/>
                </a:moveTo>
                <a:lnTo>
                  <a:pt x="2294" y="0"/>
                </a:lnTo>
                <a:lnTo>
                  <a:pt x="2308" y="0"/>
                </a:lnTo>
                <a:moveTo>
                  <a:pt x="2348" y="0"/>
                </a:moveTo>
                <a:lnTo>
                  <a:pt x="2348" y="0"/>
                </a:lnTo>
                <a:lnTo>
                  <a:pt x="2361" y="0"/>
                </a:lnTo>
                <a:moveTo>
                  <a:pt x="2401" y="0"/>
                </a:moveTo>
                <a:lnTo>
                  <a:pt x="2401" y="0"/>
                </a:lnTo>
                <a:lnTo>
                  <a:pt x="2414" y="0"/>
                </a:lnTo>
                <a:moveTo>
                  <a:pt x="2454" y="0"/>
                </a:moveTo>
                <a:lnTo>
                  <a:pt x="2454" y="0"/>
                </a:lnTo>
                <a:lnTo>
                  <a:pt x="2468" y="0"/>
                </a:lnTo>
                <a:moveTo>
                  <a:pt x="2508" y="0"/>
                </a:moveTo>
                <a:lnTo>
                  <a:pt x="2508" y="0"/>
                </a:lnTo>
                <a:lnTo>
                  <a:pt x="2521" y="0"/>
                </a:lnTo>
                <a:moveTo>
                  <a:pt x="2561" y="0"/>
                </a:moveTo>
                <a:lnTo>
                  <a:pt x="2561" y="0"/>
                </a:lnTo>
                <a:lnTo>
                  <a:pt x="2574" y="0"/>
                </a:lnTo>
                <a:moveTo>
                  <a:pt x="2614" y="0"/>
                </a:moveTo>
                <a:lnTo>
                  <a:pt x="2614" y="0"/>
                </a:lnTo>
                <a:lnTo>
                  <a:pt x="2628" y="0"/>
                </a:lnTo>
                <a:moveTo>
                  <a:pt x="2668" y="0"/>
                </a:moveTo>
                <a:lnTo>
                  <a:pt x="2668" y="0"/>
                </a:lnTo>
                <a:lnTo>
                  <a:pt x="2681" y="0"/>
                </a:lnTo>
                <a:moveTo>
                  <a:pt x="2721" y="0"/>
                </a:moveTo>
                <a:lnTo>
                  <a:pt x="2721" y="0"/>
                </a:lnTo>
                <a:lnTo>
                  <a:pt x="2735" y="0"/>
                </a:lnTo>
                <a:moveTo>
                  <a:pt x="2775" y="0"/>
                </a:moveTo>
                <a:lnTo>
                  <a:pt x="2775" y="0"/>
                </a:lnTo>
                <a:lnTo>
                  <a:pt x="2788" y="0"/>
                </a:lnTo>
                <a:moveTo>
                  <a:pt x="2828" y="0"/>
                </a:moveTo>
                <a:lnTo>
                  <a:pt x="2828" y="0"/>
                </a:lnTo>
                <a:lnTo>
                  <a:pt x="2841" y="0"/>
                </a:lnTo>
                <a:moveTo>
                  <a:pt x="2881" y="0"/>
                </a:moveTo>
                <a:lnTo>
                  <a:pt x="2881" y="0"/>
                </a:lnTo>
                <a:lnTo>
                  <a:pt x="2895" y="0"/>
                </a:lnTo>
                <a:moveTo>
                  <a:pt x="2935" y="0"/>
                </a:moveTo>
                <a:lnTo>
                  <a:pt x="2935" y="0"/>
                </a:lnTo>
                <a:lnTo>
                  <a:pt x="2948" y="0"/>
                </a:lnTo>
                <a:moveTo>
                  <a:pt x="2988" y="0"/>
                </a:moveTo>
                <a:lnTo>
                  <a:pt x="2988" y="0"/>
                </a:lnTo>
                <a:lnTo>
                  <a:pt x="3001" y="0"/>
                </a:lnTo>
                <a:moveTo>
                  <a:pt x="3041" y="0"/>
                </a:moveTo>
                <a:lnTo>
                  <a:pt x="3041" y="0"/>
                </a:lnTo>
                <a:lnTo>
                  <a:pt x="3055" y="0"/>
                </a:lnTo>
                <a:moveTo>
                  <a:pt x="3095" y="0"/>
                </a:moveTo>
                <a:lnTo>
                  <a:pt x="3095" y="0"/>
                </a:lnTo>
                <a:lnTo>
                  <a:pt x="3108" y="0"/>
                </a:lnTo>
                <a:moveTo>
                  <a:pt x="3148" y="0"/>
                </a:moveTo>
                <a:lnTo>
                  <a:pt x="3148" y="0"/>
                </a:lnTo>
                <a:lnTo>
                  <a:pt x="3161" y="0"/>
                </a:lnTo>
                <a:moveTo>
                  <a:pt x="3201" y="0"/>
                </a:moveTo>
                <a:lnTo>
                  <a:pt x="3201" y="0"/>
                </a:lnTo>
                <a:lnTo>
                  <a:pt x="3215" y="0"/>
                </a:lnTo>
                <a:moveTo>
                  <a:pt x="3255" y="0"/>
                </a:moveTo>
                <a:lnTo>
                  <a:pt x="3255" y="0"/>
                </a:lnTo>
                <a:lnTo>
                  <a:pt x="3268" y="0"/>
                </a:lnTo>
                <a:moveTo>
                  <a:pt x="3308" y="0"/>
                </a:moveTo>
                <a:lnTo>
                  <a:pt x="3308" y="0"/>
                </a:lnTo>
                <a:lnTo>
                  <a:pt x="3321" y="0"/>
                </a:lnTo>
                <a:moveTo>
                  <a:pt x="3361" y="0"/>
                </a:moveTo>
                <a:lnTo>
                  <a:pt x="3361" y="0"/>
                </a:lnTo>
                <a:lnTo>
                  <a:pt x="3375" y="0"/>
                </a:lnTo>
                <a:moveTo>
                  <a:pt x="3415" y="0"/>
                </a:moveTo>
                <a:lnTo>
                  <a:pt x="3415" y="0"/>
                </a:lnTo>
                <a:lnTo>
                  <a:pt x="3428" y="0"/>
                </a:lnTo>
                <a:moveTo>
                  <a:pt x="3468" y="0"/>
                </a:moveTo>
                <a:lnTo>
                  <a:pt x="3468" y="0"/>
                </a:lnTo>
                <a:lnTo>
                  <a:pt x="3482" y="0"/>
                </a:lnTo>
                <a:moveTo>
                  <a:pt x="3522" y="0"/>
                </a:moveTo>
                <a:lnTo>
                  <a:pt x="3522" y="0"/>
                </a:lnTo>
                <a:lnTo>
                  <a:pt x="3535" y="0"/>
                </a:lnTo>
                <a:moveTo>
                  <a:pt x="3575" y="0"/>
                </a:moveTo>
                <a:lnTo>
                  <a:pt x="3575" y="0"/>
                </a:lnTo>
                <a:lnTo>
                  <a:pt x="3588" y="0"/>
                </a:lnTo>
                <a:moveTo>
                  <a:pt x="3628" y="0"/>
                </a:moveTo>
                <a:lnTo>
                  <a:pt x="3628" y="0"/>
                </a:lnTo>
                <a:lnTo>
                  <a:pt x="3642" y="0"/>
                </a:lnTo>
                <a:moveTo>
                  <a:pt x="3682" y="0"/>
                </a:moveTo>
                <a:lnTo>
                  <a:pt x="3682" y="0"/>
                </a:lnTo>
                <a:lnTo>
                  <a:pt x="3695" y="0"/>
                </a:lnTo>
                <a:moveTo>
                  <a:pt x="3735" y="0"/>
                </a:moveTo>
                <a:lnTo>
                  <a:pt x="3735" y="0"/>
                </a:lnTo>
                <a:lnTo>
                  <a:pt x="3748" y="0"/>
                </a:lnTo>
                <a:moveTo>
                  <a:pt x="3788" y="0"/>
                </a:moveTo>
                <a:lnTo>
                  <a:pt x="3788" y="0"/>
                </a:lnTo>
                <a:lnTo>
                  <a:pt x="3802" y="0"/>
                </a:lnTo>
                <a:moveTo>
                  <a:pt x="3842" y="0"/>
                </a:moveTo>
                <a:lnTo>
                  <a:pt x="3842" y="0"/>
                </a:lnTo>
                <a:lnTo>
                  <a:pt x="3855" y="0"/>
                </a:lnTo>
                <a:moveTo>
                  <a:pt x="3895" y="0"/>
                </a:moveTo>
                <a:lnTo>
                  <a:pt x="3895" y="0"/>
                </a:lnTo>
                <a:lnTo>
                  <a:pt x="3908" y="0"/>
                </a:lnTo>
                <a:moveTo>
                  <a:pt x="3948" y="0"/>
                </a:moveTo>
                <a:lnTo>
                  <a:pt x="3948" y="0"/>
                </a:lnTo>
                <a:lnTo>
                  <a:pt x="3962" y="0"/>
                </a:lnTo>
                <a:moveTo>
                  <a:pt x="4002" y="0"/>
                </a:moveTo>
                <a:lnTo>
                  <a:pt x="4002" y="0"/>
                </a:lnTo>
                <a:lnTo>
                  <a:pt x="4015" y="0"/>
                </a:lnTo>
                <a:moveTo>
                  <a:pt x="4055" y="0"/>
                </a:moveTo>
                <a:lnTo>
                  <a:pt x="4055" y="0"/>
                </a:lnTo>
                <a:lnTo>
                  <a:pt x="4068" y="0"/>
                </a:lnTo>
                <a:moveTo>
                  <a:pt x="4108" y="0"/>
                </a:moveTo>
                <a:lnTo>
                  <a:pt x="4108" y="0"/>
                </a:lnTo>
                <a:lnTo>
                  <a:pt x="4122" y="0"/>
                </a:lnTo>
                <a:moveTo>
                  <a:pt x="4162" y="0"/>
                </a:moveTo>
                <a:lnTo>
                  <a:pt x="4162" y="0"/>
                </a:lnTo>
                <a:lnTo>
                  <a:pt x="4175" y="0"/>
                </a:lnTo>
                <a:moveTo>
                  <a:pt x="4215" y="0"/>
                </a:moveTo>
                <a:lnTo>
                  <a:pt x="4215" y="0"/>
                </a:lnTo>
                <a:lnTo>
                  <a:pt x="4228" y="0"/>
                </a:lnTo>
                <a:moveTo>
                  <a:pt x="4269" y="0"/>
                </a:moveTo>
                <a:lnTo>
                  <a:pt x="4269" y="0"/>
                </a:lnTo>
                <a:lnTo>
                  <a:pt x="4282" y="0"/>
                </a:lnTo>
                <a:moveTo>
                  <a:pt x="4322" y="0"/>
                </a:moveTo>
                <a:lnTo>
                  <a:pt x="4322" y="0"/>
                </a:lnTo>
                <a:lnTo>
                  <a:pt x="4335" y="0"/>
                </a:lnTo>
                <a:moveTo>
                  <a:pt x="4375" y="0"/>
                </a:moveTo>
                <a:lnTo>
                  <a:pt x="4375" y="0"/>
                </a:lnTo>
                <a:lnTo>
                  <a:pt x="4389" y="0"/>
                </a:lnTo>
                <a:moveTo>
                  <a:pt x="4429" y="0"/>
                </a:moveTo>
                <a:lnTo>
                  <a:pt x="4429" y="0"/>
                </a:lnTo>
                <a:lnTo>
                  <a:pt x="4442" y="0"/>
                </a:lnTo>
                <a:moveTo>
                  <a:pt x="4482" y="0"/>
                </a:moveTo>
                <a:lnTo>
                  <a:pt x="4482" y="0"/>
                </a:lnTo>
                <a:lnTo>
                  <a:pt x="4495" y="0"/>
                </a:lnTo>
                <a:moveTo>
                  <a:pt x="4535" y="0"/>
                </a:moveTo>
                <a:lnTo>
                  <a:pt x="4535" y="0"/>
                </a:lnTo>
                <a:lnTo>
                  <a:pt x="4549" y="0"/>
                </a:lnTo>
                <a:moveTo>
                  <a:pt x="4589" y="0"/>
                </a:moveTo>
                <a:lnTo>
                  <a:pt x="4589" y="0"/>
                </a:lnTo>
                <a:lnTo>
                  <a:pt x="4602" y="0"/>
                </a:lnTo>
                <a:moveTo>
                  <a:pt x="4642" y="0"/>
                </a:moveTo>
                <a:lnTo>
                  <a:pt x="4642" y="0"/>
                </a:lnTo>
                <a:lnTo>
                  <a:pt x="4655" y="0"/>
                </a:lnTo>
                <a:moveTo>
                  <a:pt x="4695" y="0"/>
                </a:moveTo>
                <a:lnTo>
                  <a:pt x="4695" y="0"/>
                </a:lnTo>
                <a:lnTo>
                  <a:pt x="4709" y="0"/>
                </a:lnTo>
                <a:moveTo>
                  <a:pt x="4749" y="0"/>
                </a:moveTo>
                <a:lnTo>
                  <a:pt x="4749" y="0"/>
                </a:lnTo>
                <a:lnTo>
                  <a:pt x="4762" y="0"/>
                </a:lnTo>
              </a:path>
            </a:pathLst>
          </a:custGeom>
          <a:noFill/>
          <a:ln w="28575" cap="rnd">
            <a:solidFill>
              <a:srgbClr val="D3D3D3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96" name="Freeform 96">
            <a:extLst>
              <a:ext uri="{FF2B5EF4-FFF2-40B4-BE49-F238E27FC236}">
                <a16:creationId xmlns:a16="http://schemas.microsoft.com/office/drawing/2014/main" id="{7F77F48E-3E54-0944-9C42-A5E388E9A3E6}"/>
              </a:ext>
            </a:extLst>
          </p:cNvPr>
          <p:cNvSpPr>
            <a:spLocks/>
          </p:cNvSpPr>
          <p:nvPr/>
        </p:nvSpPr>
        <p:spPr bwMode="auto">
          <a:xfrm>
            <a:off x="3744669" y="3962059"/>
            <a:ext cx="0" cy="560387"/>
          </a:xfrm>
          <a:custGeom>
            <a:avLst/>
            <a:gdLst>
              <a:gd name="T0" fmla="*/ 5 h 653"/>
              <a:gd name="T1" fmla="*/ 5 h 653"/>
              <a:gd name="T2" fmla="*/ 0 h 653"/>
              <a:gd name="T3" fmla="*/ 0 60000 65536"/>
              <a:gd name="T4" fmla="*/ 0 60000 65536"/>
              <a:gd name="T5" fmla="*/ 0 60000 65536"/>
            </a:gdLst>
            <a:ahLst/>
            <a:cxnLst>
              <a:cxn ang="T3">
                <a:pos x="0" y="T0"/>
              </a:cxn>
              <a:cxn ang="T4">
                <a:pos x="0" y="T1"/>
              </a:cxn>
              <a:cxn ang="T5">
                <a:pos x="0" y="T2"/>
              </a:cxn>
            </a:cxnLst>
            <a:rect l="0" t="0" r="r" b="b"/>
            <a:pathLst>
              <a:path h="653">
                <a:moveTo>
                  <a:pt x="0" y="653"/>
                </a:moveTo>
                <a:lnTo>
                  <a:pt x="0" y="653"/>
                </a:lnTo>
                <a:lnTo>
                  <a:pt x="0" y="0"/>
                </a:lnTo>
              </a:path>
            </a:pathLst>
          </a:custGeom>
          <a:noFill/>
          <a:ln w="28575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97" name="Rectangle 98">
            <a:extLst>
              <a:ext uri="{FF2B5EF4-FFF2-40B4-BE49-F238E27FC236}">
                <a16:creationId xmlns:a16="http://schemas.microsoft.com/office/drawing/2014/main" id="{2E1967F8-B89D-D64D-B601-EFF3A0CF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306" y="4393859"/>
            <a:ext cx="215900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100" baseline="0" dirty="0">
                <a:solidFill>
                  <a:srgbClr val="000000"/>
                </a:solidFill>
                <a:latin typeface="Arial" panose="020B0604020202020204" pitchFamily="34" charset="0"/>
              </a:rPr>
              <a:t>+1</a:t>
            </a:r>
            <a:endParaRPr lang="nl-BE" altLang="nl-BE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" name="Rectangle 99">
            <a:extLst>
              <a:ext uri="{FF2B5EF4-FFF2-40B4-BE49-F238E27FC236}">
                <a16:creationId xmlns:a16="http://schemas.microsoft.com/office/drawing/2014/main" id="{198446B8-902B-4644-A492-CA1EFE455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219" y="4152559"/>
            <a:ext cx="1428750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100" baseline="0">
                <a:solidFill>
                  <a:srgbClr val="000000"/>
                </a:solidFill>
                <a:latin typeface="Arial" panose="020B0604020202020204" pitchFamily="34" charset="0"/>
              </a:rPr>
              <a:t>Slope (=hellingsgraad)</a:t>
            </a: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" name="Rechthoek 104">
            <a:extLst>
              <a:ext uri="{FF2B5EF4-FFF2-40B4-BE49-F238E27FC236}">
                <a16:creationId xmlns:a16="http://schemas.microsoft.com/office/drawing/2014/main" id="{04AA3414-76DD-CF42-B180-BB7A058CA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7778" y="3719513"/>
            <a:ext cx="503238" cy="561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00E5BB0-D2DD-C9D1-05E2-2979D09C4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733" y="3115006"/>
            <a:ext cx="4391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r>
              <a:rPr lang="nl-BE" altLang="nl-BE" sz="2400" baseline="0" dirty="0"/>
              <a:t> = 	intercept + slope * </a:t>
            </a:r>
            <a:r>
              <a:rPr lang="nl-BE" altLang="nl-BE" sz="2400" b="1" baseline="0" dirty="0">
                <a:solidFill>
                  <a:srgbClr val="7E002F"/>
                </a:solidFill>
              </a:rPr>
              <a:t>X</a:t>
            </a:r>
            <a:endParaRPr lang="nl-BE" altLang="nl-BE" sz="2400" baseline="0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931EABE-31D2-8DFE-DDE2-421808657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745" y="3703968"/>
            <a:ext cx="43910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nl-BE" altLang="nl-BE" sz="2400" b="1" baseline="0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r>
              <a:rPr lang="nl-BE" altLang="nl-BE" sz="2400" baseline="0" dirty="0"/>
              <a:t> = 	     5       +   2    * </a:t>
            </a:r>
            <a:r>
              <a:rPr lang="nl-BE" altLang="nl-BE" sz="2400" b="1" baseline="0" dirty="0">
                <a:solidFill>
                  <a:srgbClr val="7E002F"/>
                </a:solidFill>
              </a:rPr>
              <a:t>X</a:t>
            </a:r>
            <a:endParaRPr lang="nl-BE" altLang="nl-BE" sz="2400" baseline="0" dirty="0"/>
          </a:p>
        </p:txBody>
      </p:sp>
    </p:spTree>
    <p:extLst>
      <p:ext uri="{BB962C8B-B14F-4D97-AF65-F5344CB8AC3E}">
        <p14:creationId xmlns:p14="http://schemas.microsoft.com/office/powerpoint/2010/main" val="30282701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BCFAD-F051-DB4F-B3CE-614E3674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i="1" dirty="0"/>
              <a:t>Functies: exact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6996C30-E5C8-0A45-A822-D812A1645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36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218331C-A896-E945-A7B4-E02E0A657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013108"/>
            <a:ext cx="10944226" cy="4660279"/>
          </a:xfrm>
        </p:spPr>
        <p:txBody>
          <a:bodyPr/>
          <a:lstStyle/>
          <a:p>
            <a:pPr>
              <a:spcBef>
                <a:spcPts val="0"/>
              </a:spcBef>
              <a:buFontTx/>
              <a:buNone/>
            </a:pPr>
            <a:r>
              <a:rPr lang="nl-BE" altLang="nl-BE" b="0" dirty="0"/>
              <a:t>Exacte wetenschappen: meestal </a:t>
            </a:r>
            <a:r>
              <a:rPr lang="nl-BE" altLang="nl-BE" dirty="0"/>
              <a:t>exact</a:t>
            </a:r>
            <a:r>
              <a:rPr lang="nl-BE" altLang="nl-BE" b="0" dirty="0"/>
              <a:t> verband</a:t>
            </a:r>
          </a:p>
          <a:p>
            <a:pPr>
              <a:spcBef>
                <a:spcPts val="0"/>
              </a:spcBef>
              <a:buFontTx/>
              <a:buNone/>
            </a:pPr>
            <a:endParaRPr lang="nl-BE" altLang="nl-BE" b="0" dirty="0"/>
          </a:p>
          <a:p>
            <a:pPr>
              <a:spcBef>
                <a:spcPts val="0"/>
              </a:spcBef>
              <a:buFontTx/>
              <a:buNone/>
            </a:pPr>
            <a:r>
              <a:rPr lang="nl-BE" altLang="nl-BE" b="0" dirty="0"/>
              <a:t>	Y = A + B*X</a:t>
            </a:r>
          </a:p>
          <a:p>
            <a:pPr>
              <a:spcBef>
                <a:spcPts val="0"/>
              </a:spcBef>
              <a:buFontTx/>
              <a:buNone/>
            </a:pPr>
            <a:endParaRPr lang="nl-BE" altLang="nl-BE" b="0" dirty="0"/>
          </a:p>
          <a:p>
            <a:pPr>
              <a:spcBef>
                <a:spcPts val="0"/>
              </a:spcBef>
              <a:buFontTx/>
              <a:buNone/>
            </a:pPr>
            <a:r>
              <a:rPr lang="nl-BE" altLang="nl-BE" b="0" dirty="0"/>
              <a:t>➡️ Voor elke X, slechts 1 mogelijke Y</a:t>
            </a:r>
          </a:p>
          <a:p>
            <a:pPr>
              <a:spcBef>
                <a:spcPts val="0"/>
              </a:spcBef>
              <a:buFontTx/>
              <a:buNone/>
            </a:pPr>
            <a:endParaRPr lang="nl-BE" altLang="nl-BE" b="0" dirty="0"/>
          </a:p>
          <a:p>
            <a:pPr>
              <a:spcBef>
                <a:spcPts val="0"/>
              </a:spcBef>
              <a:buFontTx/>
              <a:buNone/>
            </a:pPr>
            <a:endParaRPr lang="nl-BE" altLang="nl-BE" b="0" dirty="0"/>
          </a:p>
          <a:p>
            <a:pPr>
              <a:spcBef>
                <a:spcPts val="0"/>
              </a:spcBef>
              <a:buFontTx/>
              <a:buNone/>
            </a:pPr>
            <a:endParaRPr lang="nl-BE" altLang="nl-BE" b="0" dirty="0"/>
          </a:p>
          <a:p>
            <a:endParaRPr lang="nl-BE" dirty="0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F705A0EE-F166-1D4B-AB2A-F0CBEC25E1D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43808" y="4509120"/>
            <a:ext cx="2994197" cy="104073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nl-BE" i="1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339610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BCFAD-F051-DB4F-B3CE-614E3674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i="1" dirty="0"/>
              <a:t>Functies: INexact verband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6996C30-E5C8-0A45-A822-D812A1645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37</a:t>
            </a:fld>
            <a:endParaRPr lang="nl-BE" dirty="0"/>
          </a:p>
        </p:txBody>
      </p:sp>
      <p:sp>
        <p:nvSpPr>
          <p:cNvPr id="95" name="Text Box 2">
            <a:extLst>
              <a:ext uri="{FF2B5EF4-FFF2-40B4-BE49-F238E27FC236}">
                <a16:creationId xmlns:a16="http://schemas.microsoft.com/office/drawing/2014/main" id="{80D8015F-FBAC-7646-9393-1F2C44184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8143" y="1959172"/>
            <a:ext cx="3896859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393700">
              <a:spcBef>
                <a:spcPct val="20000"/>
              </a:spcBef>
              <a:buChar char="•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393700">
              <a:spcBef>
                <a:spcPct val="20000"/>
              </a:spcBef>
              <a:buChar char="-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393700">
              <a:spcBef>
                <a:spcPct val="20000"/>
              </a:spcBef>
              <a:buChar char="•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393700">
              <a:spcBef>
                <a:spcPct val="20000"/>
              </a:spcBef>
              <a:buChar char="-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393700">
              <a:spcBef>
                <a:spcPct val="20000"/>
              </a:spcBef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nl-BE" altLang="nl-BE" sz="3600" i="1" baseline="0" dirty="0">
                <a:latin typeface="Times New Roman" panose="02020603050405020304" pitchFamily="18" charset="0"/>
              </a:rPr>
              <a:t>Y</a:t>
            </a:r>
            <a:r>
              <a:rPr lang="nl-BE" altLang="nl-BE" sz="3600" i="1" baseline="-25000" dirty="0">
                <a:latin typeface="Times New Roman" panose="02020603050405020304" pitchFamily="18" charset="0"/>
              </a:rPr>
              <a:t>i</a:t>
            </a:r>
            <a:r>
              <a:rPr lang="nl-BE" altLang="nl-BE" sz="3600" baseline="0" dirty="0">
                <a:latin typeface="Times New Roman" panose="02020603050405020304" pitchFamily="18" charset="0"/>
              </a:rPr>
              <a:t>= </a:t>
            </a:r>
            <a:r>
              <a:rPr lang="nl-BE" altLang="nl-BE" sz="3600" i="1" baseline="0" dirty="0">
                <a:latin typeface="Symbol" pitchFamily="2" charset="2"/>
              </a:rPr>
              <a:t>b</a:t>
            </a:r>
            <a:r>
              <a:rPr lang="nl-BE" altLang="nl-BE" sz="3600" baseline="-25000" dirty="0">
                <a:latin typeface="Times New Roman" panose="02020603050405020304" pitchFamily="18" charset="0"/>
              </a:rPr>
              <a:t>0</a:t>
            </a:r>
            <a:r>
              <a:rPr lang="nl-BE" altLang="nl-BE" sz="3600" baseline="0" dirty="0">
                <a:latin typeface="Times New Roman" panose="02020603050405020304" pitchFamily="18" charset="0"/>
              </a:rPr>
              <a:t> + </a:t>
            </a:r>
            <a:r>
              <a:rPr lang="nl-BE" altLang="nl-BE" sz="3600" i="1" baseline="0" dirty="0">
                <a:latin typeface="Symbol" pitchFamily="2" charset="2"/>
              </a:rPr>
              <a:t>b</a:t>
            </a:r>
            <a:r>
              <a:rPr lang="nl-BE" altLang="nl-BE" sz="3600" baseline="-25000" dirty="0">
                <a:latin typeface="Times New Roman" panose="02020603050405020304" pitchFamily="18" charset="0"/>
              </a:rPr>
              <a:t>1</a:t>
            </a:r>
            <a:r>
              <a:rPr lang="nl-BE" altLang="nl-BE" sz="3600" baseline="0" dirty="0">
                <a:latin typeface="Times New Roman" panose="02020603050405020304" pitchFamily="18" charset="0"/>
              </a:rPr>
              <a:t> </a:t>
            </a:r>
            <a:r>
              <a:rPr lang="nl-BE" altLang="nl-BE" sz="3600" i="1" baseline="0" dirty="0">
                <a:latin typeface="Times New Roman" panose="02020603050405020304" pitchFamily="18" charset="0"/>
              </a:rPr>
              <a:t>X</a:t>
            </a:r>
            <a:r>
              <a:rPr lang="nl-BE" altLang="nl-BE" sz="3600" i="1" baseline="-25000" dirty="0">
                <a:latin typeface="Times New Roman" panose="02020603050405020304" pitchFamily="18" charset="0"/>
              </a:rPr>
              <a:t>i</a:t>
            </a:r>
            <a:r>
              <a:rPr lang="nl-BE" altLang="nl-BE" sz="3600" baseline="0" dirty="0">
                <a:latin typeface="Times New Roman" panose="02020603050405020304" pitchFamily="18" charset="0"/>
              </a:rPr>
              <a:t> + </a:t>
            </a:r>
            <a:r>
              <a:rPr lang="nl-BE" altLang="nl-BE" sz="3600" i="1" baseline="0" dirty="0">
                <a:latin typeface="Symbol" pitchFamily="2" charset="2"/>
              </a:rPr>
              <a:t>e</a:t>
            </a:r>
            <a:r>
              <a:rPr lang="nl-BE" altLang="nl-BE" sz="3600" i="1" baseline="-25000" dirty="0">
                <a:latin typeface="Times New Roman" panose="02020603050405020304" pitchFamily="18" charset="0"/>
              </a:rPr>
              <a:t>i</a:t>
            </a:r>
            <a:r>
              <a:rPr lang="nl-BE" altLang="nl-BE" sz="3600" baseline="0" dirty="0">
                <a:latin typeface="Times New Roman" panose="02020603050405020304" pitchFamily="18" charset="0"/>
              </a:rPr>
              <a:t> </a:t>
            </a:r>
            <a:endParaRPr lang="en-GB" altLang="nl-BE" sz="3600" i="1" baseline="0" dirty="0"/>
          </a:p>
        </p:txBody>
      </p:sp>
      <p:pic>
        <p:nvPicPr>
          <p:cNvPr id="96" name="Afbeelding 7">
            <a:extLst>
              <a:ext uri="{FF2B5EF4-FFF2-40B4-BE49-F238E27FC236}">
                <a16:creationId xmlns:a16="http://schemas.microsoft.com/office/drawing/2014/main" id="{C8BEBCBB-DBF5-044D-95DF-3425FB738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2"/>
          <a:stretch>
            <a:fillRect/>
          </a:stretch>
        </p:blipFill>
        <p:spPr bwMode="auto">
          <a:xfrm>
            <a:off x="1797256" y="1744948"/>
            <a:ext cx="4846638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" name="Text Box 2">
            <a:extLst>
              <a:ext uri="{FF2B5EF4-FFF2-40B4-BE49-F238E27FC236}">
                <a16:creationId xmlns:a16="http://schemas.microsoft.com/office/drawing/2014/main" id="{008E174D-71F6-5347-8073-3F5D26BC4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405" y="2938659"/>
            <a:ext cx="4480287" cy="281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defTabSz="393700">
              <a:spcBef>
                <a:spcPct val="20000"/>
              </a:spcBef>
              <a:buChar char="•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393700">
              <a:spcBef>
                <a:spcPct val="20000"/>
              </a:spcBef>
              <a:buChar char="-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393700">
              <a:spcBef>
                <a:spcPct val="20000"/>
              </a:spcBef>
              <a:buChar char="•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393700">
              <a:spcBef>
                <a:spcPct val="20000"/>
              </a:spcBef>
              <a:buChar char="-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393700">
              <a:spcBef>
                <a:spcPct val="20000"/>
              </a:spcBef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  <a:defRPr/>
            </a:pPr>
            <a:r>
              <a:rPr lang="nl-BE" altLang="nl-BE" sz="3200" i="1" baseline="0" dirty="0">
                <a:latin typeface="Symbol" panose="05050102010706020507" pitchFamily="18" charset="2"/>
              </a:rPr>
              <a:t>b</a:t>
            </a:r>
            <a:r>
              <a:rPr lang="nl-BE" altLang="nl-BE" sz="3200" baseline="-25000" dirty="0">
                <a:latin typeface="Times New Roman" panose="02020603050405020304" pitchFamily="18" charset="0"/>
              </a:rPr>
              <a:t>0</a:t>
            </a:r>
            <a:r>
              <a:rPr lang="nl-BE" altLang="nl-BE" sz="3200" baseline="0" dirty="0">
                <a:latin typeface="Times New Roman" panose="02020603050405020304" pitchFamily="18" charset="0"/>
              </a:rPr>
              <a:t> = </a:t>
            </a:r>
            <a:r>
              <a:rPr lang="nl-BE" altLang="nl-BE" sz="3200" baseline="0" dirty="0" err="1">
                <a:latin typeface="Times New Roman" panose="02020603050405020304" pitchFamily="18" charset="0"/>
              </a:rPr>
              <a:t>intercept</a:t>
            </a:r>
            <a:endParaRPr lang="nl-BE" altLang="nl-BE" sz="3200" baseline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  <a:defRPr/>
            </a:pPr>
            <a:r>
              <a:rPr lang="nl-BE" altLang="nl-BE" sz="3200" i="1" baseline="0" dirty="0">
                <a:latin typeface="Symbol" panose="05050102010706020507" pitchFamily="18" charset="2"/>
              </a:rPr>
              <a:t>b</a:t>
            </a:r>
            <a:r>
              <a:rPr lang="nl-BE" altLang="nl-BE" sz="3200" baseline="-25000" dirty="0">
                <a:latin typeface="Times New Roman" panose="02020603050405020304" pitchFamily="18" charset="0"/>
              </a:rPr>
              <a:t>1</a:t>
            </a:r>
            <a:r>
              <a:rPr lang="nl-BE" altLang="nl-BE" sz="3200" baseline="0" dirty="0">
                <a:latin typeface="Times New Roman" panose="02020603050405020304" pitchFamily="18" charset="0"/>
              </a:rPr>
              <a:t> </a:t>
            </a:r>
            <a:r>
              <a:rPr lang="nl-BE" altLang="nl-BE" sz="3200" i="1" baseline="0" dirty="0">
                <a:latin typeface="Times New Roman" panose="02020603050405020304" pitchFamily="18" charset="0"/>
              </a:rPr>
              <a:t>= </a:t>
            </a:r>
            <a:r>
              <a:rPr lang="nl-BE" altLang="nl-BE" sz="3200" baseline="0" dirty="0" err="1">
                <a:latin typeface="Times New Roman" panose="02020603050405020304" pitchFamily="18" charset="0"/>
              </a:rPr>
              <a:t>slope</a:t>
            </a:r>
            <a:endParaRPr lang="nl-BE" altLang="nl-BE" sz="3200" baseline="0" dirty="0">
              <a:latin typeface="Times New Roman" panose="02020603050405020304" pitchFamily="18" charset="0"/>
            </a:endParaRPr>
          </a:p>
          <a:p>
            <a:pPr marL="801688" indent="-801688" eaLnBrk="1" hangingPunct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  <a:defRPr/>
            </a:pPr>
            <a:endParaRPr lang="nl-BE" altLang="nl-BE" sz="3200" i="1" baseline="0" dirty="0">
              <a:latin typeface="Symbol" panose="05050102010706020507" pitchFamily="18" charset="2"/>
            </a:endParaRPr>
          </a:p>
          <a:p>
            <a:pPr marL="801688" indent="-801688" eaLnBrk="1" hangingPunct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  <a:defRPr/>
            </a:pPr>
            <a:r>
              <a:rPr lang="nl-BE" altLang="nl-BE" sz="3200" i="1" baseline="0" dirty="0">
                <a:latin typeface="Symbol" panose="05050102010706020507" pitchFamily="18" charset="2"/>
              </a:rPr>
              <a:t>e</a:t>
            </a:r>
            <a:r>
              <a:rPr lang="nl-BE" altLang="nl-BE" sz="3200" i="1" baseline="-25000" dirty="0">
                <a:latin typeface="Times New Roman" panose="02020603050405020304" pitchFamily="18" charset="0"/>
              </a:rPr>
              <a:t>i</a:t>
            </a:r>
            <a:r>
              <a:rPr lang="nl-BE" altLang="nl-BE" sz="3200" baseline="0" dirty="0">
                <a:latin typeface="Times New Roman" panose="02020603050405020304" pitchFamily="18" charset="0"/>
              </a:rPr>
              <a:t>  </a:t>
            </a:r>
            <a:r>
              <a:rPr lang="nl-BE" altLang="nl-BE" sz="3200" i="1" baseline="0" dirty="0">
                <a:latin typeface="Times New Roman" panose="02020603050405020304" pitchFamily="18" charset="0"/>
              </a:rPr>
              <a:t>= </a:t>
            </a:r>
            <a:r>
              <a:rPr lang="nl-BE" altLang="nl-BE" sz="3200" baseline="0" dirty="0">
                <a:latin typeface="Times New Roman" panose="02020603050405020304" pitchFamily="18" charset="0"/>
              </a:rPr>
              <a:t>error (ruis, predictiefout,…)</a:t>
            </a:r>
            <a:endParaRPr lang="en-GB" altLang="nl-BE" sz="3200" baseline="0" dirty="0"/>
          </a:p>
        </p:txBody>
      </p:sp>
      <p:sp>
        <p:nvSpPr>
          <p:cNvPr id="98" name="Rechthoek 97">
            <a:extLst>
              <a:ext uri="{FF2B5EF4-FFF2-40B4-BE49-F238E27FC236}">
                <a16:creationId xmlns:a16="http://schemas.microsoft.com/office/drawing/2014/main" id="{EF76734B-0F1D-5040-82D7-48A68554A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8094" y="2938659"/>
            <a:ext cx="2830512" cy="1030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5400" baseline="0" dirty="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99" name="Rechthoek 98">
            <a:extLst>
              <a:ext uri="{FF2B5EF4-FFF2-40B4-BE49-F238E27FC236}">
                <a16:creationId xmlns:a16="http://schemas.microsoft.com/office/drawing/2014/main" id="{E08B0F8D-324E-E641-855C-AC7C2D1F2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8094" y="4134047"/>
            <a:ext cx="2830512" cy="1223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5400" baseline="0">
                <a:latin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687145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088A85-55A4-CA40-8BFC-28878BF16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Terug naar ons voorbeeld…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583415B-B5A7-8341-A266-4227176D1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38</a:t>
            </a:fld>
            <a:endParaRPr lang="nl-BE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B7AA73D-A1EE-394A-9535-246BA75DB4E4}"/>
              </a:ext>
            </a:extLst>
          </p:cNvPr>
          <p:cNvSpPr txBox="1"/>
          <p:nvPr/>
        </p:nvSpPr>
        <p:spPr>
          <a:xfrm>
            <a:off x="9261117" y="1716650"/>
            <a:ext cx="3474720" cy="11113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2800" b="1" dirty="0">
                <a:latin typeface="+mn-lt"/>
              </a:rPr>
              <a:t>Passende lijn?</a:t>
            </a:r>
            <a:endParaRPr lang="nl-BE" sz="2800" b="1" dirty="0">
              <a:solidFill>
                <a:schemeClr val="bg1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6203036C-CB6A-1A4F-9AB9-C2DC449801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691"/>
          <a:stretch/>
        </p:blipFill>
        <p:spPr>
          <a:xfrm>
            <a:off x="159547" y="1716650"/>
            <a:ext cx="8692270" cy="377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39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ED9323-4574-2F46-84C7-F1104620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Welke functie past het best?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B92C5B1-602B-3D47-A4A7-3CDF78B488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39</a:t>
            </a:fld>
            <a:endParaRPr lang="nl-BE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69350E0B-CA71-734E-A40C-123653C0C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6592" y="1793820"/>
            <a:ext cx="2881312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393700">
              <a:spcBef>
                <a:spcPct val="20000"/>
              </a:spcBef>
              <a:buChar char="•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393700">
              <a:spcBef>
                <a:spcPct val="20000"/>
              </a:spcBef>
              <a:buChar char="-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393700">
              <a:spcBef>
                <a:spcPct val="20000"/>
              </a:spcBef>
              <a:buChar char="•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393700">
              <a:spcBef>
                <a:spcPct val="20000"/>
              </a:spcBef>
              <a:buChar char="-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393700">
              <a:spcBef>
                <a:spcPct val="20000"/>
              </a:spcBef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accent2"/>
              </a:buClr>
              <a:buSzPct val="105000"/>
              <a:buFontTx/>
              <a:buNone/>
            </a:pPr>
            <a:r>
              <a:rPr lang="en-GB" altLang="nl-BE" sz="2000" b="1" baseline="0" dirty="0" err="1">
                <a:solidFill>
                  <a:schemeClr val="tx2"/>
                </a:solidFill>
              </a:rPr>
              <a:t>Algemeen</a:t>
            </a:r>
            <a:r>
              <a:rPr lang="en-GB" altLang="nl-BE" sz="2000" b="1" baseline="0" dirty="0">
                <a:solidFill>
                  <a:schemeClr val="tx2"/>
                </a:solidFill>
              </a:rPr>
              <a:t> </a:t>
            </a:r>
            <a:r>
              <a:rPr lang="en-GB" altLang="nl-BE" sz="2000" b="1" baseline="0" dirty="0" err="1">
                <a:solidFill>
                  <a:schemeClr val="tx2"/>
                </a:solidFill>
              </a:rPr>
              <a:t>principe</a:t>
            </a:r>
            <a:r>
              <a:rPr lang="en-GB" altLang="nl-BE" sz="2000" b="1" baseline="0" dirty="0">
                <a:solidFill>
                  <a:schemeClr val="tx2"/>
                </a:solidFill>
              </a:rPr>
              <a:t>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accent2"/>
              </a:buClr>
              <a:buSzPct val="105000"/>
              <a:buFontTx/>
              <a:buNone/>
            </a:pPr>
            <a:r>
              <a:rPr lang="en-GB" altLang="nl-BE" sz="2000" baseline="0" dirty="0" err="1">
                <a:solidFill>
                  <a:schemeClr val="tx2"/>
                </a:solidFill>
              </a:rPr>
              <a:t>Beste</a:t>
            </a:r>
            <a:r>
              <a:rPr lang="en-GB" altLang="nl-BE" sz="2000" baseline="0" dirty="0">
                <a:solidFill>
                  <a:schemeClr val="tx2"/>
                </a:solidFill>
              </a:rPr>
              <a:t> </a:t>
            </a:r>
            <a:r>
              <a:rPr lang="en-GB" altLang="nl-BE" sz="2000" baseline="0" dirty="0" err="1">
                <a:solidFill>
                  <a:schemeClr val="tx2"/>
                </a:solidFill>
              </a:rPr>
              <a:t>functie</a:t>
            </a:r>
            <a:r>
              <a:rPr lang="en-GB" altLang="nl-BE" sz="2000" baseline="0" dirty="0">
                <a:solidFill>
                  <a:schemeClr val="tx2"/>
                </a:solidFill>
              </a:rPr>
              <a:t> = </a:t>
            </a:r>
            <a:r>
              <a:rPr lang="en-GB" altLang="nl-BE" sz="2000" baseline="0" dirty="0" err="1">
                <a:solidFill>
                  <a:schemeClr val="tx2"/>
                </a:solidFill>
              </a:rPr>
              <a:t>minste</a:t>
            </a:r>
            <a:r>
              <a:rPr lang="en-GB" altLang="nl-BE" sz="2000" baseline="0" dirty="0">
                <a:solidFill>
                  <a:schemeClr val="tx2"/>
                </a:solidFill>
              </a:rPr>
              <a:t> </a:t>
            </a:r>
            <a:r>
              <a:rPr lang="en-GB" altLang="nl-BE" sz="2000" baseline="0" dirty="0" err="1">
                <a:solidFill>
                  <a:schemeClr val="tx2"/>
                </a:solidFill>
              </a:rPr>
              <a:t>predictiefouten</a:t>
            </a:r>
            <a:endParaRPr lang="en-GB" altLang="nl-BE" sz="2000" baseline="0" dirty="0">
              <a:solidFill>
                <a:schemeClr val="tx2"/>
              </a:solidFill>
            </a:endParaRP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B52CC618-ED01-2549-8867-0CBABB8F8D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168"/>
          <a:stretch/>
        </p:blipFill>
        <p:spPr>
          <a:xfrm>
            <a:off x="600029" y="1756160"/>
            <a:ext cx="8056563" cy="3518027"/>
          </a:xfrm>
          <a:prstGeom prst="rect">
            <a:avLst/>
          </a:prstGeom>
        </p:spPr>
      </p:pic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1A59B44B-FD65-7E4D-8D2D-7F780C4683DC}"/>
              </a:ext>
            </a:extLst>
          </p:cNvPr>
          <p:cNvCxnSpPr>
            <a:cxnSpLocks/>
          </p:cNvCxnSpPr>
          <p:nvPr/>
        </p:nvCxnSpPr>
        <p:spPr>
          <a:xfrm flipV="1">
            <a:off x="5303514" y="2855741"/>
            <a:ext cx="0" cy="474785"/>
          </a:xfrm>
          <a:prstGeom prst="line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24370216-52AA-2C4D-96C3-C2C73AED420C}"/>
              </a:ext>
            </a:extLst>
          </p:cNvPr>
          <p:cNvCxnSpPr>
            <a:cxnSpLocks/>
          </p:cNvCxnSpPr>
          <p:nvPr/>
        </p:nvCxnSpPr>
        <p:spPr>
          <a:xfrm flipV="1">
            <a:off x="1629504" y="3854548"/>
            <a:ext cx="0" cy="334126"/>
          </a:xfrm>
          <a:prstGeom prst="line">
            <a:avLst/>
          </a:prstGeom>
          <a:ln w="28575">
            <a:solidFill>
              <a:srgbClr val="FF0000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BCF3444A-2BAD-974D-BDE4-0AC9A2FFC94D}"/>
              </a:ext>
            </a:extLst>
          </p:cNvPr>
          <p:cNvCxnSpPr>
            <a:cxnSpLocks/>
          </p:cNvCxnSpPr>
          <p:nvPr/>
        </p:nvCxnSpPr>
        <p:spPr>
          <a:xfrm flipV="1">
            <a:off x="3036268" y="2811191"/>
            <a:ext cx="0" cy="645945"/>
          </a:xfrm>
          <a:prstGeom prst="line">
            <a:avLst/>
          </a:prstGeom>
          <a:ln w="28575">
            <a:solidFill>
              <a:schemeClr val="accent6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61CAE569-7593-974C-86B7-AC5EFCB40E1D}"/>
              </a:ext>
            </a:extLst>
          </p:cNvPr>
          <p:cNvCxnSpPr>
            <a:cxnSpLocks/>
          </p:cNvCxnSpPr>
          <p:nvPr/>
        </p:nvCxnSpPr>
        <p:spPr>
          <a:xfrm flipV="1">
            <a:off x="7144037" y="1995268"/>
            <a:ext cx="0" cy="339969"/>
          </a:xfrm>
          <a:prstGeom prst="line">
            <a:avLst/>
          </a:prstGeom>
          <a:ln w="28575">
            <a:solidFill>
              <a:schemeClr val="accent6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>
            <a:extLst>
              <a:ext uri="{FF2B5EF4-FFF2-40B4-BE49-F238E27FC236}">
                <a16:creationId xmlns:a16="http://schemas.microsoft.com/office/drawing/2014/main" id="{6BD51E2F-26D8-2841-8895-D142FF3D16D7}"/>
              </a:ext>
            </a:extLst>
          </p:cNvPr>
          <p:cNvSpPr txBox="1"/>
          <p:nvPr/>
        </p:nvSpPr>
        <p:spPr>
          <a:xfrm>
            <a:off x="1693107" y="3855183"/>
            <a:ext cx="1678525" cy="352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altLang="nl-BE" i="1" dirty="0">
                <a:solidFill>
                  <a:srgbClr val="FF0000"/>
                </a:solidFill>
                <a:latin typeface="Symbol" pitchFamily="2" charset="2"/>
              </a:rPr>
              <a:t>e</a:t>
            </a:r>
            <a:r>
              <a:rPr lang="nl-BE" altLang="nl-BE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  <a:r>
              <a:rPr lang="nl-BE" altLang="nl-BE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= -1,69</a:t>
            </a:r>
            <a:r>
              <a:rPr lang="nl-BE" altLang="nl-BE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nl-BE" altLang="nl-BE" sz="2400" i="1" dirty="0">
                <a:latin typeface="Times New Roman" panose="02020603050405020304" pitchFamily="18" charset="0"/>
              </a:rPr>
              <a:t>  </a:t>
            </a:r>
            <a:endParaRPr lang="nl-BE" sz="24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E7E7CCA2-1C27-6640-9C02-BB05CE9AF8ED}"/>
              </a:ext>
            </a:extLst>
          </p:cNvPr>
          <p:cNvSpPr txBox="1"/>
          <p:nvPr/>
        </p:nvSpPr>
        <p:spPr>
          <a:xfrm>
            <a:off x="1357743" y="5216702"/>
            <a:ext cx="2862562" cy="352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altLang="nl-BE" sz="2000" baseline="30000" dirty="0">
                <a:solidFill>
                  <a:srgbClr val="FF0000"/>
                </a:solidFill>
                <a:latin typeface="+mj-lt"/>
              </a:rPr>
              <a:t>*</a:t>
            </a:r>
            <a:r>
              <a:rPr lang="nl-BE" altLang="nl-BE" sz="2000" dirty="0">
                <a:solidFill>
                  <a:srgbClr val="FF0000"/>
                </a:solidFill>
                <a:latin typeface="+mj-lt"/>
              </a:rPr>
              <a:t>behaalde 5 i.p.v. 6,69 (</a:t>
            </a:r>
            <a:r>
              <a:rPr lang="nl-BE" altLang="nl-BE" sz="2000" i="1" dirty="0">
                <a:solidFill>
                  <a:srgbClr val="FF0000"/>
                </a:solidFill>
                <a:latin typeface="Symbol" pitchFamily="2" charset="2"/>
              </a:rPr>
              <a:t>e</a:t>
            </a:r>
            <a:r>
              <a:rPr lang="nl-BE" altLang="nl-BE" sz="2000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nl-BE" altLang="nl-BE" sz="2000" dirty="0">
                <a:solidFill>
                  <a:srgbClr val="FF0000"/>
                </a:solidFill>
                <a:latin typeface="+mj-lt"/>
              </a:rPr>
              <a:t>)</a:t>
            </a:r>
            <a:endParaRPr lang="nl-BE" sz="2000" b="1" dirty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BF94496F-D8C8-0343-8BEF-38CFFB56E344}"/>
              </a:ext>
            </a:extLst>
          </p:cNvPr>
          <p:cNvSpPr txBox="1"/>
          <p:nvPr/>
        </p:nvSpPr>
        <p:spPr>
          <a:xfrm>
            <a:off x="1287403" y="5582462"/>
            <a:ext cx="2862562" cy="352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altLang="nl-BE" sz="2000" baseline="30000" dirty="0">
                <a:solidFill>
                  <a:srgbClr val="FF0000"/>
                </a:solidFill>
                <a:latin typeface="+mj-lt"/>
              </a:rPr>
              <a:t>**</a:t>
            </a:r>
            <a:r>
              <a:rPr lang="nl-BE" altLang="nl-BE" sz="2000" dirty="0">
                <a:solidFill>
                  <a:srgbClr val="FF0000"/>
                </a:solidFill>
                <a:latin typeface="+mj-lt"/>
              </a:rPr>
              <a:t>behaalde 9 i.p.v. 11,62 (</a:t>
            </a:r>
            <a:r>
              <a:rPr lang="nl-BE" altLang="nl-BE" sz="2000" i="1" dirty="0">
                <a:solidFill>
                  <a:srgbClr val="FF0000"/>
                </a:solidFill>
                <a:latin typeface="Symbol" pitchFamily="2" charset="2"/>
              </a:rPr>
              <a:t>e</a:t>
            </a:r>
            <a:r>
              <a:rPr lang="nl-BE" altLang="nl-BE" sz="2000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nl-BE" altLang="nl-BE" sz="2000" dirty="0">
                <a:solidFill>
                  <a:srgbClr val="FF0000"/>
                </a:solidFill>
                <a:latin typeface="+mj-lt"/>
              </a:rPr>
              <a:t>)</a:t>
            </a:r>
            <a:endParaRPr lang="nl-BE" sz="2000" b="1" dirty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76459585-1137-8F43-A879-386B43A03CE2}"/>
              </a:ext>
            </a:extLst>
          </p:cNvPr>
          <p:cNvSpPr txBox="1"/>
          <p:nvPr/>
        </p:nvSpPr>
        <p:spPr>
          <a:xfrm>
            <a:off x="5394243" y="3162283"/>
            <a:ext cx="1678525" cy="352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altLang="nl-BE" i="1" dirty="0">
                <a:solidFill>
                  <a:srgbClr val="FF0000"/>
                </a:solidFill>
                <a:latin typeface="Symbol" pitchFamily="2" charset="2"/>
              </a:rPr>
              <a:t>e</a:t>
            </a:r>
            <a:r>
              <a:rPr lang="nl-BE" altLang="nl-BE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 </a:t>
            </a:r>
            <a:r>
              <a:rPr lang="nl-BE" altLang="nl-BE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= -2,62</a:t>
            </a:r>
            <a:r>
              <a:rPr lang="nl-BE" altLang="nl-BE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**</a:t>
            </a:r>
            <a:r>
              <a:rPr lang="nl-BE" altLang="nl-BE" sz="2400" i="1" dirty="0">
                <a:latin typeface="Times New Roman" panose="02020603050405020304" pitchFamily="18" charset="0"/>
              </a:rPr>
              <a:t>  </a:t>
            </a:r>
            <a:endParaRPr lang="nl-BE" sz="24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06FEAD20-3EBE-0449-A8B2-CFB2F5CFFE5C}"/>
              </a:ext>
            </a:extLst>
          </p:cNvPr>
          <p:cNvSpPr txBox="1"/>
          <p:nvPr/>
        </p:nvSpPr>
        <p:spPr>
          <a:xfrm>
            <a:off x="2774956" y="2286475"/>
            <a:ext cx="1678525" cy="35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r>
              <a:rPr lang="nl-BE" altLang="nl-BE" i="1" dirty="0">
                <a:solidFill>
                  <a:schemeClr val="accent6"/>
                </a:solidFill>
                <a:latin typeface="Symbol" pitchFamily="2" charset="2"/>
              </a:rPr>
              <a:t>e</a:t>
            </a:r>
            <a:r>
              <a:rPr lang="nl-BE" altLang="nl-BE" i="1" baseline="-25000" dirty="0">
                <a:solidFill>
                  <a:schemeClr val="accent6"/>
                </a:solidFill>
                <a:latin typeface="Times New Roman" panose="02020603050405020304" pitchFamily="18" charset="0"/>
              </a:rPr>
              <a:t>3 </a:t>
            </a:r>
            <a:r>
              <a:rPr lang="nl-BE" altLang="nl-BE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= 3,42</a:t>
            </a:r>
            <a:r>
              <a:rPr lang="nl-BE" altLang="nl-BE" i="1" baseline="30000" dirty="0">
                <a:solidFill>
                  <a:schemeClr val="accent6"/>
                </a:solidFill>
                <a:latin typeface="Times New Roman" panose="02020603050405020304" pitchFamily="18" charset="0"/>
              </a:rPr>
              <a:t>°</a:t>
            </a:r>
            <a:r>
              <a:rPr lang="nl-BE" altLang="nl-BE" sz="2400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 </a:t>
            </a:r>
            <a:endParaRPr lang="nl-BE" sz="2400" b="1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314FD1F7-B7A2-6641-A7B1-D72FEA571C4C}"/>
              </a:ext>
            </a:extLst>
          </p:cNvPr>
          <p:cNvSpPr txBox="1"/>
          <p:nvPr/>
        </p:nvSpPr>
        <p:spPr>
          <a:xfrm>
            <a:off x="4619106" y="5214355"/>
            <a:ext cx="2862562" cy="352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altLang="nl-BE" sz="2000" baseline="30000" dirty="0">
                <a:solidFill>
                  <a:schemeClr val="accent6"/>
                </a:solidFill>
                <a:latin typeface="+mj-lt"/>
              </a:rPr>
              <a:t>°</a:t>
            </a:r>
            <a:r>
              <a:rPr lang="nl-BE" altLang="nl-BE" sz="2000" dirty="0">
                <a:solidFill>
                  <a:schemeClr val="accent6"/>
                </a:solidFill>
                <a:latin typeface="+mj-lt"/>
              </a:rPr>
              <a:t>behaalde 12 i.p.v. 8,58 (</a:t>
            </a:r>
            <a:r>
              <a:rPr lang="nl-BE" altLang="nl-BE" sz="2000" i="1" dirty="0">
                <a:solidFill>
                  <a:schemeClr val="accent6"/>
                </a:solidFill>
                <a:latin typeface="Symbol" pitchFamily="2" charset="2"/>
              </a:rPr>
              <a:t>e</a:t>
            </a:r>
            <a:r>
              <a:rPr lang="nl-BE" altLang="nl-BE" sz="2000" i="1" baseline="-25000" dirty="0">
                <a:solidFill>
                  <a:schemeClr val="accent6"/>
                </a:solidFill>
                <a:latin typeface="Times New Roman" panose="02020603050405020304" pitchFamily="18" charset="0"/>
              </a:rPr>
              <a:t>3</a:t>
            </a:r>
            <a:r>
              <a:rPr lang="nl-BE" altLang="nl-BE" sz="2000" dirty="0">
                <a:solidFill>
                  <a:schemeClr val="accent6"/>
                </a:solidFill>
                <a:latin typeface="+mj-lt"/>
              </a:rPr>
              <a:t>)</a:t>
            </a:r>
            <a:endParaRPr lang="nl-BE" sz="2000" b="1" dirty="0">
              <a:solidFill>
                <a:schemeClr val="accent6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6FB03411-2085-1846-BB82-167958677744}"/>
              </a:ext>
            </a:extLst>
          </p:cNvPr>
          <p:cNvSpPr txBox="1"/>
          <p:nvPr/>
        </p:nvSpPr>
        <p:spPr>
          <a:xfrm>
            <a:off x="6642405" y="1546279"/>
            <a:ext cx="1678525" cy="35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r>
              <a:rPr lang="nl-BE" altLang="nl-BE" i="1" dirty="0">
                <a:solidFill>
                  <a:schemeClr val="accent6"/>
                </a:solidFill>
                <a:latin typeface="Symbol" pitchFamily="2" charset="2"/>
              </a:rPr>
              <a:t>e</a:t>
            </a:r>
            <a:r>
              <a:rPr lang="nl-BE" altLang="nl-BE" i="1" baseline="-25000" dirty="0">
                <a:solidFill>
                  <a:schemeClr val="accent6"/>
                </a:solidFill>
                <a:latin typeface="Times New Roman" panose="02020603050405020304" pitchFamily="18" charset="0"/>
              </a:rPr>
              <a:t>4 </a:t>
            </a:r>
            <a:r>
              <a:rPr lang="nl-BE" altLang="nl-BE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= 1,92</a:t>
            </a:r>
            <a:r>
              <a:rPr lang="nl-BE" altLang="nl-BE" i="1" baseline="30000" dirty="0">
                <a:solidFill>
                  <a:schemeClr val="accent6"/>
                </a:solidFill>
                <a:latin typeface="Times New Roman" panose="02020603050405020304" pitchFamily="18" charset="0"/>
              </a:rPr>
              <a:t>°°</a:t>
            </a:r>
            <a:r>
              <a:rPr lang="nl-BE" altLang="nl-BE" sz="2400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 </a:t>
            </a:r>
            <a:endParaRPr lang="nl-BE" sz="2400" b="1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3442A3D9-7872-2E44-A95A-69247C272FBE}"/>
              </a:ext>
            </a:extLst>
          </p:cNvPr>
          <p:cNvSpPr txBox="1"/>
          <p:nvPr/>
        </p:nvSpPr>
        <p:spPr>
          <a:xfrm>
            <a:off x="4562833" y="5582462"/>
            <a:ext cx="3075924" cy="352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altLang="nl-BE" sz="2000" baseline="30000" dirty="0">
                <a:solidFill>
                  <a:schemeClr val="accent6"/>
                </a:solidFill>
                <a:latin typeface="+mj-lt"/>
              </a:rPr>
              <a:t>°°</a:t>
            </a:r>
            <a:r>
              <a:rPr lang="nl-BE" altLang="nl-BE" sz="2000" dirty="0">
                <a:solidFill>
                  <a:schemeClr val="accent6"/>
                </a:solidFill>
                <a:latin typeface="+mj-lt"/>
              </a:rPr>
              <a:t>behaalde 16 i.p.v. 14,08 (</a:t>
            </a:r>
            <a:r>
              <a:rPr lang="nl-BE" altLang="nl-BE" sz="2000" i="1" dirty="0">
                <a:solidFill>
                  <a:schemeClr val="accent6"/>
                </a:solidFill>
                <a:latin typeface="Symbol" pitchFamily="2" charset="2"/>
              </a:rPr>
              <a:t>e</a:t>
            </a:r>
            <a:r>
              <a:rPr lang="nl-BE" altLang="nl-BE" sz="2000" i="1" baseline="-25000" dirty="0">
                <a:solidFill>
                  <a:schemeClr val="accent6"/>
                </a:solidFill>
                <a:latin typeface="Times New Roman" panose="02020603050405020304" pitchFamily="18" charset="0"/>
              </a:rPr>
              <a:t>4</a:t>
            </a:r>
            <a:r>
              <a:rPr lang="nl-BE" altLang="nl-BE" sz="2000" dirty="0">
                <a:solidFill>
                  <a:schemeClr val="accent6"/>
                </a:solidFill>
                <a:latin typeface="+mj-lt"/>
              </a:rPr>
              <a:t>)</a:t>
            </a:r>
            <a:endParaRPr lang="nl-BE" sz="2000" b="1" dirty="0">
              <a:solidFill>
                <a:schemeClr val="accent6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E00B92EA-5B29-1E41-879B-17643E25CD44}"/>
              </a:ext>
            </a:extLst>
          </p:cNvPr>
          <p:cNvSpPr/>
          <p:nvPr/>
        </p:nvSpPr>
        <p:spPr bwMode="auto">
          <a:xfrm>
            <a:off x="2588455" y="2286475"/>
            <a:ext cx="1252025" cy="134299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vak 30">
                <a:extLst>
                  <a:ext uri="{FF2B5EF4-FFF2-40B4-BE49-F238E27FC236}">
                    <a16:creationId xmlns:a16="http://schemas.microsoft.com/office/drawing/2014/main" id="{0D7C91F2-4B11-6E41-BD09-8120A545A3AB}"/>
                  </a:ext>
                </a:extLst>
              </p:cNvPr>
              <p:cNvSpPr txBox="1"/>
              <p:nvPr/>
            </p:nvSpPr>
            <p:spPr>
              <a:xfrm>
                <a:off x="1592242" y="2875214"/>
                <a:ext cx="850797" cy="5178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nl-BE" sz="2800" b="1" i="1" dirty="0">
                  <a:solidFill>
                    <a:schemeClr val="tx1"/>
                  </a:solidFill>
                  <a:latin typeface="+mn-lt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1" name="Tekstvak 30">
                <a:extLst>
                  <a:ext uri="{FF2B5EF4-FFF2-40B4-BE49-F238E27FC236}">
                    <a16:creationId xmlns:a16="http://schemas.microsoft.com/office/drawing/2014/main" id="{0D7C91F2-4B11-6E41-BD09-8120A545A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242" y="2875214"/>
                <a:ext cx="850797" cy="517898"/>
              </a:xfrm>
              <a:prstGeom prst="rect">
                <a:avLst/>
              </a:prstGeom>
              <a:blipFill>
                <a:blip r:embed="rId4"/>
                <a:stretch>
                  <a:fillRect t="-1190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Rechte verbindingslijn met pijl 32">
            <a:extLst>
              <a:ext uri="{FF2B5EF4-FFF2-40B4-BE49-F238E27FC236}">
                <a16:creationId xmlns:a16="http://schemas.microsoft.com/office/drawing/2014/main" id="{0C1406BD-BFA4-FA44-AF7E-04D3694EF911}"/>
              </a:ext>
            </a:extLst>
          </p:cNvPr>
          <p:cNvCxnSpPr>
            <a:cxnSpLocks/>
          </p:cNvCxnSpPr>
          <p:nvPr/>
        </p:nvCxnSpPr>
        <p:spPr>
          <a:xfrm>
            <a:off x="2219133" y="3162283"/>
            <a:ext cx="817135" cy="328376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C620D30A-39A4-6F44-8263-AF57506EFE3B}"/>
                  </a:ext>
                </a:extLst>
              </p:cNvPr>
              <p:cNvSpPr txBox="1"/>
              <p:nvPr/>
            </p:nvSpPr>
            <p:spPr>
              <a:xfrm>
                <a:off x="1474277" y="1985508"/>
                <a:ext cx="850797" cy="5178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𝒚</m:t>
                          </m:r>
                        </m:e>
                        <m:sub>
                          <m: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nl-BE" sz="2800" b="1" i="1" dirty="0">
                  <a:solidFill>
                    <a:schemeClr val="tx1"/>
                  </a:solidFill>
                  <a:latin typeface="+mn-lt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C620D30A-39A4-6F44-8263-AF57506EF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277" y="1985508"/>
                <a:ext cx="850797" cy="5178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7010D753-C766-0743-A317-3E8D870B7ABA}"/>
              </a:ext>
            </a:extLst>
          </p:cNvPr>
          <p:cNvCxnSpPr>
            <a:cxnSpLocks/>
          </p:cNvCxnSpPr>
          <p:nvPr/>
        </p:nvCxnSpPr>
        <p:spPr>
          <a:xfrm>
            <a:off x="2095038" y="2319565"/>
            <a:ext cx="874786" cy="402626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0358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ED9323-4574-2F46-84C7-F1104620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Welke functie past het best?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B92C5B1-602B-3D47-A4A7-3CDF78B488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40</a:t>
            </a:fld>
            <a:endParaRPr lang="nl-BE" dirty="0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B52CC618-ED01-2549-8867-0CBABB8F8D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168"/>
          <a:stretch/>
        </p:blipFill>
        <p:spPr>
          <a:xfrm>
            <a:off x="600029" y="1756160"/>
            <a:ext cx="8056563" cy="3518027"/>
          </a:xfrm>
          <a:prstGeom prst="rect">
            <a:avLst/>
          </a:prstGeom>
        </p:spPr>
      </p:pic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1A59B44B-FD65-7E4D-8D2D-7F780C4683DC}"/>
              </a:ext>
            </a:extLst>
          </p:cNvPr>
          <p:cNvCxnSpPr>
            <a:cxnSpLocks/>
          </p:cNvCxnSpPr>
          <p:nvPr/>
        </p:nvCxnSpPr>
        <p:spPr>
          <a:xfrm flipV="1">
            <a:off x="5303514" y="2855741"/>
            <a:ext cx="0" cy="474785"/>
          </a:xfrm>
          <a:prstGeom prst="line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24370216-52AA-2C4D-96C3-C2C73AED420C}"/>
              </a:ext>
            </a:extLst>
          </p:cNvPr>
          <p:cNvCxnSpPr>
            <a:cxnSpLocks/>
          </p:cNvCxnSpPr>
          <p:nvPr/>
        </p:nvCxnSpPr>
        <p:spPr>
          <a:xfrm flipV="1">
            <a:off x="1629504" y="3854548"/>
            <a:ext cx="0" cy="334126"/>
          </a:xfrm>
          <a:prstGeom prst="line">
            <a:avLst/>
          </a:prstGeom>
          <a:ln w="28575">
            <a:solidFill>
              <a:srgbClr val="FF0000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BCF3444A-2BAD-974D-BDE4-0AC9A2FFC94D}"/>
              </a:ext>
            </a:extLst>
          </p:cNvPr>
          <p:cNvCxnSpPr>
            <a:cxnSpLocks/>
          </p:cNvCxnSpPr>
          <p:nvPr/>
        </p:nvCxnSpPr>
        <p:spPr>
          <a:xfrm flipV="1">
            <a:off x="3036268" y="2811191"/>
            <a:ext cx="0" cy="645945"/>
          </a:xfrm>
          <a:prstGeom prst="line">
            <a:avLst/>
          </a:prstGeom>
          <a:ln w="28575">
            <a:solidFill>
              <a:schemeClr val="accent6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61CAE569-7593-974C-86B7-AC5EFCB40E1D}"/>
              </a:ext>
            </a:extLst>
          </p:cNvPr>
          <p:cNvCxnSpPr>
            <a:cxnSpLocks/>
          </p:cNvCxnSpPr>
          <p:nvPr/>
        </p:nvCxnSpPr>
        <p:spPr>
          <a:xfrm flipV="1">
            <a:off x="7144037" y="1995268"/>
            <a:ext cx="0" cy="339969"/>
          </a:xfrm>
          <a:prstGeom prst="line">
            <a:avLst/>
          </a:prstGeom>
          <a:ln w="28575">
            <a:solidFill>
              <a:schemeClr val="accent6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>
            <a:extLst>
              <a:ext uri="{FF2B5EF4-FFF2-40B4-BE49-F238E27FC236}">
                <a16:creationId xmlns:a16="http://schemas.microsoft.com/office/drawing/2014/main" id="{6BD51E2F-26D8-2841-8895-D142FF3D16D7}"/>
              </a:ext>
            </a:extLst>
          </p:cNvPr>
          <p:cNvSpPr txBox="1"/>
          <p:nvPr/>
        </p:nvSpPr>
        <p:spPr>
          <a:xfrm>
            <a:off x="1693107" y="3855183"/>
            <a:ext cx="1678525" cy="352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altLang="nl-BE" i="1" dirty="0">
                <a:solidFill>
                  <a:srgbClr val="FF0000"/>
                </a:solidFill>
                <a:latin typeface="Symbol" pitchFamily="2" charset="2"/>
              </a:rPr>
              <a:t>e</a:t>
            </a:r>
            <a:r>
              <a:rPr lang="nl-BE" altLang="nl-BE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  <a:r>
              <a:rPr lang="nl-BE" altLang="nl-BE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= -1,69</a:t>
            </a:r>
            <a:r>
              <a:rPr lang="nl-BE" altLang="nl-BE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nl-BE" altLang="nl-BE" sz="2400" i="1" dirty="0">
                <a:latin typeface="Times New Roman" panose="02020603050405020304" pitchFamily="18" charset="0"/>
              </a:rPr>
              <a:t>  </a:t>
            </a:r>
            <a:endParaRPr lang="nl-BE" sz="24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76459585-1137-8F43-A879-386B43A03CE2}"/>
              </a:ext>
            </a:extLst>
          </p:cNvPr>
          <p:cNvSpPr txBox="1"/>
          <p:nvPr/>
        </p:nvSpPr>
        <p:spPr>
          <a:xfrm>
            <a:off x="5394243" y="3162283"/>
            <a:ext cx="1678525" cy="352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altLang="nl-BE" i="1" dirty="0">
                <a:solidFill>
                  <a:srgbClr val="FF0000"/>
                </a:solidFill>
                <a:latin typeface="Symbol" pitchFamily="2" charset="2"/>
              </a:rPr>
              <a:t>e</a:t>
            </a:r>
            <a:r>
              <a:rPr lang="nl-BE" altLang="nl-BE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 </a:t>
            </a:r>
            <a:r>
              <a:rPr lang="nl-BE" altLang="nl-BE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= -2,62</a:t>
            </a:r>
            <a:r>
              <a:rPr lang="nl-BE" altLang="nl-BE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**</a:t>
            </a:r>
            <a:r>
              <a:rPr lang="nl-BE" altLang="nl-BE" sz="2400" i="1" dirty="0">
                <a:latin typeface="Times New Roman" panose="02020603050405020304" pitchFamily="18" charset="0"/>
              </a:rPr>
              <a:t>  </a:t>
            </a:r>
            <a:endParaRPr lang="nl-BE" sz="24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06FEAD20-3EBE-0449-A8B2-CFB2F5CFFE5C}"/>
              </a:ext>
            </a:extLst>
          </p:cNvPr>
          <p:cNvSpPr txBox="1"/>
          <p:nvPr/>
        </p:nvSpPr>
        <p:spPr>
          <a:xfrm>
            <a:off x="2774956" y="2286475"/>
            <a:ext cx="1678525" cy="35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r>
              <a:rPr lang="nl-BE" altLang="nl-BE" i="1" dirty="0">
                <a:solidFill>
                  <a:schemeClr val="accent6"/>
                </a:solidFill>
                <a:latin typeface="Symbol" pitchFamily="2" charset="2"/>
              </a:rPr>
              <a:t>e</a:t>
            </a:r>
            <a:r>
              <a:rPr lang="nl-BE" altLang="nl-BE" i="1" baseline="-25000" dirty="0">
                <a:solidFill>
                  <a:schemeClr val="accent6"/>
                </a:solidFill>
                <a:latin typeface="Times New Roman" panose="02020603050405020304" pitchFamily="18" charset="0"/>
              </a:rPr>
              <a:t>3 </a:t>
            </a:r>
            <a:r>
              <a:rPr lang="nl-BE" altLang="nl-BE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= 3,42</a:t>
            </a:r>
            <a:r>
              <a:rPr lang="nl-BE" altLang="nl-BE" i="1" baseline="30000" dirty="0">
                <a:solidFill>
                  <a:schemeClr val="accent6"/>
                </a:solidFill>
                <a:latin typeface="Times New Roman" panose="02020603050405020304" pitchFamily="18" charset="0"/>
              </a:rPr>
              <a:t>°</a:t>
            </a:r>
            <a:r>
              <a:rPr lang="nl-BE" altLang="nl-BE" sz="2400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 </a:t>
            </a:r>
            <a:endParaRPr lang="nl-BE" sz="2400" b="1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6FB03411-2085-1846-BB82-167958677744}"/>
              </a:ext>
            </a:extLst>
          </p:cNvPr>
          <p:cNvSpPr txBox="1"/>
          <p:nvPr/>
        </p:nvSpPr>
        <p:spPr>
          <a:xfrm>
            <a:off x="6642405" y="1546279"/>
            <a:ext cx="1678525" cy="35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r>
              <a:rPr lang="nl-BE" altLang="nl-BE" i="1" dirty="0">
                <a:solidFill>
                  <a:schemeClr val="accent6"/>
                </a:solidFill>
                <a:latin typeface="Symbol" pitchFamily="2" charset="2"/>
              </a:rPr>
              <a:t>e</a:t>
            </a:r>
            <a:r>
              <a:rPr lang="nl-BE" altLang="nl-BE" i="1" baseline="-25000" dirty="0">
                <a:solidFill>
                  <a:schemeClr val="accent6"/>
                </a:solidFill>
                <a:latin typeface="Times New Roman" panose="02020603050405020304" pitchFamily="18" charset="0"/>
              </a:rPr>
              <a:t>4 </a:t>
            </a:r>
            <a:r>
              <a:rPr lang="nl-BE" altLang="nl-BE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= 1,92</a:t>
            </a:r>
            <a:r>
              <a:rPr lang="nl-BE" altLang="nl-BE" i="1" baseline="30000" dirty="0">
                <a:solidFill>
                  <a:schemeClr val="accent6"/>
                </a:solidFill>
                <a:latin typeface="Times New Roman" panose="02020603050405020304" pitchFamily="18" charset="0"/>
              </a:rPr>
              <a:t>°°</a:t>
            </a:r>
            <a:r>
              <a:rPr lang="nl-BE" altLang="nl-BE" sz="2400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 </a:t>
            </a:r>
            <a:endParaRPr lang="nl-BE" sz="2400" b="1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E00B92EA-5B29-1E41-879B-17643E25CD44}"/>
              </a:ext>
            </a:extLst>
          </p:cNvPr>
          <p:cNvSpPr/>
          <p:nvPr/>
        </p:nvSpPr>
        <p:spPr bwMode="auto">
          <a:xfrm>
            <a:off x="2588455" y="2286475"/>
            <a:ext cx="1252025" cy="134299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vak 30">
                <a:extLst>
                  <a:ext uri="{FF2B5EF4-FFF2-40B4-BE49-F238E27FC236}">
                    <a16:creationId xmlns:a16="http://schemas.microsoft.com/office/drawing/2014/main" id="{0D7C91F2-4B11-6E41-BD09-8120A545A3AB}"/>
                  </a:ext>
                </a:extLst>
              </p:cNvPr>
              <p:cNvSpPr txBox="1"/>
              <p:nvPr/>
            </p:nvSpPr>
            <p:spPr>
              <a:xfrm>
                <a:off x="1592242" y="2875214"/>
                <a:ext cx="850797" cy="5178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nl-BE" sz="2800" b="1" i="1" dirty="0">
                  <a:solidFill>
                    <a:schemeClr val="tx1"/>
                  </a:solidFill>
                  <a:latin typeface="+mn-lt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1" name="Tekstvak 30">
                <a:extLst>
                  <a:ext uri="{FF2B5EF4-FFF2-40B4-BE49-F238E27FC236}">
                    <a16:creationId xmlns:a16="http://schemas.microsoft.com/office/drawing/2014/main" id="{0D7C91F2-4B11-6E41-BD09-8120A545A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242" y="2875214"/>
                <a:ext cx="850797" cy="517898"/>
              </a:xfrm>
              <a:prstGeom prst="rect">
                <a:avLst/>
              </a:prstGeom>
              <a:blipFill>
                <a:blip r:embed="rId4"/>
                <a:stretch>
                  <a:fillRect t="-14118" r="-2785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Rechte verbindingslijn met pijl 32">
            <a:extLst>
              <a:ext uri="{FF2B5EF4-FFF2-40B4-BE49-F238E27FC236}">
                <a16:creationId xmlns:a16="http://schemas.microsoft.com/office/drawing/2014/main" id="{0C1406BD-BFA4-FA44-AF7E-04D3694EF911}"/>
              </a:ext>
            </a:extLst>
          </p:cNvPr>
          <p:cNvCxnSpPr>
            <a:cxnSpLocks/>
          </p:cNvCxnSpPr>
          <p:nvPr/>
        </p:nvCxnSpPr>
        <p:spPr>
          <a:xfrm>
            <a:off x="2219133" y="3162283"/>
            <a:ext cx="817135" cy="328376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C620D30A-39A4-6F44-8263-AF57506EFE3B}"/>
                  </a:ext>
                </a:extLst>
              </p:cNvPr>
              <p:cNvSpPr txBox="1"/>
              <p:nvPr/>
            </p:nvSpPr>
            <p:spPr>
              <a:xfrm>
                <a:off x="1474277" y="1985508"/>
                <a:ext cx="850797" cy="5178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𝒚</m:t>
                          </m:r>
                        </m:e>
                        <m:sub>
                          <m: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nl-BE" sz="2800" b="1" i="1" dirty="0">
                  <a:solidFill>
                    <a:schemeClr val="tx1"/>
                  </a:solidFill>
                  <a:latin typeface="+mn-lt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C620D30A-39A4-6F44-8263-AF57506EF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277" y="1985508"/>
                <a:ext cx="850797" cy="5178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7010D753-C766-0743-A317-3E8D870B7ABA}"/>
              </a:ext>
            </a:extLst>
          </p:cNvPr>
          <p:cNvCxnSpPr>
            <a:cxnSpLocks/>
          </p:cNvCxnSpPr>
          <p:nvPr/>
        </p:nvCxnSpPr>
        <p:spPr>
          <a:xfrm>
            <a:off x="2095038" y="2319565"/>
            <a:ext cx="874786" cy="402626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kstvak 3">
            <a:extLst>
              <a:ext uri="{FF2B5EF4-FFF2-40B4-BE49-F238E27FC236}">
                <a16:creationId xmlns:a16="http://schemas.microsoft.com/office/drawing/2014/main" id="{746BC1B0-1531-4A21-B21A-DE1512864F78}"/>
              </a:ext>
            </a:extLst>
          </p:cNvPr>
          <p:cNvSpPr txBox="1"/>
          <p:nvPr/>
        </p:nvSpPr>
        <p:spPr>
          <a:xfrm>
            <a:off x="1371600" y="5274187"/>
            <a:ext cx="9805736" cy="7917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0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SSE </a:t>
            </a:r>
            <a:r>
              <a:rPr lang="nl-BE" sz="20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= </a:t>
            </a:r>
            <a:r>
              <a:rPr lang="nl-BE" sz="2000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</a:t>
            </a:r>
            <a:r>
              <a:rPr lang="nl-BE" sz="20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of Squares of </a:t>
            </a:r>
            <a:r>
              <a:rPr lang="nl-BE" sz="2000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Errors</a:t>
            </a:r>
            <a:r>
              <a:rPr lang="nl-BE" sz="20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algn="l"/>
            <a:r>
              <a:rPr lang="nl-BE" sz="20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= Som van de kwadraten van de predictiefouten</a:t>
            </a:r>
          </a:p>
        </p:txBody>
      </p:sp>
    </p:spTree>
    <p:extLst>
      <p:ext uri="{BB962C8B-B14F-4D97-AF65-F5344CB8AC3E}">
        <p14:creationId xmlns:p14="http://schemas.microsoft.com/office/powerpoint/2010/main" val="24437650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ED9323-4574-2F46-84C7-F1104620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Welke functie past het best?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B92C5B1-602B-3D47-A4A7-3CDF78B488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41</a:t>
            </a:fld>
            <a:endParaRPr lang="nl-BE" dirty="0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B52CC618-ED01-2549-8867-0CBABB8F8D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168"/>
          <a:stretch/>
        </p:blipFill>
        <p:spPr>
          <a:xfrm>
            <a:off x="600029" y="1756160"/>
            <a:ext cx="8056563" cy="3518027"/>
          </a:xfrm>
          <a:prstGeom prst="rect">
            <a:avLst/>
          </a:prstGeom>
        </p:spPr>
      </p:pic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1A59B44B-FD65-7E4D-8D2D-7F780C4683DC}"/>
              </a:ext>
            </a:extLst>
          </p:cNvPr>
          <p:cNvCxnSpPr>
            <a:cxnSpLocks/>
          </p:cNvCxnSpPr>
          <p:nvPr/>
        </p:nvCxnSpPr>
        <p:spPr>
          <a:xfrm flipV="1">
            <a:off x="5303514" y="2855741"/>
            <a:ext cx="0" cy="474785"/>
          </a:xfrm>
          <a:prstGeom prst="line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24370216-52AA-2C4D-96C3-C2C73AED420C}"/>
              </a:ext>
            </a:extLst>
          </p:cNvPr>
          <p:cNvCxnSpPr>
            <a:cxnSpLocks/>
          </p:cNvCxnSpPr>
          <p:nvPr/>
        </p:nvCxnSpPr>
        <p:spPr>
          <a:xfrm flipV="1">
            <a:off x="1629504" y="3854548"/>
            <a:ext cx="0" cy="334126"/>
          </a:xfrm>
          <a:prstGeom prst="line">
            <a:avLst/>
          </a:prstGeom>
          <a:ln w="28575">
            <a:solidFill>
              <a:srgbClr val="FF0000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BCF3444A-2BAD-974D-BDE4-0AC9A2FFC94D}"/>
              </a:ext>
            </a:extLst>
          </p:cNvPr>
          <p:cNvCxnSpPr>
            <a:cxnSpLocks/>
          </p:cNvCxnSpPr>
          <p:nvPr/>
        </p:nvCxnSpPr>
        <p:spPr>
          <a:xfrm flipV="1">
            <a:off x="3036268" y="2811191"/>
            <a:ext cx="0" cy="645945"/>
          </a:xfrm>
          <a:prstGeom prst="line">
            <a:avLst/>
          </a:prstGeom>
          <a:ln w="28575">
            <a:solidFill>
              <a:schemeClr val="accent6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61CAE569-7593-974C-86B7-AC5EFCB40E1D}"/>
              </a:ext>
            </a:extLst>
          </p:cNvPr>
          <p:cNvCxnSpPr>
            <a:cxnSpLocks/>
          </p:cNvCxnSpPr>
          <p:nvPr/>
        </p:nvCxnSpPr>
        <p:spPr>
          <a:xfrm flipV="1">
            <a:off x="7144037" y="1995268"/>
            <a:ext cx="0" cy="339969"/>
          </a:xfrm>
          <a:prstGeom prst="line">
            <a:avLst/>
          </a:prstGeom>
          <a:ln w="28575">
            <a:solidFill>
              <a:schemeClr val="accent6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>
            <a:extLst>
              <a:ext uri="{FF2B5EF4-FFF2-40B4-BE49-F238E27FC236}">
                <a16:creationId xmlns:a16="http://schemas.microsoft.com/office/drawing/2014/main" id="{6BD51E2F-26D8-2841-8895-D142FF3D16D7}"/>
              </a:ext>
            </a:extLst>
          </p:cNvPr>
          <p:cNvSpPr txBox="1"/>
          <p:nvPr/>
        </p:nvSpPr>
        <p:spPr>
          <a:xfrm>
            <a:off x="1693107" y="3855183"/>
            <a:ext cx="1678525" cy="352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altLang="nl-BE" i="1" dirty="0">
                <a:solidFill>
                  <a:srgbClr val="FF0000"/>
                </a:solidFill>
                <a:latin typeface="Symbol" pitchFamily="2" charset="2"/>
              </a:rPr>
              <a:t>e</a:t>
            </a:r>
            <a:r>
              <a:rPr lang="nl-BE" altLang="nl-BE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  <a:r>
              <a:rPr lang="nl-BE" altLang="nl-BE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= -1,69</a:t>
            </a:r>
            <a:r>
              <a:rPr lang="nl-BE" altLang="nl-BE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nl-BE" altLang="nl-BE" sz="2400" i="1" dirty="0">
                <a:latin typeface="Times New Roman" panose="02020603050405020304" pitchFamily="18" charset="0"/>
              </a:rPr>
              <a:t>  </a:t>
            </a:r>
            <a:endParaRPr lang="nl-BE" sz="24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76459585-1137-8F43-A879-386B43A03CE2}"/>
              </a:ext>
            </a:extLst>
          </p:cNvPr>
          <p:cNvSpPr txBox="1"/>
          <p:nvPr/>
        </p:nvSpPr>
        <p:spPr>
          <a:xfrm>
            <a:off x="5394243" y="3162283"/>
            <a:ext cx="1678525" cy="352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altLang="nl-BE" i="1" dirty="0">
                <a:solidFill>
                  <a:srgbClr val="FF0000"/>
                </a:solidFill>
                <a:latin typeface="Symbol" pitchFamily="2" charset="2"/>
              </a:rPr>
              <a:t>e</a:t>
            </a:r>
            <a:r>
              <a:rPr lang="nl-BE" altLang="nl-BE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 </a:t>
            </a:r>
            <a:r>
              <a:rPr lang="nl-BE" altLang="nl-BE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= -2,62</a:t>
            </a:r>
            <a:r>
              <a:rPr lang="nl-BE" altLang="nl-BE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**</a:t>
            </a:r>
            <a:r>
              <a:rPr lang="nl-BE" altLang="nl-BE" sz="2400" i="1" dirty="0">
                <a:latin typeface="Times New Roman" panose="02020603050405020304" pitchFamily="18" charset="0"/>
              </a:rPr>
              <a:t>  </a:t>
            </a:r>
            <a:endParaRPr lang="nl-BE" sz="24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06FEAD20-3EBE-0449-A8B2-CFB2F5CFFE5C}"/>
              </a:ext>
            </a:extLst>
          </p:cNvPr>
          <p:cNvSpPr txBox="1"/>
          <p:nvPr/>
        </p:nvSpPr>
        <p:spPr>
          <a:xfrm>
            <a:off x="2774956" y="2286475"/>
            <a:ext cx="1678525" cy="35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r>
              <a:rPr lang="nl-BE" altLang="nl-BE" i="1" dirty="0">
                <a:solidFill>
                  <a:schemeClr val="accent6"/>
                </a:solidFill>
                <a:latin typeface="Symbol" pitchFamily="2" charset="2"/>
              </a:rPr>
              <a:t>e</a:t>
            </a:r>
            <a:r>
              <a:rPr lang="nl-BE" altLang="nl-BE" i="1" baseline="-25000" dirty="0">
                <a:solidFill>
                  <a:schemeClr val="accent6"/>
                </a:solidFill>
                <a:latin typeface="Times New Roman" panose="02020603050405020304" pitchFamily="18" charset="0"/>
              </a:rPr>
              <a:t>3 </a:t>
            </a:r>
            <a:r>
              <a:rPr lang="nl-BE" altLang="nl-BE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= 3,42</a:t>
            </a:r>
            <a:r>
              <a:rPr lang="nl-BE" altLang="nl-BE" i="1" baseline="30000" dirty="0">
                <a:solidFill>
                  <a:schemeClr val="accent6"/>
                </a:solidFill>
                <a:latin typeface="Times New Roman" panose="02020603050405020304" pitchFamily="18" charset="0"/>
              </a:rPr>
              <a:t>°</a:t>
            </a:r>
            <a:r>
              <a:rPr lang="nl-BE" altLang="nl-BE" sz="2400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 </a:t>
            </a:r>
            <a:endParaRPr lang="nl-BE" sz="2400" b="1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6FB03411-2085-1846-BB82-167958677744}"/>
              </a:ext>
            </a:extLst>
          </p:cNvPr>
          <p:cNvSpPr txBox="1"/>
          <p:nvPr/>
        </p:nvSpPr>
        <p:spPr>
          <a:xfrm>
            <a:off x="6642405" y="1546279"/>
            <a:ext cx="1678525" cy="35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r>
              <a:rPr lang="nl-BE" altLang="nl-BE" i="1" dirty="0">
                <a:solidFill>
                  <a:schemeClr val="accent6"/>
                </a:solidFill>
                <a:latin typeface="Symbol" pitchFamily="2" charset="2"/>
              </a:rPr>
              <a:t>e</a:t>
            </a:r>
            <a:r>
              <a:rPr lang="nl-BE" altLang="nl-BE" i="1" baseline="-25000" dirty="0">
                <a:solidFill>
                  <a:schemeClr val="accent6"/>
                </a:solidFill>
                <a:latin typeface="Times New Roman" panose="02020603050405020304" pitchFamily="18" charset="0"/>
              </a:rPr>
              <a:t>4 </a:t>
            </a:r>
            <a:r>
              <a:rPr lang="nl-BE" altLang="nl-BE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= 1,92</a:t>
            </a:r>
            <a:r>
              <a:rPr lang="nl-BE" altLang="nl-BE" i="1" baseline="30000" dirty="0">
                <a:solidFill>
                  <a:schemeClr val="accent6"/>
                </a:solidFill>
                <a:latin typeface="Times New Roman" panose="02020603050405020304" pitchFamily="18" charset="0"/>
              </a:rPr>
              <a:t>°°</a:t>
            </a:r>
            <a:r>
              <a:rPr lang="nl-BE" altLang="nl-BE" sz="2400" i="1" dirty="0">
                <a:solidFill>
                  <a:schemeClr val="accent6"/>
                </a:solidFill>
                <a:latin typeface="Times New Roman" panose="02020603050405020304" pitchFamily="18" charset="0"/>
              </a:rPr>
              <a:t>  </a:t>
            </a:r>
            <a:endParaRPr lang="nl-BE" sz="2400" b="1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E00B92EA-5B29-1E41-879B-17643E25CD44}"/>
              </a:ext>
            </a:extLst>
          </p:cNvPr>
          <p:cNvSpPr/>
          <p:nvPr/>
        </p:nvSpPr>
        <p:spPr bwMode="auto">
          <a:xfrm>
            <a:off x="2588455" y="2286475"/>
            <a:ext cx="1252025" cy="134299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vak 30">
                <a:extLst>
                  <a:ext uri="{FF2B5EF4-FFF2-40B4-BE49-F238E27FC236}">
                    <a16:creationId xmlns:a16="http://schemas.microsoft.com/office/drawing/2014/main" id="{0D7C91F2-4B11-6E41-BD09-8120A545A3AB}"/>
                  </a:ext>
                </a:extLst>
              </p:cNvPr>
              <p:cNvSpPr txBox="1"/>
              <p:nvPr/>
            </p:nvSpPr>
            <p:spPr>
              <a:xfrm>
                <a:off x="1592242" y="2875214"/>
                <a:ext cx="850797" cy="5178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nl-BE" sz="2800" b="1" i="1" dirty="0">
                  <a:solidFill>
                    <a:schemeClr val="tx1"/>
                  </a:solidFill>
                  <a:latin typeface="+mn-lt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1" name="Tekstvak 30">
                <a:extLst>
                  <a:ext uri="{FF2B5EF4-FFF2-40B4-BE49-F238E27FC236}">
                    <a16:creationId xmlns:a16="http://schemas.microsoft.com/office/drawing/2014/main" id="{0D7C91F2-4B11-6E41-BD09-8120A545A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242" y="2875214"/>
                <a:ext cx="850797" cy="517898"/>
              </a:xfrm>
              <a:prstGeom prst="rect">
                <a:avLst/>
              </a:prstGeom>
              <a:blipFill>
                <a:blip r:embed="rId4"/>
                <a:stretch>
                  <a:fillRect t="-14118" r="-2785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Rechte verbindingslijn met pijl 32">
            <a:extLst>
              <a:ext uri="{FF2B5EF4-FFF2-40B4-BE49-F238E27FC236}">
                <a16:creationId xmlns:a16="http://schemas.microsoft.com/office/drawing/2014/main" id="{0C1406BD-BFA4-FA44-AF7E-04D3694EF911}"/>
              </a:ext>
            </a:extLst>
          </p:cNvPr>
          <p:cNvCxnSpPr>
            <a:cxnSpLocks/>
          </p:cNvCxnSpPr>
          <p:nvPr/>
        </p:nvCxnSpPr>
        <p:spPr>
          <a:xfrm>
            <a:off x="2219133" y="3162283"/>
            <a:ext cx="817135" cy="328376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C620D30A-39A4-6F44-8263-AF57506EFE3B}"/>
                  </a:ext>
                </a:extLst>
              </p:cNvPr>
              <p:cNvSpPr txBox="1"/>
              <p:nvPr/>
            </p:nvSpPr>
            <p:spPr>
              <a:xfrm>
                <a:off x="1474277" y="1985508"/>
                <a:ext cx="850797" cy="5178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𝒚</m:t>
                          </m:r>
                        </m:e>
                        <m:sub>
                          <m:r>
                            <a:rPr lang="nl-B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nl-BE" sz="2800" b="1" i="1" dirty="0">
                  <a:solidFill>
                    <a:schemeClr val="tx1"/>
                  </a:solidFill>
                  <a:latin typeface="+mn-lt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C620D30A-39A4-6F44-8263-AF57506EF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277" y="1985508"/>
                <a:ext cx="850797" cy="5178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7010D753-C766-0743-A317-3E8D870B7ABA}"/>
              </a:ext>
            </a:extLst>
          </p:cNvPr>
          <p:cNvCxnSpPr>
            <a:cxnSpLocks/>
          </p:cNvCxnSpPr>
          <p:nvPr/>
        </p:nvCxnSpPr>
        <p:spPr>
          <a:xfrm>
            <a:off x="2095038" y="2319565"/>
            <a:ext cx="874786" cy="402626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kstvak 3">
            <a:extLst>
              <a:ext uri="{FF2B5EF4-FFF2-40B4-BE49-F238E27FC236}">
                <a16:creationId xmlns:a16="http://schemas.microsoft.com/office/drawing/2014/main" id="{746BC1B0-1531-4A21-B21A-DE1512864F78}"/>
              </a:ext>
            </a:extLst>
          </p:cNvPr>
          <p:cNvSpPr txBox="1"/>
          <p:nvPr/>
        </p:nvSpPr>
        <p:spPr>
          <a:xfrm>
            <a:off x="1371600" y="5274187"/>
            <a:ext cx="9805736" cy="7917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0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SSE </a:t>
            </a:r>
            <a:r>
              <a:rPr lang="nl-BE" sz="20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= </a:t>
            </a:r>
            <a:r>
              <a:rPr lang="nl-BE" sz="2000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</a:t>
            </a:r>
            <a:r>
              <a:rPr lang="nl-BE" sz="20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of Squares of </a:t>
            </a:r>
            <a:r>
              <a:rPr lang="nl-BE" sz="2000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Errors</a:t>
            </a:r>
            <a:r>
              <a:rPr lang="nl-BE" sz="20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algn="l"/>
            <a:r>
              <a:rPr lang="nl-BE" sz="20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= Som van de kwadraten van de predictiefouten</a:t>
            </a:r>
          </a:p>
        </p:txBody>
      </p:sp>
      <p:sp>
        <p:nvSpPr>
          <p:cNvPr id="25" name="Text Box 2">
            <a:extLst>
              <a:ext uri="{FF2B5EF4-FFF2-40B4-BE49-F238E27FC236}">
                <a16:creationId xmlns:a16="http://schemas.microsoft.com/office/drawing/2014/main" id="{79C90188-972F-4ECF-9B89-B75D3A82F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277" y="5914246"/>
            <a:ext cx="4774994" cy="5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393700">
              <a:spcBef>
                <a:spcPct val="20000"/>
              </a:spcBef>
              <a:buChar char="•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393700">
              <a:spcBef>
                <a:spcPct val="20000"/>
              </a:spcBef>
              <a:buChar char="-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393700">
              <a:spcBef>
                <a:spcPct val="20000"/>
              </a:spcBef>
              <a:buChar char="•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393700">
              <a:spcBef>
                <a:spcPct val="20000"/>
              </a:spcBef>
              <a:buChar char="-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393700">
              <a:spcBef>
                <a:spcPct val="20000"/>
              </a:spcBef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3937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  <a:tab pos="1270000" algn="l"/>
                <a:tab pos="1903413" algn="l"/>
                <a:tab pos="2538413" algn="l"/>
                <a:tab pos="3173413" algn="l"/>
                <a:tab pos="3808413" algn="l"/>
                <a:tab pos="4441825" algn="l"/>
                <a:tab pos="5076825" algn="l"/>
                <a:tab pos="5711825" algn="l"/>
                <a:tab pos="6346825" algn="l"/>
                <a:tab pos="6981825" algn="l"/>
                <a:tab pos="7615238" algn="l"/>
                <a:tab pos="8250238" algn="l"/>
              </a:tabLst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accent2"/>
              </a:buClr>
              <a:buSzPct val="105000"/>
              <a:buFontTx/>
              <a:buNone/>
            </a:pPr>
            <a:r>
              <a:rPr lang="en-GB" altLang="nl-BE" sz="2000" b="1" dirty="0">
                <a:solidFill>
                  <a:schemeClr val="tx2"/>
                </a:solidFill>
                <a:sym typeface="Wingdings" panose="05000000000000000000" pitchFamily="2" charset="2"/>
              </a:rPr>
              <a:t> </a:t>
            </a:r>
            <a:r>
              <a:rPr lang="en-GB" altLang="nl-BE" sz="2000" b="1" dirty="0" err="1">
                <a:solidFill>
                  <a:schemeClr val="tx2"/>
                </a:solidFill>
                <a:sym typeface="Wingdings" panose="05000000000000000000" pitchFamily="2" charset="2"/>
              </a:rPr>
              <a:t>Rechte</a:t>
            </a:r>
            <a:r>
              <a:rPr lang="en-GB" altLang="nl-BE" sz="2000" b="1" dirty="0">
                <a:solidFill>
                  <a:schemeClr val="tx2"/>
                </a:solidFill>
                <a:sym typeface="Wingdings" panose="05000000000000000000" pitchFamily="2" charset="2"/>
              </a:rPr>
              <a:t> die SSE </a:t>
            </a:r>
            <a:r>
              <a:rPr lang="en-GB" altLang="nl-BE" sz="2000" b="1" dirty="0" err="1">
                <a:solidFill>
                  <a:schemeClr val="tx2"/>
                </a:solidFill>
                <a:sym typeface="Wingdings" panose="05000000000000000000" pitchFamily="2" charset="2"/>
              </a:rPr>
              <a:t>minimaliseert</a:t>
            </a:r>
            <a:r>
              <a:rPr lang="en-GB" altLang="nl-BE" sz="2000" b="1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endParaRPr lang="en-GB" altLang="nl-BE" sz="2000" baseline="0" dirty="0">
              <a:solidFill>
                <a:schemeClr val="tx2"/>
              </a:solidFill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9EF3C432-5F91-A0F7-38CF-766FC8EED7FF}"/>
              </a:ext>
            </a:extLst>
          </p:cNvPr>
          <p:cNvSpPr txBox="1"/>
          <p:nvPr/>
        </p:nvSpPr>
        <p:spPr>
          <a:xfrm>
            <a:off x="8559770" y="5573596"/>
            <a:ext cx="3575180" cy="984769"/>
          </a:xfrm>
          <a:prstGeom prst="rect">
            <a:avLst/>
          </a:pr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nl-BE" sz="2800" b="1" dirty="0">
                <a:solidFill>
                  <a:schemeClr val="bg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Ordinary Least Squares methode (OLS)</a:t>
            </a:r>
          </a:p>
        </p:txBody>
      </p:sp>
    </p:spTree>
    <p:extLst>
      <p:ext uri="{BB962C8B-B14F-4D97-AF65-F5344CB8AC3E}">
        <p14:creationId xmlns:p14="http://schemas.microsoft.com/office/powerpoint/2010/main" val="15885505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C62ABF-FA98-224C-80D0-32D8EEAF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   egressie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FBF0C84-80EF-D34A-9358-9BF7585BD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42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7D5E720-9E63-0846-9387-C25CBD5C4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Model1 &lt;- lm(Resultaat ~ Autonome_mot, data = StatistiekB)</a:t>
            </a:r>
          </a:p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summary(Model1)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lm(formula = Resultaat ~ Autonome_mot, data = StatistiekB)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Min      1Q  Median      3Q     Max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-3.3142 -0.7346 -0.0244  0.7036  3.4245 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Estimate Std. Error t value Pr(&gt;|t|)   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2.345113   0.275843   8.502 3.43e-16 ***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Autonome_mot 0.144893   0.004531  31.979  &lt; 2e-16 ***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’ 1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1.006 on 414 degrees of freedom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(84 observations deleted due to missingness)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0.7118,	Adjusted R-squared:  0.7111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 1023 on 1 and 414 DF,  p-value: &lt; 2.2e-16</a:t>
            </a:r>
          </a:p>
        </p:txBody>
      </p:sp>
      <p:pic>
        <p:nvPicPr>
          <p:cNvPr id="5" name="Picture 2" descr="Afbeeldingsresultaat voor R">
            <a:extLst>
              <a:ext uri="{FF2B5EF4-FFF2-40B4-BE49-F238E27FC236}">
                <a16:creationId xmlns:a16="http://schemas.microsoft.com/office/drawing/2014/main" id="{946DB829-E028-2A41-BAE7-67414F2B4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88" y="662915"/>
            <a:ext cx="504703" cy="50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927DE697-3010-A148-9621-1CA765F6D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812002"/>
              </p:ext>
            </p:extLst>
          </p:nvPr>
        </p:nvGraphicFramePr>
        <p:xfrm>
          <a:off x="10168128" y="207218"/>
          <a:ext cx="1853184" cy="190556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1853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400" b="1" dirty="0"/>
                        <a:t>Model schatten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Wolkvormige toelichting 6">
            <a:extLst>
              <a:ext uri="{FF2B5EF4-FFF2-40B4-BE49-F238E27FC236}">
                <a16:creationId xmlns:a16="http://schemas.microsoft.com/office/drawing/2014/main" id="{50A04446-8D58-3A4F-B5ED-EE0DA73CF464}"/>
              </a:ext>
            </a:extLst>
          </p:cNvPr>
          <p:cNvSpPr/>
          <p:nvPr/>
        </p:nvSpPr>
        <p:spPr bwMode="auto">
          <a:xfrm>
            <a:off x="7351776" y="4542598"/>
            <a:ext cx="4742688" cy="1694689"/>
          </a:xfrm>
          <a:prstGeom prst="cloudCallout">
            <a:avLst>
              <a:gd name="adj1" fmla="val -74201"/>
              <a:gd name="adj2" fmla="val -216637"/>
            </a:avLst>
          </a:prstGeom>
          <a:solidFill>
            <a:srgbClr val="2A77CF"/>
          </a:solidFill>
          <a:ln>
            <a:solidFill>
              <a:srgbClr val="2A77CF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DF27B3A-8BE3-8B40-8E61-0842C1404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536" y="5141642"/>
            <a:ext cx="4181855" cy="51544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9pPr>
          </a:lstStyle>
          <a:p>
            <a:pPr>
              <a:buFontTx/>
              <a:buNone/>
              <a:defRPr/>
            </a:pPr>
            <a:r>
              <a:rPr lang="nl-BE" sz="1400" kern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&gt; </a:t>
            </a:r>
            <a:r>
              <a:rPr lang="nl-BE" sz="1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ＭＳ Ｐゴシック" charset="-128"/>
                <a:cs typeface="Courier New" pitchFamily="49" charset="0"/>
              </a:rPr>
              <a:t>Model1 &lt;- lm(Bestand$y ~ Bestand$x)</a:t>
            </a:r>
          </a:p>
          <a:p>
            <a:pPr>
              <a:buFontTx/>
              <a:buNone/>
              <a:defRPr/>
            </a:pPr>
            <a:r>
              <a:rPr lang="nl-BE" sz="1400" kern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&gt; Model1 &lt;- lm(y ~ x, data = Bestand)</a:t>
            </a:r>
          </a:p>
          <a:p>
            <a:pPr>
              <a:defRPr/>
            </a:pPr>
            <a:endParaRPr lang="nl-BE" sz="14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endParaRPr lang="nl-BE" sz="14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  <a:p>
            <a:pPr>
              <a:defRPr/>
            </a:pPr>
            <a:endParaRPr lang="nl-NL" sz="14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8430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C62ABF-FA98-224C-80D0-32D8EEAF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   egressie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FBF0C84-80EF-D34A-9358-9BF7585BD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43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7D5E720-9E63-0846-9387-C25CBD5C4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Model1 &lt;- lm(Resultaat ~ Autonome_mot, data = StatistiekB)</a:t>
            </a:r>
          </a:p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summary(Model1)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lm(formula = Resultaat ~ Autonome_mot, data = StatistiekB)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Min      1Q  Median      3Q     Max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-3.3142 -0.7346 -0.0244  0.7036  3.4245 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Estimate Std. Error t value Pr(&gt;|t|)    </a:t>
            </a:r>
          </a:p>
          <a:p>
            <a:pPr marL="0" indent="0">
              <a:buNone/>
            </a:pPr>
            <a:r>
              <a:rPr lang="nl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</a:t>
            </a: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2.345113</a:t>
            </a: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0.275843   8.502 3.43e-16 ***</a:t>
            </a:r>
          </a:p>
          <a:p>
            <a:pPr marL="0" indent="0">
              <a:buNone/>
            </a:pPr>
            <a:r>
              <a:rPr lang="nl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Autonome_mot</a:t>
            </a: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0.144893</a:t>
            </a: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0.004531  31.979  &lt; 2e-16 ***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’ 1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1.006 on 414 degrees of freedom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(84 observations deleted due to missingness)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0.7118,	Adjusted R-squared:  0.7111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 1023 on 1 and 414 DF,  p-value: &lt; 2.2e-16</a:t>
            </a:r>
          </a:p>
        </p:txBody>
      </p:sp>
      <p:pic>
        <p:nvPicPr>
          <p:cNvPr id="5" name="Picture 2" descr="Afbeeldingsresultaat voor R">
            <a:extLst>
              <a:ext uri="{FF2B5EF4-FFF2-40B4-BE49-F238E27FC236}">
                <a16:creationId xmlns:a16="http://schemas.microsoft.com/office/drawing/2014/main" id="{946DB829-E028-2A41-BAE7-67414F2B4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88" y="662915"/>
            <a:ext cx="504703" cy="50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927DE697-3010-A148-9621-1CA765F6D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724708"/>
              </p:ext>
            </p:extLst>
          </p:nvPr>
        </p:nvGraphicFramePr>
        <p:xfrm>
          <a:off x="10168128" y="207218"/>
          <a:ext cx="1853184" cy="187508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1853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Model schatten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400" b="1" dirty="0"/>
                        <a:t>Slope en intercept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Wolkvormige toelichting 6">
            <a:extLst>
              <a:ext uri="{FF2B5EF4-FFF2-40B4-BE49-F238E27FC236}">
                <a16:creationId xmlns:a16="http://schemas.microsoft.com/office/drawing/2014/main" id="{50A04446-8D58-3A4F-B5ED-EE0DA73CF464}"/>
              </a:ext>
            </a:extLst>
          </p:cNvPr>
          <p:cNvSpPr/>
          <p:nvPr/>
        </p:nvSpPr>
        <p:spPr bwMode="auto">
          <a:xfrm>
            <a:off x="7351776" y="4542598"/>
            <a:ext cx="4742688" cy="1694689"/>
          </a:xfrm>
          <a:prstGeom prst="cloudCallout">
            <a:avLst>
              <a:gd name="adj1" fmla="val -74201"/>
              <a:gd name="adj2" fmla="val -216637"/>
            </a:avLst>
          </a:prstGeom>
          <a:solidFill>
            <a:srgbClr val="2A77CF"/>
          </a:solidFill>
          <a:ln>
            <a:solidFill>
              <a:srgbClr val="2A77CF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DF27B3A-8BE3-8B40-8E61-0842C1404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536" y="5141642"/>
            <a:ext cx="4181855" cy="51544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9pPr>
          </a:lstStyle>
          <a:p>
            <a:pPr>
              <a:buFontTx/>
              <a:buNone/>
              <a:defRPr/>
            </a:pPr>
            <a:r>
              <a:rPr lang="nl-BE" sz="1400" kern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&gt; </a:t>
            </a:r>
            <a:r>
              <a:rPr lang="nl-BE" sz="1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ＭＳ Ｐゴシック" charset="-128"/>
                <a:cs typeface="Courier New" pitchFamily="49" charset="0"/>
              </a:rPr>
              <a:t>Model1 &lt;- lm(Bestand$y ~ Bestand$x)</a:t>
            </a:r>
          </a:p>
          <a:p>
            <a:pPr>
              <a:buFontTx/>
              <a:buNone/>
              <a:defRPr/>
            </a:pPr>
            <a:r>
              <a:rPr lang="nl-BE" sz="1400" kern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&gt; Model1 &lt;- lm(y ~ x, data = Bestand)</a:t>
            </a:r>
          </a:p>
          <a:p>
            <a:pPr>
              <a:defRPr/>
            </a:pPr>
            <a:endParaRPr lang="nl-BE" sz="14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endParaRPr lang="nl-BE" sz="14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  <a:p>
            <a:pPr>
              <a:defRPr/>
            </a:pPr>
            <a:endParaRPr lang="nl-NL" sz="14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0734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C62ABF-FA98-224C-80D0-32D8EEAF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   egressie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FBF0C84-80EF-D34A-9358-9BF7585BD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44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7D5E720-9E63-0846-9387-C25CBD5C4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Model1 &lt;- lm(Resultaat ~ Autonome_mot, data = StatistiekB)</a:t>
            </a:r>
          </a:p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summary(Model1)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lm(formula = Resultaat ~ Autonome_mot, data = StatistiekB)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Min      1Q  Median      3Q     Max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-3.3142 -0.7346 -0.0244  0.7036  3.4245 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Estimate Std. Error t value Pr(&gt;|t|)    </a:t>
            </a:r>
          </a:p>
          <a:p>
            <a:pPr marL="0" indent="0">
              <a:buNone/>
            </a:pPr>
            <a:r>
              <a:rPr lang="nl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</a:t>
            </a: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2.345113</a:t>
            </a: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0.275843   8.502 </a:t>
            </a:r>
            <a:r>
              <a:rPr lang="nl-BE" sz="1200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3.43e-16 ***</a:t>
            </a:r>
          </a:p>
          <a:p>
            <a:pPr marL="0" indent="0">
              <a:buNone/>
            </a:pPr>
            <a:r>
              <a:rPr lang="nl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Autonome_mot</a:t>
            </a: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0.144893</a:t>
            </a: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0.004531  31.979  </a:t>
            </a:r>
            <a:r>
              <a:rPr lang="nl-BE" sz="1200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2e-16 ***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’ 1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1.006 on 414 degrees of freedom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(84 observations deleted due to missingness)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0.7118,	Adjusted R-squared:  0.7111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 1023 on 1 and 414 DF,  p-value: &lt; 2.2e-16</a:t>
            </a:r>
          </a:p>
        </p:txBody>
      </p:sp>
      <p:pic>
        <p:nvPicPr>
          <p:cNvPr id="5" name="Picture 2" descr="Afbeeldingsresultaat voor R">
            <a:extLst>
              <a:ext uri="{FF2B5EF4-FFF2-40B4-BE49-F238E27FC236}">
                <a16:creationId xmlns:a16="http://schemas.microsoft.com/office/drawing/2014/main" id="{946DB829-E028-2A41-BAE7-67414F2B4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88" y="662915"/>
            <a:ext cx="504703" cy="50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927DE697-3010-A148-9621-1CA765F6D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008216"/>
              </p:ext>
            </p:extLst>
          </p:nvPr>
        </p:nvGraphicFramePr>
        <p:xfrm>
          <a:off x="10168128" y="207218"/>
          <a:ext cx="1853184" cy="187508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1853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Model schatten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Slope en intercept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300" b="1" dirty="0"/>
                        <a:t>Significantie parameters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Wolkvormige toelichting 6">
            <a:extLst>
              <a:ext uri="{FF2B5EF4-FFF2-40B4-BE49-F238E27FC236}">
                <a16:creationId xmlns:a16="http://schemas.microsoft.com/office/drawing/2014/main" id="{50A04446-8D58-3A4F-B5ED-EE0DA73CF464}"/>
              </a:ext>
            </a:extLst>
          </p:cNvPr>
          <p:cNvSpPr/>
          <p:nvPr/>
        </p:nvSpPr>
        <p:spPr bwMode="auto">
          <a:xfrm>
            <a:off x="7351776" y="4542598"/>
            <a:ext cx="4742688" cy="1694689"/>
          </a:xfrm>
          <a:prstGeom prst="cloudCallout">
            <a:avLst>
              <a:gd name="adj1" fmla="val -74201"/>
              <a:gd name="adj2" fmla="val -216637"/>
            </a:avLst>
          </a:prstGeom>
          <a:solidFill>
            <a:srgbClr val="2A77CF"/>
          </a:solidFill>
          <a:ln>
            <a:solidFill>
              <a:srgbClr val="2A77CF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DF27B3A-8BE3-8B40-8E61-0842C1404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536" y="5141642"/>
            <a:ext cx="4181855" cy="51544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9pPr>
          </a:lstStyle>
          <a:p>
            <a:pPr>
              <a:buFontTx/>
              <a:buNone/>
              <a:defRPr/>
            </a:pPr>
            <a:r>
              <a:rPr lang="nl-BE" sz="1400" kern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&gt; </a:t>
            </a:r>
            <a:r>
              <a:rPr lang="nl-BE" sz="1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ＭＳ Ｐゴシック" charset="-128"/>
                <a:cs typeface="Courier New" pitchFamily="49" charset="0"/>
              </a:rPr>
              <a:t>Model1 &lt;- lm(Bestand$y ~ Bestand$x)</a:t>
            </a:r>
          </a:p>
          <a:p>
            <a:pPr>
              <a:buFontTx/>
              <a:buNone/>
              <a:defRPr/>
            </a:pPr>
            <a:r>
              <a:rPr lang="nl-BE" sz="1400" kern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&gt; Model1 &lt;- lm(y ~ x, data = Bestand)</a:t>
            </a:r>
          </a:p>
          <a:p>
            <a:pPr>
              <a:defRPr/>
            </a:pPr>
            <a:endParaRPr lang="nl-BE" sz="14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endParaRPr lang="nl-BE" sz="14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  <a:p>
            <a:pPr>
              <a:defRPr/>
            </a:pPr>
            <a:endParaRPr lang="nl-NL" sz="14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5503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86AF7-2311-3A49-84CF-C521268D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goed is het model?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EC406F8-61A7-D542-9D86-15EBB50D1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45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5156021-CE2C-794F-8DBA-37752D4A1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Methode 1: visueel</a:t>
            </a:r>
          </a:p>
        </p:txBody>
      </p:sp>
      <p:pic>
        <p:nvPicPr>
          <p:cNvPr id="5" name="Afbeelding 1">
            <a:extLst>
              <a:ext uri="{FF2B5EF4-FFF2-40B4-BE49-F238E27FC236}">
                <a16:creationId xmlns:a16="http://schemas.microsoft.com/office/drawing/2014/main" id="{3E5A5CD5-750A-B342-BC2B-F9DD302AD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016" y="2221055"/>
            <a:ext cx="7858125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18000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86AF7-2311-3A49-84CF-C521268D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goed is het model?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EC406F8-61A7-D542-9D86-15EBB50D1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46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5156021-CE2C-794F-8DBA-37752D4A1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Methode 1: visueel</a:t>
            </a:r>
          </a:p>
          <a:p>
            <a:r>
              <a:rPr lang="nl-BE" dirty="0"/>
              <a:t>Methode 2: </a:t>
            </a:r>
          </a:p>
          <a:p>
            <a:pPr lvl="1"/>
            <a:r>
              <a:rPr lang="nl-BE" dirty="0"/>
              <a:t>determinatiecoëfficiënt (</a:t>
            </a:r>
            <a:r>
              <a:rPr lang="nl-BE" i="1" dirty="0"/>
              <a:t>R</a:t>
            </a:r>
            <a:r>
              <a:rPr lang="nl-BE" i="1" baseline="30000" dirty="0"/>
              <a:t>2</a:t>
            </a:r>
            <a:r>
              <a:rPr lang="nl-BE" dirty="0"/>
              <a:t>)</a:t>
            </a:r>
          </a:p>
          <a:p>
            <a:pPr lvl="1"/>
            <a:r>
              <a:rPr lang="en-GB" altLang="nl-BE" dirty="0"/>
              <a:t>% van de </a:t>
            </a:r>
            <a:r>
              <a:rPr lang="en-GB" altLang="nl-BE" dirty="0" err="1"/>
              <a:t>variantie</a:t>
            </a:r>
            <a:r>
              <a:rPr lang="en-GB" altLang="nl-BE" dirty="0"/>
              <a:t> in </a:t>
            </a:r>
            <a:r>
              <a:rPr lang="nl-BE" altLang="nl-BE" b="1" dirty="0">
                <a:solidFill>
                  <a:srgbClr val="105F03"/>
                </a:solidFill>
              </a:rPr>
              <a:t>Y</a:t>
            </a:r>
            <a:r>
              <a:rPr lang="en-GB" altLang="nl-BE" dirty="0"/>
              <a:t> </a:t>
            </a:r>
            <a:r>
              <a:rPr lang="en-GB" altLang="nl-BE" dirty="0" err="1"/>
              <a:t>voorspeld</a:t>
            </a:r>
            <a:r>
              <a:rPr lang="en-GB" altLang="nl-BE" dirty="0"/>
              <a:t> door </a:t>
            </a:r>
            <a:r>
              <a:rPr lang="nl-BE" altLang="nl-BE" b="1" dirty="0">
                <a:solidFill>
                  <a:srgbClr val="7E002F"/>
                </a:solidFill>
              </a:rPr>
              <a:t>X</a:t>
            </a:r>
            <a:endParaRPr lang="nl-BE" baseline="30000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D6FF1606-D3A9-7A4F-948A-756BB7688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464411"/>
              </p:ext>
            </p:extLst>
          </p:nvPr>
        </p:nvGraphicFramePr>
        <p:xfrm>
          <a:off x="3076821" y="3805237"/>
          <a:ext cx="6320398" cy="243205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995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9275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1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defRPr sz="20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altLang="nl-BE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R²</a:t>
                      </a:r>
                      <a:endParaRPr kumimoji="0" lang="nl-BE" altLang="nl-BE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 horzOverflow="overflow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1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defRPr sz="20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altLang="nl-BE" sz="24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Cohen</a:t>
                      </a:r>
                      <a:r>
                        <a:rPr kumimoji="0" lang="nl-BE" altLang="nl-NL" sz="24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’</a:t>
                      </a:r>
                      <a:r>
                        <a:rPr kumimoji="0" lang="nl-BE" altLang="nl-BE" sz="24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r>
                        <a:rPr kumimoji="0" lang="nl-BE" altLang="nl-BE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vuistregel</a:t>
                      </a:r>
                      <a:endParaRPr kumimoji="0" lang="nl-BE" altLang="nl-BE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 horzOverflow="overflow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1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defRPr sz="20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altLang="nl-BE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≥ 0.14</a:t>
                      </a:r>
                      <a:endParaRPr kumimoji="0" lang="nl-BE" altLang="nl-B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1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defRPr sz="20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altLang="nl-BE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Groot</a:t>
                      </a:r>
                      <a:endParaRPr kumimoji="0" lang="nl-BE" altLang="nl-B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1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defRPr sz="20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altLang="nl-BE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0.06-0.14</a:t>
                      </a:r>
                      <a:endParaRPr kumimoji="0" lang="nl-BE" altLang="nl-B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1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defRPr sz="20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altLang="nl-BE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Medium </a:t>
                      </a:r>
                      <a:endParaRPr kumimoji="0" lang="nl-BE" altLang="nl-B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1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defRPr sz="20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altLang="nl-BE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0.01-0.06</a:t>
                      </a:r>
                      <a:endParaRPr kumimoji="0" lang="nl-BE" altLang="nl-B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1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defRPr sz="20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altLang="nl-BE" sz="24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Klein</a:t>
                      </a:r>
                      <a:endParaRPr kumimoji="0" lang="nl-BE" altLang="nl-BE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275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1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defRPr sz="20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altLang="nl-BE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≤ 0.01</a:t>
                      </a:r>
                      <a:endParaRPr kumimoji="0" lang="nl-BE" altLang="nl-B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 horzOverflow="overflow"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1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defRPr sz="20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3D62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BE" altLang="nl-BE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Verwaarloosbaar effect</a:t>
                      </a:r>
                      <a:endParaRPr kumimoji="0" lang="nl-BE" altLang="nl-B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1913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86AF7-2311-3A49-84CF-C521268D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goed is het model?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EC406F8-61A7-D542-9D86-15EBB50D1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47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5156021-CE2C-794F-8DBA-37752D4A1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Methode 2</a:t>
            </a:r>
          </a:p>
          <a:p>
            <a:pPr marL="0" indent="0">
              <a:buNone/>
            </a:pP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Stel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dat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er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een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student later de les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statistiek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binnenkomt</a:t>
            </a:r>
            <a:r>
              <a:rPr lang="is-IS" altLang="nl-BE" sz="2000" b="0" i="1" dirty="0">
                <a:solidFill>
                  <a:srgbClr val="003D62"/>
                </a:solidFill>
                <a:latin typeface="+mn-lt"/>
              </a:rPr>
              <a:t>… Hoeveel behaalt deze student op zijn examen?</a:t>
            </a:r>
            <a:endParaRPr lang="nl-BE" sz="2000" b="0" i="1" dirty="0"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6EA76B-F85A-A846-9DBE-339EECE74C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3895" y="2947241"/>
            <a:ext cx="3837403" cy="3340989"/>
            <a:chOff x="2789" y="1424"/>
            <a:chExt cx="2837" cy="247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D0B3E2-012E-E14F-89B5-E0EF4E245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3673"/>
              <a:ext cx="2423" cy="0"/>
            </a:xfrm>
            <a:custGeom>
              <a:avLst/>
              <a:gdLst>
                <a:gd name="T0" fmla="*/ 0 w 3798"/>
                <a:gd name="T1" fmla="*/ 0 w 3798"/>
                <a:gd name="T2" fmla="*/ 629 w 3798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3798">
                  <a:moveTo>
                    <a:pt x="0" y="0"/>
                  </a:moveTo>
                  <a:lnTo>
                    <a:pt x="0" y="0"/>
                  </a:lnTo>
                  <a:lnTo>
                    <a:pt x="3798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96A611-22BD-FD49-B127-A79E0EF74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127C87E-77C4-9F41-A81A-01E233438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3902716-A6B1-2142-890D-2CE148B29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63DBEBE-F6A0-394A-B2E3-7D6F76A53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07B878B-A6A0-534D-8614-45C845244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4B987B1-F3FA-C844-BEBC-F8C4FFABA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3863"/>
              <a:ext cx="28" cy="8"/>
            </a:xfrm>
            <a:custGeom>
              <a:avLst/>
              <a:gdLst>
                <a:gd name="T0" fmla="*/ 0 w 44"/>
                <a:gd name="T1" fmla="*/ 2 h 14"/>
                <a:gd name="T2" fmla="*/ 0 w 44"/>
                <a:gd name="T3" fmla="*/ 2 h 14"/>
                <a:gd name="T4" fmla="*/ 0 w 44"/>
                <a:gd name="T5" fmla="*/ 0 h 14"/>
                <a:gd name="T6" fmla="*/ 7 w 44"/>
                <a:gd name="T7" fmla="*/ 0 h 14"/>
                <a:gd name="T8" fmla="*/ 7 w 44"/>
                <a:gd name="T9" fmla="*/ 2 h 14"/>
                <a:gd name="T10" fmla="*/ 0 w 44"/>
                <a:gd name="T11" fmla="*/ 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14"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44" y="0"/>
                  </a:lnTo>
                  <a:lnTo>
                    <a:pt x="44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5C05A4-C25E-0D49-89BE-6D1A4E24D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3820"/>
              <a:ext cx="27" cy="73"/>
            </a:xfrm>
            <a:custGeom>
              <a:avLst/>
              <a:gdLst>
                <a:gd name="T0" fmla="*/ 7 w 42"/>
                <a:gd name="T1" fmla="*/ 18 h 115"/>
                <a:gd name="T2" fmla="*/ 7 w 42"/>
                <a:gd name="T3" fmla="*/ 18 h 115"/>
                <a:gd name="T4" fmla="*/ 5 w 42"/>
                <a:gd name="T5" fmla="*/ 18 h 115"/>
                <a:gd name="T6" fmla="*/ 5 w 42"/>
                <a:gd name="T7" fmla="*/ 4 h 115"/>
                <a:gd name="T8" fmla="*/ 3 w 42"/>
                <a:gd name="T9" fmla="*/ 6 h 115"/>
                <a:gd name="T10" fmla="*/ 0 w 42"/>
                <a:gd name="T11" fmla="*/ 7 h 115"/>
                <a:gd name="T12" fmla="*/ 0 w 42"/>
                <a:gd name="T13" fmla="*/ 4 h 115"/>
                <a:gd name="T14" fmla="*/ 4 w 42"/>
                <a:gd name="T15" fmla="*/ 3 h 115"/>
                <a:gd name="T16" fmla="*/ 6 w 42"/>
                <a:gd name="T17" fmla="*/ 0 h 115"/>
                <a:gd name="T18" fmla="*/ 7 w 42"/>
                <a:gd name="T19" fmla="*/ 0 h 115"/>
                <a:gd name="T20" fmla="*/ 7 w 42"/>
                <a:gd name="T21" fmla="*/ 18 h 1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15">
                  <a:moveTo>
                    <a:pt x="42" y="115"/>
                  </a:moveTo>
                  <a:lnTo>
                    <a:pt x="42" y="115"/>
                  </a:lnTo>
                  <a:lnTo>
                    <a:pt x="28" y="115"/>
                  </a:lnTo>
                  <a:lnTo>
                    <a:pt x="28" y="26"/>
                  </a:lnTo>
                  <a:cubicBezTo>
                    <a:pt x="25" y="29"/>
                    <a:pt x="20" y="32"/>
                    <a:pt x="15" y="36"/>
                  </a:cubicBezTo>
                  <a:cubicBezTo>
                    <a:pt x="9" y="39"/>
                    <a:pt x="4" y="41"/>
                    <a:pt x="0" y="43"/>
                  </a:cubicBezTo>
                  <a:lnTo>
                    <a:pt x="0" y="29"/>
                  </a:lnTo>
                  <a:cubicBezTo>
                    <a:pt x="8" y="26"/>
                    <a:pt x="15" y="21"/>
                    <a:pt x="21" y="16"/>
                  </a:cubicBezTo>
                  <a:cubicBezTo>
                    <a:pt x="26" y="11"/>
                    <a:pt x="31" y="5"/>
                    <a:pt x="33" y="0"/>
                  </a:cubicBezTo>
                  <a:lnTo>
                    <a:pt x="42" y="0"/>
                  </a:lnTo>
                  <a:lnTo>
                    <a:pt x="42" y="1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10CD9C8-6859-4D44-BED2-278F08F34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44FA3A6-7798-6A49-B514-8D392968A1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2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4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8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3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4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3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37187DE-5870-F745-A456-2E4772A7C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863"/>
              <a:ext cx="28" cy="8"/>
            </a:xfrm>
            <a:custGeom>
              <a:avLst/>
              <a:gdLst>
                <a:gd name="T0" fmla="*/ 0 w 43"/>
                <a:gd name="T1" fmla="*/ 2 h 14"/>
                <a:gd name="T2" fmla="*/ 0 w 43"/>
                <a:gd name="T3" fmla="*/ 2 h 14"/>
                <a:gd name="T4" fmla="*/ 0 w 43"/>
                <a:gd name="T5" fmla="*/ 0 h 14"/>
                <a:gd name="T6" fmla="*/ 8 w 43"/>
                <a:gd name="T7" fmla="*/ 0 h 14"/>
                <a:gd name="T8" fmla="*/ 8 w 43"/>
                <a:gd name="T9" fmla="*/ 2 h 14"/>
                <a:gd name="T10" fmla="*/ 0 w 43"/>
                <a:gd name="T11" fmla="*/ 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4"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1F50AB5-099C-0243-BF28-2C8295F9D6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2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4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8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4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2C2C456-0922-C145-938E-E3D835A83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1E60341-FD58-804B-A536-5DD729BDF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821"/>
              <a:ext cx="49" cy="73"/>
            </a:xfrm>
            <a:custGeom>
              <a:avLst/>
              <a:gdLst>
                <a:gd name="T0" fmla="*/ 0 w 76"/>
                <a:gd name="T1" fmla="*/ 14 h 115"/>
                <a:gd name="T2" fmla="*/ 0 w 76"/>
                <a:gd name="T3" fmla="*/ 14 h 115"/>
                <a:gd name="T4" fmla="*/ 3 w 76"/>
                <a:gd name="T5" fmla="*/ 13 h 115"/>
                <a:gd name="T6" fmla="*/ 4 w 76"/>
                <a:gd name="T7" fmla="*/ 16 h 115"/>
                <a:gd name="T8" fmla="*/ 6 w 76"/>
                <a:gd name="T9" fmla="*/ 17 h 115"/>
                <a:gd name="T10" fmla="*/ 10 w 76"/>
                <a:gd name="T11" fmla="*/ 16 h 115"/>
                <a:gd name="T12" fmla="*/ 10 w 76"/>
                <a:gd name="T13" fmla="*/ 12 h 115"/>
                <a:gd name="T14" fmla="*/ 10 w 76"/>
                <a:gd name="T15" fmla="*/ 10 h 115"/>
                <a:gd name="T16" fmla="*/ 6 w 76"/>
                <a:gd name="T17" fmla="*/ 8 h 115"/>
                <a:gd name="T18" fmla="*/ 4 w 76"/>
                <a:gd name="T19" fmla="*/ 9 h 115"/>
                <a:gd name="T20" fmla="*/ 3 w 76"/>
                <a:gd name="T21" fmla="*/ 10 h 115"/>
                <a:gd name="T22" fmla="*/ 1 w 76"/>
                <a:gd name="T23" fmla="*/ 10 h 115"/>
                <a:gd name="T24" fmla="*/ 3 w 76"/>
                <a:gd name="T25" fmla="*/ 0 h 115"/>
                <a:gd name="T26" fmla="*/ 12 w 76"/>
                <a:gd name="T27" fmla="*/ 0 h 115"/>
                <a:gd name="T28" fmla="*/ 12 w 76"/>
                <a:gd name="T29" fmla="*/ 3 h 115"/>
                <a:gd name="T30" fmla="*/ 4 w 76"/>
                <a:gd name="T31" fmla="*/ 3 h 115"/>
                <a:gd name="T32" fmla="*/ 3 w 76"/>
                <a:gd name="T33" fmla="*/ 7 h 115"/>
                <a:gd name="T34" fmla="*/ 7 w 76"/>
                <a:gd name="T35" fmla="*/ 6 h 115"/>
                <a:gd name="T36" fmla="*/ 12 w 76"/>
                <a:gd name="T37" fmla="*/ 8 h 115"/>
                <a:gd name="T38" fmla="*/ 14 w 76"/>
                <a:gd name="T39" fmla="*/ 12 h 115"/>
                <a:gd name="T40" fmla="*/ 12 w 76"/>
                <a:gd name="T41" fmla="*/ 17 h 115"/>
                <a:gd name="T42" fmla="*/ 6 w 76"/>
                <a:gd name="T43" fmla="*/ 18 h 115"/>
                <a:gd name="T44" fmla="*/ 2 w 76"/>
                <a:gd name="T45" fmla="*/ 17 h 115"/>
                <a:gd name="T46" fmla="*/ 0 w 76"/>
                <a:gd name="T47" fmla="*/ 14 h 115"/>
                <a:gd name="T48" fmla="*/ 0 w 76"/>
                <a:gd name="T49" fmla="*/ 14 h 11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6" h="115">
                  <a:moveTo>
                    <a:pt x="0" y="83"/>
                  </a:moveTo>
                  <a:lnTo>
                    <a:pt x="0" y="83"/>
                  </a:lnTo>
                  <a:lnTo>
                    <a:pt x="15" y="82"/>
                  </a:lnTo>
                  <a:cubicBezTo>
                    <a:pt x="16" y="89"/>
                    <a:pt x="19" y="95"/>
                    <a:pt x="23" y="98"/>
                  </a:cubicBezTo>
                  <a:cubicBezTo>
                    <a:pt x="27" y="102"/>
                    <a:pt x="31" y="104"/>
                    <a:pt x="37" y="104"/>
                  </a:cubicBezTo>
                  <a:cubicBezTo>
                    <a:pt x="44" y="104"/>
                    <a:pt x="50" y="101"/>
                    <a:pt x="54" y="96"/>
                  </a:cubicBezTo>
                  <a:cubicBezTo>
                    <a:pt x="59" y="91"/>
                    <a:pt x="61" y="84"/>
                    <a:pt x="61" y="76"/>
                  </a:cubicBezTo>
                  <a:cubicBezTo>
                    <a:pt x="61" y="68"/>
                    <a:pt x="59" y="62"/>
                    <a:pt x="55" y="57"/>
                  </a:cubicBezTo>
                  <a:cubicBezTo>
                    <a:pt x="50" y="52"/>
                    <a:pt x="44" y="50"/>
                    <a:pt x="37" y="50"/>
                  </a:cubicBezTo>
                  <a:cubicBezTo>
                    <a:pt x="32" y="50"/>
                    <a:pt x="28" y="51"/>
                    <a:pt x="25" y="53"/>
                  </a:cubicBezTo>
                  <a:cubicBezTo>
                    <a:pt x="21" y="55"/>
                    <a:pt x="18" y="58"/>
                    <a:pt x="16" y="61"/>
                  </a:cubicBezTo>
                  <a:lnTo>
                    <a:pt x="3" y="59"/>
                  </a:lnTo>
                  <a:lnTo>
                    <a:pt x="14" y="0"/>
                  </a:lnTo>
                  <a:lnTo>
                    <a:pt x="71" y="0"/>
                  </a:lnTo>
                  <a:lnTo>
                    <a:pt x="71" y="14"/>
                  </a:lnTo>
                  <a:lnTo>
                    <a:pt x="25" y="14"/>
                  </a:lnTo>
                  <a:lnTo>
                    <a:pt x="19" y="45"/>
                  </a:lnTo>
                  <a:cubicBezTo>
                    <a:pt x="26" y="40"/>
                    <a:pt x="33" y="38"/>
                    <a:pt x="41" y="38"/>
                  </a:cubicBezTo>
                  <a:cubicBezTo>
                    <a:pt x="51" y="38"/>
                    <a:pt x="59" y="41"/>
                    <a:pt x="66" y="48"/>
                  </a:cubicBezTo>
                  <a:cubicBezTo>
                    <a:pt x="73" y="55"/>
                    <a:pt x="76" y="64"/>
                    <a:pt x="76" y="75"/>
                  </a:cubicBezTo>
                  <a:cubicBezTo>
                    <a:pt x="76" y="85"/>
                    <a:pt x="73" y="94"/>
                    <a:pt x="67" y="102"/>
                  </a:cubicBezTo>
                  <a:cubicBezTo>
                    <a:pt x="60" y="111"/>
                    <a:pt x="50" y="115"/>
                    <a:pt x="37" y="115"/>
                  </a:cubicBezTo>
                  <a:cubicBezTo>
                    <a:pt x="27" y="115"/>
                    <a:pt x="18" y="113"/>
                    <a:pt x="12" y="107"/>
                  </a:cubicBezTo>
                  <a:cubicBezTo>
                    <a:pt x="5" y="101"/>
                    <a:pt x="1" y="93"/>
                    <a:pt x="0" y="8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EFD0B9A-C478-2844-AE52-9594DBC1C7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1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3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7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3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3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3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CC1052-C12A-C84F-AFA5-047EB2E9D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FFF5EC0-1EA1-B840-A65F-056C87D497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36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3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6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49" y="103"/>
                    <a:pt x="54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4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69026DA-A1E8-9741-83D2-CF676B525E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6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4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7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49" y="103"/>
                    <a:pt x="54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4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C3A451A-6E36-384D-A5AF-C9D22C86B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8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F85C4EE-2D21-C748-8F00-B55DF64B0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2" y="3821"/>
              <a:ext cx="48" cy="73"/>
            </a:xfrm>
            <a:custGeom>
              <a:avLst/>
              <a:gdLst>
                <a:gd name="T0" fmla="*/ 0 w 76"/>
                <a:gd name="T1" fmla="*/ 14 h 115"/>
                <a:gd name="T2" fmla="*/ 0 w 76"/>
                <a:gd name="T3" fmla="*/ 14 h 115"/>
                <a:gd name="T4" fmla="*/ 3 w 76"/>
                <a:gd name="T5" fmla="*/ 13 h 115"/>
                <a:gd name="T6" fmla="*/ 4 w 76"/>
                <a:gd name="T7" fmla="*/ 16 h 115"/>
                <a:gd name="T8" fmla="*/ 6 w 76"/>
                <a:gd name="T9" fmla="*/ 17 h 115"/>
                <a:gd name="T10" fmla="*/ 8 w 76"/>
                <a:gd name="T11" fmla="*/ 16 h 115"/>
                <a:gd name="T12" fmla="*/ 10 w 76"/>
                <a:gd name="T13" fmla="*/ 12 h 115"/>
                <a:gd name="T14" fmla="*/ 8 w 76"/>
                <a:gd name="T15" fmla="*/ 10 h 115"/>
                <a:gd name="T16" fmla="*/ 6 w 76"/>
                <a:gd name="T17" fmla="*/ 8 h 115"/>
                <a:gd name="T18" fmla="*/ 4 w 76"/>
                <a:gd name="T19" fmla="*/ 9 h 115"/>
                <a:gd name="T20" fmla="*/ 3 w 76"/>
                <a:gd name="T21" fmla="*/ 10 h 115"/>
                <a:gd name="T22" fmla="*/ 1 w 76"/>
                <a:gd name="T23" fmla="*/ 10 h 115"/>
                <a:gd name="T24" fmla="*/ 2 w 76"/>
                <a:gd name="T25" fmla="*/ 0 h 115"/>
                <a:gd name="T26" fmla="*/ 11 w 76"/>
                <a:gd name="T27" fmla="*/ 0 h 115"/>
                <a:gd name="T28" fmla="*/ 11 w 76"/>
                <a:gd name="T29" fmla="*/ 3 h 115"/>
                <a:gd name="T30" fmla="*/ 4 w 76"/>
                <a:gd name="T31" fmla="*/ 3 h 115"/>
                <a:gd name="T32" fmla="*/ 3 w 76"/>
                <a:gd name="T33" fmla="*/ 7 h 115"/>
                <a:gd name="T34" fmla="*/ 6 w 76"/>
                <a:gd name="T35" fmla="*/ 6 h 115"/>
                <a:gd name="T36" fmla="*/ 10 w 76"/>
                <a:gd name="T37" fmla="*/ 8 h 115"/>
                <a:gd name="T38" fmla="*/ 12 w 76"/>
                <a:gd name="T39" fmla="*/ 12 h 115"/>
                <a:gd name="T40" fmla="*/ 11 w 76"/>
                <a:gd name="T41" fmla="*/ 17 h 115"/>
                <a:gd name="T42" fmla="*/ 6 w 76"/>
                <a:gd name="T43" fmla="*/ 18 h 115"/>
                <a:gd name="T44" fmla="*/ 2 w 76"/>
                <a:gd name="T45" fmla="*/ 17 h 115"/>
                <a:gd name="T46" fmla="*/ 0 w 76"/>
                <a:gd name="T47" fmla="*/ 14 h 115"/>
                <a:gd name="T48" fmla="*/ 0 w 76"/>
                <a:gd name="T49" fmla="*/ 14 h 11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6" h="115">
                  <a:moveTo>
                    <a:pt x="0" y="83"/>
                  </a:moveTo>
                  <a:lnTo>
                    <a:pt x="0" y="83"/>
                  </a:lnTo>
                  <a:lnTo>
                    <a:pt x="15" y="82"/>
                  </a:lnTo>
                  <a:cubicBezTo>
                    <a:pt x="16" y="89"/>
                    <a:pt x="18" y="95"/>
                    <a:pt x="22" y="98"/>
                  </a:cubicBezTo>
                  <a:cubicBezTo>
                    <a:pt x="26" y="102"/>
                    <a:pt x="31" y="104"/>
                    <a:pt x="37" y="104"/>
                  </a:cubicBezTo>
                  <a:cubicBezTo>
                    <a:pt x="43" y="104"/>
                    <a:pt x="49" y="101"/>
                    <a:pt x="54" y="96"/>
                  </a:cubicBezTo>
                  <a:cubicBezTo>
                    <a:pt x="58" y="91"/>
                    <a:pt x="61" y="84"/>
                    <a:pt x="61" y="76"/>
                  </a:cubicBezTo>
                  <a:cubicBezTo>
                    <a:pt x="61" y="68"/>
                    <a:pt x="58" y="62"/>
                    <a:pt x="54" y="57"/>
                  </a:cubicBezTo>
                  <a:cubicBezTo>
                    <a:pt x="49" y="52"/>
                    <a:pt x="44" y="50"/>
                    <a:pt x="36" y="50"/>
                  </a:cubicBezTo>
                  <a:cubicBezTo>
                    <a:pt x="32" y="50"/>
                    <a:pt x="28" y="51"/>
                    <a:pt x="24" y="53"/>
                  </a:cubicBezTo>
                  <a:cubicBezTo>
                    <a:pt x="20" y="55"/>
                    <a:pt x="18" y="58"/>
                    <a:pt x="15" y="61"/>
                  </a:cubicBezTo>
                  <a:lnTo>
                    <a:pt x="2" y="59"/>
                  </a:lnTo>
                  <a:lnTo>
                    <a:pt x="13" y="0"/>
                  </a:lnTo>
                  <a:lnTo>
                    <a:pt x="70" y="0"/>
                  </a:lnTo>
                  <a:lnTo>
                    <a:pt x="70" y="14"/>
                  </a:lnTo>
                  <a:lnTo>
                    <a:pt x="25" y="14"/>
                  </a:lnTo>
                  <a:lnTo>
                    <a:pt x="18" y="45"/>
                  </a:lnTo>
                  <a:cubicBezTo>
                    <a:pt x="25" y="40"/>
                    <a:pt x="32" y="38"/>
                    <a:pt x="40" y="38"/>
                  </a:cubicBezTo>
                  <a:cubicBezTo>
                    <a:pt x="50" y="38"/>
                    <a:pt x="58" y="41"/>
                    <a:pt x="65" y="48"/>
                  </a:cubicBezTo>
                  <a:cubicBezTo>
                    <a:pt x="72" y="55"/>
                    <a:pt x="76" y="64"/>
                    <a:pt x="76" y="75"/>
                  </a:cubicBezTo>
                  <a:cubicBezTo>
                    <a:pt x="76" y="85"/>
                    <a:pt x="73" y="94"/>
                    <a:pt x="67" y="102"/>
                  </a:cubicBezTo>
                  <a:cubicBezTo>
                    <a:pt x="59" y="111"/>
                    <a:pt x="49" y="115"/>
                    <a:pt x="37" y="115"/>
                  </a:cubicBezTo>
                  <a:cubicBezTo>
                    <a:pt x="26" y="115"/>
                    <a:pt x="18" y="113"/>
                    <a:pt x="11" y="107"/>
                  </a:cubicBezTo>
                  <a:cubicBezTo>
                    <a:pt x="4" y="101"/>
                    <a:pt x="1" y="93"/>
                    <a:pt x="0" y="8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129FA9A-2634-DE42-BA61-25921A625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9" y="3820"/>
              <a:ext cx="27" cy="73"/>
            </a:xfrm>
            <a:custGeom>
              <a:avLst/>
              <a:gdLst>
                <a:gd name="T0" fmla="*/ 7 w 42"/>
                <a:gd name="T1" fmla="*/ 18 h 115"/>
                <a:gd name="T2" fmla="*/ 7 w 42"/>
                <a:gd name="T3" fmla="*/ 18 h 115"/>
                <a:gd name="T4" fmla="*/ 5 w 42"/>
                <a:gd name="T5" fmla="*/ 18 h 115"/>
                <a:gd name="T6" fmla="*/ 5 w 42"/>
                <a:gd name="T7" fmla="*/ 4 h 115"/>
                <a:gd name="T8" fmla="*/ 3 w 42"/>
                <a:gd name="T9" fmla="*/ 6 h 115"/>
                <a:gd name="T10" fmla="*/ 0 w 42"/>
                <a:gd name="T11" fmla="*/ 7 h 115"/>
                <a:gd name="T12" fmla="*/ 0 w 42"/>
                <a:gd name="T13" fmla="*/ 4 h 115"/>
                <a:gd name="T14" fmla="*/ 3 w 42"/>
                <a:gd name="T15" fmla="*/ 3 h 115"/>
                <a:gd name="T16" fmla="*/ 6 w 42"/>
                <a:gd name="T17" fmla="*/ 0 h 115"/>
                <a:gd name="T18" fmla="*/ 7 w 42"/>
                <a:gd name="T19" fmla="*/ 0 h 115"/>
                <a:gd name="T20" fmla="*/ 7 w 42"/>
                <a:gd name="T21" fmla="*/ 18 h 1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15">
                  <a:moveTo>
                    <a:pt x="42" y="115"/>
                  </a:moveTo>
                  <a:lnTo>
                    <a:pt x="42" y="115"/>
                  </a:lnTo>
                  <a:lnTo>
                    <a:pt x="28" y="115"/>
                  </a:lnTo>
                  <a:lnTo>
                    <a:pt x="28" y="26"/>
                  </a:lnTo>
                  <a:cubicBezTo>
                    <a:pt x="24" y="29"/>
                    <a:pt x="20" y="32"/>
                    <a:pt x="14" y="36"/>
                  </a:cubicBezTo>
                  <a:cubicBezTo>
                    <a:pt x="9" y="39"/>
                    <a:pt x="4" y="41"/>
                    <a:pt x="0" y="43"/>
                  </a:cubicBezTo>
                  <a:lnTo>
                    <a:pt x="0" y="29"/>
                  </a:lnTo>
                  <a:cubicBezTo>
                    <a:pt x="7" y="26"/>
                    <a:pt x="14" y="21"/>
                    <a:pt x="20" y="16"/>
                  </a:cubicBezTo>
                  <a:cubicBezTo>
                    <a:pt x="26" y="11"/>
                    <a:pt x="30" y="5"/>
                    <a:pt x="33" y="0"/>
                  </a:cubicBezTo>
                  <a:lnTo>
                    <a:pt x="42" y="0"/>
                  </a:lnTo>
                  <a:lnTo>
                    <a:pt x="42" y="1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95A67753-6D32-1F4B-BA09-D25C26055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4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A11668E-F9CD-924B-9162-DA1A29F3F9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47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4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7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50" y="103"/>
                    <a:pt x="54" y="96"/>
                  </a:cubicBezTo>
                  <a:cubicBezTo>
                    <a:pt x="58" y="90"/>
                    <a:pt x="61" y="78"/>
                    <a:pt x="61" y="59"/>
                  </a:cubicBezTo>
                  <a:cubicBezTo>
                    <a:pt x="61" y="40"/>
                    <a:pt x="58" y="28"/>
                    <a:pt x="54" y="21"/>
                  </a:cubicBezTo>
                  <a:cubicBezTo>
                    <a:pt x="50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7A8DFF-9415-204D-8992-2B0F08B02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507"/>
              <a:ext cx="0" cy="2082"/>
            </a:xfrm>
            <a:custGeom>
              <a:avLst/>
              <a:gdLst>
                <a:gd name="T0" fmla="*/ 540 h 3264"/>
                <a:gd name="T1" fmla="*/ 540 h 3264"/>
                <a:gd name="T2" fmla="*/ 0 h 3264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3264">
                  <a:moveTo>
                    <a:pt x="0" y="3264"/>
                  </a:moveTo>
                  <a:lnTo>
                    <a:pt x="0" y="3264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5FA1613-3DF9-5D42-967F-DFAD5EACA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3589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8AA779A-009B-9D4B-8515-ED476539E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3069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ED853B8-3C9F-6C43-87CE-494F078C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548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7602237-173C-AF41-8640-3FC4678A3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028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C56CBAC-D8E6-314D-9CF9-DD6CA8A8F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507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7DDD4F3-0FB3-7B4A-A7BB-D1F9690A8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3647"/>
              <a:ext cx="9" cy="27"/>
            </a:xfrm>
            <a:custGeom>
              <a:avLst/>
              <a:gdLst>
                <a:gd name="T0" fmla="*/ 3 w 14"/>
                <a:gd name="T1" fmla="*/ 7 h 43"/>
                <a:gd name="T2" fmla="*/ 3 w 14"/>
                <a:gd name="T3" fmla="*/ 7 h 43"/>
                <a:gd name="T4" fmla="*/ 0 w 14"/>
                <a:gd name="T5" fmla="*/ 7 h 43"/>
                <a:gd name="T6" fmla="*/ 0 w 14"/>
                <a:gd name="T7" fmla="*/ 0 h 43"/>
                <a:gd name="T8" fmla="*/ 3 w 14"/>
                <a:gd name="T9" fmla="*/ 0 h 43"/>
                <a:gd name="T10" fmla="*/ 3 w 14"/>
                <a:gd name="T11" fmla="*/ 7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43">
                  <a:moveTo>
                    <a:pt x="14" y="43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8C56BEC-7FF6-C84D-8F65-F502E9C55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3605"/>
              <a:ext cx="73" cy="27"/>
            </a:xfrm>
            <a:custGeom>
              <a:avLst/>
              <a:gdLst>
                <a:gd name="T0" fmla="*/ 18 w 115"/>
                <a:gd name="T1" fmla="*/ 0 h 42"/>
                <a:gd name="T2" fmla="*/ 18 w 115"/>
                <a:gd name="T3" fmla="*/ 0 h 42"/>
                <a:gd name="T4" fmla="*/ 18 w 115"/>
                <a:gd name="T5" fmla="*/ 3 h 42"/>
                <a:gd name="T6" fmla="*/ 4 w 115"/>
                <a:gd name="T7" fmla="*/ 3 h 42"/>
                <a:gd name="T8" fmla="*/ 6 w 115"/>
                <a:gd name="T9" fmla="*/ 5 h 42"/>
                <a:gd name="T10" fmla="*/ 7 w 115"/>
                <a:gd name="T11" fmla="*/ 7 h 42"/>
                <a:gd name="T12" fmla="*/ 4 w 115"/>
                <a:gd name="T13" fmla="*/ 7 h 42"/>
                <a:gd name="T14" fmla="*/ 3 w 115"/>
                <a:gd name="T15" fmla="*/ 4 h 42"/>
                <a:gd name="T16" fmla="*/ 0 w 115"/>
                <a:gd name="T17" fmla="*/ 2 h 42"/>
                <a:gd name="T18" fmla="*/ 0 w 115"/>
                <a:gd name="T19" fmla="*/ 0 h 42"/>
                <a:gd name="T20" fmla="*/ 18 w 115"/>
                <a:gd name="T21" fmla="*/ 0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2">
                  <a:moveTo>
                    <a:pt x="115" y="0"/>
                  </a:moveTo>
                  <a:lnTo>
                    <a:pt x="115" y="0"/>
                  </a:lnTo>
                  <a:lnTo>
                    <a:pt x="115" y="14"/>
                  </a:lnTo>
                  <a:lnTo>
                    <a:pt x="25" y="14"/>
                  </a:lnTo>
                  <a:cubicBezTo>
                    <a:pt x="28" y="18"/>
                    <a:pt x="32" y="22"/>
                    <a:pt x="35" y="27"/>
                  </a:cubicBezTo>
                  <a:cubicBezTo>
                    <a:pt x="38" y="33"/>
                    <a:pt x="40" y="38"/>
                    <a:pt x="42" y="42"/>
                  </a:cubicBezTo>
                  <a:lnTo>
                    <a:pt x="28" y="42"/>
                  </a:lnTo>
                  <a:cubicBezTo>
                    <a:pt x="25" y="34"/>
                    <a:pt x="20" y="28"/>
                    <a:pt x="15" y="22"/>
                  </a:cubicBezTo>
                  <a:cubicBezTo>
                    <a:pt x="10" y="16"/>
                    <a:pt x="5" y="12"/>
                    <a:pt x="0" y="9"/>
                  </a:cubicBez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F302BF2E-AC92-DD4C-A5F9-F21A190D0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567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4D6749B-B749-EA4D-BC55-F12627787D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3507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8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3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35EEE93-2281-DB45-9730-8AE6237F1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3126"/>
              <a:ext cx="9" cy="28"/>
            </a:xfrm>
            <a:custGeom>
              <a:avLst/>
              <a:gdLst>
                <a:gd name="T0" fmla="*/ 3 w 14"/>
                <a:gd name="T1" fmla="*/ 8 h 43"/>
                <a:gd name="T2" fmla="*/ 3 w 14"/>
                <a:gd name="T3" fmla="*/ 8 h 43"/>
                <a:gd name="T4" fmla="*/ 0 w 14"/>
                <a:gd name="T5" fmla="*/ 8 h 43"/>
                <a:gd name="T6" fmla="*/ 0 w 14"/>
                <a:gd name="T7" fmla="*/ 0 h 43"/>
                <a:gd name="T8" fmla="*/ 3 w 14"/>
                <a:gd name="T9" fmla="*/ 0 h 43"/>
                <a:gd name="T10" fmla="*/ 3 w 14"/>
                <a:gd name="T11" fmla="*/ 8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43">
                  <a:moveTo>
                    <a:pt x="14" y="43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F4BE8BB-0F27-144B-9CF9-A36134D7CB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3071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1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8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7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2"/>
                    <a:pt x="91" y="4"/>
                  </a:cubicBezTo>
                  <a:cubicBezTo>
                    <a:pt x="99" y="7"/>
                    <a:pt x="105" y="11"/>
                    <a:pt x="110" y="17"/>
                  </a:cubicBezTo>
                  <a:cubicBezTo>
                    <a:pt x="114" y="22"/>
                    <a:pt x="117" y="29"/>
                    <a:pt x="117" y="38"/>
                  </a:cubicBezTo>
                  <a:cubicBezTo>
                    <a:pt x="117" y="49"/>
                    <a:pt x="113" y="57"/>
                    <a:pt x="105" y="64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8"/>
                  </a:cubicBezTo>
                  <a:cubicBezTo>
                    <a:pt x="105" y="31"/>
                    <a:pt x="102" y="26"/>
                    <a:pt x="96" y="21"/>
                  </a:cubicBezTo>
                  <a:cubicBezTo>
                    <a:pt x="89" y="17"/>
                    <a:pt x="77" y="15"/>
                    <a:pt x="58" y="15"/>
                  </a:cubicBezTo>
                  <a:cubicBezTo>
                    <a:pt x="39" y="15"/>
                    <a:pt x="27" y="17"/>
                    <a:pt x="21" y="21"/>
                  </a:cubicBezTo>
                  <a:cubicBezTo>
                    <a:pt x="14" y="26"/>
                    <a:pt x="11" y="31"/>
                    <a:pt x="11" y="38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F939AC1-34FC-5C40-AFC4-41D0469DF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047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710ADE1-BF11-6243-B488-09F75CF86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985"/>
              <a:ext cx="74" cy="48"/>
            </a:xfrm>
            <a:custGeom>
              <a:avLst/>
              <a:gdLst>
                <a:gd name="T0" fmla="*/ 14 w 115"/>
                <a:gd name="T1" fmla="*/ 12 h 76"/>
                <a:gd name="T2" fmla="*/ 14 w 115"/>
                <a:gd name="T3" fmla="*/ 12 h 76"/>
                <a:gd name="T4" fmla="*/ 14 w 115"/>
                <a:gd name="T5" fmla="*/ 10 h 76"/>
                <a:gd name="T6" fmla="*/ 17 w 115"/>
                <a:gd name="T7" fmla="*/ 8 h 76"/>
                <a:gd name="T8" fmla="*/ 17 w 115"/>
                <a:gd name="T9" fmla="*/ 6 h 76"/>
                <a:gd name="T10" fmla="*/ 16 w 115"/>
                <a:gd name="T11" fmla="*/ 4 h 76"/>
                <a:gd name="T12" fmla="*/ 13 w 115"/>
                <a:gd name="T13" fmla="*/ 3 h 76"/>
                <a:gd name="T14" fmla="*/ 10 w 115"/>
                <a:gd name="T15" fmla="*/ 4 h 76"/>
                <a:gd name="T16" fmla="*/ 9 w 115"/>
                <a:gd name="T17" fmla="*/ 6 h 76"/>
                <a:gd name="T18" fmla="*/ 9 w 115"/>
                <a:gd name="T19" fmla="*/ 8 h 76"/>
                <a:gd name="T20" fmla="*/ 10 w 115"/>
                <a:gd name="T21" fmla="*/ 10 h 76"/>
                <a:gd name="T22" fmla="*/ 10 w 115"/>
                <a:gd name="T23" fmla="*/ 12 h 76"/>
                <a:gd name="T24" fmla="*/ 0 w 115"/>
                <a:gd name="T25" fmla="*/ 10 h 76"/>
                <a:gd name="T26" fmla="*/ 0 w 115"/>
                <a:gd name="T27" fmla="*/ 1 h 76"/>
                <a:gd name="T28" fmla="*/ 2 w 115"/>
                <a:gd name="T29" fmla="*/ 1 h 76"/>
                <a:gd name="T30" fmla="*/ 2 w 115"/>
                <a:gd name="T31" fmla="*/ 8 h 76"/>
                <a:gd name="T32" fmla="*/ 8 w 115"/>
                <a:gd name="T33" fmla="*/ 9 h 76"/>
                <a:gd name="T34" fmla="*/ 6 w 115"/>
                <a:gd name="T35" fmla="*/ 6 h 76"/>
                <a:gd name="T36" fmla="*/ 8 w 115"/>
                <a:gd name="T37" fmla="*/ 2 h 76"/>
                <a:gd name="T38" fmla="*/ 13 w 115"/>
                <a:gd name="T39" fmla="*/ 0 h 76"/>
                <a:gd name="T40" fmla="*/ 17 w 115"/>
                <a:gd name="T41" fmla="*/ 2 h 76"/>
                <a:gd name="T42" fmla="*/ 20 w 115"/>
                <a:gd name="T43" fmla="*/ 6 h 76"/>
                <a:gd name="T44" fmla="*/ 18 w 115"/>
                <a:gd name="T45" fmla="*/ 10 h 76"/>
                <a:gd name="T46" fmla="*/ 14 w 115"/>
                <a:gd name="T47" fmla="*/ 12 h 76"/>
                <a:gd name="T48" fmla="*/ 14 w 115"/>
                <a:gd name="T49" fmla="*/ 12 h 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15" h="76">
                  <a:moveTo>
                    <a:pt x="83" y="76"/>
                  </a:moveTo>
                  <a:lnTo>
                    <a:pt x="83" y="76"/>
                  </a:lnTo>
                  <a:lnTo>
                    <a:pt x="81" y="62"/>
                  </a:lnTo>
                  <a:cubicBezTo>
                    <a:pt x="89" y="60"/>
                    <a:pt x="94" y="58"/>
                    <a:pt x="98" y="54"/>
                  </a:cubicBezTo>
                  <a:cubicBezTo>
                    <a:pt x="101" y="50"/>
                    <a:pt x="103" y="45"/>
                    <a:pt x="103" y="40"/>
                  </a:cubicBezTo>
                  <a:cubicBezTo>
                    <a:pt x="103" y="33"/>
                    <a:pt x="101" y="27"/>
                    <a:pt x="95" y="22"/>
                  </a:cubicBezTo>
                  <a:cubicBezTo>
                    <a:pt x="90" y="18"/>
                    <a:pt x="84" y="15"/>
                    <a:pt x="75" y="15"/>
                  </a:cubicBezTo>
                  <a:cubicBezTo>
                    <a:pt x="67" y="15"/>
                    <a:pt x="61" y="18"/>
                    <a:pt x="56" y="22"/>
                  </a:cubicBezTo>
                  <a:cubicBezTo>
                    <a:pt x="52" y="27"/>
                    <a:pt x="49" y="33"/>
                    <a:pt x="49" y="40"/>
                  </a:cubicBezTo>
                  <a:cubicBezTo>
                    <a:pt x="49" y="44"/>
                    <a:pt x="50" y="48"/>
                    <a:pt x="52" y="52"/>
                  </a:cubicBezTo>
                  <a:cubicBezTo>
                    <a:pt x="54" y="56"/>
                    <a:pt x="57" y="59"/>
                    <a:pt x="60" y="61"/>
                  </a:cubicBezTo>
                  <a:lnTo>
                    <a:pt x="59" y="74"/>
                  </a:lnTo>
                  <a:lnTo>
                    <a:pt x="0" y="63"/>
                  </a:lnTo>
                  <a:lnTo>
                    <a:pt x="0" y="6"/>
                  </a:lnTo>
                  <a:lnTo>
                    <a:pt x="13" y="6"/>
                  </a:lnTo>
                  <a:lnTo>
                    <a:pt x="13" y="52"/>
                  </a:lnTo>
                  <a:lnTo>
                    <a:pt x="44" y="58"/>
                  </a:lnTo>
                  <a:cubicBezTo>
                    <a:pt x="39" y="51"/>
                    <a:pt x="37" y="44"/>
                    <a:pt x="37" y="36"/>
                  </a:cubicBezTo>
                  <a:cubicBezTo>
                    <a:pt x="37" y="26"/>
                    <a:pt x="40" y="18"/>
                    <a:pt x="47" y="11"/>
                  </a:cubicBezTo>
                  <a:cubicBezTo>
                    <a:pt x="54" y="4"/>
                    <a:pt x="63" y="0"/>
                    <a:pt x="74" y="0"/>
                  </a:cubicBezTo>
                  <a:cubicBezTo>
                    <a:pt x="84" y="0"/>
                    <a:pt x="93" y="3"/>
                    <a:pt x="101" y="9"/>
                  </a:cubicBezTo>
                  <a:cubicBezTo>
                    <a:pt x="110" y="17"/>
                    <a:pt x="115" y="27"/>
                    <a:pt x="115" y="40"/>
                  </a:cubicBezTo>
                  <a:cubicBezTo>
                    <a:pt x="115" y="50"/>
                    <a:pt x="112" y="58"/>
                    <a:pt x="106" y="65"/>
                  </a:cubicBezTo>
                  <a:cubicBezTo>
                    <a:pt x="100" y="72"/>
                    <a:pt x="92" y="75"/>
                    <a:pt x="83" y="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6F5014E6-5483-F540-80FF-E9895007B1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568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7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2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841DB98A-A8A3-EC4E-8323-D1CB6619F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543"/>
              <a:ext cx="10" cy="11"/>
            </a:xfrm>
            <a:custGeom>
              <a:avLst/>
              <a:gdLst>
                <a:gd name="T0" fmla="*/ 3 w 16"/>
                <a:gd name="T1" fmla="*/ 3 h 17"/>
                <a:gd name="T2" fmla="*/ 3 w 16"/>
                <a:gd name="T3" fmla="*/ 3 h 17"/>
                <a:gd name="T4" fmla="*/ 0 w 16"/>
                <a:gd name="T5" fmla="*/ 3 h 17"/>
                <a:gd name="T6" fmla="*/ 0 w 16"/>
                <a:gd name="T7" fmla="*/ 0 h 17"/>
                <a:gd name="T8" fmla="*/ 3 w 16"/>
                <a:gd name="T9" fmla="*/ 0 h 17"/>
                <a:gd name="T10" fmla="*/ 3 w 16"/>
                <a:gd name="T11" fmla="*/ 3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7">
                  <a:moveTo>
                    <a:pt x="16" y="17"/>
                  </a:moveTo>
                  <a:lnTo>
                    <a:pt x="16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EF2CA51B-0422-9649-841E-AC90719BBC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482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1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8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7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2"/>
                    <a:pt x="91" y="4"/>
                  </a:cubicBezTo>
                  <a:cubicBezTo>
                    <a:pt x="99" y="7"/>
                    <a:pt x="105" y="11"/>
                    <a:pt x="110" y="17"/>
                  </a:cubicBezTo>
                  <a:cubicBezTo>
                    <a:pt x="114" y="22"/>
                    <a:pt x="117" y="29"/>
                    <a:pt x="117" y="38"/>
                  </a:cubicBezTo>
                  <a:cubicBezTo>
                    <a:pt x="117" y="49"/>
                    <a:pt x="113" y="57"/>
                    <a:pt x="105" y="64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8"/>
                  </a:cubicBezTo>
                  <a:cubicBezTo>
                    <a:pt x="105" y="31"/>
                    <a:pt x="102" y="26"/>
                    <a:pt x="96" y="21"/>
                  </a:cubicBezTo>
                  <a:cubicBezTo>
                    <a:pt x="89" y="17"/>
                    <a:pt x="77" y="15"/>
                    <a:pt x="58" y="15"/>
                  </a:cubicBezTo>
                  <a:cubicBezTo>
                    <a:pt x="39" y="15"/>
                    <a:pt x="27" y="17"/>
                    <a:pt x="21" y="21"/>
                  </a:cubicBezTo>
                  <a:cubicBezTo>
                    <a:pt x="14" y="26"/>
                    <a:pt x="11" y="31"/>
                    <a:pt x="11" y="38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89678B40-0CC1-6F47-90AE-90EEC1D6E6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047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7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5"/>
                    <a:pt x="3" y="21"/>
                  </a:cubicBezTo>
                  <a:cubicBezTo>
                    <a:pt x="6" y="16"/>
                    <a:pt x="9" y="12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0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3"/>
                    <a:pt x="105" y="37"/>
                  </a:cubicBezTo>
                  <a:cubicBezTo>
                    <a:pt x="105" y="30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7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937FC5C3-68D7-764A-B001-8F8983476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022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B0A92B3-5381-224A-BB6A-CC578772B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961"/>
              <a:ext cx="74" cy="48"/>
            </a:xfrm>
            <a:custGeom>
              <a:avLst/>
              <a:gdLst>
                <a:gd name="T0" fmla="*/ 14 w 115"/>
                <a:gd name="T1" fmla="*/ 12 h 76"/>
                <a:gd name="T2" fmla="*/ 14 w 115"/>
                <a:gd name="T3" fmla="*/ 12 h 76"/>
                <a:gd name="T4" fmla="*/ 14 w 115"/>
                <a:gd name="T5" fmla="*/ 10 h 76"/>
                <a:gd name="T6" fmla="*/ 17 w 115"/>
                <a:gd name="T7" fmla="*/ 8 h 76"/>
                <a:gd name="T8" fmla="*/ 17 w 115"/>
                <a:gd name="T9" fmla="*/ 6 h 76"/>
                <a:gd name="T10" fmla="*/ 16 w 115"/>
                <a:gd name="T11" fmla="*/ 4 h 76"/>
                <a:gd name="T12" fmla="*/ 13 w 115"/>
                <a:gd name="T13" fmla="*/ 3 h 76"/>
                <a:gd name="T14" fmla="*/ 10 w 115"/>
                <a:gd name="T15" fmla="*/ 4 h 76"/>
                <a:gd name="T16" fmla="*/ 9 w 115"/>
                <a:gd name="T17" fmla="*/ 6 h 76"/>
                <a:gd name="T18" fmla="*/ 9 w 115"/>
                <a:gd name="T19" fmla="*/ 8 h 76"/>
                <a:gd name="T20" fmla="*/ 10 w 115"/>
                <a:gd name="T21" fmla="*/ 9 h 76"/>
                <a:gd name="T22" fmla="*/ 10 w 115"/>
                <a:gd name="T23" fmla="*/ 11 h 76"/>
                <a:gd name="T24" fmla="*/ 0 w 115"/>
                <a:gd name="T25" fmla="*/ 10 h 76"/>
                <a:gd name="T26" fmla="*/ 0 w 115"/>
                <a:gd name="T27" fmla="*/ 1 h 76"/>
                <a:gd name="T28" fmla="*/ 2 w 115"/>
                <a:gd name="T29" fmla="*/ 1 h 76"/>
                <a:gd name="T30" fmla="*/ 2 w 115"/>
                <a:gd name="T31" fmla="*/ 8 h 76"/>
                <a:gd name="T32" fmla="*/ 8 w 115"/>
                <a:gd name="T33" fmla="*/ 9 h 76"/>
                <a:gd name="T34" fmla="*/ 6 w 115"/>
                <a:gd name="T35" fmla="*/ 6 h 76"/>
                <a:gd name="T36" fmla="*/ 8 w 115"/>
                <a:gd name="T37" fmla="*/ 2 h 76"/>
                <a:gd name="T38" fmla="*/ 13 w 115"/>
                <a:gd name="T39" fmla="*/ 0 h 76"/>
                <a:gd name="T40" fmla="*/ 17 w 115"/>
                <a:gd name="T41" fmla="*/ 2 h 76"/>
                <a:gd name="T42" fmla="*/ 20 w 115"/>
                <a:gd name="T43" fmla="*/ 6 h 76"/>
                <a:gd name="T44" fmla="*/ 18 w 115"/>
                <a:gd name="T45" fmla="*/ 10 h 76"/>
                <a:gd name="T46" fmla="*/ 14 w 115"/>
                <a:gd name="T47" fmla="*/ 12 h 76"/>
                <a:gd name="T48" fmla="*/ 14 w 115"/>
                <a:gd name="T49" fmla="*/ 12 h 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15" h="76">
                  <a:moveTo>
                    <a:pt x="83" y="76"/>
                  </a:moveTo>
                  <a:lnTo>
                    <a:pt x="83" y="76"/>
                  </a:lnTo>
                  <a:lnTo>
                    <a:pt x="81" y="61"/>
                  </a:lnTo>
                  <a:cubicBezTo>
                    <a:pt x="89" y="60"/>
                    <a:pt x="94" y="57"/>
                    <a:pt x="98" y="53"/>
                  </a:cubicBezTo>
                  <a:cubicBezTo>
                    <a:pt x="101" y="49"/>
                    <a:pt x="103" y="45"/>
                    <a:pt x="103" y="39"/>
                  </a:cubicBezTo>
                  <a:cubicBezTo>
                    <a:pt x="103" y="32"/>
                    <a:pt x="101" y="26"/>
                    <a:pt x="95" y="22"/>
                  </a:cubicBezTo>
                  <a:cubicBezTo>
                    <a:pt x="90" y="17"/>
                    <a:pt x="84" y="15"/>
                    <a:pt x="75" y="15"/>
                  </a:cubicBezTo>
                  <a:cubicBezTo>
                    <a:pt x="67" y="15"/>
                    <a:pt x="61" y="17"/>
                    <a:pt x="56" y="22"/>
                  </a:cubicBezTo>
                  <a:cubicBezTo>
                    <a:pt x="52" y="26"/>
                    <a:pt x="49" y="32"/>
                    <a:pt x="49" y="39"/>
                  </a:cubicBezTo>
                  <a:cubicBezTo>
                    <a:pt x="49" y="44"/>
                    <a:pt x="50" y="48"/>
                    <a:pt x="52" y="51"/>
                  </a:cubicBezTo>
                  <a:cubicBezTo>
                    <a:pt x="54" y="55"/>
                    <a:pt x="57" y="58"/>
                    <a:pt x="60" y="60"/>
                  </a:cubicBezTo>
                  <a:lnTo>
                    <a:pt x="59" y="73"/>
                  </a:lnTo>
                  <a:lnTo>
                    <a:pt x="0" y="62"/>
                  </a:lnTo>
                  <a:lnTo>
                    <a:pt x="0" y="5"/>
                  </a:lnTo>
                  <a:lnTo>
                    <a:pt x="13" y="5"/>
                  </a:lnTo>
                  <a:lnTo>
                    <a:pt x="13" y="51"/>
                  </a:lnTo>
                  <a:lnTo>
                    <a:pt x="44" y="57"/>
                  </a:lnTo>
                  <a:cubicBezTo>
                    <a:pt x="39" y="50"/>
                    <a:pt x="37" y="43"/>
                    <a:pt x="37" y="35"/>
                  </a:cubicBezTo>
                  <a:cubicBezTo>
                    <a:pt x="37" y="25"/>
                    <a:pt x="40" y="17"/>
                    <a:pt x="47" y="10"/>
                  </a:cubicBezTo>
                  <a:cubicBezTo>
                    <a:pt x="54" y="3"/>
                    <a:pt x="63" y="0"/>
                    <a:pt x="74" y="0"/>
                  </a:cubicBezTo>
                  <a:cubicBezTo>
                    <a:pt x="84" y="0"/>
                    <a:pt x="93" y="3"/>
                    <a:pt x="101" y="9"/>
                  </a:cubicBezTo>
                  <a:cubicBezTo>
                    <a:pt x="110" y="16"/>
                    <a:pt x="115" y="26"/>
                    <a:pt x="115" y="39"/>
                  </a:cubicBezTo>
                  <a:cubicBezTo>
                    <a:pt x="115" y="49"/>
                    <a:pt x="112" y="58"/>
                    <a:pt x="106" y="64"/>
                  </a:cubicBezTo>
                  <a:cubicBezTo>
                    <a:pt x="100" y="71"/>
                    <a:pt x="92" y="75"/>
                    <a:pt x="83" y="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E4A7A1A6-B76C-DE4F-AB0D-F888079E2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540"/>
              <a:ext cx="73" cy="27"/>
            </a:xfrm>
            <a:custGeom>
              <a:avLst/>
              <a:gdLst>
                <a:gd name="T0" fmla="*/ 18 w 115"/>
                <a:gd name="T1" fmla="*/ 0 h 42"/>
                <a:gd name="T2" fmla="*/ 18 w 115"/>
                <a:gd name="T3" fmla="*/ 0 h 42"/>
                <a:gd name="T4" fmla="*/ 18 w 115"/>
                <a:gd name="T5" fmla="*/ 3 h 42"/>
                <a:gd name="T6" fmla="*/ 4 w 115"/>
                <a:gd name="T7" fmla="*/ 3 h 42"/>
                <a:gd name="T8" fmla="*/ 6 w 115"/>
                <a:gd name="T9" fmla="*/ 5 h 42"/>
                <a:gd name="T10" fmla="*/ 7 w 115"/>
                <a:gd name="T11" fmla="*/ 7 h 42"/>
                <a:gd name="T12" fmla="*/ 4 w 115"/>
                <a:gd name="T13" fmla="*/ 7 h 42"/>
                <a:gd name="T14" fmla="*/ 3 w 115"/>
                <a:gd name="T15" fmla="*/ 4 h 42"/>
                <a:gd name="T16" fmla="*/ 0 w 115"/>
                <a:gd name="T17" fmla="*/ 2 h 42"/>
                <a:gd name="T18" fmla="*/ 0 w 115"/>
                <a:gd name="T19" fmla="*/ 0 h 42"/>
                <a:gd name="T20" fmla="*/ 18 w 115"/>
                <a:gd name="T21" fmla="*/ 0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2">
                  <a:moveTo>
                    <a:pt x="115" y="0"/>
                  </a:moveTo>
                  <a:lnTo>
                    <a:pt x="115" y="0"/>
                  </a:lnTo>
                  <a:lnTo>
                    <a:pt x="115" y="14"/>
                  </a:lnTo>
                  <a:lnTo>
                    <a:pt x="25" y="14"/>
                  </a:lnTo>
                  <a:cubicBezTo>
                    <a:pt x="28" y="18"/>
                    <a:pt x="32" y="22"/>
                    <a:pt x="35" y="28"/>
                  </a:cubicBezTo>
                  <a:cubicBezTo>
                    <a:pt x="38" y="33"/>
                    <a:pt x="40" y="38"/>
                    <a:pt x="42" y="42"/>
                  </a:cubicBezTo>
                  <a:lnTo>
                    <a:pt x="28" y="42"/>
                  </a:lnTo>
                  <a:cubicBezTo>
                    <a:pt x="25" y="35"/>
                    <a:pt x="20" y="28"/>
                    <a:pt x="15" y="22"/>
                  </a:cubicBezTo>
                  <a:cubicBezTo>
                    <a:pt x="10" y="16"/>
                    <a:pt x="5" y="12"/>
                    <a:pt x="0" y="9"/>
                  </a:cubicBez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C4D79B5-BA22-FB43-8DBD-E7B453CBD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502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FD15CD93-BB76-624F-A422-BC4A9B580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1441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0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7"/>
                    <a:pt x="77" y="14"/>
                    <a:pt x="58" y="14"/>
                  </a:cubicBezTo>
                  <a:cubicBezTo>
                    <a:pt x="39" y="14"/>
                    <a:pt x="27" y="17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0CF6CCC-A610-1B44-BBDA-C9F18BFDC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424"/>
              <a:ext cx="2617" cy="2249"/>
            </a:xfrm>
            <a:custGeom>
              <a:avLst/>
              <a:gdLst>
                <a:gd name="T0" fmla="*/ 0 w 4102"/>
                <a:gd name="T1" fmla="*/ 584 h 3526"/>
                <a:gd name="T2" fmla="*/ 0 w 4102"/>
                <a:gd name="T3" fmla="*/ 584 h 3526"/>
                <a:gd name="T4" fmla="*/ 679 w 4102"/>
                <a:gd name="T5" fmla="*/ 584 h 3526"/>
                <a:gd name="T6" fmla="*/ 679 w 4102"/>
                <a:gd name="T7" fmla="*/ 0 h 3526"/>
                <a:gd name="T8" fmla="*/ 0 w 4102"/>
                <a:gd name="T9" fmla="*/ 0 h 3526"/>
                <a:gd name="T10" fmla="*/ 0 w 4102"/>
                <a:gd name="T11" fmla="*/ 584 h 35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02" h="3526">
                  <a:moveTo>
                    <a:pt x="0" y="3526"/>
                  </a:moveTo>
                  <a:lnTo>
                    <a:pt x="0" y="3526"/>
                  </a:lnTo>
                  <a:lnTo>
                    <a:pt x="4102" y="3526"/>
                  </a:lnTo>
                  <a:lnTo>
                    <a:pt x="4102" y="0"/>
                  </a:lnTo>
                  <a:lnTo>
                    <a:pt x="0" y="0"/>
                  </a:lnTo>
                  <a:lnTo>
                    <a:pt x="0" y="3526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53" name="Freeform 57">
              <a:extLst>
                <a:ext uri="{FF2B5EF4-FFF2-40B4-BE49-F238E27FC236}">
                  <a16:creationId xmlns:a16="http://schemas.microsoft.com/office/drawing/2014/main" id="{439E67E2-76B1-9042-AB89-EFFDC56A62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09" y="2548"/>
              <a:ext cx="2617" cy="0"/>
            </a:xfrm>
            <a:custGeom>
              <a:avLst/>
              <a:gdLst>
                <a:gd name="T0" fmla="*/ 0 w 4102"/>
                <a:gd name="T1" fmla="*/ 17 w 4102"/>
                <a:gd name="T2" fmla="*/ 26 w 4102"/>
                <a:gd name="T3" fmla="*/ 36 w 4102"/>
                <a:gd name="T4" fmla="*/ 53 w 4102"/>
                <a:gd name="T5" fmla="*/ 62 w 4102"/>
                <a:gd name="T6" fmla="*/ 71 w 4102"/>
                <a:gd name="T7" fmla="*/ 89 w 4102"/>
                <a:gd name="T8" fmla="*/ 97 w 4102"/>
                <a:gd name="T9" fmla="*/ 107 w 4102"/>
                <a:gd name="T10" fmla="*/ 124 w 4102"/>
                <a:gd name="T11" fmla="*/ 133 w 4102"/>
                <a:gd name="T12" fmla="*/ 142 w 4102"/>
                <a:gd name="T13" fmla="*/ 159 w 4102"/>
                <a:gd name="T14" fmla="*/ 168 w 4102"/>
                <a:gd name="T15" fmla="*/ 177 w 4102"/>
                <a:gd name="T16" fmla="*/ 195 w 4102"/>
                <a:gd name="T17" fmla="*/ 204 w 4102"/>
                <a:gd name="T18" fmla="*/ 212 w 4102"/>
                <a:gd name="T19" fmla="*/ 230 w 4102"/>
                <a:gd name="T20" fmla="*/ 239 w 4102"/>
                <a:gd name="T21" fmla="*/ 248 w 4102"/>
                <a:gd name="T22" fmla="*/ 265 w 4102"/>
                <a:gd name="T23" fmla="*/ 274 w 4102"/>
                <a:gd name="T24" fmla="*/ 283 w 4102"/>
                <a:gd name="T25" fmla="*/ 300 w 4102"/>
                <a:gd name="T26" fmla="*/ 309 w 4102"/>
                <a:gd name="T27" fmla="*/ 318 w 4102"/>
                <a:gd name="T28" fmla="*/ 336 w 4102"/>
                <a:gd name="T29" fmla="*/ 345 w 4102"/>
                <a:gd name="T30" fmla="*/ 353 w 4102"/>
                <a:gd name="T31" fmla="*/ 371 w 4102"/>
                <a:gd name="T32" fmla="*/ 380 w 4102"/>
                <a:gd name="T33" fmla="*/ 389 w 4102"/>
                <a:gd name="T34" fmla="*/ 406 w 4102"/>
                <a:gd name="T35" fmla="*/ 415 w 4102"/>
                <a:gd name="T36" fmla="*/ 424 w 4102"/>
                <a:gd name="T37" fmla="*/ 442 w 4102"/>
                <a:gd name="T38" fmla="*/ 451 w 4102"/>
                <a:gd name="T39" fmla="*/ 460 w 4102"/>
                <a:gd name="T40" fmla="*/ 477 w 4102"/>
                <a:gd name="T41" fmla="*/ 486 w 4102"/>
                <a:gd name="T42" fmla="*/ 495 w 4102"/>
                <a:gd name="T43" fmla="*/ 513 w 4102"/>
                <a:gd name="T44" fmla="*/ 522 w 4102"/>
                <a:gd name="T45" fmla="*/ 530 w 4102"/>
                <a:gd name="T46" fmla="*/ 548 w 4102"/>
                <a:gd name="T47" fmla="*/ 557 w 4102"/>
                <a:gd name="T48" fmla="*/ 566 w 4102"/>
                <a:gd name="T49" fmla="*/ 584 w 4102"/>
                <a:gd name="T50" fmla="*/ 592 w 4102"/>
                <a:gd name="T51" fmla="*/ 601 w 4102"/>
                <a:gd name="T52" fmla="*/ 619 w 4102"/>
                <a:gd name="T53" fmla="*/ 628 w 4102"/>
                <a:gd name="T54" fmla="*/ 637 w 4102"/>
                <a:gd name="T55" fmla="*/ 655 w 4102"/>
                <a:gd name="T56" fmla="*/ 663 w 4102"/>
                <a:gd name="T57" fmla="*/ 672 w 410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</a:gdLst>
              <a:ahLst/>
              <a:cxnLst>
                <a:cxn ang="T58">
                  <a:pos x="T0" y="0"/>
                </a:cxn>
                <a:cxn ang="T59">
                  <a:pos x="T1" y="0"/>
                </a:cxn>
                <a:cxn ang="T60">
                  <a:pos x="T2" y="0"/>
                </a:cxn>
                <a:cxn ang="T61">
                  <a:pos x="T3" y="0"/>
                </a:cxn>
                <a:cxn ang="T62">
                  <a:pos x="T4" y="0"/>
                </a:cxn>
                <a:cxn ang="T63">
                  <a:pos x="T5" y="0"/>
                </a:cxn>
                <a:cxn ang="T64">
                  <a:pos x="T6" y="0"/>
                </a:cxn>
                <a:cxn ang="T65">
                  <a:pos x="T7" y="0"/>
                </a:cxn>
                <a:cxn ang="T66">
                  <a:pos x="T8" y="0"/>
                </a:cxn>
                <a:cxn ang="T67">
                  <a:pos x="T9" y="0"/>
                </a:cxn>
                <a:cxn ang="T68">
                  <a:pos x="T10" y="0"/>
                </a:cxn>
                <a:cxn ang="T69">
                  <a:pos x="T11" y="0"/>
                </a:cxn>
                <a:cxn ang="T70">
                  <a:pos x="T12" y="0"/>
                </a:cxn>
                <a:cxn ang="T71">
                  <a:pos x="T13" y="0"/>
                </a:cxn>
                <a:cxn ang="T72">
                  <a:pos x="T14" y="0"/>
                </a:cxn>
                <a:cxn ang="T73">
                  <a:pos x="T15" y="0"/>
                </a:cxn>
                <a:cxn ang="T74">
                  <a:pos x="T16" y="0"/>
                </a:cxn>
                <a:cxn ang="T75">
                  <a:pos x="T17" y="0"/>
                </a:cxn>
                <a:cxn ang="T76">
                  <a:pos x="T18" y="0"/>
                </a:cxn>
                <a:cxn ang="T77">
                  <a:pos x="T19" y="0"/>
                </a:cxn>
                <a:cxn ang="T78">
                  <a:pos x="T20" y="0"/>
                </a:cxn>
                <a:cxn ang="T79">
                  <a:pos x="T21" y="0"/>
                </a:cxn>
                <a:cxn ang="T80">
                  <a:pos x="T22" y="0"/>
                </a:cxn>
                <a:cxn ang="T81">
                  <a:pos x="T23" y="0"/>
                </a:cxn>
                <a:cxn ang="T82">
                  <a:pos x="T24" y="0"/>
                </a:cxn>
                <a:cxn ang="T83">
                  <a:pos x="T25" y="0"/>
                </a:cxn>
                <a:cxn ang="T84">
                  <a:pos x="T26" y="0"/>
                </a:cxn>
                <a:cxn ang="T85">
                  <a:pos x="T27" y="0"/>
                </a:cxn>
                <a:cxn ang="T86">
                  <a:pos x="T28" y="0"/>
                </a:cxn>
                <a:cxn ang="T87">
                  <a:pos x="T29" y="0"/>
                </a:cxn>
                <a:cxn ang="T88">
                  <a:pos x="T30" y="0"/>
                </a:cxn>
                <a:cxn ang="T89">
                  <a:pos x="T31" y="0"/>
                </a:cxn>
                <a:cxn ang="T90">
                  <a:pos x="T32" y="0"/>
                </a:cxn>
                <a:cxn ang="T91">
                  <a:pos x="T33" y="0"/>
                </a:cxn>
                <a:cxn ang="T92">
                  <a:pos x="T34" y="0"/>
                </a:cxn>
                <a:cxn ang="T93">
                  <a:pos x="T35" y="0"/>
                </a:cxn>
                <a:cxn ang="T94">
                  <a:pos x="T36" y="0"/>
                </a:cxn>
                <a:cxn ang="T95">
                  <a:pos x="T37" y="0"/>
                </a:cxn>
                <a:cxn ang="T96">
                  <a:pos x="T38" y="0"/>
                </a:cxn>
                <a:cxn ang="T97">
                  <a:pos x="T39" y="0"/>
                </a:cxn>
                <a:cxn ang="T98">
                  <a:pos x="T40" y="0"/>
                </a:cxn>
                <a:cxn ang="T99">
                  <a:pos x="T41" y="0"/>
                </a:cxn>
                <a:cxn ang="T100">
                  <a:pos x="T42" y="0"/>
                </a:cxn>
                <a:cxn ang="T101">
                  <a:pos x="T43" y="0"/>
                </a:cxn>
                <a:cxn ang="T102">
                  <a:pos x="T44" y="0"/>
                </a:cxn>
                <a:cxn ang="T103">
                  <a:pos x="T45" y="0"/>
                </a:cxn>
                <a:cxn ang="T104">
                  <a:pos x="T46" y="0"/>
                </a:cxn>
                <a:cxn ang="T105">
                  <a:pos x="T47" y="0"/>
                </a:cxn>
                <a:cxn ang="T106">
                  <a:pos x="T48" y="0"/>
                </a:cxn>
                <a:cxn ang="T107">
                  <a:pos x="T49" y="0"/>
                </a:cxn>
                <a:cxn ang="T108">
                  <a:pos x="T50" y="0"/>
                </a:cxn>
                <a:cxn ang="T109">
                  <a:pos x="T51" y="0"/>
                </a:cxn>
                <a:cxn ang="T110">
                  <a:pos x="T52" y="0"/>
                </a:cxn>
                <a:cxn ang="T111">
                  <a:pos x="T53" y="0"/>
                </a:cxn>
                <a:cxn ang="T112">
                  <a:pos x="T54" y="0"/>
                </a:cxn>
                <a:cxn ang="T113">
                  <a:pos x="T55" y="0"/>
                </a:cxn>
                <a:cxn ang="T114">
                  <a:pos x="T56" y="0"/>
                </a:cxn>
                <a:cxn ang="T115">
                  <a:pos x="T57" y="0"/>
                </a:cxn>
              </a:cxnLst>
              <a:rect l="0" t="0" r="r" b="b"/>
              <a:pathLst>
                <a:path w="4102">
                  <a:moveTo>
                    <a:pt x="0" y="0"/>
                  </a:moveTo>
                  <a:lnTo>
                    <a:pt x="0" y="0"/>
                  </a:lnTo>
                  <a:lnTo>
                    <a:pt x="54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60" y="0"/>
                  </a:lnTo>
                  <a:moveTo>
                    <a:pt x="214" y="0"/>
                  </a:moveTo>
                  <a:lnTo>
                    <a:pt x="214" y="0"/>
                  </a:lnTo>
                  <a:lnTo>
                    <a:pt x="267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74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81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87" y="0"/>
                  </a:lnTo>
                  <a:moveTo>
                    <a:pt x="641" y="0"/>
                  </a:moveTo>
                  <a:lnTo>
                    <a:pt x="641" y="0"/>
                  </a:lnTo>
                  <a:lnTo>
                    <a:pt x="694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801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908" y="0"/>
                  </a:lnTo>
                  <a:moveTo>
                    <a:pt x="961" y="0"/>
                  </a:moveTo>
                  <a:lnTo>
                    <a:pt x="961" y="0"/>
                  </a:lnTo>
                  <a:lnTo>
                    <a:pt x="1014" y="0"/>
                  </a:lnTo>
                  <a:moveTo>
                    <a:pt x="1068" y="0"/>
                  </a:moveTo>
                  <a:lnTo>
                    <a:pt x="1068" y="0"/>
                  </a:lnTo>
                  <a:lnTo>
                    <a:pt x="1121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228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335" y="0"/>
                  </a:lnTo>
                  <a:moveTo>
                    <a:pt x="1388" y="0"/>
                  </a:moveTo>
                  <a:lnTo>
                    <a:pt x="1388" y="0"/>
                  </a:lnTo>
                  <a:lnTo>
                    <a:pt x="1441" y="0"/>
                  </a:lnTo>
                  <a:moveTo>
                    <a:pt x="1495" y="0"/>
                  </a:moveTo>
                  <a:lnTo>
                    <a:pt x="1495" y="0"/>
                  </a:lnTo>
                  <a:lnTo>
                    <a:pt x="1548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55" y="0"/>
                  </a:lnTo>
                  <a:moveTo>
                    <a:pt x="1708" y="0"/>
                  </a:moveTo>
                  <a:lnTo>
                    <a:pt x="1708" y="0"/>
                  </a:lnTo>
                  <a:lnTo>
                    <a:pt x="1761" y="0"/>
                  </a:lnTo>
                  <a:moveTo>
                    <a:pt x="1815" y="0"/>
                  </a:moveTo>
                  <a:lnTo>
                    <a:pt x="1815" y="0"/>
                  </a:lnTo>
                  <a:lnTo>
                    <a:pt x="1868" y="0"/>
                  </a:lnTo>
                  <a:moveTo>
                    <a:pt x="1922" y="0"/>
                  </a:moveTo>
                  <a:lnTo>
                    <a:pt x="1922" y="0"/>
                  </a:lnTo>
                  <a:lnTo>
                    <a:pt x="1975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82" y="0"/>
                  </a:lnTo>
                  <a:moveTo>
                    <a:pt x="2135" y="0"/>
                  </a:moveTo>
                  <a:lnTo>
                    <a:pt x="2135" y="0"/>
                  </a:lnTo>
                  <a:lnTo>
                    <a:pt x="2188" y="0"/>
                  </a:lnTo>
                  <a:moveTo>
                    <a:pt x="2242" y="0"/>
                  </a:moveTo>
                  <a:lnTo>
                    <a:pt x="2242" y="0"/>
                  </a:lnTo>
                  <a:lnTo>
                    <a:pt x="2295" y="0"/>
                  </a:lnTo>
                  <a:moveTo>
                    <a:pt x="2349" y="0"/>
                  </a:moveTo>
                  <a:lnTo>
                    <a:pt x="2349" y="0"/>
                  </a:lnTo>
                  <a:lnTo>
                    <a:pt x="2402" y="0"/>
                  </a:lnTo>
                  <a:moveTo>
                    <a:pt x="2455" y="0"/>
                  </a:moveTo>
                  <a:lnTo>
                    <a:pt x="2455" y="0"/>
                  </a:lnTo>
                  <a:lnTo>
                    <a:pt x="2509" y="0"/>
                  </a:lnTo>
                  <a:moveTo>
                    <a:pt x="2562" y="0"/>
                  </a:moveTo>
                  <a:lnTo>
                    <a:pt x="2562" y="0"/>
                  </a:lnTo>
                  <a:lnTo>
                    <a:pt x="2615" y="0"/>
                  </a:lnTo>
                  <a:moveTo>
                    <a:pt x="2669" y="0"/>
                  </a:moveTo>
                  <a:lnTo>
                    <a:pt x="2669" y="0"/>
                  </a:lnTo>
                  <a:lnTo>
                    <a:pt x="2722" y="0"/>
                  </a:lnTo>
                  <a:moveTo>
                    <a:pt x="2776" y="0"/>
                  </a:moveTo>
                  <a:lnTo>
                    <a:pt x="2776" y="0"/>
                  </a:lnTo>
                  <a:lnTo>
                    <a:pt x="2829" y="0"/>
                  </a:lnTo>
                  <a:moveTo>
                    <a:pt x="2882" y="0"/>
                  </a:moveTo>
                  <a:lnTo>
                    <a:pt x="2882" y="0"/>
                  </a:lnTo>
                  <a:lnTo>
                    <a:pt x="2936" y="0"/>
                  </a:lnTo>
                  <a:moveTo>
                    <a:pt x="2989" y="0"/>
                  </a:moveTo>
                  <a:lnTo>
                    <a:pt x="2989" y="0"/>
                  </a:lnTo>
                  <a:lnTo>
                    <a:pt x="3042" y="0"/>
                  </a:lnTo>
                  <a:moveTo>
                    <a:pt x="3096" y="0"/>
                  </a:moveTo>
                  <a:lnTo>
                    <a:pt x="3096" y="0"/>
                  </a:lnTo>
                  <a:lnTo>
                    <a:pt x="3149" y="0"/>
                  </a:lnTo>
                  <a:moveTo>
                    <a:pt x="3203" y="0"/>
                  </a:moveTo>
                  <a:lnTo>
                    <a:pt x="3203" y="0"/>
                  </a:lnTo>
                  <a:lnTo>
                    <a:pt x="3256" y="0"/>
                  </a:lnTo>
                  <a:moveTo>
                    <a:pt x="3309" y="0"/>
                  </a:moveTo>
                  <a:lnTo>
                    <a:pt x="3309" y="0"/>
                  </a:lnTo>
                  <a:lnTo>
                    <a:pt x="3363" y="0"/>
                  </a:lnTo>
                  <a:moveTo>
                    <a:pt x="3416" y="0"/>
                  </a:moveTo>
                  <a:lnTo>
                    <a:pt x="3416" y="0"/>
                  </a:lnTo>
                  <a:lnTo>
                    <a:pt x="3469" y="0"/>
                  </a:lnTo>
                  <a:moveTo>
                    <a:pt x="3523" y="0"/>
                  </a:moveTo>
                  <a:lnTo>
                    <a:pt x="3523" y="0"/>
                  </a:lnTo>
                  <a:lnTo>
                    <a:pt x="3576" y="0"/>
                  </a:lnTo>
                  <a:moveTo>
                    <a:pt x="3629" y="0"/>
                  </a:moveTo>
                  <a:lnTo>
                    <a:pt x="3629" y="0"/>
                  </a:lnTo>
                  <a:lnTo>
                    <a:pt x="3683" y="0"/>
                  </a:lnTo>
                  <a:moveTo>
                    <a:pt x="3736" y="0"/>
                  </a:moveTo>
                  <a:lnTo>
                    <a:pt x="3736" y="0"/>
                  </a:lnTo>
                  <a:lnTo>
                    <a:pt x="3790" y="0"/>
                  </a:lnTo>
                  <a:moveTo>
                    <a:pt x="3843" y="0"/>
                  </a:moveTo>
                  <a:lnTo>
                    <a:pt x="3843" y="0"/>
                  </a:lnTo>
                  <a:lnTo>
                    <a:pt x="3896" y="0"/>
                  </a:lnTo>
                  <a:moveTo>
                    <a:pt x="3950" y="0"/>
                  </a:moveTo>
                  <a:lnTo>
                    <a:pt x="3950" y="0"/>
                  </a:lnTo>
                  <a:lnTo>
                    <a:pt x="4003" y="0"/>
                  </a:lnTo>
                  <a:moveTo>
                    <a:pt x="4056" y="0"/>
                  </a:moveTo>
                  <a:lnTo>
                    <a:pt x="4056" y="0"/>
                  </a:lnTo>
                  <a:lnTo>
                    <a:pt x="4102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54" name="Ovaal 53">
            <a:extLst>
              <a:ext uri="{FF2B5EF4-FFF2-40B4-BE49-F238E27FC236}">
                <a16:creationId xmlns:a16="http://schemas.microsoft.com/office/drawing/2014/main" id="{60201AD4-AF3E-D442-8AF7-82F9E5DBC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4561" y="4402900"/>
            <a:ext cx="136525" cy="134937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kstvak 57">
                <a:extLst>
                  <a:ext uri="{FF2B5EF4-FFF2-40B4-BE49-F238E27FC236}">
                    <a16:creationId xmlns:a16="http://schemas.microsoft.com/office/drawing/2014/main" id="{D42B1A8F-42D5-7543-8B3E-4E96FC6F190F}"/>
                  </a:ext>
                </a:extLst>
              </p:cNvPr>
              <p:cNvSpPr txBox="1"/>
              <p:nvPr/>
            </p:nvSpPr>
            <p:spPr>
              <a:xfrm>
                <a:off x="6308731" y="4076405"/>
                <a:ext cx="392655" cy="4500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nl-BE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accPr>
                        <m:e>
                          <m:r>
                            <a:rPr lang="nl-BE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nl-BE" sz="2800" b="1" dirty="0">
                  <a:solidFill>
                    <a:schemeClr val="tx1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8" name="Tekstvak 57">
                <a:extLst>
                  <a:ext uri="{FF2B5EF4-FFF2-40B4-BE49-F238E27FC236}">
                    <a16:creationId xmlns:a16="http://schemas.microsoft.com/office/drawing/2014/main" id="{D42B1A8F-42D5-7543-8B3E-4E96FC6F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731" y="4076405"/>
                <a:ext cx="392655" cy="450027"/>
              </a:xfrm>
              <a:prstGeom prst="rect">
                <a:avLst/>
              </a:prstGeom>
              <a:blipFill>
                <a:blip r:embed="rId3"/>
                <a:stretch>
                  <a:fillRect l="-9375" r="-625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hthoek 58">
            <a:extLst>
              <a:ext uri="{FF2B5EF4-FFF2-40B4-BE49-F238E27FC236}">
                <a16:creationId xmlns:a16="http://schemas.microsoft.com/office/drawing/2014/main" id="{BD363719-4D16-3E4B-A223-FD404FD4A1A6}"/>
              </a:ext>
            </a:extLst>
          </p:cNvPr>
          <p:cNvSpPr/>
          <p:nvPr/>
        </p:nvSpPr>
        <p:spPr>
          <a:xfrm>
            <a:off x="539945" y="3748150"/>
            <a:ext cx="49175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s-IS" altLang="nl-BE" sz="2000" b="1" dirty="0">
                <a:latin typeface="+mn-lt"/>
              </a:rPr>
              <a:t>Als we geen andere info hebben nemen we het gemiddelde in de populatie als beste schatting (hier waarde 0)</a:t>
            </a:r>
            <a:endParaRPr lang="nl-BE" sz="2000" b="1" dirty="0">
              <a:latin typeface="+mn-lt"/>
            </a:endParaRPr>
          </a:p>
        </p:txBody>
      </p:sp>
      <p:sp>
        <p:nvSpPr>
          <p:cNvPr id="61" name="Tekstvak 60">
            <a:extLst>
              <a:ext uri="{FF2B5EF4-FFF2-40B4-BE49-F238E27FC236}">
                <a16:creationId xmlns:a16="http://schemas.microsoft.com/office/drawing/2014/main" id="{319B0B04-3EA8-F557-CBD9-BD2853993BF2}"/>
              </a:ext>
            </a:extLst>
          </p:cNvPr>
          <p:cNvSpPr txBox="1"/>
          <p:nvPr/>
        </p:nvSpPr>
        <p:spPr>
          <a:xfrm>
            <a:off x="7325991" y="6380488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sz="1600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Autonome motivatie</a:t>
            </a:r>
          </a:p>
        </p:txBody>
      </p:sp>
      <p:sp>
        <p:nvSpPr>
          <p:cNvPr id="62" name="Tekstvak 61">
            <a:extLst>
              <a:ext uri="{FF2B5EF4-FFF2-40B4-BE49-F238E27FC236}">
                <a16:creationId xmlns:a16="http://schemas.microsoft.com/office/drawing/2014/main" id="{2DBE8EE0-8EA8-AD4B-C3D2-C3260F8FB8B8}"/>
              </a:ext>
            </a:extLst>
          </p:cNvPr>
          <p:cNvSpPr txBox="1"/>
          <p:nvPr/>
        </p:nvSpPr>
        <p:spPr>
          <a:xfrm rot="16200000">
            <a:off x="4629881" y="4320342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sz="1600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Resultaat Statistiek B</a:t>
            </a:r>
          </a:p>
        </p:txBody>
      </p:sp>
    </p:spTree>
    <p:extLst>
      <p:ext uri="{BB962C8B-B14F-4D97-AF65-F5344CB8AC3E}">
        <p14:creationId xmlns:p14="http://schemas.microsoft.com/office/powerpoint/2010/main" val="17966535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86AF7-2311-3A49-84CF-C521268D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goed is het model?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5156021-CE2C-794F-8DBA-37752D4A1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Methode 2</a:t>
            </a:r>
          </a:p>
          <a:p>
            <a:pPr marL="0" indent="0">
              <a:buNone/>
            </a:pP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Stel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dat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er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een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student later de les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statistiek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binnenkomt</a:t>
            </a:r>
            <a:r>
              <a:rPr lang="is-IS" altLang="nl-BE" sz="2000" b="0" i="1" dirty="0">
                <a:solidFill>
                  <a:srgbClr val="003D62"/>
                </a:solidFill>
                <a:latin typeface="+mn-lt"/>
              </a:rPr>
              <a:t>… Hoeveel behaalt deze student op zijn examen?</a:t>
            </a:r>
            <a:endParaRPr lang="nl-BE" sz="2000" b="0" i="1" dirty="0"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6EA76B-F85A-A846-9DBE-339EECE74C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3895" y="2947241"/>
            <a:ext cx="3837403" cy="3340989"/>
            <a:chOff x="2789" y="1424"/>
            <a:chExt cx="2837" cy="247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D0B3E2-012E-E14F-89B5-E0EF4E245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3673"/>
              <a:ext cx="2423" cy="0"/>
            </a:xfrm>
            <a:custGeom>
              <a:avLst/>
              <a:gdLst>
                <a:gd name="T0" fmla="*/ 0 w 3798"/>
                <a:gd name="T1" fmla="*/ 0 w 3798"/>
                <a:gd name="T2" fmla="*/ 629 w 3798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3798">
                  <a:moveTo>
                    <a:pt x="0" y="0"/>
                  </a:moveTo>
                  <a:lnTo>
                    <a:pt x="0" y="0"/>
                  </a:lnTo>
                  <a:lnTo>
                    <a:pt x="3798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96A611-22BD-FD49-B127-A79E0EF74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127C87E-77C4-9F41-A81A-01E233438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3902716-A6B1-2142-890D-2CE148B29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63DBEBE-F6A0-394A-B2E3-7D6F76A53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07B878B-A6A0-534D-8614-45C845244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4B987B1-F3FA-C844-BEBC-F8C4FFABA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3863"/>
              <a:ext cx="28" cy="8"/>
            </a:xfrm>
            <a:custGeom>
              <a:avLst/>
              <a:gdLst>
                <a:gd name="T0" fmla="*/ 0 w 44"/>
                <a:gd name="T1" fmla="*/ 2 h 14"/>
                <a:gd name="T2" fmla="*/ 0 w 44"/>
                <a:gd name="T3" fmla="*/ 2 h 14"/>
                <a:gd name="T4" fmla="*/ 0 w 44"/>
                <a:gd name="T5" fmla="*/ 0 h 14"/>
                <a:gd name="T6" fmla="*/ 7 w 44"/>
                <a:gd name="T7" fmla="*/ 0 h 14"/>
                <a:gd name="T8" fmla="*/ 7 w 44"/>
                <a:gd name="T9" fmla="*/ 2 h 14"/>
                <a:gd name="T10" fmla="*/ 0 w 44"/>
                <a:gd name="T11" fmla="*/ 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14"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44" y="0"/>
                  </a:lnTo>
                  <a:lnTo>
                    <a:pt x="44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5C05A4-C25E-0D49-89BE-6D1A4E24D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3820"/>
              <a:ext cx="27" cy="73"/>
            </a:xfrm>
            <a:custGeom>
              <a:avLst/>
              <a:gdLst>
                <a:gd name="T0" fmla="*/ 7 w 42"/>
                <a:gd name="T1" fmla="*/ 18 h 115"/>
                <a:gd name="T2" fmla="*/ 7 w 42"/>
                <a:gd name="T3" fmla="*/ 18 h 115"/>
                <a:gd name="T4" fmla="*/ 5 w 42"/>
                <a:gd name="T5" fmla="*/ 18 h 115"/>
                <a:gd name="T6" fmla="*/ 5 w 42"/>
                <a:gd name="T7" fmla="*/ 4 h 115"/>
                <a:gd name="T8" fmla="*/ 3 w 42"/>
                <a:gd name="T9" fmla="*/ 6 h 115"/>
                <a:gd name="T10" fmla="*/ 0 w 42"/>
                <a:gd name="T11" fmla="*/ 7 h 115"/>
                <a:gd name="T12" fmla="*/ 0 w 42"/>
                <a:gd name="T13" fmla="*/ 4 h 115"/>
                <a:gd name="T14" fmla="*/ 4 w 42"/>
                <a:gd name="T15" fmla="*/ 3 h 115"/>
                <a:gd name="T16" fmla="*/ 6 w 42"/>
                <a:gd name="T17" fmla="*/ 0 h 115"/>
                <a:gd name="T18" fmla="*/ 7 w 42"/>
                <a:gd name="T19" fmla="*/ 0 h 115"/>
                <a:gd name="T20" fmla="*/ 7 w 42"/>
                <a:gd name="T21" fmla="*/ 18 h 1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15">
                  <a:moveTo>
                    <a:pt x="42" y="115"/>
                  </a:moveTo>
                  <a:lnTo>
                    <a:pt x="42" y="115"/>
                  </a:lnTo>
                  <a:lnTo>
                    <a:pt x="28" y="115"/>
                  </a:lnTo>
                  <a:lnTo>
                    <a:pt x="28" y="26"/>
                  </a:lnTo>
                  <a:cubicBezTo>
                    <a:pt x="25" y="29"/>
                    <a:pt x="20" y="32"/>
                    <a:pt x="15" y="36"/>
                  </a:cubicBezTo>
                  <a:cubicBezTo>
                    <a:pt x="9" y="39"/>
                    <a:pt x="4" y="41"/>
                    <a:pt x="0" y="43"/>
                  </a:cubicBezTo>
                  <a:lnTo>
                    <a:pt x="0" y="29"/>
                  </a:lnTo>
                  <a:cubicBezTo>
                    <a:pt x="8" y="26"/>
                    <a:pt x="15" y="21"/>
                    <a:pt x="21" y="16"/>
                  </a:cubicBezTo>
                  <a:cubicBezTo>
                    <a:pt x="26" y="11"/>
                    <a:pt x="31" y="5"/>
                    <a:pt x="33" y="0"/>
                  </a:cubicBezTo>
                  <a:lnTo>
                    <a:pt x="42" y="0"/>
                  </a:lnTo>
                  <a:lnTo>
                    <a:pt x="42" y="1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10CD9C8-6859-4D44-BED2-278F08F34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44FA3A6-7798-6A49-B514-8D392968A1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2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4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8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3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4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3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37187DE-5870-F745-A456-2E4772A7C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863"/>
              <a:ext cx="28" cy="8"/>
            </a:xfrm>
            <a:custGeom>
              <a:avLst/>
              <a:gdLst>
                <a:gd name="T0" fmla="*/ 0 w 43"/>
                <a:gd name="T1" fmla="*/ 2 h 14"/>
                <a:gd name="T2" fmla="*/ 0 w 43"/>
                <a:gd name="T3" fmla="*/ 2 h 14"/>
                <a:gd name="T4" fmla="*/ 0 w 43"/>
                <a:gd name="T5" fmla="*/ 0 h 14"/>
                <a:gd name="T6" fmla="*/ 8 w 43"/>
                <a:gd name="T7" fmla="*/ 0 h 14"/>
                <a:gd name="T8" fmla="*/ 8 w 43"/>
                <a:gd name="T9" fmla="*/ 2 h 14"/>
                <a:gd name="T10" fmla="*/ 0 w 43"/>
                <a:gd name="T11" fmla="*/ 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4"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1F50AB5-099C-0243-BF28-2C8295F9D6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2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4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8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4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2C2C456-0922-C145-938E-E3D835A83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1E60341-FD58-804B-A536-5DD729BDF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821"/>
              <a:ext cx="49" cy="73"/>
            </a:xfrm>
            <a:custGeom>
              <a:avLst/>
              <a:gdLst>
                <a:gd name="T0" fmla="*/ 0 w 76"/>
                <a:gd name="T1" fmla="*/ 14 h 115"/>
                <a:gd name="T2" fmla="*/ 0 w 76"/>
                <a:gd name="T3" fmla="*/ 14 h 115"/>
                <a:gd name="T4" fmla="*/ 3 w 76"/>
                <a:gd name="T5" fmla="*/ 13 h 115"/>
                <a:gd name="T6" fmla="*/ 4 w 76"/>
                <a:gd name="T7" fmla="*/ 16 h 115"/>
                <a:gd name="T8" fmla="*/ 6 w 76"/>
                <a:gd name="T9" fmla="*/ 17 h 115"/>
                <a:gd name="T10" fmla="*/ 10 w 76"/>
                <a:gd name="T11" fmla="*/ 16 h 115"/>
                <a:gd name="T12" fmla="*/ 10 w 76"/>
                <a:gd name="T13" fmla="*/ 12 h 115"/>
                <a:gd name="T14" fmla="*/ 10 w 76"/>
                <a:gd name="T15" fmla="*/ 10 h 115"/>
                <a:gd name="T16" fmla="*/ 6 w 76"/>
                <a:gd name="T17" fmla="*/ 8 h 115"/>
                <a:gd name="T18" fmla="*/ 4 w 76"/>
                <a:gd name="T19" fmla="*/ 9 h 115"/>
                <a:gd name="T20" fmla="*/ 3 w 76"/>
                <a:gd name="T21" fmla="*/ 10 h 115"/>
                <a:gd name="T22" fmla="*/ 1 w 76"/>
                <a:gd name="T23" fmla="*/ 10 h 115"/>
                <a:gd name="T24" fmla="*/ 3 w 76"/>
                <a:gd name="T25" fmla="*/ 0 h 115"/>
                <a:gd name="T26" fmla="*/ 12 w 76"/>
                <a:gd name="T27" fmla="*/ 0 h 115"/>
                <a:gd name="T28" fmla="*/ 12 w 76"/>
                <a:gd name="T29" fmla="*/ 3 h 115"/>
                <a:gd name="T30" fmla="*/ 4 w 76"/>
                <a:gd name="T31" fmla="*/ 3 h 115"/>
                <a:gd name="T32" fmla="*/ 3 w 76"/>
                <a:gd name="T33" fmla="*/ 7 h 115"/>
                <a:gd name="T34" fmla="*/ 7 w 76"/>
                <a:gd name="T35" fmla="*/ 6 h 115"/>
                <a:gd name="T36" fmla="*/ 12 w 76"/>
                <a:gd name="T37" fmla="*/ 8 h 115"/>
                <a:gd name="T38" fmla="*/ 14 w 76"/>
                <a:gd name="T39" fmla="*/ 12 h 115"/>
                <a:gd name="T40" fmla="*/ 12 w 76"/>
                <a:gd name="T41" fmla="*/ 17 h 115"/>
                <a:gd name="T42" fmla="*/ 6 w 76"/>
                <a:gd name="T43" fmla="*/ 18 h 115"/>
                <a:gd name="T44" fmla="*/ 2 w 76"/>
                <a:gd name="T45" fmla="*/ 17 h 115"/>
                <a:gd name="T46" fmla="*/ 0 w 76"/>
                <a:gd name="T47" fmla="*/ 14 h 115"/>
                <a:gd name="T48" fmla="*/ 0 w 76"/>
                <a:gd name="T49" fmla="*/ 14 h 11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6" h="115">
                  <a:moveTo>
                    <a:pt x="0" y="83"/>
                  </a:moveTo>
                  <a:lnTo>
                    <a:pt x="0" y="83"/>
                  </a:lnTo>
                  <a:lnTo>
                    <a:pt x="15" y="82"/>
                  </a:lnTo>
                  <a:cubicBezTo>
                    <a:pt x="16" y="89"/>
                    <a:pt x="19" y="95"/>
                    <a:pt x="23" y="98"/>
                  </a:cubicBezTo>
                  <a:cubicBezTo>
                    <a:pt x="27" y="102"/>
                    <a:pt x="31" y="104"/>
                    <a:pt x="37" y="104"/>
                  </a:cubicBezTo>
                  <a:cubicBezTo>
                    <a:pt x="44" y="104"/>
                    <a:pt x="50" y="101"/>
                    <a:pt x="54" y="96"/>
                  </a:cubicBezTo>
                  <a:cubicBezTo>
                    <a:pt x="59" y="91"/>
                    <a:pt x="61" y="84"/>
                    <a:pt x="61" y="76"/>
                  </a:cubicBezTo>
                  <a:cubicBezTo>
                    <a:pt x="61" y="68"/>
                    <a:pt x="59" y="62"/>
                    <a:pt x="55" y="57"/>
                  </a:cubicBezTo>
                  <a:cubicBezTo>
                    <a:pt x="50" y="52"/>
                    <a:pt x="44" y="50"/>
                    <a:pt x="37" y="50"/>
                  </a:cubicBezTo>
                  <a:cubicBezTo>
                    <a:pt x="32" y="50"/>
                    <a:pt x="28" y="51"/>
                    <a:pt x="25" y="53"/>
                  </a:cubicBezTo>
                  <a:cubicBezTo>
                    <a:pt x="21" y="55"/>
                    <a:pt x="18" y="58"/>
                    <a:pt x="16" y="61"/>
                  </a:cubicBezTo>
                  <a:lnTo>
                    <a:pt x="3" y="59"/>
                  </a:lnTo>
                  <a:lnTo>
                    <a:pt x="14" y="0"/>
                  </a:lnTo>
                  <a:lnTo>
                    <a:pt x="71" y="0"/>
                  </a:lnTo>
                  <a:lnTo>
                    <a:pt x="71" y="14"/>
                  </a:lnTo>
                  <a:lnTo>
                    <a:pt x="25" y="14"/>
                  </a:lnTo>
                  <a:lnTo>
                    <a:pt x="19" y="45"/>
                  </a:lnTo>
                  <a:cubicBezTo>
                    <a:pt x="26" y="40"/>
                    <a:pt x="33" y="38"/>
                    <a:pt x="41" y="38"/>
                  </a:cubicBezTo>
                  <a:cubicBezTo>
                    <a:pt x="51" y="38"/>
                    <a:pt x="59" y="41"/>
                    <a:pt x="66" y="48"/>
                  </a:cubicBezTo>
                  <a:cubicBezTo>
                    <a:pt x="73" y="55"/>
                    <a:pt x="76" y="64"/>
                    <a:pt x="76" y="75"/>
                  </a:cubicBezTo>
                  <a:cubicBezTo>
                    <a:pt x="76" y="85"/>
                    <a:pt x="73" y="94"/>
                    <a:pt x="67" y="102"/>
                  </a:cubicBezTo>
                  <a:cubicBezTo>
                    <a:pt x="60" y="111"/>
                    <a:pt x="50" y="115"/>
                    <a:pt x="37" y="115"/>
                  </a:cubicBezTo>
                  <a:cubicBezTo>
                    <a:pt x="27" y="115"/>
                    <a:pt x="18" y="113"/>
                    <a:pt x="12" y="107"/>
                  </a:cubicBezTo>
                  <a:cubicBezTo>
                    <a:pt x="5" y="101"/>
                    <a:pt x="1" y="93"/>
                    <a:pt x="0" y="8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EFD0B9A-C478-2844-AE52-9594DBC1C7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1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3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7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3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3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3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CC1052-C12A-C84F-AFA5-047EB2E9D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FFF5EC0-1EA1-B840-A65F-056C87D497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36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3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6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49" y="103"/>
                    <a:pt x="54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4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69026DA-A1E8-9741-83D2-CF676B525E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6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4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7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49" y="103"/>
                    <a:pt x="54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4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C3A451A-6E36-384D-A5AF-C9D22C86B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8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F85C4EE-2D21-C748-8F00-B55DF64B0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2" y="3821"/>
              <a:ext cx="48" cy="73"/>
            </a:xfrm>
            <a:custGeom>
              <a:avLst/>
              <a:gdLst>
                <a:gd name="T0" fmla="*/ 0 w 76"/>
                <a:gd name="T1" fmla="*/ 14 h 115"/>
                <a:gd name="T2" fmla="*/ 0 w 76"/>
                <a:gd name="T3" fmla="*/ 14 h 115"/>
                <a:gd name="T4" fmla="*/ 3 w 76"/>
                <a:gd name="T5" fmla="*/ 13 h 115"/>
                <a:gd name="T6" fmla="*/ 4 w 76"/>
                <a:gd name="T7" fmla="*/ 16 h 115"/>
                <a:gd name="T8" fmla="*/ 6 w 76"/>
                <a:gd name="T9" fmla="*/ 17 h 115"/>
                <a:gd name="T10" fmla="*/ 8 w 76"/>
                <a:gd name="T11" fmla="*/ 16 h 115"/>
                <a:gd name="T12" fmla="*/ 10 w 76"/>
                <a:gd name="T13" fmla="*/ 12 h 115"/>
                <a:gd name="T14" fmla="*/ 8 w 76"/>
                <a:gd name="T15" fmla="*/ 10 h 115"/>
                <a:gd name="T16" fmla="*/ 6 w 76"/>
                <a:gd name="T17" fmla="*/ 8 h 115"/>
                <a:gd name="T18" fmla="*/ 4 w 76"/>
                <a:gd name="T19" fmla="*/ 9 h 115"/>
                <a:gd name="T20" fmla="*/ 3 w 76"/>
                <a:gd name="T21" fmla="*/ 10 h 115"/>
                <a:gd name="T22" fmla="*/ 1 w 76"/>
                <a:gd name="T23" fmla="*/ 10 h 115"/>
                <a:gd name="T24" fmla="*/ 2 w 76"/>
                <a:gd name="T25" fmla="*/ 0 h 115"/>
                <a:gd name="T26" fmla="*/ 11 w 76"/>
                <a:gd name="T27" fmla="*/ 0 h 115"/>
                <a:gd name="T28" fmla="*/ 11 w 76"/>
                <a:gd name="T29" fmla="*/ 3 h 115"/>
                <a:gd name="T30" fmla="*/ 4 w 76"/>
                <a:gd name="T31" fmla="*/ 3 h 115"/>
                <a:gd name="T32" fmla="*/ 3 w 76"/>
                <a:gd name="T33" fmla="*/ 7 h 115"/>
                <a:gd name="T34" fmla="*/ 6 w 76"/>
                <a:gd name="T35" fmla="*/ 6 h 115"/>
                <a:gd name="T36" fmla="*/ 10 w 76"/>
                <a:gd name="T37" fmla="*/ 8 h 115"/>
                <a:gd name="T38" fmla="*/ 12 w 76"/>
                <a:gd name="T39" fmla="*/ 12 h 115"/>
                <a:gd name="T40" fmla="*/ 11 w 76"/>
                <a:gd name="T41" fmla="*/ 17 h 115"/>
                <a:gd name="T42" fmla="*/ 6 w 76"/>
                <a:gd name="T43" fmla="*/ 18 h 115"/>
                <a:gd name="T44" fmla="*/ 2 w 76"/>
                <a:gd name="T45" fmla="*/ 17 h 115"/>
                <a:gd name="T46" fmla="*/ 0 w 76"/>
                <a:gd name="T47" fmla="*/ 14 h 115"/>
                <a:gd name="T48" fmla="*/ 0 w 76"/>
                <a:gd name="T49" fmla="*/ 14 h 11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6" h="115">
                  <a:moveTo>
                    <a:pt x="0" y="83"/>
                  </a:moveTo>
                  <a:lnTo>
                    <a:pt x="0" y="83"/>
                  </a:lnTo>
                  <a:lnTo>
                    <a:pt x="15" y="82"/>
                  </a:lnTo>
                  <a:cubicBezTo>
                    <a:pt x="16" y="89"/>
                    <a:pt x="18" y="95"/>
                    <a:pt x="22" y="98"/>
                  </a:cubicBezTo>
                  <a:cubicBezTo>
                    <a:pt x="26" y="102"/>
                    <a:pt x="31" y="104"/>
                    <a:pt x="37" y="104"/>
                  </a:cubicBezTo>
                  <a:cubicBezTo>
                    <a:pt x="43" y="104"/>
                    <a:pt x="49" y="101"/>
                    <a:pt x="54" y="96"/>
                  </a:cubicBezTo>
                  <a:cubicBezTo>
                    <a:pt x="58" y="91"/>
                    <a:pt x="61" y="84"/>
                    <a:pt x="61" y="76"/>
                  </a:cubicBezTo>
                  <a:cubicBezTo>
                    <a:pt x="61" y="68"/>
                    <a:pt x="58" y="62"/>
                    <a:pt x="54" y="57"/>
                  </a:cubicBezTo>
                  <a:cubicBezTo>
                    <a:pt x="49" y="52"/>
                    <a:pt x="44" y="50"/>
                    <a:pt x="36" y="50"/>
                  </a:cubicBezTo>
                  <a:cubicBezTo>
                    <a:pt x="32" y="50"/>
                    <a:pt x="28" y="51"/>
                    <a:pt x="24" y="53"/>
                  </a:cubicBezTo>
                  <a:cubicBezTo>
                    <a:pt x="20" y="55"/>
                    <a:pt x="18" y="58"/>
                    <a:pt x="15" y="61"/>
                  </a:cubicBezTo>
                  <a:lnTo>
                    <a:pt x="2" y="59"/>
                  </a:lnTo>
                  <a:lnTo>
                    <a:pt x="13" y="0"/>
                  </a:lnTo>
                  <a:lnTo>
                    <a:pt x="70" y="0"/>
                  </a:lnTo>
                  <a:lnTo>
                    <a:pt x="70" y="14"/>
                  </a:lnTo>
                  <a:lnTo>
                    <a:pt x="25" y="14"/>
                  </a:lnTo>
                  <a:lnTo>
                    <a:pt x="18" y="45"/>
                  </a:lnTo>
                  <a:cubicBezTo>
                    <a:pt x="25" y="40"/>
                    <a:pt x="32" y="38"/>
                    <a:pt x="40" y="38"/>
                  </a:cubicBezTo>
                  <a:cubicBezTo>
                    <a:pt x="50" y="38"/>
                    <a:pt x="58" y="41"/>
                    <a:pt x="65" y="48"/>
                  </a:cubicBezTo>
                  <a:cubicBezTo>
                    <a:pt x="72" y="55"/>
                    <a:pt x="76" y="64"/>
                    <a:pt x="76" y="75"/>
                  </a:cubicBezTo>
                  <a:cubicBezTo>
                    <a:pt x="76" y="85"/>
                    <a:pt x="73" y="94"/>
                    <a:pt x="67" y="102"/>
                  </a:cubicBezTo>
                  <a:cubicBezTo>
                    <a:pt x="59" y="111"/>
                    <a:pt x="49" y="115"/>
                    <a:pt x="37" y="115"/>
                  </a:cubicBezTo>
                  <a:cubicBezTo>
                    <a:pt x="26" y="115"/>
                    <a:pt x="18" y="113"/>
                    <a:pt x="11" y="107"/>
                  </a:cubicBezTo>
                  <a:cubicBezTo>
                    <a:pt x="4" y="101"/>
                    <a:pt x="1" y="93"/>
                    <a:pt x="0" y="8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129FA9A-2634-DE42-BA61-25921A625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9" y="3820"/>
              <a:ext cx="27" cy="73"/>
            </a:xfrm>
            <a:custGeom>
              <a:avLst/>
              <a:gdLst>
                <a:gd name="T0" fmla="*/ 7 w 42"/>
                <a:gd name="T1" fmla="*/ 18 h 115"/>
                <a:gd name="T2" fmla="*/ 7 w 42"/>
                <a:gd name="T3" fmla="*/ 18 h 115"/>
                <a:gd name="T4" fmla="*/ 5 w 42"/>
                <a:gd name="T5" fmla="*/ 18 h 115"/>
                <a:gd name="T6" fmla="*/ 5 w 42"/>
                <a:gd name="T7" fmla="*/ 4 h 115"/>
                <a:gd name="T8" fmla="*/ 3 w 42"/>
                <a:gd name="T9" fmla="*/ 6 h 115"/>
                <a:gd name="T10" fmla="*/ 0 w 42"/>
                <a:gd name="T11" fmla="*/ 7 h 115"/>
                <a:gd name="T12" fmla="*/ 0 w 42"/>
                <a:gd name="T13" fmla="*/ 4 h 115"/>
                <a:gd name="T14" fmla="*/ 3 w 42"/>
                <a:gd name="T15" fmla="*/ 3 h 115"/>
                <a:gd name="T16" fmla="*/ 6 w 42"/>
                <a:gd name="T17" fmla="*/ 0 h 115"/>
                <a:gd name="T18" fmla="*/ 7 w 42"/>
                <a:gd name="T19" fmla="*/ 0 h 115"/>
                <a:gd name="T20" fmla="*/ 7 w 42"/>
                <a:gd name="T21" fmla="*/ 18 h 1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15">
                  <a:moveTo>
                    <a:pt x="42" y="115"/>
                  </a:moveTo>
                  <a:lnTo>
                    <a:pt x="42" y="115"/>
                  </a:lnTo>
                  <a:lnTo>
                    <a:pt x="28" y="115"/>
                  </a:lnTo>
                  <a:lnTo>
                    <a:pt x="28" y="26"/>
                  </a:lnTo>
                  <a:cubicBezTo>
                    <a:pt x="24" y="29"/>
                    <a:pt x="20" y="32"/>
                    <a:pt x="14" y="36"/>
                  </a:cubicBezTo>
                  <a:cubicBezTo>
                    <a:pt x="9" y="39"/>
                    <a:pt x="4" y="41"/>
                    <a:pt x="0" y="43"/>
                  </a:cubicBezTo>
                  <a:lnTo>
                    <a:pt x="0" y="29"/>
                  </a:lnTo>
                  <a:cubicBezTo>
                    <a:pt x="7" y="26"/>
                    <a:pt x="14" y="21"/>
                    <a:pt x="20" y="16"/>
                  </a:cubicBezTo>
                  <a:cubicBezTo>
                    <a:pt x="26" y="11"/>
                    <a:pt x="30" y="5"/>
                    <a:pt x="33" y="0"/>
                  </a:cubicBezTo>
                  <a:lnTo>
                    <a:pt x="42" y="0"/>
                  </a:lnTo>
                  <a:lnTo>
                    <a:pt x="42" y="1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95A67753-6D32-1F4B-BA09-D25C26055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4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A11668E-F9CD-924B-9162-DA1A29F3F9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47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4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7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50" y="103"/>
                    <a:pt x="54" y="96"/>
                  </a:cubicBezTo>
                  <a:cubicBezTo>
                    <a:pt x="58" y="90"/>
                    <a:pt x="61" y="78"/>
                    <a:pt x="61" y="59"/>
                  </a:cubicBezTo>
                  <a:cubicBezTo>
                    <a:pt x="61" y="40"/>
                    <a:pt x="58" y="28"/>
                    <a:pt x="54" y="21"/>
                  </a:cubicBezTo>
                  <a:cubicBezTo>
                    <a:pt x="50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7A8DFF-9415-204D-8992-2B0F08B02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507"/>
              <a:ext cx="0" cy="2082"/>
            </a:xfrm>
            <a:custGeom>
              <a:avLst/>
              <a:gdLst>
                <a:gd name="T0" fmla="*/ 540 h 3264"/>
                <a:gd name="T1" fmla="*/ 540 h 3264"/>
                <a:gd name="T2" fmla="*/ 0 h 3264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3264">
                  <a:moveTo>
                    <a:pt x="0" y="3264"/>
                  </a:moveTo>
                  <a:lnTo>
                    <a:pt x="0" y="3264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5FA1613-3DF9-5D42-967F-DFAD5EACA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3589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8AA779A-009B-9D4B-8515-ED476539E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3069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ED853B8-3C9F-6C43-87CE-494F078C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548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7602237-173C-AF41-8640-3FC4678A3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028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C56CBAC-D8E6-314D-9CF9-DD6CA8A8F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507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7DDD4F3-0FB3-7B4A-A7BB-D1F9690A8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3647"/>
              <a:ext cx="9" cy="27"/>
            </a:xfrm>
            <a:custGeom>
              <a:avLst/>
              <a:gdLst>
                <a:gd name="T0" fmla="*/ 3 w 14"/>
                <a:gd name="T1" fmla="*/ 7 h 43"/>
                <a:gd name="T2" fmla="*/ 3 w 14"/>
                <a:gd name="T3" fmla="*/ 7 h 43"/>
                <a:gd name="T4" fmla="*/ 0 w 14"/>
                <a:gd name="T5" fmla="*/ 7 h 43"/>
                <a:gd name="T6" fmla="*/ 0 w 14"/>
                <a:gd name="T7" fmla="*/ 0 h 43"/>
                <a:gd name="T8" fmla="*/ 3 w 14"/>
                <a:gd name="T9" fmla="*/ 0 h 43"/>
                <a:gd name="T10" fmla="*/ 3 w 14"/>
                <a:gd name="T11" fmla="*/ 7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43">
                  <a:moveTo>
                    <a:pt x="14" y="43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8C56BEC-7FF6-C84D-8F65-F502E9C55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3605"/>
              <a:ext cx="73" cy="27"/>
            </a:xfrm>
            <a:custGeom>
              <a:avLst/>
              <a:gdLst>
                <a:gd name="T0" fmla="*/ 18 w 115"/>
                <a:gd name="T1" fmla="*/ 0 h 42"/>
                <a:gd name="T2" fmla="*/ 18 w 115"/>
                <a:gd name="T3" fmla="*/ 0 h 42"/>
                <a:gd name="T4" fmla="*/ 18 w 115"/>
                <a:gd name="T5" fmla="*/ 3 h 42"/>
                <a:gd name="T6" fmla="*/ 4 w 115"/>
                <a:gd name="T7" fmla="*/ 3 h 42"/>
                <a:gd name="T8" fmla="*/ 6 w 115"/>
                <a:gd name="T9" fmla="*/ 5 h 42"/>
                <a:gd name="T10" fmla="*/ 7 w 115"/>
                <a:gd name="T11" fmla="*/ 7 h 42"/>
                <a:gd name="T12" fmla="*/ 4 w 115"/>
                <a:gd name="T13" fmla="*/ 7 h 42"/>
                <a:gd name="T14" fmla="*/ 3 w 115"/>
                <a:gd name="T15" fmla="*/ 4 h 42"/>
                <a:gd name="T16" fmla="*/ 0 w 115"/>
                <a:gd name="T17" fmla="*/ 2 h 42"/>
                <a:gd name="T18" fmla="*/ 0 w 115"/>
                <a:gd name="T19" fmla="*/ 0 h 42"/>
                <a:gd name="T20" fmla="*/ 18 w 115"/>
                <a:gd name="T21" fmla="*/ 0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2">
                  <a:moveTo>
                    <a:pt x="115" y="0"/>
                  </a:moveTo>
                  <a:lnTo>
                    <a:pt x="115" y="0"/>
                  </a:lnTo>
                  <a:lnTo>
                    <a:pt x="115" y="14"/>
                  </a:lnTo>
                  <a:lnTo>
                    <a:pt x="25" y="14"/>
                  </a:lnTo>
                  <a:cubicBezTo>
                    <a:pt x="28" y="18"/>
                    <a:pt x="32" y="22"/>
                    <a:pt x="35" y="27"/>
                  </a:cubicBezTo>
                  <a:cubicBezTo>
                    <a:pt x="38" y="33"/>
                    <a:pt x="40" y="38"/>
                    <a:pt x="42" y="42"/>
                  </a:cubicBezTo>
                  <a:lnTo>
                    <a:pt x="28" y="42"/>
                  </a:lnTo>
                  <a:cubicBezTo>
                    <a:pt x="25" y="34"/>
                    <a:pt x="20" y="28"/>
                    <a:pt x="15" y="22"/>
                  </a:cubicBezTo>
                  <a:cubicBezTo>
                    <a:pt x="10" y="16"/>
                    <a:pt x="5" y="12"/>
                    <a:pt x="0" y="9"/>
                  </a:cubicBez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F302BF2E-AC92-DD4C-A5F9-F21A190D0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567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4D6749B-B749-EA4D-BC55-F12627787D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3507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8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3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35EEE93-2281-DB45-9730-8AE6237F1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3126"/>
              <a:ext cx="9" cy="28"/>
            </a:xfrm>
            <a:custGeom>
              <a:avLst/>
              <a:gdLst>
                <a:gd name="T0" fmla="*/ 3 w 14"/>
                <a:gd name="T1" fmla="*/ 8 h 43"/>
                <a:gd name="T2" fmla="*/ 3 w 14"/>
                <a:gd name="T3" fmla="*/ 8 h 43"/>
                <a:gd name="T4" fmla="*/ 0 w 14"/>
                <a:gd name="T5" fmla="*/ 8 h 43"/>
                <a:gd name="T6" fmla="*/ 0 w 14"/>
                <a:gd name="T7" fmla="*/ 0 h 43"/>
                <a:gd name="T8" fmla="*/ 3 w 14"/>
                <a:gd name="T9" fmla="*/ 0 h 43"/>
                <a:gd name="T10" fmla="*/ 3 w 14"/>
                <a:gd name="T11" fmla="*/ 8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43">
                  <a:moveTo>
                    <a:pt x="14" y="43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F4BE8BB-0F27-144B-9CF9-A36134D7CB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3071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1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8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7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2"/>
                    <a:pt x="91" y="4"/>
                  </a:cubicBezTo>
                  <a:cubicBezTo>
                    <a:pt x="99" y="7"/>
                    <a:pt x="105" y="11"/>
                    <a:pt x="110" y="17"/>
                  </a:cubicBezTo>
                  <a:cubicBezTo>
                    <a:pt x="114" y="22"/>
                    <a:pt x="117" y="29"/>
                    <a:pt x="117" y="38"/>
                  </a:cubicBezTo>
                  <a:cubicBezTo>
                    <a:pt x="117" y="49"/>
                    <a:pt x="113" y="57"/>
                    <a:pt x="105" y="64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8"/>
                  </a:cubicBezTo>
                  <a:cubicBezTo>
                    <a:pt x="105" y="31"/>
                    <a:pt x="102" y="26"/>
                    <a:pt x="96" y="21"/>
                  </a:cubicBezTo>
                  <a:cubicBezTo>
                    <a:pt x="89" y="17"/>
                    <a:pt x="77" y="15"/>
                    <a:pt x="58" y="15"/>
                  </a:cubicBezTo>
                  <a:cubicBezTo>
                    <a:pt x="39" y="15"/>
                    <a:pt x="27" y="17"/>
                    <a:pt x="21" y="21"/>
                  </a:cubicBezTo>
                  <a:cubicBezTo>
                    <a:pt x="14" y="26"/>
                    <a:pt x="11" y="31"/>
                    <a:pt x="11" y="38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F939AC1-34FC-5C40-AFC4-41D0469DF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047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710ADE1-BF11-6243-B488-09F75CF86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985"/>
              <a:ext cx="74" cy="48"/>
            </a:xfrm>
            <a:custGeom>
              <a:avLst/>
              <a:gdLst>
                <a:gd name="T0" fmla="*/ 14 w 115"/>
                <a:gd name="T1" fmla="*/ 12 h 76"/>
                <a:gd name="T2" fmla="*/ 14 w 115"/>
                <a:gd name="T3" fmla="*/ 12 h 76"/>
                <a:gd name="T4" fmla="*/ 14 w 115"/>
                <a:gd name="T5" fmla="*/ 10 h 76"/>
                <a:gd name="T6" fmla="*/ 17 w 115"/>
                <a:gd name="T7" fmla="*/ 8 h 76"/>
                <a:gd name="T8" fmla="*/ 17 w 115"/>
                <a:gd name="T9" fmla="*/ 6 h 76"/>
                <a:gd name="T10" fmla="*/ 16 w 115"/>
                <a:gd name="T11" fmla="*/ 4 h 76"/>
                <a:gd name="T12" fmla="*/ 13 w 115"/>
                <a:gd name="T13" fmla="*/ 3 h 76"/>
                <a:gd name="T14" fmla="*/ 10 w 115"/>
                <a:gd name="T15" fmla="*/ 4 h 76"/>
                <a:gd name="T16" fmla="*/ 9 w 115"/>
                <a:gd name="T17" fmla="*/ 6 h 76"/>
                <a:gd name="T18" fmla="*/ 9 w 115"/>
                <a:gd name="T19" fmla="*/ 8 h 76"/>
                <a:gd name="T20" fmla="*/ 10 w 115"/>
                <a:gd name="T21" fmla="*/ 10 h 76"/>
                <a:gd name="T22" fmla="*/ 10 w 115"/>
                <a:gd name="T23" fmla="*/ 12 h 76"/>
                <a:gd name="T24" fmla="*/ 0 w 115"/>
                <a:gd name="T25" fmla="*/ 10 h 76"/>
                <a:gd name="T26" fmla="*/ 0 w 115"/>
                <a:gd name="T27" fmla="*/ 1 h 76"/>
                <a:gd name="T28" fmla="*/ 2 w 115"/>
                <a:gd name="T29" fmla="*/ 1 h 76"/>
                <a:gd name="T30" fmla="*/ 2 w 115"/>
                <a:gd name="T31" fmla="*/ 8 h 76"/>
                <a:gd name="T32" fmla="*/ 8 w 115"/>
                <a:gd name="T33" fmla="*/ 9 h 76"/>
                <a:gd name="T34" fmla="*/ 6 w 115"/>
                <a:gd name="T35" fmla="*/ 6 h 76"/>
                <a:gd name="T36" fmla="*/ 8 w 115"/>
                <a:gd name="T37" fmla="*/ 2 h 76"/>
                <a:gd name="T38" fmla="*/ 13 w 115"/>
                <a:gd name="T39" fmla="*/ 0 h 76"/>
                <a:gd name="T40" fmla="*/ 17 w 115"/>
                <a:gd name="T41" fmla="*/ 2 h 76"/>
                <a:gd name="T42" fmla="*/ 20 w 115"/>
                <a:gd name="T43" fmla="*/ 6 h 76"/>
                <a:gd name="T44" fmla="*/ 18 w 115"/>
                <a:gd name="T45" fmla="*/ 10 h 76"/>
                <a:gd name="T46" fmla="*/ 14 w 115"/>
                <a:gd name="T47" fmla="*/ 12 h 76"/>
                <a:gd name="T48" fmla="*/ 14 w 115"/>
                <a:gd name="T49" fmla="*/ 12 h 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15" h="76">
                  <a:moveTo>
                    <a:pt x="83" y="76"/>
                  </a:moveTo>
                  <a:lnTo>
                    <a:pt x="83" y="76"/>
                  </a:lnTo>
                  <a:lnTo>
                    <a:pt x="81" y="62"/>
                  </a:lnTo>
                  <a:cubicBezTo>
                    <a:pt x="89" y="60"/>
                    <a:pt x="94" y="58"/>
                    <a:pt x="98" y="54"/>
                  </a:cubicBezTo>
                  <a:cubicBezTo>
                    <a:pt x="101" y="50"/>
                    <a:pt x="103" y="45"/>
                    <a:pt x="103" y="40"/>
                  </a:cubicBezTo>
                  <a:cubicBezTo>
                    <a:pt x="103" y="33"/>
                    <a:pt x="101" y="27"/>
                    <a:pt x="95" y="22"/>
                  </a:cubicBezTo>
                  <a:cubicBezTo>
                    <a:pt x="90" y="18"/>
                    <a:pt x="84" y="15"/>
                    <a:pt x="75" y="15"/>
                  </a:cubicBezTo>
                  <a:cubicBezTo>
                    <a:pt x="67" y="15"/>
                    <a:pt x="61" y="18"/>
                    <a:pt x="56" y="22"/>
                  </a:cubicBezTo>
                  <a:cubicBezTo>
                    <a:pt x="52" y="27"/>
                    <a:pt x="49" y="33"/>
                    <a:pt x="49" y="40"/>
                  </a:cubicBezTo>
                  <a:cubicBezTo>
                    <a:pt x="49" y="44"/>
                    <a:pt x="50" y="48"/>
                    <a:pt x="52" y="52"/>
                  </a:cubicBezTo>
                  <a:cubicBezTo>
                    <a:pt x="54" y="56"/>
                    <a:pt x="57" y="59"/>
                    <a:pt x="60" y="61"/>
                  </a:cubicBezTo>
                  <a:lnTo>
                    <a:pt x="59" y="74"/>
                  </a:lnTo>
                  <a:lnTo>
                    <a:pt x="0" y="63"/>
                  </a:lnTo>
                  <a:lnTo>
                    <a:pt x="0" y="6"/>
                  </a:lnTo>
                  <a:lnTo>
                    <a:pt x="13" y="6"/>
                  </a:lnTo>
                  <a:lnTo>
                    <a:pt x="13" y="52"/>
                  </a:lnTo>
                  <a:lnTo>
                    <a:pt x="44" y="58"/>
                  </a:lnTo>
                  <a:cubicBezTo>
                    <a:pt x="39" y="51"/>
                    <a:pt x="37" y="44"/>
                    <a:pt x="37" y="36"/>
                  </a:cubicBezTo>
                  <a:cubicBezTo>
                    <a:pt x="37" y="26"/>
                    <a:pt x="40" y="18"/>
                    <a:pt x="47" y="11"/>
                  </a:cubicBezTo>
                  <a:cubicBezTo>
                    <a:pt x="54" y="4"/>
                    <a:pt x="63" y="0"/>
                    <a:pt x="74" y="0"/>
                  </a:cubicBezTo>
                  <a:cubicBezTo>
                    <a:pt x="84" y="0"/>
                    <a:pt x="93" y="3"/>
                    <a:pt x="101" y="9"/>
                  </a:cubicBezTo>
                  <a:cubicBezTo>
                    <a:pt x="110" y="17"/>
                    <a:pt x="115" y="27"/>
                    <a:pt x="115" y="40"/>
                  </a:cubicBezTo>
                  <a:cubicBezTo>
                    <a:pt x="115" y="50"/>
                    <a:pt x="112" y="58"/>
                    <a:pt x="106" y="65"/>
                  </a:cubicBezTo>
                  <a:cubicBezTo>
                    <a:pt x="100" y="72"/>
                    <a:pt x="92" y="75"/>
                    <a:pt x="83" y="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6F5014E6-5483-F540-80FF-E9895007B1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568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7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2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841DB98A-A8A3-EC4E-8323-D1CB6619F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543"/>
              <a:ext cx="10" cy="11"/>
            </a:xfrm>
            <a:custGeom>
              <a:avLst/>
              <a:gdLst>
                <a:gd name="T0" fmla="*/ 3 w 16"/>
                <a:gd name="T1" fmla="*/ 3 h 17"/>
                <a:gd name="T2" fmla="*/ 3 w 16"/>
                <a:gd name="T3" fmla="*/ 3 h 17"/>
                <a:gd name="T4" fmla="*/ 0 w 16"/>
                <a:gd name="T5" fmla="*/ 3 h 17"/>
                <a:gd name="T6" fmla="*/ 0 w 16"/>
                <a:gd name="T7" fmla="*/ 0 h 17"/>
                <a:gd name="T8" fmla="*/ 3 w 16"/>
                <a:gd name="T9" fmla="*/ 0 h 17"/>
                <a:gd name="T10" fmla="*/ 3 w 16"/>
                <a:gd name="T11" fmla="*/ 3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7">
                  <a:moveTo>
                    <a:pt x="16" y="17"/>
                  </a:moveTo>
                  <a:lnTo>
                    <a:pt x="16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EF2CA51B-0422-9649-841E-AC90719BBC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482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1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8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7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2"/>
                    <a:pt x="91" y="4"/>
                  </a:cubicBezTo>
                  <a:cubicBezTo>
                    <a:pt x="99" y="7"/>
                    <a:pt x="105" y="11"/>
                    <a:pt x="110" y="17"/>
                  </a:cubicBezTo>
                  <a:cubicBezTo>
                    <a:pt x="114" y="22"/>
                    <a:pt x="117" y="29"/>
                    <a:pt x="117" y="38"/>
                  </a:cubicBezTo>
                  <a:cubicBezTo>
                    <a:pt x="117" y="49"/>
                    <a:pt x="113" y="57"/>
                    <a:pt x="105" y="64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8"/>
                  </a:cubicBezTo>
                  <a:cubicBezTo>
                    <a:pt x="105" y="31"/>
                    <a:pt x="102" y="26"/>
                    <a:pt x="96" y="21"/>
                  </a:cubicBezTo>
                  <a:cubicBezTo>
                    <a:pt x="89" y="17"/>
                    <a:pt x="77" y="15"/>
                    <a:pt x="58" y="15"/>
                  </a:cubicBezTo>
                  <a:cubicBezTo>
                    <a:pt x="39" y="15"/>
                    <a:pt x="27" y="17"/>
                    <a:pt x="21" y="21"/>
                  </a:cubicBezTo>
                  <a:cubicBezTo>
                    <a:pt x="14" y="26"/>
                    <a:pt x="11" y="31"/>
                    <a:pt x="11" y="38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89678B40-0CC1-6F47-90AE-90EEC1D6E6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047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7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5"/>
                    <a:pt x="3" y="21"/>
                  </a:cubicBezTo>
                  <a:cubicBezTo>
                    <a:pt x="6" y="16"/>
                    <a:pt x="9" y="12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0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3"/>
                    <a:pt x="105" y="37"/>
                  </a:cubicBezTo>
                  <a:cubicBezTo>
                    <a:pt x="105" y="30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7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937FC5C3-68D7-764A-B001-8F8983476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022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B0A92B3-5381-224A-BB6A-CC578772B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961"/>
              <a:ext cx="74" cy="48"/>
            </a:xfrm>
            <a:custGeom>
              <a:avLst/>
              <a:gdLst>
                <a:gd name="T0" fmla="*/ 14 w 115"/>
                <a:gd name="T1" fmla="*/ 12 h 76"/>
                <a:gd name="T2" fmla="*/ 14 w 115"/>
                <a:gd name="T3" fmla="*/ 12 h 76"/>
                <a:gd name="T4" fmla="*/ 14 w 115"/>
                <a:gd name="T5" fmla="*/ 10 h 76"/>
                <a:gd name="T6" fmla="*/ 17 w 115"/>
                <a:gd name="T7" fmla="*/ 8 h 76"/>
                <a:gd name="T8" fmla="*/ 17 w 115"/>
                <a:gd name="T9" fmla="*/ 6 h 76"/>
                <a:gd name="T10" fmla="*/ 16 w 115"/>
                <a:gd name="T11" fmla="*/ 4 h 76"/>
                <a:gd name="T12" fmla="*/ 13 w 115"/>
                <a:gd name="T13" fmla="*/ 3 h 76"/>
                <a:gd name="T14" fmla="*/ 10 w 115"/>
                <a:gd name="T15" fmla="*/ 4 h 76"/>
                <a:gd name="T16" fmla="*/ 9 w 115"/>
                <a:gd name="T17" fmla="*/ 6 h 76"/>
                <a:gd name="T18" fmla="*/ 9 w 115"/>
                <a:gd name="T19" fmla="*/ 8 h 76"/>
                <a:gd name="T20" fmla="*/ 10 w 115"/>
                <a:gd name="T21" fmla="*/ 9 h 76"/>
                <a:gd name="T22" fmla="*/ 10 w 115"/>
                <a:gd name="T23" fmla="*/ 11 h 76"/>
                <a:gd name="T24" fmla="*/ 0 w 115"/>
                <a:gd name="T25" fmla="*/ 10 h 76"/>
                <a:gd name="T26" fmla="*/ 0 w 115"/>
                <a:gd name="T27" fmla="*/ 1 h 76"/>
                <a:gd name="T28" fmla="*/ 2 w 115"/>
                <a:gd name="T29" fmla="*/ 1 h 76"/>
                <a:gd name="T30" fmla="*/ 2 w 115"/>
                <a:gd name="T31" fmla="*/ 8 h 76"/>
                <a:gd name="T32" fmla="*/ 8 w 115"/>
                <a:gd name="T33" fmla="*/ 9 h 76"/>
                <a:gd name="T34" fmla="*/ 6 w 115"/>
                <a:gd name="T35" fmla="*/ 6 h 76"/>
                <a:gd name="T36" fmla="*/ 8 w 115"/>
                <a:gd name="T37" fmla="*/ 2 h 76"/>
                <a:gd name="T38" fmla="*/ 13 w 115"/>
                <a:gd name="T39" fmla="*/ 0 h 76"/>
                <a:gd name="T40" fmla="*/ 17 w 115"/>
                <a:gd name="T41" fmla="*/ 2 h 76"/>
                <a:gd name="T42" fmla="*/ 20 w 115"/>
                <a:gd name="T43" fmla="*/ 6 h 76"/>
                <a:gd name="T44" fmla="*/ 18 w 115"/>
                <a:gd name="T45" fmla="*/ 10 h 76"/>
                <a:gd name="T46" fmla="*/ 14 w 115"/>
                <a:gd name="T47" fmla="*/ 12 h 76"/>
                <a:gd name="T48" fmla="*/ 14 w 115"/>
                <a:gd name="T49" fmla="*/ 12 h 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15" h="76">
                  <a:moveTo>
                    <a:pt x="83" y="76"/>
                  </a:moveTo>
                  <a:lnTo>
                    <a:pt x="83" y="76"/>
                  </a:lnTo>
                  <a:lnTo>
                    <a:pt x="81" y="61"/>
                  </a:lnTo>
                  <a:cubicBezTo>
                    <a:pt x="89" y="60"/>
                    <a:pt x="94" y="57"/>
                    <a:pt x="98" y="53"/>
                  </a:cubicBezTo>
                  <a:cubicBezTo>
                    <a:pt x="101" y="49"/>
                    <a:pt x="103" y="45"/>
                    <a:pt x="103" y="39"/>
                  </a:cubicBezTo>
                  <a:cubicBezTo>
                    <a:pt x="103" y="32"/>
                    <a:pt x="101" y="26"/>
                    <a:pt x="95" y="22"/>
                  </a:cubicBezTo>
                  <a:cubicBezTo>
                    <a:pt x="90" y="17"/>
                    <a:pt x="84" y="15"/>
                    <a:pt x="75" y="15"/>
                  </a:cubicBezTo>
                  <a:cubicBezTo>
                    <a:pt x="67" y="15"/>
                    <a:pt x="61" y="17"/>
                    <a:pt x="56" y="22"/>
                  </a:cubicBezTo>
                  <a:cubicBezTo>
                    <a:pt x="52" y="26"/>
                    <a:pt x="49" y="32"/>
                    <a:pt x="49" y="39"/>
                  </a:cubicBezTo>
                  <a:cubicBezTo>
                    <a:pt x="49" y="44"/>
                    <a:pt x="50" y="48"/>
                    <a:pt x="52" y="51"/>
                  </a:cubicBezTo>
                  <a:cubicBezTo>
                    <a:pt x="54" y="55"/>
                    <a:pt x="57" y="58"/>
                    <a:pt x="60" y="60"/>
                  </a:cubicBezTo>
                  <a:lnTo>
                    <a:pt x="59" y="73"/>
                  </a:lnTo>
                  <a:lnTo>
                    <a:pt x="0" y="62"/>
                  </a:lnTo>
                  <a:lnTo>
                    <a:pt x="0" y="5"/>
                  </a:lnTo>
                  <a:lnTo>
                    <a:pt x="13" y="5"/>
                  </a:lnTo>
                  <a:lnTo>
                    <a:pt x="13" y="51"/>
                  </a:lnTo>
                  <a:lnTo>
                    <a:pt x="44" y="57"/>
                  </a:lnTo>
                  <a:cubicBezTo>
                    <a:pt x="39" y="50"/>
                    <a:pt x="37" y="43"/>
                    <a:pt x="37" y="35"/>
                  </a:cubicBezTo>
                  <a:cubicBezTo>
                    <a:pt x="37" y="25"/>
                    <a:pt x="40" y="17"/>
                    <a:pt x="47" y="10"/>
                  </a:cubicBezTo>
                  <a:cubicBezTo>
                    <a:pt x="54" y="3"/>
                    <a:pt x="63" y="0"/>
                    <a:pt x="74" y="0"/>
                  </a:cubicBezTo>
                  <a:cubicBezTo>
                    <a:pt x="84" y="0"/>
                    <a:pt x="93" y="3"/>
                    <a:pt x="101" y="9"/>
                  </a:cubicBezTo>
                  <a:cubicBezTo>
                    <a:pt x="110" y="16"/>
                    <a:pt x="115" y="26"/>
                    <a:pt x="115" y="39"/>
                  </a:cubicBezTo>
                  <a:cubicBezTo>
                    <a:pt x="115" y="49"/>
                    <a:pt x="112" y="58"/>
                    <a:pt x="106" y="64"/>
                  </a:cubicBezTo>
                  <a:cubicBezTo>
                    <a:pt x="100" y="71"/>
                    <a:pt x="92" y="75"/>
                    <a:pt x="83" y="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E4A7A1A6-B76C-DE4F-AB0D-F888079E2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540"/>
              <a:ext cx="73" cy="27"/>
            </a:xfrm>
            <a:custGeom>
              <a:avLst/>
              <a:gdLst>
                <a:gd name="T0" fmla="*/ 18 w 115"/>
                <a:gd name="T1" fmla="*/ 0 h 42"/>
                <a:gd name="T2" fmla="*/ 18 w 115"/>
                <a:gd name="T3" fmla="*/ 0 h 42"/>
                <a:gd name="T4" fmla="*/ 18 w 115"/>
                <a:gd name="T5" fmla="*/ 3 h 42"/>
                <a:gd name="T6" fmla="*/ 4 w 115"/>
                <a:gd name="T7" fmla="*/ 3 h 42"/>
                <a:gd name="T8" fmla="*/ 6 w 115"/>
                <a:gd name="T9" fmla="*/ 5 h 42"/>
                <a:gd name="T10" fmla="*/ 7 w 115"/>
                <a:gd name="T11" fmla="*/ 7 h 42"/>
                <a:gd name="T12" fmla="*/ 4 w 115"/>
                <a:gd name="T13" fmla="*/ 7 h 42"/>
                <a:gd name="T14" fmla="*/ 3 w 115"/>
                <a:gd name="T15" fmla="*/ 4 h 42"/>
                <a:gd name="T16" fmla="*/ 0 w 115"/>
                <a:gd name="T17" fmla="*/ 2 h 42"/>
                <a:gd name="T18" fmla="*/ 0 w 115"/>
                <a:gd name="T19" fmla="*/ 0 h 42"/>
                <a:gd name="T20" fmla="*/ 18 w 115"/>
                <a:gd name="T21" fmla="*/ 0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2">
                  <a:moveTo>
                    <a:pt x="115" y="0"/>
                  </a:moveTo>
                  <a:lnTo>
                    <a:pt x="115" y="0"/>
                  </a:lnTo>
                  <a:lnTo>
                    <a:pt x="115" y="14"/>
                  </a:lnTo>
                  <a:lnTo>
                    <a:pt x="25" y="14"/>
                  </a:lnTo>
                  <a:cubicBezTo>
                    <a:pt x="28" y="18"/>
                    <a:pt x="32" y="22"/>
                    <a:pt x="35" y="28"/>
                  </a:cubicBezTo>
                  <a:cubicBezTo>
                    <a:pt x="38" y="33"/>
                    <a:pt x="40" y="38"/>
                    <a:pt x="42" y="42"/>
                  </a:cubicBezTo>
                  <a:lnTo>
                    <a:pt x="28" y="42"/>
                  </a:lnTo>
                  <a:cubicBezTo>
                    <a:pt x="25" y="35"/>
                    <a:pt x="20" y="28"/>
                    <a:pt x="15" y="22"/>
                  </a:cubicBezTo>
                  <a:cubicBezTo>
                    <a:pt x="10" y="16"/>
                    <a:pt x="5" y="12"/>
                    <a:pt x="0" y="9"/>
                  </a:cubicBez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C4D79B5-BA22-FB43-8DBD-E7B453CBD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502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FD15CD93-BB76-624F-A422-BC4A9B580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1441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0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7"/>
                    <a:pt x="77" y="14"/>
                    <a:pt x="58" y="14"/>
                  </a:cubicBezTo>
                  <a:cubicBezTo>
                    <a:pt x="39" y="14"/>
                    <a:pt x="27" y="17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0CF6CCC-A610-1B44-BBDA-C9F18BFDC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424"/>
              <a:ext cx="2617" cy="2249"/>
            </a:xfrm>
            <a:custGeom>
              <a:avLst/>
              <a:gdLst>
                <a:gd name="T0" fmla="*/ 0 w 4102"/>
                <a:gd name="T1" fmla="*/ 584 h 3526"/>
                <a:gd name="T2" fmla="*/ 0 w 4102"/>
                <a:gd name="T3" fmla="*/ 584 h 3526"/>
                <a:gd name="T4" fmla="*/ 679 w 4102"/>
                <a:gd name="T5" fmla="*/ 584 h 3526"/>
                <a:gd name="T6" fmla="*/ 679 w 4102"/>
                <a:gd name="T7" fmla="*/ 0 h 3526"/>
                <a:gd name="T8" fmla="*/ 0 w 4102"/>
                <a:gd name="T9" fmla="*/ 0 h 3526"/>
                <a:gd name="T10" fmla="*/ 0 w 4102"/>
                <a:gd name="T11" fmla="*/ 584 h 35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02" h="3526">
                  <a:moveTo>
                    <a:pt x="0" y="3526"/>
                  </a:moveTo>
                  <a:lnTo>
                    <a:pt x="0" y="3526"/>
                  </a:lnTo>
                  <a:lnTo>
                    <a:pt x="4102" y="3526"/>
                  </a:lnTo>
                  <a:lnTo>
                    <a:pt x="4102" y="0"/>
                  </a:lnTo>
                  <a:lnTo>
                    <a:pt x="0" y="0"/>
                  </a:lnTo>
                  <a:lnTo>
                    <a:pt x="0" y="3526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53" name="Freeform 57">
              <a:extLst>
                <a:ext uri="{FF2B5EF4-FFF2-40B4-BE49-F238E27FC236}">
                  <a16:creationId xmlns:a16="http://schemas.microsoft.com/office/drawing/2014/main" id="{439E67E2-76B1-9042-AB89-EFFDC56A62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09" y="2548"/>
              <a:ext cx="2617" cy="0"/>
            </a:xfrm>
            <a:custGeom>
              <a:avLst/>
              <a:gdLst>
                <a:gd name="T0" fmla="*/ 0 w 4102"/>
                <a:gd name="T1" fmla="*/ 17 w 4102"/>
                <a:gd name="T2" fmla="*/ 26 w 4102"/>
                <a:gd name="T3" fmla="*/ 36 w 4102"/>
                <a:gd name="T4" fmla="*/ 53 w 4102"/>
                <a:gd name="T5" fmla="*/ 62 w 4102"/>
                <a:gd name="T6" fmla="*/ 71 w 4102"/>
                <a:gd name="T7" fmla="*/ 89 w 4102"/>
                <a:gd name="T8" fmla="*/ 97 w 4102"/>
                <a:gd name="T9" fmla="*/ 107 w 4102"/>
                <a:gd name="T10" fmla="*/ 124 w 4102"/>
                <a:gd name="T11" fmla="*/ 133 w 4102"/>
                <a:gd name="T12" fmla="*/ 142 w 4102"/>
                <a:gd name="T13" fmla="*/ 159 w 4102"/>
                <a:gd name="T14" fmla="*/ 168 w 4102"/>
                <a:gd name="T15" fmla="*/ 177 w 4102"/>
                <a:gd name="T16" fmla="*/ 195 w 4102"/>
                <a:gd name="T17" fmla="*/ 204 w 4102"/>
                <a:gd name="T18" fmla="*/ 212 w 4102"/>
                <a:gd name="T19" fmla="*/ 230 w 4102"/>
                <a:gd name="T20" fmla="*/ 239 w 4102"/>
                <a:gd name="T21" fmla="*/ 248 w 4102"/>
                <a:gd name="T22" fmla="*/ 265 w 4102"/>
                <a:gd name="T23" fmla="*/ 274 w 4102"/>
                <a:gd name="T24" fmla="*/ 283 w 4102"/>
                <a:gd name="T25" fmla="*/ 300 w 4102"/>
                <a:gd name="T26" fmla="*/ 309 w 4102"/>
                <a:gd name="T27" fmla="*/ 318 w 4102"/>
                <a:gd name="T28" fmla="*/ 336 w 4102"/>
                <a:gd name="T29" fmla="*/ 345 w 4102"/>
                <a:gd name="T30" fmla="*/ 353 w 4102"/>
                <a:gd name="T31" fmla="*/ 371 w 4102"/>
                <a:gd name="T32" fmla="*/ 380 w 4102"/>
                <a:gd name="T33" fmla="*/ 389 w 4102"/>
                <a:gd name="T34" fmla="*/ 406 w 4102"/>
                <a:gd name="T35" fmla="*/ 415 w 4102"/>
                <a:gd name="T36" fmla="*/ 424 w 4102"/>
                <a:gd name="T37" fmla="*/ 442 w 4102"/>
                <a:gd name="T38" fmla="*/ 451 w 4102"/>
                <a:gd name="T39" fmla="*/ 460 w 4102"/>
                <a:gd name="T40" fmla="*/ 477 w 4102"/>
                <a:gd name="T41" fmla="*/ 486 w 4102"/>
                <a:gd name="T42" fmla="*/ 495 w 4102"/>
                <a:gd name="T43" fmla="*/ 513 w 4102"/>
                <a:gd name="T44" fmla="*/ 522 w 4102"/>
                <a:gd name="T45" fmla="*/ 530 w 4102"/>
                <a:gd name="T46" fmla="*/ 548 w 4102"/>
                <a:gd name="T47" fmla="*/ 557 w 4102"/>
                <a:gd name="T48" fmla="*/ 566 w 4102"/>
                <a:gd name="T49" fmla="*/ 584 w 4102"/>
                <a:gd name="T50" fmla="*/ 592 w 4102"/>
                <a:gd name="T51" fmla="*/ 601 w 4102"/>
                <a:gd name="T52" fmla="*/ 619 w 4102"/>
                <a:gd name="T53" fmla="*/ 628 w 4102"/>
                <a:gd name="T54" fmla="*/ 637 w 4102"/>
                <a:gd name="T55" fmla="*/ 655 w 4102"/>
                <a:gd name="T56" fmla="*/ 663 w 4102"/>
                <a:gd name="T57" fmla="*/ 672 w 410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</a:gdLst>
              <a:ahLst/>
              <a:cxnLst>
                <a:cxn ang="T58">
                  <a:pos x="T0" y="0"/>
                </a:cxn>
                <a:cxn ang="T59">
                  <a:pos x="T1" y="0"/>
                </a:cxn>
                <a:cxn ang="T60">
                  <a:pos x="T2" y="0"/>
                </a:cxn>
                <a:cxn ang="T61">
                  <a:pos x="T3" y="0"/>
                </a:cxn>
                <a:cxn ang="T62">
                  <a:pos x="T4" y="0"/>
                </a:cxn>
                <a:cxn ang="T63">
                  <a:pos x="T5" y="0"/>
                </a:cxn>
                <a:cxn ang="T64">
                  <a:pos x="T6" y="0"/>
                </a:cxn>
                <a:cxn ang="T65">
                  <a:pos x="T7" y="0"/>
                </a:cxn>
                <a:cxn ang="T66">
                  <a:pos x="T8" y="0"/>
                </a:cxn>
                <a:cxn ang="T67">
                  <a:pos x="T9" y="0"/>
                </a:cxn>
                <a:cxn ang="T68">
                  <a:pos x="T10" y="0"/>
                </a:cxn>
                <a:cxn ang="T69">
                  <a:pos x="T11" y="0"/>
                </a:cxn>
                <a:cxn ang="T70">
                  <a:pos x="T12" y="0"/>
                </a:cxn>
                <a:cxn ang="T71">
                  <a:pos x="T13" y="0"/>
                </a:cxn>
                <a:cxn ang="T72">
                  <a:pos x="T14" y="0"/>
                </a:cxn>
                <a:cxn ang="T73">
                  <a:pos x="T15" y="0"/>
                </a:cxn>
                <a:cxn ang="T74">
                  <a:pos x="T16" y="0"/>
                </a:cxn>
                <a:cxn ang="T75">
                  <a:pos x="T17" y="0"/>
                </a:cxn>
                <a:cxn ang="T76">
                  <a:pos x="T18" y="0"/>
                </a:cxn>
                <a:cxn ang="T77">
                  <a:pos x="T19" y="0"/>
                </a:cxn>
                <a:cxn ang="T78">
                  <a:pos x="T20" y="0"/>
                </a:cxn>
                <a:cxn ang="T79">
                  <a:pos x="T21" y="0"/>
                </a:cxn>
                <a:cxn ang="T80">
                  <a:pos x="T22" y="0"/>
                </a:cxn>
                <a:cxn ang="T81">
                  <a:pos x="T23" y="0"/>
                </a:cxn>
                <a:cxn ang="T82">
                  <a:pos x="T24" y="0"/>
                </a:cxn>
                <a:cxn ang="T83">
                  <a:pos x="T25" y="0"/>
                </a:cxn>
                <a:cxn ang="T84">
                  <a:pos x="T26" y="0"/>
                </a:cxn>
                <a:cxn ang="T85">
                  <a:pos x="T27" y="0"/>
                </a:cxn>
                <a:cxn ang="T86">
                  <a:pos x="T28" y="0"/>
                </a:cxn>
                <a:cxn ang="T87">
                  <a:pos x="T29" y="0"/>
                </a:cxn>
                <a:cxn ang="T88">
                  <a:pos x="T30" y="0"/>
                </a:cxn>
                <a:cxn ang="T89">
                  <a:pos x="T31" y="0"/>
                </a:cxn>
                <a:cxn ang="T90">
                  <a:pos x="T32" y="0"/>
                </a:cxn>
                <a:cxn ang="T91">
                  <a:pos x="T33" y="0"/>
                </a:cxn>
                <a:cxn ang="T92">
                  <a:pos x="T34" y="0"/>
                </a:cxn>
                <a:cxn ang="T93">
                  <a:pos x="T35" y="0"/>
                </a:cxn>
                <a:cxn ang="T94">
                  <a:pos x="T36" y="0"/>
                </a:cxn>
                <a:cxn ang="T95">
                  <a:pos x="T37" y="0"/>
                </a:cxn>
                <a:cxn ang="T96">
                  <a:pos x="T38" y="0"/>
                </a:cxn>
                <a:cxn ang="T97">
                  <a:pos x="T39" y="0"/>
                </a:cxn>
                <a:cxn ang="T98">
                  <a:pos x="T40" y="0"/>
                </a:cxn>
                <a:cxn ang="T99">
                  <a:pos x="T41" y="0"/>
                </a:cxn>
                <a:cxn ang="T100">
                  <a:pos x="T42" y="0"/>
                </a:cxn>
                <a:cxn ang="T101">
                  <a:pos x="T43" y="0"/>
                </a:cxn>
                <a:cxn ang="T102">
                  <a:pos x="T44" y="0"/>
                </a:cxn>
                <a:cxn ang="T103">
                  <a:pos x="T45" y="0"/>
                </a:cxn>
                <a:cxn ang="T104">
                  <a:pos x="T46" y="0"/>
                </a:cxn>
                <a:cxn ang="T105">
                  <a:pos x="T47" y="0"/>
                </a:cxn>
                <a:cxn ang="T106">
                  <a:pos x="T48" y="0"/>
                </a:cxn>
                <a:cxn ang="T107">
                  <a:pos x="T49" y="0"/>
                </a:cxn>
                <a:cxn ang="T108">
                  <a:pos x="T50" y="0"/>
                </a:cxn>
                <a:cxn ang="T109">
                  <a:pos x="T51" y="0"/>
                </a:cxn>
                <a:cxn ang="T110">
                  <a:pos x="T52" y="0"/>
                </a:cxn>
                <a:cxn ang="T111">
                  <a:pos x="T53" y="0"/>
                </a:cxn>
                <a:cxn ang="T112">
                  <a:pos x="T54" y="0"/>
                </a:cxn>
                <a:cxn ang="T113">
                  <a:pos x="T55" y="0"/>
                </a:cxn>
                <a:cxn ang="T114">
                  <a:pos x="T56" y="0"/>
                </a:cxn>
                <a:cxn ang="T115">
                  <a:pos x="T57" y="0"/>
                </a:cxn>
              </a:cxnLst>
              <a:rect l="0" t="0" r="r" b="b"/>
              <a:pathLst>
                <a:path w="4102">
                  <a:moveTo>
                    <a:pt x="0" y="0"/>
                  </a:moveTo>
                  <a:lnTo>
                    <a:pt x="0" y="0"/>
                  </a:lnTo>
                  <a:lnTo>
                    <a:pt x="54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60" y="0"/>
                  </a:lnTo>
                  <a:moveTo>
                    <a:pt x="214" y="0"/>
                  </a:moveTo>
                  <a:lnTo>
                    <a:pt x="214" y="0"/>
                  </a:lnTo>
                  <a:lnTo>
                    <a:pt x="267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74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81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87" y="0"/>
                  </a:lnTo>
                  <a:moveTo>
                    <a:pt x="641" y="0"/>
                  </a:moveTo>
                  <a:lnTo>
                    <a:pt x="641" y="0"/>
                  </a:lnTo>
                  <a:lnTo>
                    <a:pt x="694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801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908" y="0"/>
                  </a:lnTo>
                  <a:moveTo>
                    <a:pt x="961" y="0"/>
                  </a:moveTo>
                  <a:lnTo>
                    <a:pt x="961" y="0"/>
                  </a:lnTo>
                  <a:lnTo>
                    <a:pt x="1014" y="0"/>
                  </a:lnTo>
                  <a:moveTo>
                    <a:pt x="1068" y="0"/>
                  </a:moveTo>
                  <a:lnTo>
                    <a:pt x="1068" y="0"/>
                  </a:lnTo>
                  <a:lnTo>
                    <a:pt x="1121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228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335" y="0"/>
                  </a:lnTo>
                  <a:moveTo>
                    <a:pt x="1388" y="0"/>
                  </a:moveTo>
                  <a:lnTo>
                    <a:pt x="1388" y="0"/>
                  </a:lnTo>
                  <a:lnTo>
                    <a:pt x="1441" y="0"/>
                  </a:lnTo>
                  <a:moveTo>
                    <a:pt x="1495" y="0"/>
                  </a:moveTo>
                  <a:lnTo>
                    <a:pt x="1495" y="0"/>
                  </a:lnTo>
                  <a:lnTo>
                    <a:pt x="1548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55" y="0"/>
                  </a:lnTo>
                  <a:moveTo>
                    <a:pt x="1708" y="0"/>
                  </a:moveTo>
                  <a:lnTo>
                    <a:pt x="1708" y="0"/>
                  </a:lnTo>
                  <a:lnTo>
                    <a:pt x="1761" y="0"/>
                  </a:lnTo>
                  <a:moveTo>
                    <a:pt x="1815" y="0"/>
                  </a:moveTo>
                  <a:lnTo>
                    <a:pt x="1815" y="0"/>
                  </a:lnTo>
                  <a:lnTo>
                    <a:pt x="1868" y="0"/>
                  </a:lnTo>
                  <a:moveTo>
                    <a:pt x="1922" y="0"/>
                  </a:moveTo>
                  <a:lnTo>
                    <a:pt x="1922" y="0"/>
                  </a:lnTo>
                  <a:lnTo>
                    <a:pt x="1975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82" y="0"/>
                  </a:lnTo>
                  <a:moveTo>
                    <a:pt x="2135" y="0"/>
                  </a:moveTo>
                  <a:lnTo>
                    <a:pt x="2135" y="0"/>
                  </a:lnTo>
                  <a:lnTo>
                    <a:pt x="2188" y="0"/>
                  </a:lnTo>
                  <a:moveTo>
                    <a:pt x="2242" y="0"/>
                  </a:moveTo>
                  <a:lnTo>
                    <a:pt x="2242" y="0"/>
                  </a:lnTo>
                  <a:lnTo>
                    <a:pt x="2295" y="0"/>
                  </a:lnTo>
                  <a:moveTo>
                    <a:pt x="2349" y="0"/>
                  </a:moveTo>
                  <a:lnTo>
                    <a:pt x="2349" y="0"/>
                  </a:lnTo>
                  <a:lnTo>
                    <a:pt x="2402" y="0"/>
                  </a:lnTo>
                  <a:moveTo>
                    <a:pt x="2455" y="0"/>
                  </a:moveTo>
                  <a:lnTo>
                    <a:pt x="2455" y="0"/>
                  </a:lnTo>
                  <a:lnTo>
                    <a:pt x="2509" y="0"/>
                  </a:lnTo>
                  <a:moveTo>
                    <a:pt x="2562" y="0"/>
                  </a:moveTo>
                  <a:lnTo>
                    <a:pt x="2562" y="0"/>
                  </a:lnTo>
                  <a:lnTo>
                    <a:pt x="2615" y="0"/>
                  </a:lnTo>
                  <a:moveTo>
                    <a:pt x="2669" y="0"/>
                  </a:moveTo>
                  <a:lnTo>
                    <a:pt x="2669" y="0"/>
                  </a:lnTo>
                  <a:lnTo>
                    <a:pt x="2722" y="0"/>
                  </a:lnTo>
                  <a:moveTo>
                    <a:pt x="2776" y="0"/>
                  </a:moveTo>
                  <a:lnTo>
                    <a:pt x="2776" y="0"/>
                  </a:lnTo>
                  <a:lnTo>
                    <a:pt x="2829" y="0"/>
                  </a:lnTo>
                  <a:moveTo>
                    <a:pt x="2882" y="0"/>
                  </a:moveTo>
                  <a:lnTo>
                    <a:pt x="2882" y="0"/>
                  </a:lnTo>
                  <a:lnTo>
                    <a:pt x="2936" y="0"/>
                  </a:lnTo>
                  <a:moveTo>
                    <a:pt x="2989" y="0"/>
                  </a:moveTo>
                  <a:lnTo>
                    <a:pt x="2989" y="0"/>
                  </a:lnTo>
                  <a:lnTo>
                    <a:pt x="3042" y="0"/>
                  </a:lnTo>
                  <a:moveTo>
                    <a:pt x="3096" y="0"/>
                  </a:moveTo>
                  <a:lnTo>
                    <a:pt x="3096" y="0"/>
                  </a:lnTo>
                  <a:lnTo>
                    <a:pt x="3149" y="0"/>
                  </a:lnTo>
                  <a:moveTo>
                    <a:pt x="3203" y="0"/>
                  </a:moveTo>
                  <a:lnTo>
                    <a:pt x="3203" y="0"/>
                  </a:lnTo>
                  <a:lnTo>
                    <a:pt x="3256" y="0"/>
                  </a:lnTo>
                  <a:moveTo>
                    <a:pt x="3309" y="0"/>
                  </a:moveTo>
                  <a:lnTo>
                    <a:pt x="3309" y="0"/>
                  </a:lnTo>
                  <a:lnTo>
                    <a:pt x="3363" y="0"/>
                  </a:lnTo>
                  <a:moveTo>
                    <a:pt x="3416" y="0"/>
                  </a:moveTo>
                  <a:lnTo>
                    <a:pt x="3416" y="0"/>
                  </a:lnTo>
                  <a:lnTo>
                    <a:pt x="3469" y="0"/>
                  </a:lnTo>
                  <a:moveTo>
                    <a:pt x="3523" y="0"/>
                  </a:moveTo>
                  <a:lnTo>
                    <a:pt x="3523" y="0"/>
                  </a:lnTo>
                  <a:lnTo>
                    <a:pt x="3576" y="0"/>
                  </a:lnTo>
                  <a:moveTo>
                    <a:pt x="3629" y="0"/>
                  </a:moveTo>
                  <a:lnTo>
                    <a:pt x="3629" y="0"/>
                  </a:lnTo>
                  <a:lnTo>
                    <a:pt x="3683" y="0"/>
                  </a:lnTo>
                  <a:moveTo>
                    <a:pt x="3736" y="0"/>
                  </a:moveTo>
                  <a:lnTo>
                    <a:pt x="3736" y="0"/>
                  </a:lnTo>
                  <a:lnTo>
                    <a:pt x="3790" y="0"/>
                  </a:lnTo>
                  <a:moveTo>
                    <a:pt x="3843" y="0"/>
                  </a:moveTo>
                  <a:lnTo>
                    <a:pt x="3843" y="0"/>
                  </a:lnTo>
                  <a:lnTo>
                    <a:pt x="3896" y="0"/>
                  </a:lnTo>
                  <a:moveTo>
                    <a:pt x="3950" y="0"/>
                  </a:moveTo>
                  <a:lnTo>
                    <a:pt x="3950" y="0"/>
                  </a:lnTo>
                  <a:lnTo>
                    <a:pt x="4003" y="0"/>
                  </a:lnTo>
                  <a:moveTo>
                    <a:pt x="4056" y="0"/>
                  </a:moveTo>
                  <a:lnTo>
                    <a:pt x="4056" y="0"/>
                  </a:lnTo>
                  <a:lnTo>
                    <a:pt x="4102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54" name="Ovaal 53">
            <a:extLst>
              <a:ext uri="{FF2B5EF4-FFF2-40B4-BE49-F238E27FC236}">
                <a16:creationId xmlns:a16="http://schemas.microsoft.com/office/drawing/2014/main" id="{60201AD4-AF3E-D442-8AF7-82F9E5DBC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4561" y="4402900"/>
            <a:ext cx="136525" cy="134937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kstvak 57">
                <a:extLst>
                  <a:ext uri="{FF2B5EF4-FFF2-40B4-BE49-F238E27FC236}">
                    <a16:creationId xmlns:a16="http://schemas.microsoft.com/office/drawing/2014/main" id="{D42B1A8F-42D5-7543-8B3E-4E96FC6F190F}"/>
                  </a:ext>
                </a:extLst>
              </p:cNvPr>
              <p:cNvSpPr txBox="1"/>
              <p:nvPr/>
            </p:nvSpPr>
            <p:spPr>
              <a:xfrm>
                <a:off x="6308731" y="4217085"/>
                <a:ext cx="615656" cy="4500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nl-BE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accPr>
                        <m:e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nl-BE" b="1" dirty="0">
                  <a:solidFill>
                    <a:schemeClr val="tx1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8" name="Tekstvak 57">
                <a:extLst>
                  <a:ext uri="{FF2B5EF4-FFF2-40B4-BE49-F238E27FC236}">
                    <a16:creationId xmlns:a16="http://schemas.microsoft.com/office/drawing/2014/main" id="{D42B1A8F-42D5-7543-8B3E-4E96FC6F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731" y="4217085"/>
                <a:ext cx="615656" cy="4500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hthoek 58">
            <a:extLst>
              <a:ext uri="{FF2B5EF4-FFF2-40B4-BE49-F238E27FC236}">
                <a16:creationId xmlns:a16="http://schemas.microsoft.com/office/drawing/2014/main" id="{BD363719-4D16-3E4B-A223-FD404FD4A1A6}"/>
              </a:ext>
            </a:extLst>
          </p:cNvPr>
          <p:cNvSpPr/>
          <p:nvPr/>
        </p:nvSpPr>
        <p:spPr>
          <a:xfrm>
            <a:off x="539945" y="3748150"/>
            <a:ext cx="459194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s-IS" altLang="nl-BE" sz="2000" b="1" dirty="0">
                <a:latin typeface="+mn-lt"/>
              </a:rPr>
              <a:t>Als we geen andere info hebben...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s-IS" sz="2000" b="1" dirty="0">
                <a:solidFill>
                  <a:schemeClr val="accent6"/>
                </a:solidFill>
                <a:latin typeface="+mn-lt"/>
              </a:rPr>
              <a:t>Als we weten dat motivatie ertoe doet (we hebben onze regressierechte)</a:t>
            </a:r>
          </a:p>
        </p:txBody>
      </p:sp>
      <p:cxnSp>
        <p:nvCxnSpPr>
          <p:cNvPr id="56" name="Rechte verbindingslijn 55">
            <a:extLst>
              <a:ext uri="{FF2B5EF4-FFF2-40B4-BE49-F238E27FC236}">
                <a16:creationId xmlns:a16="http://schemas.microsoft.com/office/drawing/2014/main" id="{E9542954-3A94-364C-A3C6-710B87160B4C}"/>
              </a:ext>
            </a:extLst>
          </p:cNvPr>
          <p:cNvCxnSpPr>
            <a:cxnSpLocks/>
          </p:cNvCxnSpPr>
          <p:nvPr/>
        </p:nvCxnSpPr>
        <p:spPr>
          <a:xfrm flipV="1">
            <a:off x="6277704" y="2970237"/>
            <a:ext cx="3523594" cy="3019062"/>
          </a:xfrm>
          <a:prstGeom prst="lin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EC406F8-61A7-D542-9D86-15EBB50D1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48</a:t>
            </a:fld>
            <a:endParaRPr lang="nl-BE" dirty="0"/>
          </a:p>
        </p:txBody>
      </p:sp>
      <p:sp>
        <p:nvSpPr>
          <p:cNvPr id="64" name="Ovaal 63">
            <a:extLst>
              <a:ext uri="{FF2B5EF4-FFF2-40B4-BE49-F238E27FC236}">
                <a16:creationId xmlns:a16="http://schemas.microsoft.com/office/drawing/2014/main" id="{CEE5AC7D-B4E6-6F4F-818B-B7C8C58F28D3}"/>
              </a:ext>
            </a:extLst>
          </p:cNvPr>
          <p:cNvSpPr/>
          <p:nvPr/>
        </p:nvSpPr>
        <p:spPr bwMode="auto">
          <a:xfrm>
            <a:off x="8854243" y="3658554"/>
            <a:ext cx="136525" cy="134937"/>
          </a:xfrm>
          <a:prstGeom prst="ellipse">
            <a:avLst/>
          </a:prstGeom>
          <a:solidFill>
            <a:schemeClr val="accent6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nl-BE">
              <a:latin typeface="Times New Roman" pitchFamily="-111" charset="0"/>
            </a:endParaRPr>
          </a:p>
        </p:txBody>
      </p:sp>
      <p:cxnSp>
        <p:nvCxnSpPr>
          <p:cNvPr id="66" name="Rechte verbindingslijn met pijl 65">
            <a:extLst>
              <a:ext uri="{FF2B5EF4-FFF2-40B4-BE49-F238E27FC236}">
                <a16:creationId xmlns:a16="http://schemas.microsoft.com/office/drawing/2014/main" id="{25140C97-2308-3647-8445-74058A55F5C6}"/>
              </a:ext>
            </a:extLst>
          </p:cNvPr>
          <p:cNvCxnSpPr>
            <a:cxnSpLocks noChangeShapeType="1"/>
            <a:endCxn id="54" idx="0"/>
          </p:cNvCxnSpPr>
          <p:nvPr/>
        </p:nvCxnSpPr>
        <p:spPr bwMode="auto">
          <a:xfrm>
            <a:off x="8928849" y="3794604"/>
            <a:ext cx="3975" cy="608296"/>
          </a:xfrm>
          <a:prstGeom prst="straightConnector1">
            <a:avLst/>
          </a:prstGeom>
          <a:noFill/>
          <a:ln w="22225" algn="ctr">
            <a:solidFill>
              <a:schemeClr val="accent6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72936936-B436-5E49-8A6F-EAF23D3ED0B4}"/>
                  </a:ext>
                </a:extLst>
              </p:cNvPr>
              <p:cNvSpPr txBox="1"/>
              <p:nvPr/>
            </p:nvSpPr>
            <p:spPr>
              <a:xfrm>
                <a:off x="8903844" y="3594301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l-BE" i="1" dirty="0">
                  <a:solidFill>
                    <a:schemeClr val="bg1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72936936-B436-5E49-8A6F-EAF23D3ED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844" y="3594301"/>
                <a:ext cx="408965" cy="496945"/>
              </a:xfrm>
              <a:prstGeom prst="rect">
                <a:avLst/>
              </a:prstGeom>
              <a:blipFill>
                <a:blip r:embed="rId4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AE8799BE-43AF-AF40-8100-05C82F31ACB8}"/>
                  </a:ext>
                </a:extLst>
              </p:cNvPr>
              <p:cNvSpPr txBox="1"/>
              <p:nvPr/>
            </p:nvSpPr>
            <p:spPr>
              <a:xfrm>
                <a:off x="9031384" y="3934586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sz="200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nl-BE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nl-BE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− </m:t>
                      </m:r>
                      <m:acc>
                        <m:accPr>
                          <m:chr m:val="̅"/>
                          <m:ctrlPr>
                            <a:rPr lang="nl-BE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accPr>
                        <m:e>
                          <m:r>
                            <a:rPr lang="nl-BE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nl-BE" sz="2000" dirty="0">
                  <a:solidFill>
                    <a:schemeClr val="accent6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AE8799BE-43AF-AF40-8100-05C82F31A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84" y="3934586"/>
                <a:ext cx="408965" cy="496945"/>
              </a:xfrm>
              <a:prstGeom prst="rect">
                <a:avLst/>
              </a:prstGeom>
              <a:blipFill>
                <a:blip r:embed="rId5"/>
                <a:stretch>
                  <a:fillRect l="-21212" t="-10000" r="-10303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kstvak 75">
            <a:extLst>
              <a:ext uri="{FF2B5EF4-FFF2-40B4-BE49-F238E27FC236}">
                <a16:creationId xmlns:a16="http://schemas.microsoft.com/office/drawing/2014/main" id="{466BDA38-9353-3947-9A85-64AF70B3F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583" y="3917294"/>
            <a:ext cx="101181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600" baseline="0" dirty="0">
                <a:solidFill>
                  <a:schemeClr val="accent6"/>
                </a:solidFill>
                <a:latin typeface="Times New Roman" panose="02020603050405020304" pitchFamily="18" charset="0"/>
              </a:rPr>
              <a:t>basis RSS</a:t>
            </a:r>
          </a:p>
        </p:txBody>
      </p:sp>
      <p:sp>
        <p:nvSpPr>
          <p:cNvPr id="77" name="Tekstvak 76">
            <a:extLst>
              <a:ext uri="{FF2B5EF4-FFF2-40B4-BE49-F238E27FC236}">
                <a16:creationId xmlns:a16="http://schemas.microsoft.com/office/drawing/2014/main" id="{C24BFDA0-B742-9147-937A-561C764AC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1799" y="4131681"/>
            <a:ext cx="22143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400" i="1" baseline="0" dirty="0">
                <a:solidFill>
                  <a:schemeClr val="accent6"/>
                </a:solidFill>
                <a:latin typeface="Times New Roman" panose="02020603050405020304" pitchFamily="18" charset="0"/>
              </a:rPr>
              <a:t>Regression Sum of Squares</a:t>
            </a:r>
          </a:p>
        </p:txBody>
      </p:sp>
      <p:sp>
        <p:nvSpPr>
          <p:cNvPr id="55" name="Tekstvak 54">
            <a:extLst>
              <a:ext uri="{FF2B5EF4-FFF2-40B4-BE49-F238E27FC236}">
                <a16:creationId xmlns:a16="http://schemas.microsoft.com/office/drawing/2014/main" id="{4FA50AA5-5FB7-BE18-F3E8-58B2FFA477A7}"/>
              </a:ext>
            </a:extLst>
          </p:cNvPr>
          <p:cNvSpPr txBox="1"/>
          <p:nvPr/>
        </p:nvSpPr>
        <p:spPr>
          <a:xfrm>
            <a:off x="7325991" y="6380488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sz="1600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Autonome motivatie</a:t>
            </a:r>
          </a:p>
        </p:txBody>
      </p:sp>
      <p:sp>
        <p:nvSpPr>
          <p:cNvPr id="57" name="Tekstvak 56">
            <a:extLst>
              <a:ext uri="{FF2B5EF4-FFF2-40B4-BE49-F238E27FC236}">
                <a16:creationId xmlns:a16="http://schemas.microsoft.com/office/drawing/2014/main" id="{A5EFA487-2C7E-2594-A9B0-225F098FF614}"/>
              </a:ext>
            </a:extLst>
          </p:cNvPr>
          <p:cNvSpPr txBox="1"/>
          <p:nvPr/>
        </p:nvSpPr>
        <p:spPr>
          <a:xfrm rot="16200000">
            <a:off x="4629881" y="4320342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sz="1600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Resultaat Statistiek B</a:t>
            </a:r>
          </a:p>
        </p:txBody>
      </p:sp>
    </p:spTree>
    <p:extLst>
      <p:ext uri="{BB962C8B-B14F-4D97-AF65-F5344CB8AC3E}">
        <p14:creationId xmlns:p14="http://schemas.microsoft.com/office/powerpoint/2010/main" val="27951486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86AF7-2311-3A49-84CF-C521268D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goed is het model?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5156021-CE2C-794F-8DBA-37752D4A1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Methode 2</a:t>
            </a:r>
          </a:p>
          <a:p>
            <a:pPr marL="0" indent="0">
              <a:buNone/>
            </a:pP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Stel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dat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er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een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student later de les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statistiek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binnenkomt</a:t>
            </a:r>
            <a:r>
              <a:rPr lang="is-IS" altLang="nl-BE" sz="2000" b="0" i="1" dirty="0">
                <a:solidFill>
                  <a:srgbClr val="003D62"/>
                </a:solidFill>
                <a:latin typeface="+mn-lt"/>
              </a:rPr>
              <a:t>… Hoeveel behaalt deze student op zijn examen?</a:t>
            </a:r>
            <a:endParaRPr lang="nl-BE" sz="2000" b="0" i="1" dirty="0"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6EA76B-F85A-A846-9DBE-339EECE74C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3895" y="2947241"/>
            <a:ext cx="3837403" cy="3340989"/>
            <a:chOff x="2789" y="1424"/>
            <a:chExt cx="2837" cy="247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D0B3E2-012E-E14F-89B5-E0EF4E245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3673"/>
              <a:ext cx="2423" cy="0"/>
            </a:xfrm>
            <a:custGeom>
              <a:avLst/>
              <a:gdLst>
                <a:gd name="T0" fmla="*/ 0 w 3798"/>
                <a:gd name="T1" fmla="*/ 0 w 3798"/>
                <a:gd name="T2" fmla="*/ 629 w 3798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3798">
                  <a:moveTo>
                    <a:pt x="0" y="0"/>
                  </a:moveTo>
                  <a:lnTo>
                    <a:pt x="0" y="0"/>
                  </a:lnTo>
                  <a:lnTo>
                    <a:pt x="3798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96A611-22BD-FD49-B127-A79E0EF74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127C87E-77C4-9F41-A81A-01E233438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3902716-A6B1-2142-890D-2CE148B29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63DBEBE-F6A0-394A-B2E3-7D6F76A53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07B878B-A6A0-534D-8614-45C845244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4B987B1-F3FA-C844-BEBC-F8C4FFABA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3863"/>
              <a:ext cx="28" cy="8"/>
            </a:xfrm>
            <a:custGeom>
              <a:avLst/>
              <a:gdLst>
                <a:gd name="T0" fmla="*/ 0 w 44"/>
                <a:gd name="T1" fmla="*/ 2 h 14"/>
                <a:gd name="T2" fmla="*/ 0 w 44"/>
                <a:gd name="T3" fmla="*/ 2 h 14"/>
                <a:gd name="T4" fmla="*/ 0 w 44"/>
                <a:gd name="T5" fmla="*/ 0 h 14"/>
                <a:gd name="T6" fmla="*/ 7 w 44"/>
                <a:gd name="T7" fmla="*/ 0 h 14"/>
                <a:gd name="T8" fmla="*/ 7 w 44"/>
                <a:gd name="T9" fmla="*/ 2 h 14"/>
                <a:gd name="T10" fmla="*/ 0 w 44"/>
                <a:gd name="T11" fmla="*/ 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14"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44" y="0"/>
                  </a:lnTo>
                  <a:lnTo>
                    <a:pt x="44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5C05A4-C25E-0D49-89BE-6D1A4E24D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3820"/>
              <a:ext cx="27" cy="73"/>
            </a:xfrm>
            <a:custGeom>
              <a:avLst/>
              <a:gdLst>
                <a:gd name="T0" fmla="*/ 7 w 42"/>
                <a:gd name="T1" fmla="*/ 18 h 115"/>
                <a:gd name="T2" fmla="*/ 7 w 42"/>
                <a:gd name="T3" fmla="*/ 18 h 115"/>
                <a:gd name="T4" fmla="*/ 5 w 42"/>
                <a:gd name="T5" fmla="*/ 18 h 115"/>
                <a:gd name="T6" fmla="*/ 5 w 42"/>
                <a:gd name="T7" fmla="*/ 4 h 115"/>
                <a:gd name="T8" fmla="*/ 3 w 42"/>
                <a:gd name="T9" fmla="*/ 6 h 115"/>
                <a:gd name="T10" fmla="*/ 0 w 42"/>
                <a:gd name="T11" fmla="*/ 7 h 115"/>
                <a:gd name="T12" fmla="*/ 0 w 42"/>
                <a:gd name="T13" fmla="*/ 4 h 115"/>
                <a:gd name="T14" fmla="*/ 4 w 42"/>
                <a:gd name="T15" fmla="*/ 3 h 115"/>
                <a:gd name="T16" fmla="*/ 6 w 42"/>
                <a:gd name="T17" fmla="*/ 0 h 115"/>
                <a:gd name="T18" fmla="*/ 7 w 42"/>
                <a:gd name="T19" fmla="*/ 0 h 115"/>
                <a:gd name="T20" fmla="*/ 7 w 42"/>
                <a:gd name="T21" fmla="*/ 18 h 1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15">
                  <a:moveTo>
                    <a:pt x="42" y="115"/>
                  </a:moveTo>
                  <a:lnTo>
                    <a:pt x="42" y="115"/>
                  </a:lnTo>
                  <a:lnTo>
                    <a:pt x="28" y="115"/>
                  </a:lnTo>
                  <a:lnTo>
                    <a:pt x="28" y="26"/>
                  </a:lnTo>
                  <a:cubicBezTo>
                    <a:pt x="25" y="29"/>
                    <a:pt x="20" y="32"/>
                    <a:pt x="15" y="36"/>
                  </a:cubicBezTo>
                  <a:cubicBezTo>
                    <a:pt x="9" y="39"/>
                    <a:pt x="4" y="41"/>
                    <a:pt x="0" y="43"/>
                  </a:cubicBezTo>
                  <a:lnTo>
                    <a:pt x="0" y="29"/>
                  </a:lnTo>
                  <a:cubicBezTo>
                    <a:pt x="8" y="26"/>
                    <a:pt x="15" y="21"/>
                    <a:pt x="21" y="16"/>
                  </a:cubicBezTo>
                  <a:cubicBezTo>
                    <a:pt x="26" y="11"/>
                    <a:pt x="31" y="5"/>
                    <a:pt x="33" y="0"/>
                  </a:cubicBezTo>
                  <a:lnTo>
                    <a:pt x="42" y="0"/>
                  </a:lnTo>
                  <a:lnTo>
                    <a:pt x="42" y="1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10CD9C8-6859-4D44-BED2-278F08F34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44FA3A6-7798-6A49-B514-8D392968A1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2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4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8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3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4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3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37187DE-5870-F745-A456-2E4772A7C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863"/>
              <a:ext cx="28" cy="8"/>
            </a:xfrm>
            <a:custGeom>
              <a:avLst/>
              <a:gdLst>
                <a:gd name="T0" fmla="*/ 0 w 43"/>
                <a:gd name="T1" fmla="*/ 2 h 14"/>
                <a:gd name="T2" fmla="*/ 0 w 43"/>
                <a:gd name="T3" fmla="*/ 2 h 14"/>
                <a:gd name="T4" fmla="*/ 0 w 43"/>
                <a:gd name="T5" fmla="*/ 0 h 14"/>
                <a:gd name="T6" fmla="*/ 8 w 43"/>
                <a:gd name="T7" fmla="*/ 0 h 14"/>
                <a:gd name="T8" fmla="*/ 8 w 43"/>
                <a:gd name="T9" fmla="*/ 2 h 14"/>
                <a:gd name="T10" fmla="*/ 0 w 43"/>
                <a:gd name="T11" fmla="*/ 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4"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1F50AB5-099C-0243-BF28-2C8295F9D6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2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4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8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4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2C2C456-0922-C145-938E-E3D835A83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1E60341-FD58-804B-A536-5DD729BDF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821"/>
              <a:ext cx="49" cy="73"/>
            </a:xfrm>
            <a:custGeom>
              <a:avLst/>
              <a:gdLst>
                <a:gd name="T0" fmla="*/ 0 w 76"/>
                <a:gd name="T1" fmla="*/ 14 h 115"/>
                <a:gd name="T2" fmla="*/ 0 w 76"/>
                <a:gd name="T3" fmla="*/ 14 h 115"/>
                <a:gd name="T4" fmla="*/ 3 w 76"/>
                <a:gd name="T5" fmla="*/ 13 h 115"/>
                <a:gd name="T6" fmla="*/ 4 w 76"/>
                <a:gd name="T7" fmla="*/ 16 h 115"/>
                <a:gd name="T8" fmla="*/ 6 w 76"/>
                <a:gd name="T9" fmla="*/ 17 h 115"/>
                <a:gd name="T10" fmla="*/ 10 w 76"/>
                <a:gd name="T11" fmla="*/ 16 h 115"/>
                <a:gd name="T12" fmla="*/ 10 w 76"/>
                <a:gd name="T13" fmla="*/ 12 h 115"/>
                <a:gd name="T14" fmla="*/ 10 w 76"/>
                <a:gd name="T15" fmla="*/ 10 h 115"/>
                <a:gd name="T16" fmla="*/ 6 w 76"/>
                <a:gd name="T17" fmla="*/ 8 h 115"/>
                <a:gd name="T18" fmla="*/ 4 w 76"/>
                <a:gd name="T19" fmla="*/ 9 h 115"/>
                <a:gd name="T20" fmla="*/ 3 w 76"/>
                <a:gd name="T21" fmla="*/ 10 h 115"/>
                <a:gd name="T22" fmla="*/ 1 w 76"/>
                <a:gd name="T23" fmla="*/ 10 h 115"/>
                <a:gd name="T24" fmla="*/ 3 w 76"/>
                <a:gd name="T25" fmla="*/ 0 h 115"/>
                <a:gd name="T26" fmla="*/ 12 w 76"/>
                <a:gd name="T27" fmla="*/ 0 h 115"/>
                <a:gd name="T28" fmla="*/ 12 w 76"/>
                <a:gd name="T29" fmla="*/ 3 h 115"/>
                <a:gd name="T30" fmla="*/ 4 w 76"/>
                <a:gd name="T31" fmla="*/ 3 h 115"/>
                <a:gd name="T32" fmla="*/ 3 w 76"/>
                <a:gd name="T33" fmla="*/ 7 h 115"/>
                <a:gd name="T34" fmla="*/ 7 w 76"/>
                <a:gd name="T35" fmla="*/ 6 h 115"/>
                <a:gd name="T36" fmla="*/ 12 w 76"/>
                <a:gd name="T37" fmla="*/ 8 h 115"/>
                <a:gd name="T38" fmla="*/ 14 w 76"/>
                <a:gd name="T39" fmla="*/ 12 h 115"/>
                <a:gd name="T40" fmla="*/ 12 w 76"/>
                <a:gd name="T41" fmla="*/ 17 h 115"/>
                <a:gd name="T42" fmla="*/ 6 w 76"/>
                <a:gd name="T43" fmla="*/ 18 h 115"/>
                <a:gd name="T44" fmla="*/ 2 w 76"/>
                <a:gd name="T45" fmla="*/ 17 h 115"/>
                <a:gd name="T46" fmla="*/ 0 w 76"/>
                <a:gd name="T47" fmla="*/ 14 h 115"/>
                <a:gd name="T48" fmla="*/ 0 w 76"/>
                <a:gd name="T49" fmla="*/ 14 h 11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6" h="115">
                  <a:moveTo>
                    <a:pt x="0" y="83"/>
                  </a:moveTo>
                  <a:lnTo>
                    <a:pt x="0" y="83"/>
                  </a:lnTo>
                  <a:lnTo>
                    <a:pt x="15" y="82"/>
                  </a:lnTo>
                  <a:cubicBezTo>
                    <a:pt x="16" y="89"/>
                    <a:pt x="19" y="95"/>
                    <a:pt x="23" y="98"/>
                  </a:cubicBezTo>
                  <a:cubicBezTo>
                    <a:pt x="27" y="102"/>
                    <a:pt x="31" y="104"/>
                    <a:pt x="37" y="104"/>
                  </a:cubicBezTo>
                  <a:cubicBezTo>
                    <a:pt x="44" y="104"/>
                    <a:pt x="50" y="101"/>
                    <a:pt x="54" y="96"/>
                  </a:cubicBezTo>
                  <a:cubicBezTo>
                    <a:pt x="59" y="91"/>
                    <a:pt x="61" y="84"/>
                    <a:pt x="61" y="76"/>
                  </a:cubicBezTo>
                  <a:cubicBezTo>
                    <a:pt x="61" y="68"/>
                    <a:pt x="59" y="62"/>
                    <a:pt x="55" y="57"/>
                  </a:cubicBezTo>
                  <a:cubicBezTo>
                    <a:pt x="50" y="52"/>
                    <a:pt x="44" y="50"/>
                    <a:pt x="37" y="50"/>
                  </a:cubicBezTo>
                  <a:cubicBezTo>
                    <a:pt x="32" y="50"/>
                    <a:pt x="28" y="51"/>
                    <a:pt x="25" y="53"/>
                  </a:cubicBezTo>
                  <a:cubicBezTo>
                    <a:pt x="21" y="55"/>
                    <a:pt x="18" y="58"/>
                    <a:pt x="16" y="61"/>
                  </a:cubicBezTo>
                  <a:lnTo>
                    <a:pt x="3" y="59"/>
                  </a:lnTo>
                  <a:lnTo>
                    <a:pt x="14" y="0"/>
                  </a:lnTo>
                  <a:lnTo>
                    <a:pt x="71" y="0"/>
                  </a:lnTo>
                  <a:lnTo>
                    <a:pt x="71" y="14"/>
                  </a:lnTo>
                  <a:lnTo>
                    <a:pt x="25" y="14"/>
                  </a:lnTo>
                  <a:lnTo>
                    <a:pt x="19" y="45"/>
                  </a:lnTo>
                  <a:cubicBezTo>
                    <a:pt x="26" y="40"/>
                    <a:pt x="33" y="38"/>
                    <a:pt x="41" y="38"/>
                  </a:cubicBezTo>
                  <a:cubicBezTo>
                    <a:pt x="51" y="38"/>
                    <a:pt x="59" y="41"/>
                    <a:pt x="66" y="48"/>
                  </a:cubicBezTo>
                  <a:cubicBezTo>
                    <a:pt x="73" y="55"/>
                    <a:pt x="76" y="64"/>
                    <a:pt x="76" y="75"/>
                  </a:cubicBezTo>
                  <a:cubicBezTo>
                    <a:pt x="76" y="85"/>
                    <a:pt x="73" y="94"/>
                    <a:pt x="67" y="102"/>
                  </a:cubicBezTo>
                  <a:cubicBezTo>
                    <a:pt x="60" y="111"/>
                    <a:pt x="50" y="115"/>
                    <a:pt x="37" y="115"/>
                  </a:cubicBezTo>
                  <a:cubicBezTo>
                    <a:pt x="27" y="115"/>
                    <a:pt x="18" y="113"/>
                    <a:pt x="12" y="107"/>
                  </a:cubicBezTo>
                  <a:cubicBezTo>
                    <a:pt x="5" y="101"/>
                    <a:pt x="1" y="93"/>
                    <a:pt x="0" y="8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EFD0B9A-C478-2844-AE52-9594DBC1C7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1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3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7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3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3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3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CC1052-C12A-C84F-AFA5-047EB2E9D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FFF5EC0-1EA1-B840-A65F-056C87D497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36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3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6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49" y="103"/>
                    <a:pt x="54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4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69026DA-A1E8-9741-83D2-CF676B525E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6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4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7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49" y="103"/>
                    <a:pt x="54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4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C3A451A-6E36-384D-A5AF-C9D22C86B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8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F85C4EE-2D21-C748-8F00-B55DF64B0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2" y="3821"/>
              <a:ext cx="48" cy="73"/>
            </a:xfrm>
            <a:custGeom>
              <a:avLst/>
              <a:gdLst>
                <a:gd name="T0" fmla="*/ 0 w 76"/>
                <a:gd name="T1" fmla="*/ 14 h 115"/>
                <a:gd name="T2" fmla="*/ 0 w 76"/>
                <a:gd name="T3" fmla="*/ 14 h 115"/>
                <a:gd name="T4" fmla="*/ 3 w 76"/>
                <a:gd name="T5" fmla="*/ 13 h 115"/>
                <a:gd name="T6" fmla="*/ 4 w 76"/>
                <a:gd name="T7" fmla="*/ 16 h 115"/>
                <a:gd name="T8" fmla="*/ 6 w 76"/>
                <a:gd name="T9" fmla="*/ 17 h 115"/>
                <a:gd name="T10" fmla="*/ 8 w 76"/>
                <a:gd name="T11" fmla="*/ 16 h 115"/>
                <a:gd name="T12" fmla="*/ 10 w 76"/>
                <a:gd name="T13" fmla="*/ 12 h 115"/>
                <a:gd name="T14" fmla="*/ 8 w 76"/>
                <a:gd name="T15" fmla="*/ 10 h 115"/>
                <a:gd name="T16" fmla="*/ 6 w 76"/>
                <a:gd name="T17" fmla="*/ 8 h 115"/>
                <a:gd name="T18" fmla="*/ 4 w 76"/>
                <a:gd name="T19" fmla="*/ 9 h 115"/>
                <a:gd name="T20" fmla="*/ 3 w 76"/>
                <a:gd name="T21" fmla="*/ 10 h 115"/>
                <a:gd name="T22" fmla="*/ 1 w 76"/>
                <a:gd name="T23" fmla="*/ 10 h 115"/>
                <a:gd name="T24" fmla="*/ 2 w 76"/>
                <a:gd name="T25" fmla="*/ 0 h 115"/>
                <a:gd name="T26" fmla="*/ 11 w 76"/>
                <a:gd name="T27" fmla="*/ 0 h 115"/>
                <a:gd name="T28" fmla="*/ 11 w 76"/>
                <a:gd name="T29" fmla="*/ 3 h 115"/>
                <a:gd name="T30" fmla="*/ 4 w 76"/>
                <a:gd name="T31" fmla="*/ 3 h 115"/>
                <a:gd name="T32" fmla="*/ 3 w 76"/>
                <a:gd name="T33" fmla="*/ 7 h 115"/>
                <a:gd name="T34" fmla="*/ 6 w 76"/>
                <a:gd name="T35" fmla="*/ 6 h 115"/>
                <a:gd name="T36" fmla="*/ 10 w 76"/>
                <a:gd name="T37" fmla="*/ 8 h 115"/>
                <a:gd name="T38" fmla="*/ 12 w 76"/>
                <a:gd name="T39" fmla="*/ 12 h 115"/>
                <a:gd name="T40" fmla="*/ 11 w 76"/>
                <a:gd name="T41" fmla="*/ 17 h 115"/>
                <a:gd name="T42" fmla="*/ 6 w 76"/>
                <a:gd name="T43" fmla="*/ 18 h 115"/>
                <a:gd name="T44" fmla="*/ 2 w 76"/>
                <a:gd name="T45" fmla="*/ 17 h 115"/>
                <a:gd name="T46" fmla="*/ 0 w 76"/>
                <a:gd name="T47" fmla="*/ 14 h 115"/>
                <a:gd name="T48" fmla="*/ 0 w 76"/>
                <a:gd name="T49" fmla="*/ 14 h 11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6" h="115">
                  <a:moveTo>
                    <a:pt x="0" y="83"/>
                  </a:moveTo>
                  <a:lnTo>
                    <a:pt x="0" y="83"/>
                  </a:lnTo>
                  <a:lnTo>
                    <a:pt x="15" y="82"/>
                  </a:lnTo>
                  <a:cubicBezTo>
                    <a:pt x="16" y="89"/>
                    <a:pt x="18" y="95"/>
                    <a:pt x="22" y="98"/>
                  </a:cubicBezTo>
                  <a:cubicBezTo>
                    <a:pt x="26" y="102"/>
                    <a:pt x="31" y="104"/>
                    <a:pt x="37" y="104"/>
                  </a:cubicBezTo>
                  <a:cubicBezTo>
                    <a:pt x="43" y="104"/>
                    <a:pt x="49" y="101"/>
                    <a:pt x="54" y="96"/>
                  </a:cubicBezTo>
                  <a:cubicBezTo>
                    <a:pt x="58" y="91"/>
                    <a:pt x="61" y="84"/>
                    <a:pt x="61" y="76"/>
                  </a:cubicBezTo>
                  <a:cubicBezTo>
                    <a:pt x="61" y="68"/>
                    <a:pt x="58" y="62"/>
                    <a:pt x="54" y="57"/>
                  </a:cubicBezTo>
                  <a:cubicBezTo>
                    <a:pt x="49" y="52"/>
                    <a:pt x="44" y="50"/>
                    <a:pt x="36" y="50"/>
                  </a:cubicBezTo>
                  <a:cubicBezTo>
                    <a:pt x="32" y="50"/>
                    <a:pt x="28" y="51"/>
                    <a:pt x="24" y="53"/>
                  </a:cubicBezTo>
                  <a:cubicBezTo>
                    <a:pt x="20" y="55"/>
                    <a:pt x="18" y="58"/>
                    <a:pt x="15" y="61"/>
                  </a:cubicBezTo>
                  <a:lnTo>
                    <a:pt x="2" y="59"/>
                  </a:lnTo>
                  <a:lnTo>
                    <a:pt x="13" y="0"/>
                  </a:lnTo>
                  <a:lnTo>
                    <a:pt x="70" y="0"/>
                  </a:lnTo>
                  <a:lnTo>
                    <a:pt x="70" y="14"/>
                  </a:lnTo>
                  <a:lnTo>
                    <a:pt x="25" y="14"/>
                  </a:lnTo>
                  <a:lnTo>
                    <a:pt x="18" y="45"/>
                  </a:lnTo>
                  <a:cubicBezTo>
                    <a:pt x="25" y="40"/>
                    <a:pt x="32" y="38"/>
                    <a:pt x="40" y="38"/>
                  </a:cubicBezTo>
                  <a:cubicBezTo>
                    <a:pt x="50" y="38"/>
                    <a:pt x="58" y="41"/>
                    <a:pt x="65" y="48"/>
                  </a:cubicBezTo>
                  <a:cubicBezTo>
                    <a:pt x="72" y="55"/>
                    <a:pt x="76" y="64"/>
                    <a:pt x="76" y="75"/>
                  </a:cubicBezTo>
                  <a:cubicBezTo>
                    <a:pt x="76" y="85"/>
                    <a:pt x="73" y="94"/>
                    <a:pt x="67" y="102"/>
                  </a:cubicBezTo>
                  <a:cubicBezTo>
                    <a:pt x="59" y="111"/>
                    <a:pt x="49" y="115"/>
                    <a:pt x="37" y="115"/>
                  </a:cubicBezTo>
                  <a:cubicBezTo>
                    <a:pt x="26" y="115"/>
                    <a:pt x="18" y="113"/>
                    <a:pt x="11" y="107"/>
                  </a:cubicBezTo>
                  <a:cubicBezTo>
                    <a:pt x="4" y="101"/>
                    <a:pt x="1" y="93"/>
                    <a:pt x="0" y="8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129FA9A-2634-DE42-BA61-25921A625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9" y="3820"/>
              <a:ext cx="27" cy="73"/>
            </a:xfrm>
            <a:custGeom>
              <a:avLst/>
              <a:gdLst>
                <a:gd name="T0" fmla="*/ 7 w 42"/>
                <a:gd name="T1" fmla="*/ 18 h 115"/>
                <a:gd name="T2" fmla="*/ 7 w 42"/>
                <a:gd name="T3" fmla="*/ 18 h 115"/>
                <a:gd name="T4" fmla="*/ 5 w 42"/>
                <a:gd name="T5" fmla="*/ 18 h 115"/>
                <a:gd name="T6" fmla="*/ 5 w 42"/>
                <a:gd name="T7" fmla="*/ 4 h 115"/>
                <a:gd name="T8" fmla="*/ 3 w 42"/>
                <a:gd name="T9" fmla="*/ 6 h 115"/>
                <a:gd name="T10" fmla="*/ 0 w 42"/>
                <a:gd name="T11" fmla="*/ 7 h 115"/>
                <a:gd name="T12" fmla="*/ 0 w 42"/>
                <a:gd name="T13" fmla="*/ 4 h 115"/>
                <a:gd name="T14" fmla="*/ 3 w 42"/>
                <a:gd name="T15" fmla="*/ 3 h 115"/>
                <a:gd name="T16" fmla="*/ 6 w 42"/>
                <a:gd name="T17" fmla="*/ 0 h 115"/>
                <a:gd name="T18" fmla="*/ 7 w 42"/>
                <a:gd name="T19" fmla="*/ 0 h 115"/>
                <a:gd name="T20" fmla="*/ 7 w 42"/>
                <a:gd name="T21" fmla="*/ 18 h 1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15">
                  <a:moveTo>
                    <a:pt x="42" y="115"/>
                  </a:moveTo>
                  <a:lnTo>
                    <a:pt x="42" y="115"/>
                  </a:lnTo>
                  <a:lnTo>
                    <a:pt x="28" y="115"/>
                  </a:lnTo>
                  <a:lnTo>
                    <a:pt x="28" y="26"/>
                  </a:lnTo>
                  <a:cubicBezTo>
                    <a:pt x="24" y="29"/>
                    <a:pt x="20" y="32"/>
                    <a:pt x="14" y="36"/>
                  </a:cubicBezTo>
                  <a:cubicBezTo>
                    <a:pt x="9" y="39"/>
                    <a:pt x="4" y="41"/>
                    <a:pt x="0" y="43"/>
                  </a:cubicBezTo>
                  <a:lnTo>
                    <a:pt x="0" y="29"/>
                  </a:lnTo>
                  <a:cubicBezTo>
                    <a:pt x="7" y="26"/>
                    <a:pt x="14" y="21"/>
                    <a:pt x="20" y="16"/>
                  </a:cubicBezTo>
                  <a:cubicBezTo>
                    <a:pt x="26" y="11"/>
                    <a:pt x="30" y="5"/>
                    <a:pt x="33" y="0"/>
                  </a:cubicBezTo>
                  <a:lnTo>
                    <a:pt x="42" y="0"/>
                  </a:lnTo>
                  <a:lnTo>
                    <a:pt x="42" y="1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95A67753-6D32-1F4B-BA09-D25C26055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4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A11668E-F9CD-924B-9162-DA1A29F3F9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47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4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7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50" y="103"/>
                    <a:pt x="54" y="96"/>
                  </a:cubicBezTo>
                  <a:cubicBezTo>
                    <a:pt x="58" y="90"/>
                    <a:pt x="61" y="78"/>
                    <a:pt x="61" y="59"/>
                  </a:cubicBezTo>
                  <a:cubicBezTo>
                    <a:pt x="61" y="40"/>
                    <a:pt x="58" y="28"/>
                    <a:pt x="54" y="21"/>
                  </a:cubicBezTo>
                  <a:cubicBezTo>
                    <a:pt x="50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7A8DFF-9415-204D-8992-2B0F08B02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507"/>
              <a:ext cx="0" cy="2082"/>
            </a:xfrm>
            <a:custGeom>
              <a:avLst/>
              <a:gdLst>
                <a:gd name="T0" fmla="*/ 540 h 3264"/>
                <a:gd name="T1" fmla="*/ 540 h 3264"/>
                <a:gd name="T2" fmla="*/ 0 h 3264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3264">
                  <a:moveTo>
                    <a:pt x="0" y="3264"/>
                  </a:moveTo>
                  <a:lnTo>
                    <a:pt x="0" y="3264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5FA1613-3DF9-5D42-967F-DFAD5EACA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3589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8AA779A-009B-9D4B-8515-ED476539E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3069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ED853B8-3C9F-6C43-87CE-494F078C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548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7602237-173C-AF41-8640-3FC4678A3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028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C56CBAC-D8E6-314D-9CF9-DD6CA8A8F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507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7DDD4F3-0FB3-7B4A-A7BB-D1F9690A8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3647"/>
              <a:ext cx="9" cy="27"/>
            </a:xfrm>
            <a:custGeom>
              <a:avLst/>
              <a:gdLst>
                <a:gd name="T0" fmla="*/ 3 w 14"/>
                <a:gd name="T1" fmla="*/ 7 h 43"/>
                <a:gd name="T2" fmla="*/ 3 w 14"/>
                <a:gd name="T3" fmla="*/ 7 h 43"/>
                <a:gd name="T4" fmla="*/ 0 w 14"/>
                <a:gd name="T5" fmla="*/ 7 h 43"/>
                <a:gd name="T6" fmla="*/ 0 w 14"/>
                <a:gd name="T7" fmla="*/ 0 h 43"/>
                <a:gd name="T8" fmla="*/ 3 w 14"/>
                <a:gd name="T9" fmla="*/ 0 h 43"/>
                <a:gd name="T10" fmla="*/ 3 w 14"/>
                <a:gd name="T11" fmla="*/ 7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43">
                  <a:moveTo>
                    <a:pt x="14" y="43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8C56BEC-7FF6-C84D-8F65-F502E9C55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3605"/>
              <a:ext cx="73" cy="27"/>
            </a:xfrm>
            <a:custGeom>
              <a:avLst/>
              <a:gdLst>
                <a:gd name="T0" fmla="*/ 18 w 115"/>
                <a:gd name="T1" fmla="*/ 0 h 42"/>
                <a:gd name="T2" fmla="*/ 18 w 115"/>
                <a:gd name="T3" fmla="*/ 0 h 42"/>
                <a:gd name="T4" fmla="*/ 18 w 115"/>
                <a:gd name="T5" fmla="*/ 3 h 42"/>
                <a:gd name="T6" fmla="*/ 4 w 115"/>
                <a:gd name="T7" fmla="*/ 3 h 42"/>
                <a:gd name="T8" fmla="*/ 6 w 115"/>
                <a:gd name="T9" fmla="*/ 5 h 42"/>
                <a:gd name="T10" fmla="*/ 7 w 115"/>
                <a:gd name="T11" fmla="*/ 7 h 42"/>
                <a:gd name="T12" fmla="*/ 4 w 115"/>
                <a:gd name="T13" fmla="*/ 7 h 42"/>
                <a:gd name="T14" fmla="*/ 3 w 115"/>
                <a:gd name="T15" fmla="*/ 4 h 42"/>
                <a:gd name="T16" fmla="*/ 0 w 115"/>
                <a:gd name="T17" fmla="*/ 2 h 42"/>
                <a:gd name="T18" fmla="*/ 0 w 115"/>
                <a:gd name="T19" fmla="*/ 0 h 42"/>
                <a:gd name="T20" fmla="*/ 18 w 115"/>
                <a:gd name="T21" fmla="*/ 0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2">
                  <a:moveTo>
                    <a:pt x="115" y="0"/>
                  </a:moveTo>
                  <a:lnTo>
                    <a:pt x="115" y="0"/>
                  </a:lnTo>
                  <a:lnTo>
                    <a:pt x="115" y="14"/>
                  </a:lnTo>
                  <a:lnTo>
                    <a:pt x="25" y="14"/>
                  </a:lnTo>
                  <a:cubicBezTo>
                    <a:pt x="28" y="18"/>
                    <a:pt x="32" y="22"/>
                    <a:pt x="35" y="27"/>
                  </a:cubicBezTo>
                  <a:cubicBezTo>
                    <a:pt x="38" y="33"/>
                    <a:pt x="40" y="38"/>
                    <a:pt x="42" y="42"/>
                  </a:cubicBezTo>
                  <a:lnTo>
                    <a:pt x="28" y="42"/>
                  </a:lnTo>
                  <a:cubicBezTo>
                    <a:pt x="25" y="34"/>
                    <a:pt x="20" y="28"/>
                    <a:pt x="15" y="22"/>
                  </a:cubicBezTo>
                  <a:cubicBezTo>
                    <a:pt x="10" y="16"/>
                    <a:pt x="5" y="12"/>
                    <a:pt x="0" y="9"/>
                  </a:cubicBez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F302BF2E-AC92-DD4C-A5F9-F21A190D0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567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4D6749B-B749-EA4D-BC55-F12627787D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3507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8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3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35EEE93-2281-DB45-9730-8AE6237F1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3126"/>
              <a:ext cx="9" cy="28"/>
            </a:xfrm>
            <a:custGeom>
              <a:avLst/>
              <a:gdLst>
                <a:gd name="T0" fmla="*/ 3 w 14"/>
                <a:gd name="T1" fmla="*/ 8 h 43"/>
                <a:gd name="T2" fmla="*/ 3 w 14"/>
                <a:gd name="T3" fmla="*/ 8 h 43"/>
                <a:gd name="T4" fmla="*/ 0 w 14"/>
                <a:gd name="T5" fmla="*/ 8 h 43"/>
                <a:gd name="T6" fmla="*/ 0 w 14"/>
                <a:gd name="T7" fmla="*/ 0 h 43"/>
                <a:gd name="T8" fmla="*/ 3 w 14"/>
                <a:gd name="T9" fmla="*/ 0 h 43"/>
                <a:gd name="T10" fmla="*/ 3 w 14"/>
                <a:gd name="T11" fmla="*/ 8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43">
                  <a:moveTo>
                    <a:pt x="14" y="43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F4BE8BB-0F27-144B-9CF9-A36134D7CB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3071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1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8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7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2"/>
                    <a:pt x="91" y="4"/>
                  </a:cubicBezTo>
                  <a:cubicBezTo>
                    <a:pt x="99" y="7"/>
                    <a:pt x="105" y="11"/>
                    <a:pt x="110" y="17"/>
                  </a:cubicBezTo>
                  <a:cubicBezTo>
                    <a:pt x="114" y="22"/>
                    <a:pt x="117" y="29"/>
                    <a:pt x="117" y="38"/>
                  </a:cubicBezTo>
                  <a:cubicBezTo>
                    <a:pt x="117" y="49"/>
                    <a:pt x="113" y="57"/>
                    <a:pt x="105" y="64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8"/>
                  </a:cubicBezTo>
                  <a:cubicBezTo>
                    <a:pt x="105" y="31"/>
                    <a:pt x="102" y="26"/>
                    <a:pt x="96" y="21"/>
                  </a:cubicBezTo>
                  <a:cubicBezTo>
                    <a:pt x="89" y="17"/>
                    <a:pt x="77" y="15"/>
                    <a:pt x="58" y="15"/>
                  </a:cubicBezTo>
                  <a:cubicBezTo>
                    <a:pt x="39" y="15"/>
                    <a:pt x="27" y="17"/>
                    <a:pt x="21" y="21"/>
                  </a:cubicBezTo>
                  <a:cubicBezTo>
                    <a:pt x="14" y="26"/>
                    <a:pt x="11" y="31"/>
                    <a:pt x="11" y="38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F939AC1-34FC-5C40-AFC4-41D0469DF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047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710ADE1-BF11-6243-B488-09F75CF86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985"/>
              <a:ext cx="74" cy="48"/>
            </a:xfrm>
            <a:custGeom>
              <a:avLst/>
              <a:gdLst>
                <a:gd name="T0" fmla="*/ 14 w 115"/>
                <a:gd name="T1" fmla="*/ 12 h 76"/>
                <a:gd name="T2" fmla="*/ 14 w 115"/>
                <a:gd name="T3" fmla="*/ 12 h 76"/>
                <a:gd name="T4" fmla="*/ 14 w 115"/>
                <a:gd name="T5" fmla="*/ 10 h 76"/>
                <a:gd name="T6" fmla="*/ 17 w 115"/>
                <a:gd name="T7" fmla="*/ 8 h 76"/>
                <a:gd name="T8" fmla="*/ 17 w 115"/>
                <a:gd name="T9" fmla="*/ 6 h 76"/>
                <a:gd name="T10" fmla="*/ 16 w 115"/>
                <a:gd name="T11" fmla="*/ 4 h 76"/>
                <a:gd name="T12" fmla="*/ 13 w 115"/>
                <a:gd name="T13" fmla="*/ 3 h 76"/>
                <a:gd name="T14" fmla="*/ 10 w 115"/>
                <a:gd name="T15" fmla="*/ 4 h 76"/>
                <a:gd name="T16" fmla="*/ 9 w 115"/>
                <a:gd name="T17" fmla="*/ 6 h 76"/>
                <a:gd name="T18" fmla="*/ 9 w 115"/>
                <a:gd name="T19" fmla="*/ 8 h 76"/>
                <a:gd name="T20" fmla="*/ 10 w 115"/>
                <a:gd name="T21" fmla="*/ 10 h 76"/>
                <a:gd name="T22" fmla="*/ 10 w 115"/>
                <a:gd name="T23" fmla="*/ 12 h 76"/>
                <a:gd name="T24" fmla="*/ 0 w 115"/>
                <a:gd name="T25" fmla="*/ 10 h 76"/>
                <a:gd name="T26" fmla="*/ 0 w 115"/>
                <a:gd name="T27" fmla="*/ 1 h 76"/>
                <a:gd name="T28" fmla="*/ 2 w 115"/>
                <a:gd name="T29" fmla="*/ 1 h 76"/>
                <a:gd name="T30" fmla="*/ 2 w 115"/>
                <a:gd name="T31" fmla="*/ 8 h 76"/>
                <a:gd name="T32" fmla="*/ 8 w 115"/>
                <a:gd name="T33" fmla="*/ 9 h 76"/>
                <a:gd name="T34" fmla="*/ 6 w 115"/>
                <a:gd name="T35" fmla="*/ 6 h 76"/>
                <a:gd name="T36" fmla="*/ 8 w 115"/>
                <a:gd name="T37" fmla="*/ 2 h 76"/>
                <a:gd name="T38" fmla="*/ 13 w 115"/>
                <a:gd name="T39" fmla="*/ 0 h 76"/>
                <a:gd name="T40" fmla="*/ 17 w 115"/>
                <a:gd name="T41" fmla="*/ 2 h 76"/>
                <a:gd name="T42" fmla="*/ 20 w 115"/>
                <a:gd name="T43" fmla="*/ 6 h 76"/>
                <a:gd name="T44" fmla="*/ 18 w 115"/>
                <a:gd name="T45" fmla="*/ 10 h 76"/>
                <a:gd name="T46" fmla="*/ 14 w 115"/>
                <a:gd name="T47" fmla="*/ 12 h 76"/>
                <a:gd name="T48" fmla="*/ 14 w 115"/>
                <a:gd name="T49" fmla="*/ 12 h 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15" h="76">
                  <a:moveTo>
                    <a:pt x="83" y="76"/>
                  </a:moveTo>
                  <a:lnTo>
                    <a:pt x="83" y="76"/>
                  </a:lnTo>
                  <a:lnTo>
                    <a:pt x="81" y="62"/>
                  </a:lnTo>
                  <a:cubicBezTo>
                    <a:pt x="89" y="60"/>
                    <a:pt x="94" y="58"/>
                    <a:pt x="98" y="54"/>
                  </a:cubicBezTo>
                  <a:cubicBezTo>
                    <a:pt x="101" y="50"/>
                    <a:pt x="103" y="45"/>
                    <a:pt x="103" y="40"/>
                  </a:cubicBezTo>
                  <a:cubicBezTo>
                    <a:pt x="103" y="33"/>
                    <a:pt x="101" y="27"/>
                    <a:pt x="95" y="22"/>
                  </a:cubicBezTo>
                  <a:cubicBezTo>
                    <a:pt x="90" y="18"/>
                    <a:pt x="84" y="15"/>
                    <a:pt x="75" y="15"/>
                  </a:cubicBezTo>
                  <a:cubicBezTo>
                    <a:pt x="67" y="15"/>
                    <a:pt x="61" y="18"/>
                    <a:pt x="56" y="22"/>
                  </a:cubicBezTo>
                  <a:cubicBezTo>
                    <a:pt x="52" y="27"/>
                    <a:pt x="49" y="33"/>
                    <a:pt x="49" y="40"/>
                  </a:cubicBezTo>
                  <a:cubicBezTo>
                    <a:pt x="49" y="44"/>
                    <a:pt x="50" y="48"/>
                    <a:pt x="52" y="52"/>
                  </a:cubicBezTo>
                  <a:cubicBezTo>
                    <a:pt x="54" y="56"/>
                    <a:pt x="57" y="59"/>
                    <a:pt x="60" y="61"/>
                  </a:cubicBezTo>
                  <a:lnTo>
                    <a:pt x="59" y="74"/>
                  </a:lnTo>
                  <a:lnTo>
                    <a:pt x="0" y="63"/>
                  </a:lnTo>
                  <a:lnTo>
                    <a:pt x="0" y="6"/>
                  </a:lnTo>
                  <a:lnTo>
                    <a:pt x="13" y="6"/>
                  </a:lnTo>
                  <a:lnTo>
                    <a:pt x="13" y="52"/>
                  </a:lnTo>
                  <a:lnTo>
                    <a:pt x="44" y="58"/>
                  </a:lnTo>
                  <a:cubicBezTo>
                    <a:pt x="39" y="51"/>
                    <a:pt x="37" y="44"/>
                    <a:pt x="37" y="36"/>
                  </a:cubicBezTo>
                  <a:cubicBezTo>
                    <a:pt x="37" y="26"/>
                    <a:pt x="40" y="18"/>
                    <a:pt x="47" y="11"/>
                  </a:cubicBezTo>
                  <a:cubicBezTo>
                    <a:pt x="54" y="4"/>
                    <a:pt x="63" y="0"/>
                    <a:pt x="74" y="0"/>
                  </a:cubicBezTo>
                  <a:cubicBezTo>
                    <a:pt x="84" y="0"/>
                    <a:pt x="93" y="3"/>
                    <a:pt x="101" y="9"/>
                  </a:cubicBezTo>
                  <a:cubicBezTo>
                    <a:pt x="110" y="17"/>
                    <a:pt x="115" y="27"/>
                    <a:pt x="115" y="40"/>
                  </a:cubicBezTo>
                  <a:cubicBezTo>
                    <a:pt x="115" y="50"/>
                    <a:pt x="112" y="58"/>
                    <a:pt x="106" y="65"/>
                  </a:cubicBezTo>
                  <a:cubicBezTo>
                    <a:pt x="100" y="72"/>
                    <a:pt x="92" y="75"/>
                    <a:pt x="83" y="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6F5014E6-5483-F540-80FF-E9895007B1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568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7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2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841DB98A-A8A3-EC4E-8323-D1CB6619F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543"/>
              <a:ext cx="10" cy="11"/>
            </a:xfrm>
            <a:custGeom>
              <a:avLst/>
              <a:gdLst>
                <a:gd name="T0" fmla="*/ 3 w 16"/>
                <a:gd name="T1" fmla="*/ 3 h 17"/>
                <a:gd name="T2" fmla="*/ 3 w 16"/>
                <a:gd name="T3" fmla="*/ 3 h 17"/>
                <a:gd name="T4" fmla="*/ 0 w 16"/>
                <a:gd name="T5" fmla="*/ 3 h 17"/>
                <a:gd name="T6" fmla="*/ 0 w 16"/>
                <a:gd name="T7" fmla="*/ 0 h 17"/>
                <a:gd name="T8" fmla="*/ 3 w 16"/>
                <a:gd name="T9" fmla="*/ 0 h 17"/>
                <a:gd name="T10" fmla="*/ 3 w 16"/>
                <a:gd name="T11" fmla="*/ 3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7">
                  <a:moveTo>
                    <a:pt x="16" y="17"/>
                  </a:moveTo>
                  <a:lnTo>
                    <a:pt x="16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EF2CA51B-0422-9649-841E-AC90719BBC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482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1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8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7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2"/>
                    <a:pt x="91" y="4"/>
                  </a:cubicBezTo>
                  <a:cubicBezTo>
                    <a:pt x="99" y="7"/>
                    <a:pt x="105" y="11"/>
                    <a:pt x="110" y="17"/>
                  </a:cubicBezTo>
                  <a:cubicBezTo>
                    <a:pt x="114" y="22"/>
                    <a:pt x="117" y="29"/>
                    <a:pt x="117" y="38"/>
                  </a:cubicBezTo>
                  <a:cubicBezTo>
                    <a:pt x="117" y="49"/>
                    <a:pt x="113" y="57"/>
                    <a:pt x="105" y="64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8"/>
                  </a:cubicBezTo>
                  <a:cubicBezTo>
                    <a:pt x="105" y="31"/>
                    <a:pt x="102" y="26"/>
                    <a:pt x="96" y="21"/>
                  </a:cubicBezTo>
                  <a:cubicBezTo>
                    <a:pt x="89" y="17"/>
                    <a:pt x="77" y="15"/>
                    <a:pt x="58" y="15"/>
                  </a:cubicBezTo>
                  <a:cubicBezTo>
                    <a:pt x="39" y="15"/>
                    <a:pt x="27" y="17"/>
                    <a:pt x="21" y="21"/>
                  </a:cubicBezTo>
                  <a:cubicBezTo>
                    <a:pt x="14" y="26"/>
                    <a:pt x="11" y="31"/>
                    <a:pt x="11" y="38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89678B40-0CC1-6F47-90AE-90EEC1D6E6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047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7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5"/>
                    <a:pt x="3" y="21"/>
                  </a:cubicBezTo>
                  <a:cubicBezTo>
                    <a:pt x="6" y="16"/>
                    <a:pt x="9" y="12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0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3"/>
                    <a:pt x="105" y="37"/>
                  </a:cubicBezTo>
                  <a:cubicBezTo>
                    <a:pt x="105" y="30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7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937FC5C3-68D7-764A-B001-8F8983476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022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B0A92B3-5381-224A-BB6A-CC578772B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961"/>
              <a:ext cx="74" cy="48"/>
            </a:xfrm>
            <a:custGeom>
              <a:avLst/>
              <a:gdLst>
                <a:gd name="T0" fmla="*/ 14 w 115"/>
                <a:gd name="T1" fmla="*/ 12 h 76"/>
                <a:gd name="T2" fmla="*/ 14 w 115"/>
                <a:gd name="T3" fmla="*/ 12 h 76"/>
                <a:gd name="T4" fmla="*/ 14 w 115"/>
                <a:gd name="T5" fmla="*/ 10 h 76"/>
                <a:gd name="T6" fmla="*/ 17 w 115"/>
                <a:gd name="T7" fmla="*/ 8 h 76"/>
                <a:gd name="T8" fmla="*/ 17 w 115"/>
                <a:gd name="T9" fmla="*/ 6 h 76"/>
                <a:gd name="T10" fmla="*/ 16 w 115"/>
                <a:gd name="T11" fmla="*/ 4 h 76"/>
                <a:gd name="T12" fmla="*/ 13 w 115"/>
                <a:gd name="T13" fmla="*/ 3 h 76"/>
                <a:gd name="T14" fmla="*/ 10 w 115"/>
                <a:gd name="T15" fmla="*/ 4 h 76"/>
                <a:gd name="T16" fmla="*/ 9 w 115"/>
                <a:gd name="T17" fmla="*/ 6 h 76"/>
                <a:gd name="T18" fmla="*/ 9 w 115"/>
                <a:gd name="T19" fmla="*/ 8 h 76"/>
                <a:gd name="T20" fmla="*/ 10 w 115"/>
                <a:gd name="T21" fmla="*/ 9 h 76"/>
                <a:gd name="T22" fmla="*/ 10 w 115"/>
                <a:gd name="T23" fmla="*/ 11 h 76"/>
                <a:gd name="T24" fmla="*/ 0 w 115"/>
                <a:gd name="T25" fmla="*/ 10 h 76"/>
                <a:gd name="T26" fmla="*/ 0 w 115"/>
                <a:gd name="T27" fmla="*/ 1 h 76"/>
                <a:gd name="T28" fmla="*/ 2 w 115"/>
                <a:gd name="T29" fmla="*/ 1 h 76"/>
                <a:gd name="T30" fmla="*/ 2 w 115"/>
                <a:gd name="T31" fmla="*/ 8 h 76"/>
                <a:gd name="T32" fmla="*/ 8 w 115"/>
                <a:gd name="T33" fmla="*/ 9 h 76"/>
                <a:gd name="T34" fmla="*/ 6 w 115"/>
                <a:gd name="T35" fmla="*/ 6 h 76"/>
                <a:gd name="T36" fmla="*/ 8 w 115"/>
                <a:gd name="T37" fmla="*/ 2 h 76"/>
                <a:gd name="T38" fmla="*/ 13 w 115"/>
                <a:gd name="T39" fmla="*/ 0 h 76"/>
                <a:gd name="T40" fmla="*/ 17 w 115"/>
                <a:gd name="T41" fmla="*/ 2 h 76"/>
                <a:gd name="T42" fmla="*/ 20 w 115"/>
                <a:gd name="T43" fmla="*/ 6 h 76"/>
                <a:gd name="T44" fmla="*/ 18 w 115"/>
                <a:gd name="T45" fmla="*/ 10 h 76"/>
                <a:gd name="T46" fmla="*/ 14 w 115"/>
                <a:gd name="T47" fmla="*/ 12 h 76"/>
                <a:gd name="T48" fmla="*/ 14 w 115"/>
                <a:gd name="T49" fmla="*/ 12 h 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15" h="76">
                  <a:moveTo>
                    <a:pt x="83" y="76"/>
                  </a:moveTo>
                  <a:lnTo>
                    <a:pt x="83" y="76"/>
                  </a:lnTo>
                  <a:lnTo>
                    <a:pt x="81" y="61"/>
                  </a:lnTo>
                  <a:cubicBezTo>
                    <a:pt x="89" y="60"/>
                    <a:pt x="94" y="57"/>
                    <a:pt x="98" y="53"/>
                  </a:cubicBezTo>
                  <a:cubicBezTo>
                    <a:pt x="101" y="49"/>
                    <a:pt x="103" y="45"/>
                    <a:pt x="103" y="39"/>
                  </a:cubicBezTo>
                  <a:cubicBezTo>
                    <a:pt x="103" y="32"/>
                    <a:pt x="101" y="26"/>
                    <a:pt x="95" y="22"/>
                  </a:cubicBezTo>
                  <a:cubicBezTo>
                    <a:pt x="90" y="17"/>
                    <a:pt x="84" y="15"/>
                    <a:pt x="75" y="15"/>
                  </a:cubicBezTo>
                  <a:cubicBezTo>
                    <a:pt x="67" y="15"/>
                    <a:pt x="61" y="17"/>
                    <a:pt x="56" y="22"/>
                  </a:cubicBezTo>
                  <a:cubicBezTo>
                    <a:pt x="52" y="26"/>
                    <a:pt x="49" y="32"/>
                    <a:pt x="49" y="39"/>
                  </a:cubicBezTo>
                  <a:cubicBezTo>
                    <a:pt x="49" y="44"/>
                    <a:pt x="50" y="48"/>
                    <a:pt x="52" y="51"/>
                  </a:cubicBezTo>
                  <a:cubicBezTo>
                    <a:pt x="54" y="55"/>
                    <a:pt x="57" y="58"/>
                    <a:pt x="60" y="60"/>
                  </a:cubicBezTo>
                  <a:lnTo>
                    <a:pt x="59" y="73"/>
                  </a:lnTo>
                  <a:lnTo>
                    <a:pt x="0" y="62"/>
                  </a:lnTo>
                  <a:lnTo>
                    <a:pt x="0" y="5"/>
                  </a:lnTo>
                  <a:lnTo>
                    <a:pt x="13" y="5"/>
                  </a:lnTo>
                  <a:lnTo>
                    <a:pt x="13" y="51"/>
                  </a:lnTo>
                  <a:lnTo>
                    <a:pt x="44" y="57"/>
                  </a:lnTo>
                  <a:cubicBezTo>
                    <a:pt x="39" y="50"/>
                    <a:pt x="37" y="43"/>
                    <a:pt x="37" y="35"/>
                  </a:cubicBezTo>
                  <a:cubicBezTo>
                    <a:pt x="37" y="25"/>
                    <a:pt x="40" y="17"/>
                    <a:pt x="47" y="10"/>
                  </a:cubicBezTo>
                  <a:cubicBezTo>
                    <a:pt x="54" y="3"/>
                    <a:pt x="63" y="0"/>
                    <a:pt x="74" y="0"/>
                  </a:cubicBezTo>
                  <a:cubicBezTo>
                    <a:pt x="84" y="0"/>
                    <a:pt x="93" y="3"/>
                    <a:pt x="101" y="9"/>
                  </a:cubicBezTo>
                  <a:cubicBezTo>
                    <a:pt x="110" y="16"/>
                    <a:pt x="115" y="26"/>
                    <a:pt x="115" y="39"/>
                  </a:cubicBezTo>
                  <a:cubicBezTo>
                    <a:pt x="115" y="49"/>
                    <a:pt x="112" y="58"/>
                    <a:pt x="106" y="64"/>
                  </a:cubicBezTo>
                  <a:cubicBezTo>
                    <a:pt x="100" y="71"/>
                    <a:pt x="92" y="75"/>
                    <a:pt x="83" y="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E4A7A1A6-B76C-DE4F-AB0D-F888079E2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540"/>
              <a:ext cx="73" cy="27"/>
            </a:xfrm>
            <a:custGeom>
              <a:avLst/>
              <a:gdLst>
                <a:gd name="T0" fmla="*/ 18 w 115"/>
                <a:gd name="T1" fmla="*/ 0 h 42"/>
                <a:gd name="T2" fmla="*/ 18 w 115"/>
                <a:gd name="T3" fmla="*/ 0 h 42"/>
                <a:gd name="T4" fmla="*/ 18 w 115"/>
                <a:gd name="T5" fmla="*/ 3 h 42"/>
                <a:gd name="T6" fmla="*/ 4 w 115"/>
                <a:gd name="T7" fmla="*/ 3 h 42"/>
                <a:gd name="T8" fmla="*/ 6 w 115"/>
                <a:gd name="T9" fmla="*/ 5 h 42"/>
                <a:gd name="T10" fmla="*/ 7 w 115"/>
                <a:gd name="T11" fmla="*/ 7 h 42"/>
                <a:gd name="T12" fmla="*/ 4 w 115"/>
                <a:gd name="T13" fmla="*/ 7 h 42"/>
                <a:gd name="T14" fmla="*/ 3 w 115"/>
                <a:gd name="T15" fmla="*/ 4 h 42"/>
                <a:gd name="T16" fmla="*/ 0 w 115"/>
                <a:gd name="T17" fmla="*/ 2 h 42"/>
                <a:gd name="T18" fmla="*/ 0 w 115"/>
                <a:gd name="T19" fmla="*/ 0 h 42"/>
                <a:gd name="T20" fmla="*/ 18 w 115"/>
                <a:gd name="T21" fmla="*/ 0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2">
                  <a:moveTo>
                    <a:pt x="115" y="0"/>
                  </a:moveTo>
                  <a:lnTo>
                    <a:pt x="115" y="0"/>
                  </a:lnTo>
                  <a:lnTo>
                    <a:pt x="115" y="14"/>
                  </a:lnTo>
                  <a:lnTo>
                    <a:pt x="25" y="14"/>
                  </a:lnTo>
                  <a:cubicBezTo>
                    <a:pt x="28" y="18"/>
                    <a:pt x="32" y="22"/>
                    <a:pt x="35" y="28"/>
                  </a:cubicBezTo>
                  <a:cubicBezTo>
                    <a:pt x="38" y="33"/>
                    <a:pt x="40" y="38"/>
                    <a:pt x="42" y="42"/>
                  </a:cubicBezTo>
                  <a:lnTo>
                    <a:pt x="28" y="42"/>
                  </a:lnTo>
                  <a:cubicBezTo>
                    <a:pt x="25" y="35"/>
                    <a:pt x="20" y="28"/>
                    <a:pt x="15" y="22"/>
                  </a:cubicBezTo>
                  <a:cubicBezTo>
                    <a:pt x="10" y="16"/>
                    <a:pt x="5" y="12"/>
                    <a:pt x="0" y="9"/>
                  </a:cubicBez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C4D79B5-BA22-FB43-8DBD-E7B453CBD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502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FD15CD93-BB76-624F-A422-BC4A9B580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1441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0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7"/>
                    <a:pt x="77" y="14"/>
                    <a:pt x="58" y="14"/>
                  </a:cubicBezTo>
                  <a:cubicBezTo>
                    <a:pt x="39" y="14"/>
                    <a:pt x="27" y="17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0CF6CCC-A610-1B44-BBDA-C9F18BFDC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424"/>
              <a:ext cx="2617" cy="2249"/>
            </a:xfrm>
            <a:custGeom>
              <a:avLst/>
              <a:gdLst>
                <a:gd name="T0" fmla="*/ 0 w 4102"/>
                <a:gd name="T1" fmla="*/ 584 h 3526"/>
                <a:gd name="T2" fmla="*/ 0 w 4102"/>
                <a:gd name="T3" fmla="*/ 584 h 3526"/>
                <a:gd name="T4" fmla="*/ 679 w 4102"/>
                <a:gd name="T5" fmla="*/ 584 h 3526"/>
                <a:gd name="T6" fmla="*/ 679 w 4102"/>
                <a:gd name="T7" fmla="*/ 0 h 3526"/>
                <a:gd name="T8" fmla="*/ 0 w 4102"/>
                <a:gd name="T9" fmla="*/ 0 h 3526"/>
                <a:gd name="T10" fmla="*/ 0 w 4102"/>
                <a:gd name="T11" fmla="*/ 584 h 35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02" h="3526">
                  <a:moveTo>
                    <a:pt x="0" y="3526"/>
                  </a:moveTo>
                  <a:lnTo>
                    <a:pt x="0" y="3526"/>
                  </a:lnTo>
                  <a:lnTo>
                    <a:pt x="4102" y="3526"/>
                  </a:lnTo>
                  <a:lnTo>
                    <a:pt x="4102" y="0"/>
                  </a:lnTo>
                  <a:lnTo>
                    <a:pt x="0" y="0"/>
                  </a:lnTo>
                  <a:lnTo>
                    <a:pt x="0" y="3526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53" name="Freeform 57">
              <a:extLst>
                <a:ext uri="{FF2B5EF4-FFF2-40B4-BE49-F238E27FC236}">
                  <a16:creationId xmlns:a16="http://schemas.microsoft.com/office/drawing/2014/main" id="{439E67E2-76B1-9042-AB89-EFFDC56A62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09" y="2548"/>
              <a:ext cx="2617" cy="0"/>
            </a:xfrm>
            <a:custGeom>
              <a:avLst/>
              <a:gdLst>
                <a:gd name="T0" fmla="*/ 0 w 4102"/>
                <a:gd name="T1" fmla="*/ 17 w 4102"/>
                <a:gd name="T2" fmla="*/ 26 w 4102"/>
                <a:gd name="T3" fmla="*/ 36 w 4102"/>
                <a:gd name="T4" fmla="*/ 53 w 4102"/>
                <a:gd name="T5" fmla="*/ 62 w 4102"/>
                <a:gd name="T6" fmla="*/ 71 w 4102"/>
                <a:gd name="T7" fmla="*/ 89 w 4102"/>
                <a:gd name="T8" fmla="*/ 97 w 4102"/>
                <a:gd name="T9" fmla="*/ 107 w 4102"/>
                <a:gd name="T10" fmla="*/ 124 w 4102"/>
                <a:gd name="T11" fmla="*/ 133 w 4102"/>
                <a:gd name="T12" fmla="*/ 142 w 4102"/>
                <a:gd name="T13" fmla="*/ 159 w 4102"/>
                <a:gd name="T14" fmla="*/ 168 w 4102"/>
                <a:gd name="T15" fmla="*/ 177 w 4102"/>
                <a:gd name="T16" fmla="*/ 195 w 4102"/>
                <a:gd name="T17" fmla="*/ 204 w 4102"/>
                <a:gd name="T18" fmla="*/ 212 w 4102"/>
                <a:gd name="T19" fmla="*/ 230 w 4102"/>
                <a:gd name="T20" fmla="*/ 239 w 4102"/>
                <a:gd name="T21" fmla="*/ 248 w 4102"/>
                <a:gd name="T22" fmla="*/ 265 w 4102"/>
                <a:gd name="T23" fmla="*/ 274 w 4102"/>
                <a:gd name="T24" fmla="*/ 283 w 4102"/>
                <a:gd name="T25" fmla="*/ 300 w 4102"/>
                <a:gd name="T26" fmla="*/ 309 w 4102"/>
                <a:gd name="T27" fmla="*/ 318 w 4102"/>
                <a:gd name="T28" fmla="*/ 336 w 4102"/>
                <a:gd name="T29" fmla="*/ 345 w 4102"/>
                <a:gd name="T30" fmla="*/ 353 w 4102"/>
                <a:gd name="T31" fmla="*/ 371 w 4102"/>
                <a:gd name="T32" fmla="*/ 380 w 4102"/>
                <a:gd name="T33" fmla="*/ 389 w 4102"/>
                <a:gd name="T34" fmla="*/ 406 w 4102"/>
                <a:gd name="T35" fmla="*/ 415 w 4102"/>
                <a:gd name="T36" fmla="*/ 424 w 4102"/>
                <a:gd name="T37" fmla="*/ 442 w 4102"/>
                <a:gd name="T38" fmla="*/ 451 w 4102"/>
                <a:gd name="T39" fmla="*/ 460 w 4102"/>
                <a:gd name="T40" fmla="*/ 477 w 4102"/>
                <a:gd name="T41" fmla="*/ 486 w 4102"/>
                <a:gd name="T42" fmla="*/ 495 w 4102"/>
                <a:gd name="T43" fmla="*/ 513 w 4102"/>
                <a:gd name="T44" fmla="*/ 522 w 4102"/>
                <a:gd name="T45" fmla="*/ 530 w 4102"/>
                <a:gd name="T46" fmla="*/ 548 w 4102"/>
                <a:gd name="T47" fmla="*/ 557 w 4102"/>
                <a:gd name="T48" fmla="*/ 566 w 4102"/>
                <a:gd name="T49" fmla="*/ 584 w 4102"/>
                <a:gd name="T50" fmla="*/ 592 w 4102"/>
                <a:gd name="T51" fmla="*/ 601 w 4102"/>
                <a:gd name="T52" fmla="*/ 619 w 4102"/>
                <a:gd name="T53" fmla="*/ 628 w 4102"/>
                <a:gd name="T54" fmla="*/ 637 w 4102"/>
                <a:gd name="T55" fmla="*/ 655 w 4102"/>
                <a:gd name="T56" fmla="*/ 663 w 4102"/>
                <a:gd name="T57" fmla="*/ 672 w 410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</a:gdLst>
              <a:ahLst/>
              <a:cxnLst>
                <a:cxn ang="T58">
                  <a:pos x="T0" y="0"/>
                </a:cxn>
                <a:cxn ang="T59">
                  <a:pos x="T1" y="0"/>
                </a:cxn>
                <a:cxn ang="T60">
                  <a:pos x="T2" y="0"/>
                </a:cxn>
                <a:cxn ang="T61">
                  <a:pos x="T3" y="0"/>
                </a:cxn>
                <a:cxn ang="T62">
                  <a:pos x="T4" y="0"/>
                </a:cxn>
                <a:cxn ang="T63">
                  <a:pos x="T5" y="0"/>
                </a:cxn>
                <a:cxn ang="T64">
                  <a:pos x="T6" y="0"/>
                </a:cxn>
                <a:cxn ang="T65">
                  <a:pos x="T7" y="0"/>
                </a:cxn>
                <a:cxn ang="T66">
                  <a:pos x="T8" y="0"/>
                </a:cxn>
                <a:cxn ang="T67">
                  <a:pos x="T9" y="0"/>
                </a:cxn>
                <a:cxn ang="T68">
                  <a:pos x="T10" y="0"/>
                </a:cxn>
                <a:cxn ang="T69">
                  <a:pos x="T11" y="0"/>
                </a:cxn>
                <a:cxn ang="T70">
                  <a:pos x="T12" y="0"/>
                </a:cxn>
                <a:cxn ang="T71">
                  <a:pos x="T13" y="0"/>
                </a:cxn>
                <a:cxn ang="T72">
                  <a:pos x="T14" y="0"/>
                </a:cxn>
                <a:cxn ang="T73">
                  <a:pos x="T15" y="0"/>
                </a:cxn>
                <a:cxn ang="T74">
                  <a:pos x="T16" y="0"/>
                </a:cxn>
                <a:cxn ang="T75">
                  <a:pos x="T17" y="0"/>
                </a:cxn>
                <a:cxn ang="T76">
                  <a:pos x="T18" y="0"/>
                </a:cxn>
                <a:cxn ang="T77">
                  <a:pos x="T19" y="0"/>
                </a:cxn>
                <a:cxn ang="T78">
                  <a:pos x="T20" y="0"/>
                </a:cxn>
                <a:cxn ang="T79">
                  <a:pos x="T21" y="0"/>
                </a:cxn>
                <a:cxn ang="T80">
                  <a:pos x="T22" y="0"/>
                </a:cxn>
                <a:cxn ang="T81">
                  <a:pos x="T23" y="0"/>
                </a:cxn>
                <a:cxn ang="T82">
                  <a:pos x="T24" y="0"/>
                </a:cxn>
                <a:cxn ang="T83">
                  <a:pos x="T25" y="0"/>
                </a:cxn>
                <a:cxn ang="T84">
                  <a:pos x="T26" y="0"/>
                </a:cxn>
                <a:cxn ang="T85">
                  <a:pos x="T27" y="0"/>
                </a:cxn>
                <a:cxn ang="T86">
                  <a:pos x="T28" y="0"/>
                </a:cxn>
                <a:cxn ang="T87">
                  <a:pos x="T29" y="0"/>
                </a:cxn>
                <a:cxn ang="T88">
                  <a:pos x="T30" y="0"/>
                </a:cxn>
                <a:cxn ang="T89">
                  <a:pos x="T31" y="0"/>
                </a:cxn>
                <a:cxn ang="T90">
                  <a:pos x="T32" y="0"/>
                </a:cxn>
                <a:cxn ang="T91">
                  <a:pos x="T33" y="0"/>
                </a:cxn>
                <a:cxn ang="T92">
                  <a:pos x="T34" y="0"/>
                </a:cxn>
                <a:cxn ang="T93">
                  <a:pos x="T35" y="0"/>
                </a:cxn>
                <a:cxn ang="T94">
                  <a:pos x="T36" y="0"/>
                </a:cxn>
                <a:cxn ang="T95">
                  <a:pos x="T37" y="0"/>
                </a:cxn>
                <a:cxn ang="T96">
                  <a:pos x="T38" y="0"/>
                </a:cxn>
                <a:cxn ang="T97">
                  <a:pos x="T39" y="0"/>
                </a:cxn>
                <a:cxn ang="T98">
                  <a:pos x="T40" y="0"/>
                </a:cxn>
                <a:cxn ang="T99">
                  <a:pos x="T41" y="0"/>
                </a:cxn>
                <a:cxn ang="T100">
                  <a:pos x="T42" y="0"/>
                </a:cxn>
                <a:cxn ang="T101">
                  <a:pos x="T43" y="0"/>
                </a:cxn>
                <a:cxn ang="T102">
                  <a:pos x="T44" y="0"/>
                </a:cxn>
                <a:cxn ang="T103">
                  <a:pos x="T45" y="0"/>
                </a:cxn>
                <a:cxn ang="T104">
                  <a:pos x="T46" y="0"/>
                </a:cxn>
                <a:cxn ang="T105">
                  <a:pos x="T47" y="0"/>
                </a:cxn>
                <a:cxn ang="T106">
                  <a:pos x="T48" y="0"/>
                </a:cxn>
                <a:cxn ang="T107">
                  <a:pos x="T49" y="0"/>
                </a:cxn>
                <a:cxn ang="T108">
                  <a:pos x="T50" y="0"/>
                </a:cxn>
                <a:cxn ang="T109">
                  <a:pos x="T51" y="0"/>
                </a:cxn>
                <a:cxn ang="T110">
                  <a:pos x="T52" y="0"/>
                </a:cxn>
                <a:cxn ang="T111">
                  <a:pos x="T53" y="0"/>
                </a:cxn>
                <a:cxn ang="T112">
                  <a:pos x="T54" y="0"/>
                </a:cxn>
                <a:cxn ang="T113">
                  <a:pos x="T55" y="0"/>
                </a:cxn>
                <a:cxn ang="T114">
                  <a:pos x="T56" y="0"/>
                </a:cxn>
                <a:cxn ang="T115">
                  <a:pos x="T57" y="0"/>
                </a:cxn>
              </a:cxnLst>
              <a:rect l="0" t="0" r="r" b="b"/>
              <a:pathLst>
                <a:path w="4102">
                  <a:moveTo>
                    <a:pt x="0" y="0"/>
                  </a:moveTo>
                  <a:lnTo>
                    <a:pt x="0" y="0"/>
                  </a:lnTo>
                  <a:lnTo>
                    <a:pt x="54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60" y="0"/>
                  </a:lnTo>
                  <a:moveTo>
                    <a:pt x="214" y="0"/>
                  </a:moveTo>
                  <a:lnTo>
                    <a:pt x="214" y="0"/>
                  </a:lnTo>
                  <a:lnTo>
                    <a:pt x="267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74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81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87" y="0"/>
                  </a:lnTo>
                  <a:moveTo>
                    <a:pt x="641" y="0"/>
                  </a:moveTo>
                  <a:lnTo>
                    <a:pt x="641" y="0"/>
                  </a:lnTo>
                  <a:lnTo>
                    <a:pt x="694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801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908" y="0"/>
                  </a:lnTo>
                  <a:moveTo>
                    <a:pt x="961" y="0"/>
                  </a:moveTo>
                  <a:lnTo>
                    <a:pt x="961" y="0"/>
                  </a:lnTo>
                  <a:lnTo>
                    <a:pt x="1014" y="0"/>
                  </a:lnTo>
                  <a:moveTo>
                    <a:pt x="1068" y="0"/>
                  </a:moveTo>
                  <a:lnTo>
                    <a:pt x="1068" y="0"/>
                  </a:lnTo>
                  <a:lnTo>
                    <a:pt x="1121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228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335" y="0"/>
                  </a:lnTo>
                  <a:moveTo>
                    <a:pt x="1388" y="0"/>
                  </a:moveTo>
                  <a:lnTo>
                    <a:pt x="1388" y="0"/>
                  </a:lnTo>
                  <a:lnTo>
                    <a:pt x="1441" y="0"/>
                  </a:lnTo>
                  <a:moveTo>
                    <a:pt x="1495" y="0"/>
                  </a:moveTo>
                  <a:lnTo>
                    <a:pt x="1495" y="0"/>
                  </a:lnTo>
                  <a:lnTo>
                    <a:pt x="1548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55" y="0"/>
                  </a:lnTo>
                  <a:moveTo>
                    <a:pt x="1708" y="0"/>
                  </a:moveTo>
                  <a:lnTo>
                    <a:pt x="1708" y="0"/>
                  </a:lnTo>
                  <a:lnTo>
                    <a:pt x="1761" y="0"/>
                  </a:lnTo>
                  <a:moveTo>
                    <a:pt x="1815" y="0"/>
                  </a:moveTo>
                  <a:lnTo>
                    <a:pt x="1815" y="0"/>
                  </a:lnTo>
                  <a:lnTo>
                    <a:pt x="1868" y="0"/>
                  </a:lnTo>
                  <a:moveTo>
                    <a:pt x="1922" y="0"/>
                  </a:moveTo>
                  <a:lnTo>
                    <a:pt x="1922" y="0"/>
                  </a:lnTo>
                  <a:lnTo>
                    <a:pt x="1975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82" y="0"/>
                  </a:lnTo>
                  <a:moveTo>
                    <a:pt x="2135" y="0"/>
                  </a:moveTo>
                  <a:lnTo>
                    <a:pt x="2135" y="0"/>
                  </a:lnTo>
                  <a:lnTo>
                    <a:pt x="2188" y="0"/>
                  </a:lnTo>
                  <a:moveTo>
                    <a:pt x="2242" y="0"/>
                  </a:moveTo>
                  <a:lnTo>
                    <a:pt x="2242" y="0"/>
                  </a:lnTo>
                  <a:lnTo>
                    <a:pt x="2295" y="0"/>
                  </a:lnTo>
                  <a:moveTo>
                    <a:pt x="2349" y="0"/>
                  </a:moveTo>
                  <a:lnTo>
                    <a:pt x="2349" y="0"/>
                  </a:lnTo>
                  <a:lnTo>
                    <a:pt x="2402" y="0"/>
                  </a:lnTo>
                  <a:moveTo>
                    <a:pt x="2455" y="0"/>
                  </a:moveTo>
                  <a:lnTo>
                    <a:pt x="2455" y="0"/>
                  </a:lnTo>
                  <a:lnTo>
                    <a:pt x="2509" y="0"/>
                  </a:lnTo>
                  <a:moveTo>
                    <a:pt x="2562" y="0"/>
                  </a:moveTo>
                  <a:lnTo>
                    <a:pt x="2562" y="0"/>
                  </a:lnTo>
                  <a:lnTo>
                    <a:pt x="2615" y="0"/>
                  </a:lnTo>
                  <a:moveTo>
                    <a:pt x="2669" y="0"/>
                  </a:moveTo>
                  <a:lnTo>
                    <a:pt x="2669" y="0"/>
                  </a:lnTo>
                  <a:lnTo>
                    <a:pt x="2722" y="0"/>
                  </a:lnTo>
                  <a:moveTo>
                    <a:pt x="2776" y="0"/>
                  </a:moveTo>
                  <a:lnTo>
                    <a:pt x="2776" y="0"/>
                  </a:lnTo>
                  <a:lnTo>
                    <a:pt x="2829" y="0"/>
                  </a:lnTo>
                  <a:moveTo>
                    <a:pt x="2882" y="0"/>
                  </a:moveTo>
                  <a:lnTo>
                    <a:pt x="2882" y="0"/>
                  </a:lnTo>
                  <a:lnTo>
                    <a:pt x="2936" y="0"/>
                  </a:lnTo>
                  <a:moveTo>
                    <a:pt x="2989" y="0"/>
                  </a:moveTo>
                  <a:lnTo>
                    <a:pt x="2989" y="0"/>
                  </a:lnTo>
                  <a:lnTo>
                    <a:pt x="3042" y="0"/>
                  </a:lnTo>
                  <a:moveTo>
                    <a:pt x="3096" y="0"/>
                  </a:moveTo>
                  <a:lnTo>
                    <a:pt x="3096" y="0"/>
                  </a:lnTo>
                  <a:lnTo>
                    <a:pt x="3149" y="0"/>
                  </a:lnTo>
                  <a:moveTo>
                    <a:pt x="3203" y="0"/>
                  </a:moveTo>
                  <a:lnTo>
                    <a:pt x="3203" y="0"/>
                  </a:lnTo>
                  <a:lnTo>
                    <a:pt x="3256" y="0"/>
                  </a:lnTo>
                  <a:moveTo>
                    <a:pt x="3309" y="0"/>
                  </a:moveTo>
                  <a:lnTo>
                    <a:pt x="3309" y="0"/>
                  </a:lnTo>
                  <a:lnTo>
                    <a:pt x="3363" y="0"/>
                  </a:lnTo>
                  <a:moveTo>
                    <a:pt x="3416" y="0"/>
                  </a:moveTo>
                  <a:lnTo>
                    <a:pt x="3416" y="0"/>
                  </a:lnTo>
                  <a:lnTo>
                    <a:pt x="3469" y="0"/>
                  </a:lnTo>
                  <a:moveTo>
                    <a:pt x="3523" y="0"/>
                  </a:moveTo>
                  <a:lnTo>
                    <a:pt x="3523" y="0"/>
                  </a:lnTo>
                  <a:lnTo>
                    <a:pt x="3576" y="0"/>
                  </a:lnTo>
                  <a:moveTo>
                    <a:pt x="3629" y="0"/>
                  </a:moveTo>
                  <a:lnTo>
                    <a:pt x="3629" y="0"/>
                  </a:lnTo>
                  <a:lnTo>
                    <a:pt x="3683" y="0"/>
                  </a:lnTo>
                  <a:moveTo>
                    <a:pt x="3736" y="0"/>
                  </a:moveTo>
                  <a:lnTo>
                    <a:pt x="3736" y="0"/>
                  </a:lnTo>
                  <a:lnTo>
                    <a:pt x="3790" y="0"/>
                  </a:lnTo>
                  <a:moveTo>
                    <a:pt x="3843" y="0"/>
                  </a:moveTo>
                  <a:lnTo>
                    <a:pt x="3843" y="0"/>
                  </a:lnTo>
                  <a:lnTo>
                    <a:pt x="3896" y="0"/>
                  </a:lnTo>
                  <a:moveTo>
                    <a:pt x="3950" y="0"/>
                  </a:moveTo>
                  <a:lnTo>
                    <a:pt x="3950" y="0"/>
                  </a:lnTo>
                  <a:lnTo>
                    <a:pt x="4003" y="0"/>
                  </a:lnTo>
                  <a:moveTo>
                    <a:pt x="4056" y="0"/>
                  </a:moveTo>
                  <a:lnTo>
                    <a:pt x="4056" y="0"/>
                  </a:lnTo>
                  <a:lnTo>
                    <a:pt x="4102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54" name="Ovaal 53">
            <a:extLst>
              <a:ext uri="{FF2B5EF4-FFF2-40B4-BE49-F238E27FC236}">
                <a16:creationId xmlns:a16="http://schemas.microsoft.com/office/drawing/2014/main" id="{60201AD4-AF3E-D442-8AF7-82F9E5DBC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4561" y="4402900"/>
            <a:ext cx="136525" cy="134937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kstvak 57">
                <a:extLst>
                  <a:ext uri="{FF2B5EF4-FFF2-40B4-BE49-F238E27FC236}">
                    <a16:creationId xmlns:a16="http://schemas.microsoft.com/office/drawing/2014/main" id="{D42B1A8F-42D5-7543-8B3E-4E96FC6F190F}"/>
                  </a:ext>
                </a:extLst>
              </p:cNvPr>
              <p:cNvSpPr txBox="1"/>
              <p:nvPr/>
            </p:nvSpPr>
            <p:spPr>
              <a:xfrm>
                <a:off x="6308731" y="4217085"/>
                <a:ext cx="615656" cy="4500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nl-BE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accPr>
                        <m:e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nl-BE" b="1" dirty="0">
                  <a:solidFill>
                    <a:schemeClr val="tx1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8" name="Tekstvak 57">
                <a:extLst>
                  <a:ext uri="{FF2B5EF4-FFF2-40B4-BE49-F238E27FC236}">
                    <a16:creationId xmlns:a16="http://schemas.microsoft.com/office/drawing/2014/main" id="{D42B1A8F-42D5-7543-8B3E-4E96FC6F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731" y="4217085"/>
                <a:ext cx="615656" cy="4500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hthoek 58">
            <a:extLst>
              <a:ext uri="{FF2B5EF4-FFF2-40B4-BE49-F238E27FC236}">
                <a16:creationId xmlns:a16="http://schemas.microsoft.com/office/drawing/2014/main" id="{BD363719-4D16-3E4B-A223-FD404FD4A1A6}"/>
              </a:ext>
            </a:extLst>
          </p:cNvPr>
          <p:cNvSpPr/>
          <p:nvPr/>
        </p:nvSpPr>
        <p:spPr>
          <a:xfrm>
            <a:off x="539945" y="3748150"/>
            <a:ext cx="4564904" cy="10464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s-IS" altLang="nl-BE" sz="2000" b="1" dirty="0">
                <a:latin typeface="+mn-lt"/>
              </a:rPr>
              <a:t>Als we geen andere info hebben...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s-IS" sz="2000" b="1" dirty="0">
                <a:solidFill>
                  <a:schemeClr val="accent6"/>
                </a:solidFill>
                <a:latin typeface="+mn-lt"/>
              </a:rPr>
              <a:t>Als we weten dat motivatie ertoe doet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s-IS" altLang="nl-BE" sz="2000" b="1" dirty="0">
                <a:solidFill>
                  <a:srgbClr val="FF0000"/>
                </a:solidFill>
                <a:latin typeface="+mn-lt"/>
              </a:rPr>
              <a:t>Feitelijke score…</a:t>
            </a:r>
            <a:endParaRPr lang="nl-BE" sz="2000" b="1" dirty="0">
              <a:solidFill>
                <a:schemeClr val="accent3"/>
              </a:solidFill>
              <a:latin typeface="+mn-lt"/>
            </a:endParaRPr>
          </a:p>
        </p:txBody>
      </p:sp>
      <p:cxnSp>
        <p:nvCxnSpPr>
          <p:cNvPr id="56" name="Rechte verbindingslijn 55">
            <a:extLst>
              <a:ext uri="{FF2B5EF4-FFF2-40B4-BE49-F238E27FC236}">
                <a16:creationId xmlns:a16="http://schemas.microsoft.com/office/drawing/2014/main" id="{E9542954-3A94-364C-A3C6-710B87160B4C}"/>
              </a:ext>
            </a:extLst>
          </p:cNvPr>
          <p:cNvCxnSpPr>
            <a:cxnSpLocks/>
          </p:cNvCxnSpPr>
          <p:nvPr/>
        </p:nvCxnSpPr>
        <p:spPr>
          <a:xfrm flipV="1">
            <a:off x="6277704" y="2970237"/>
            <a:ext cx="3523594" cy="3019062"/>
          </a:xfrm>
          <a:prstGeom prst="lin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EC406F8-61A7-D542-9D86-15EBB50D1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49</a:t>
            </a:fld>
            <a:endParaRPr lang="nl-BE" dirty="0"/>
          </a:p>
        </p:txBody>
      </p:sp>
      <p:sp>
        <p:nvSpPr>
          <p:cNvPr id="64" name="Ovaal 63">
            <a:extLst>
              <a:ext uri="{FF2B5EF4-FFF2-40B4-BE49-F238E27FC236}">
                <a16:creationId xmlns:a16="http://schemas.microsoft.com/office/drawing/2014/main" id="{CEE5AC7D-B4E6-6F4F-818B-B7C8C58F28D3}"/>
              </a:ext>
            </a:extLst>
          </p:cNvPr>
          <p:cNvSpPr/>
          <p:nvPr/>
        </p:nvSpPr>
        <p:spPr bwMode="auto">
          <a:xfrm>
            <a:off x="8854243" y="3658554"/>
            <a:ext cx="136525" cy="134937"/>
          </a:xfrm>
          <a:prstGeom prst="ellipse">
            <a:avLst/>
          </a:prstGeom>
          <a:solidFill>
            <a:schemeClr val="accent6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nl-BE">
              <a:latin typeface="Times New Roman" pitchFamily="-111" charset="0"/>
            </a:endParaRPr>
          </a:p>
        </p:txBody>
      </p:sp>
      <p:cxnSp>
        <p:nvCxnSpPr>
          <p:cNvPr id="66" name="Rechte verbindingslijn met pijl 65">
            <a:extLst>
              <a:ext uri="{FF2B5EF4-FFF2-40B4-BE49-F238E27FC236}">
                <a16:creationId xmlns:a16="http://schemas.microsoft.com/office/drawing/2014/main" id="{25140C97-2308-3647-8445-74058A55F5C6}"/>
              </a:ext>
            </a:extLst>
          </p:cNvPr>
          <p:cNvCxnSpPr>
            <a:cxnSpLocks noChangeShapeType="1"/>
            <a:endCxn id="54" idx="0"/>
          </p:cNvCxnSpPr>
          <p:nvPr/>
        </p:nvCxnSpPr>
        <p:spPr bwMode="auto">
          <a:xfrm>
            <a:off x="8928849" y="3794604"/>
            <a:ext cx="3975" cy="608296"/>
          </a:xfrm>
          <a:prstGeom prst="straightConnector1">
            <a:avLst/>
          </a:prstGeom>
          <a:noFill/>
          <a:ln w="22225" algn="ctr">
            <a:solidFill>
              <a:schemeClr val="accent6">
                <a:lumMod val="40000"/>
                <a:lumOff val="60000"/>
              </a:schemeClr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72936936-B436-5E49-8A6F-EAF23D3ED0B4}"/>
                  </a:ext>
                </a:extLst>
              </p:cNvPr>
              <p:cNvSpPr txBox="1"/>
              <p:nvPr/>
            </p:nvSpPr>
            <p:spPr>
              <a:xfrm>
                <a:off x="8903844" y="3594301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l-BE" i="1" dirty="0">
                  <a:solidFill>
                    <a:schemeClr val="bg1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72936936-B436-5E49-8A6F-EAF23D3ED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844" y="3594301"/>
                <a:ext cx="408965" cy="496945"/>
              </a:xfrm>
              <a:prstGeom prst="rect">
                <a:avLst/>
              </a:prstGeom>
              <a:blipFill>
                <a:blip r:embed="rId4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AE8799BE-43AF-AF40-8100-05C82F31ACB8}"/>
                  </a:ext>
                </a:extLst>
              </p:cNvPr>
              <p:cNvSpPr txBox="1"/>
              <p:nvPr/>
            </p:nvSpPr>
            <p:spPr>
              <a:xfrm>
                <a:off x="9031384" y="3934586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16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sz="1600" i="1" smtClean="0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1600" b="0" i="1" smtClean="0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nl-BE" sz="16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nl-BE" sz="1600" b="0" i="1" smtClean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− </m:t>
                      </m:r>
                      <m:acc>
                        <m:accPr>
                          <m:chr m:val="̅"/>
                          <m:ctrlPr>
                            <a:rPr lang="nl-BE" sz="16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accPr>
                        <m:e>
                          <m:r>
                            <a:rPr lang="nl-BE" sz="16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nl-BE" sz="16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AE8799BE-43AF-AF40-8100-05C82F31A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84" y="3934586"/>
                <a:ext cx="408965" cy="496945"/>
              </a:xfrm>
              <a:prstGeom prst="rect">
                <a:avLst/>
              </a:prstGeom>
              <a:blipFill>
                <a:blip r:embed="rId5"/>
                <a:stretch>
                  <a:fillRect l="-18182" t="-7500" r="-6363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Ovaal 64">
            <a:extLst>
              <a:ext uri="{FF2B5EF4-FFF2-40B4-BE49-F238E27FC236}">
                <a16:creationId xmlns:a16="http://schemas.microsoft.com/office/drawing/2014/main" id="{A81935F9-CF4F-DF4B-B087-595289C50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6724" y="3093406"/>
            <a:ext cx="136525" cy="134937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BE" altLang="nl-BE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7" name="Rechte verbindingslijn met pijl 66">
            <a:extLst>
              <a:ext uri="{FF2B5EF4-FFF2-40B4-BE49-F238E27FC236}">
                <a16:creationId xmlns:a16="http://schemas.microsoft.com/office/drawing/2014/main" id="{27EFDB0B-1991-2E4D-A2B3-9EC2F1E430F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930443" y="3236281"/>
            <a:ext cx="0" cy="422275"/>
          </a:xfrm>
          <a:prstGeom prst="straightConnector1">
            <a:avLst/>
          </a:prstGeom>
          <a:noFill/>
          <a:ln w="22225" algn="ctr">
            <a:solidFill>
              <a:schemeClr val="accent2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kstvak 67">
                <a:extLst>
                  <a:ext uri="{FF2B5EF4-FFF2-40B4-BE49-F238E27FC236}">
                    <a16:creationId xmlns:a16="http://schemas.microsoft.com/office/drawing/2014/main" id="{3B1A2A4F-8FCE-A440-B06F-F831DAF1BF19}"/>
                  </a:ext>
                </a:extLst>
              </p:cNvPr>
              <p:cNvSpPr txBox="1"/>
              <p:nvPr/>
            </p:nvSpPr>
            <p:spPr>
              <a:xfrm>
                <a:off x="8742504" y="2798497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l-BE" i="1" dirty="0">
                  <a:solidFill>
                    <a:schemeClr val="bg1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8" name="Tekstvak 67">
                <a:extLst>
                  <a:ext uri="{FF2B5EF4-FFF2-40B4-BE49-F238E27FC236}">
                    <a16:creationId xmlns:a16="http://schemas.microsoft.com/office/drawing/2014/main" id="{3B1A2A4F-8FCE-A440-B06F-F831DAF1B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2504" y="2798497"/>
                <a:ext cx="408965" cy="4969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kstvak 70">
                <a:extLst>
                  <a:ext uri="{FF2B5EF4-FFF2-40B4-BE49-F238E27FC236}">
                    <a16:creationId xmlns:a16="http://schemas.microsoft.com/office/drawing/2014/main" id="{BA1B6864-246B-8443-A7E8-A922C5DB3C3E}"/>
                  </a:ext>
                </a:extLst>
              </p:cNvPr>
              <p:cNvSpPr txBox="1"/>
              <p:nvPr/>
            </p:nvSpPr>
            <p:spPr>
              <a:xfrm>
                <a:off x="8183017" y="3276265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nl-BE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nl-BE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nl-BE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nl-BE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nl-BE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l-BE" sz="2000" dirty="0">
                  <a:solidFill>
                    <a:srgbClr val="FF0000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1" name="Tekstvak 70">
                <a:extLst>
                  <a:ext uri="{FF2B5EF4-FFF2-40B4-BE49-F238E27FC236}">
                    <a16:creationId xmlns:a16="http://schemas.microsoft.com/office/drawing/2014/main" id="{BA1B6864-246B-8443-A7E8-A922C5DB3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017" y="3276265"/>
                <a:ext cx="408965" cy="496945"/>
              </a:xfrm>
              <a:prstGeom prst="rect">
                <a:avLst/>
              </a:prstGeom>
              <a:blipFill>
                <a:blip r:embed="rId7"/>
                <a:stretch>
                  <a:fillRect l="-21212" t="-9756" r="-78788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kstvak 73">
            <a:extLst>
              <a:ext uri="{FF2B5EF4-FFF2-40B4-BE49-F238E27FC236}">
                <a16:creationId xmlns:a16="http://schemas.microsoft.com/office/drawing/2014/main" id="{657A98E8-DBC8-DA4A-BAE9-CA53D21AF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4163" y="2444771"/>
            <a:ext cx="10005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600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basis SSE</a:t>
            </a:r>
          </a:p>
        </p:txBody>
      </p:sp>
      <p:sp>
        <p:nvSpPr>
          <p:cNvPr id="75" name="Tekstvak 74">
            <a:extLst>
              <a:ext uri="{FF2B5EF4-FFF2-40B4-BE49-F238E27FC236}">
                <a16:creationId xmlns:a16="http://schemas.microsoft.com/office/drawing/2014/main" id="{A03D8772-54AE-6F47-AFEA-7635BBEB0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3207" y="2650869"/>
            <a:ext cx="20003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400" i="1" baseline="0" dirty="0">
                <a:solidFill>
                  <a:schemeClr val="accent2"/>
                </a:solidFill>
                <a:latin typeface="Times New Roman" panose="02020603050405020304" pitchFamily="18" charset="0"/>
              </a:rPr>
              <a:t>Sum of Squares of Errors</a:t>
            </a:r>
          </a:p>
        </p:txBody>
      </p:sp>
      <p:sp>
        <p:nvSpPr>
          <p:cNvPr id="76" name="Tekstvak 75">
            <a:extLst>
              <a:ext uri="{FF2B5EF4-FFF2-40B4-BE49-F238E27FC236}">
                <a16:creationId xmlns:a16="http://schemas.microsoft.com/office/drawing/2014/main" id="{466BDA38-9353-3947-9A85-64AF70B3F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583" y="3917294"/>
            <a:ext cx="101181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600" baseline="0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basis RSS</a:t>
            </a:r>
          </a:p>
        </p:txBody>
      </p:sp>
      <p:sp>
        <p:nvSpPr>
          <p:cNvPr id="77" name="Tekstvak 76">
            <a:extLst>
              <a:ext uri="{FF2B5EF4-FFF2-40B4-BE49-F238E27FC236}">
                <a16:creationId xmlns:a16="http://schemas.microsoft.com/office/drawing/2014/main" id="{C24BFDA0-B742-9147-937A-561C764AC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1799" y="4131681"/>
            <a:ext cx="22143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400" i="1" baseline="0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Regression Sum of Squares</a:t>
            </a:r>
          </a:p>
        </p:txBody>
      </p:sp>
      <p:sp>
        <p:nvSpPr>
          <p:cNvPr id="55" name="Tekstvak 54">
            <a:extLst>
              <a:ext uri="{FF2B5EF4-FFF2-40B4-BE49-F238E27FC236}">
                <a16:creationId xmlns:a16="http://schemas.microsoft.com/office/drawing/2014/main" id="{48D690AE-F60A-403D-DBD8-295508F18004}"/>
              </a:ext>
            </a:extLst>
          </p:cNvPr>
          <p:cNvSpPr txBox="1"/>
          <p:nvPr/>
        </p:nvSpPr>
        <p:spPr>
          <a:xfrm>
            <a:off x="7325991" y="6380488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sz="1600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Autonome motivatie</a:t>
            </a:r>
          </a:p>
        </p:txBody>
      </p:sp>
      <p:sp>
        <p:nvSpPr>
          <p:cNvPr id="57" name="Tekstvak 56">
            <a:extLst>
              <a:ext uri="{FF2B5EF4-FFF2-40B4-BE49-F238E27FC236}">
                <a16:creationId xmlns:a16="http://schemas.microsoft.com/office/drawing/2014/main" id="{4858DE09-0925-867B-5231-709EA9461047}"/>
              </a:ext>
            </a:extLst>
          </p:cNvPr>
          <p:cNvSpPr txBox="1"/>
          <p:nvPr/>
        </p:nvSpPr>
        <p:spPr>
          <a:xfrm rot="16200000">
            <a:off x="4629881" y="4320342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sz="1600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Resultaat Statistiek B</a:t>
            </a:r>
          </a:p>
        </p:txBody>
      </p:sp>
    </p:spTree>
    <p:extLst>
      <p:ext uri="{BB962C8B-B14F-4D97-AF65-F5344CB8AC3E}">
        <p14:creationId xmlns:p14="http://schemas.microsoft.com/office/powerpoint/2010/main" val="7958704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86AF7-2311-3A49-84CF-C521268D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goed is het model?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5156021-CE2C-794F-8DBA-37752D4A1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Methode 2</a:t>
            </a:r>
          </a:p>
          <a:p>
            <a:pPr marL="0" indent="0">
              <a:buNone/>
            </a:pP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Stel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dat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er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een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student later de les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statistiek</a:t>
            </a:r>
            <a:r>
              <a:rPr lang="en-GB" altLang="nl-BE" sz="2000" b="0" i="1" dirty="0">
                <a:solidFill>
                  <a:srgbClr val="003D62"/>
                </a:solidFill>
                <a:latin typeface="+mn-lt"/>
              </a:rPr>
              <a:t> </a:t>
            </a:r>
            <a:r>
              <a:rPr lang="en-GB" altLang="nl-BE" sz="2000" b="0" i="1" dirty="0" err="1">
                <a:solidFill>
                  <a:srgbClr val="003D62"/>
                </a:solidFill>
                <a:latin typeface="+mn-lt"/>
              </a:rPr>
              <a:t>binnenkomt</a:t>
            </a:r>
            <a:r>
              <a:rPr lang="is-IS" altLang="nl-BE" sz="2000" b="0" i="1" dirty="0">
                <a:solidFill>
                  <a:srgbClr val="003D62"/>
                </a:solidFill>
                <a:latin typeface="+mn-lt"/>
              </a:rPr>
              <a:t>… Hoeveel behaalt deze student op zijn examen?</a:t>
            </a:r>
            <a:endParaRPr lang="nl-BE" sz="2000" b="0" i="1" dirty="0"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6EA76B-F85A-A846-9DBE-339EECE74C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3895" y="2947241"/>
            <a:ext cx="3837403" cy="3340989"/>
            <a:chOff x="2789" y="1424"/>
            <a:chExt cx="2837" cy="247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D0B3E2-012E-E14F-89B5-E0EF4E245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3673"/>
              <a:ext cx="2423" cy="0"/>
            </a:xfrm>
            <a:custGeom>
              <a:avLst/>
              <a:gdLst>
                <a:gd name="T0" fmla="*/ 0 w 3798"/>
                <a:gd name="T1" fmla="*/ 0 w 3798"/>
                <a:gd name="T2" fmla="*/ 629 w 3798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3798">
                  <a:moveTo>
                    <a:pt x="0" y="0"/>
                  </a:moveTo>
                  <a:lnTo>
                    <a:pt x="0" y="0"/>
                  </a:lnTo>
                  <a:lnTo>
                    <a:pt x="3798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96A611-22BD-FD49-B127-A79E0EF74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127C87E-77C4-9F41-A81A-01E233438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3902716-A6B1-2142-890D-2CE148B29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63DBEBE-F6A0-394A-B2E3-7D6F76A53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07B878B-A6A0-534D-8614-45C845244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4B987B1-F3FA-C844-BEBC-F8C4FFABA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3863"/>
              <a:ext cx="28" cy="8"/>
            </a:xfrm>
            <a:custGeom>
              <a:avLst/>
              <a:gdLst>
                <a:gd name="T0" fmla="*/ 0 w 44"/>
                <a:gd name="T1" fmla="*/ 2 h 14"/>
                <a:gd name="T2" fmla="*/ 0 w 44"/>
                <a:gd name="T3" fmla="*/ 2 h 14"/>
                <a:gd name="T4" fmla="*/ 0 w 44"/>
                <a:gd name="T5" fmla="*/ 0 h 14"/>
                <a:gd name="T6" fmla="*/ 7 w 44"/>
                <a:gd name="T7" fmla="*/ 0 h 14"/>
                <a:gd name="T8" fmla="*/ 7 w 44"/>
                <a:gd name="T9" fmla="*/ 2 h 14"/>
                <a:gd name="T10" fmla="*/ 0 w 44"/>
                <a:gd name="T11" fmla="*/ 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14"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44" y="0"/>
                  </a:lnTo>
                  <a:lnTo>
                    <a:pt x="44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5C05A4-C25E-0D49-89BE-6D1A4E24D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3820"/>
              <a:ext cx="27" cy="73"/>
            </a:xfrm>
            <a:custGeom>
              <a:avLst/>
              <a:gdLst>
                <a:gd name="T0" fmla="*/ 7 w 42"/>
                <a:gd name="T1" fmla="*/ 18 h 115"/>
                <a:gd name="T2" fmla="*/ 7 w 42"/>
                <a:gd name="T3" fmla="*/ 18 h 115"/>
                <a:gd name="T4" fmla="*/ 5 w 42"/>
                <a:gd name="T5" fmla="*/ 18 h 115"/>
                <a:gd name="T6" fmla="*/ 5 w 42"/>
                <a:gd name="T7" fmla="*/ 4 h 115"/>
                <a:gd name="T8" fmla="*/ 3 w 42"/>
                <a:gd name="T9" fmla="*/ 6 h 115"/>
                <a:gd name="T10" fmla="*/ 0 w 42"/>
                <a:gd name="T11" fmla="*/ 7 h 115"/>
                <a:gd name="T12" fmla="*/ 0 w 42"/>
                <a:gd name="T13" fmla="*/ 4 h 115"/>
                <a:gd name="T14" fmla="*/ 4 w 42"/>
                <a:gd name="T15" fmla="*/ 3 h 115"/>
                <a:gd name="T16" fmla="*/ 6 w 42"/>
                <a:gd name="T17" fmla="*/ 0 h 115"/>
                <a:gd name="T18" fmla="*/ 7 w 42"/>
                <a:gd name="T19" fmla="*/ 0 h 115"/>
                <a:gd name="T20" fmla="*/ 7 w 42"/>
                <a:gd name="T21" fmla="*/ 18 h 1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15">
                  <a:moveTo>
                    <a:pt x="42" y="115"/>
                  </a:moveTo>
                  <a:lnTo>
                    <a:pt x="42" y="115"/>
                  </a:lnTo>
                  <a:lnTo>
                    <a:pt x="28" y="115"/>
                  </a:lnTo>
                  <a:lnTo>
                    <a:pt x="28" y="26"/>
                  </a:lnTo>
                  <a:cubicBezTo>
                    <a:pt x="25" y="29"/>
                    <a:pt x="20" y="32"/>
                    <a:pt x="15" y="36"/>
                  </a:cubicBezTo>
                  <a:cubicBezTo>
                    <a:pt x="9" y="39"/>
                    <a:pt x="4" y="41"/>
                    <a:pt x="0" y="43"/>
                  </a:cubicBezTo>
                  <a:lnTo>
                    <a:pt x="0" y="29"/>
                  </a:lnTo>
                  <a:cubicBezTo>
                    <a:pt x="8" y="26"/>
                    <a:pt x="15" y="21"/>
                    <a:pt x="21" y="16"/>
                  </a:cubicBezTo>
                  <a:cubicBezTo>
                    <a:pt x="26" y="11"/>
                    <a:pt x="31" y="5"/>
                    <a:pt x="33" y="0"/>
                  </a:cubicBezTo>
                  <a:lnTo>
                    <a:pt x="42" y="0"/>
                  </a:lnTo>
                  <a:lnTo>
                    <a:pt x="42" y="1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10CD9C8-6859-4D44-BED2-278F08F34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44FA3A6-7798-6A49-B514-8D392968A1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2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4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8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3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4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3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37187DE-5870-F745-A456-2E4772A7C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863"/>
              <a:ext cx="28" cy="8"/>
            </a:xfrm>
            <a:custGeom>
              <a:avLst/>
              <a:gdLst>
                <a:gd name="T0" fmla="*/ 0 w 43"/>
                <a:gd name="T1" fmla="*/ 2 h 14"/>
                <a:gd name="T2" fmla="*/ 0 w 43"/>
                <a:gd name="T3" fmla="*/ 2 h 14"/>
                <a:gd name="T4" fmla="*/ 0 w 43"/>
                <a:gd name="T5" fmla="*/ 0 h 14"/>
                <a:gd name="T6" fmla="*/ 8 w 43"/>
                <a:gd name="T7" fmla="*/ 0 h 14"/>
                <a:gd name="T8" fmla="*/ 8 w 43"/>
                <a:gd name="T9" fmla="*/ 2 h 14"/>
                <a:gd name="T10" fmla="*/ 0 w 43"/>
                <a:gd name="T11" fmla="*/ 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4"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1F50AB5-099C-0243-BF28-2C8295F9D6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2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4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8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4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2C2C456-0922-C145-938E-E3D835A83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1E60341-FD58-804B-A536-5DD729BDF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821"/>
              <a:ext cx="49" cy="73"/>
            </a:xfrm>
            <a:custGeom>
              <a:avLst/>
              <a:gdLst>
                <a:gd name="T0" fmla="*/ 0 w 76"/>
                <a:gd name="T1" fmla="*/ 14 h 115"/>
                <a:gd name="T2" fmla="*/ 0 w 76"/>
                <a:gd name="T3" fmla="*/ 14 h 115"/>
                <a:gd name="T4" fmla="*/ 3 w 76"/>
                <a:gd name="T5" fmla="*/ 13 h 115"/>
                <a:gd name="T6" fmla="*/ 4 w 76"/>
                <a:gd name="T7" fmla="*/ 16 h 115"/>
                <a:gd name="T8" fmla="*/ 6 w 76"/>
                <a:gd name="T9" fmla="*/ 17 h 115"/>
                <a:gd name="T10" fmla="*/ 10 w 76"/>
                <a:gd name="T11" fmla="*/ 16 h 115"/>
                <a:gd name="T12" fmla="*/ 10 w 76"/>
                <a:gd name="T13" fmla="*/ 12 h 115"/>
                <a:gd name="T14" fmla="*/ 10 w 76"/>
                <a:gd name="T15" fmla="*/ 10 h 115"/>
                <a:gd name="T16" fmla="*/ 6 w 76"/>
                <a:gd name="T17" fmla="*/ 8 h 115"/>
                <a:gd name="T18" fmla="*/ 4 w 76"/>
                <a:gd name="T19" fmla="*/ 9 h 115"/>
                <a:gd name="T20" fmla="*/ 3 w 76"/>
                <a:gd name="T21" fmla="*/ 10 h 115"/>
                <a:gd name="T22" fmla="*/ 1 w 76"/>
                <a:gd name="T23" fmla="*/ 10 h 115"/>
                <a:gd name="T24" fmla="*/ 3 w 76"/>
                <a:gd name="T25" fmla="*/ 0 h 115"/>
                <a:gd name="T26" fmla="*/ 12 w 76"/>
                <a:gd name="T27" fmla="*/ 0 h 115"/>
                <a:gd name="T28" fmla="*/ 12 w 76"/>
                <a:gd name="T29" fmla="*/ 3 h 115"/>
                <a:gd name="T30" fmla="*/ 4 w 76"/>
                <a:gd name="T31" fmla="*/ 3 h 115"/>
                <a:gd name="T32" fmla="*/ 3 w 76"/>
                <a:gd name="T33" fmla="*/ 7 h 115"/>
                <a:gd name="T34" fmla="*/ 7 w 76"/>
                <a:gd name="T35" fmla="*/ 6 h 115"/>
                <a:gd name="T36" fmla="*/ 12 w 76"/>
                <a:gd name="T37" fmla="*/ 8 h 115"/>
                <a:gd name="T38" fmla="*/ 14 w 76"/>
                <a:gd name="T39" fmla="*/ 12 h 115"/>
                <a:gd name="T40" fmla="*/ 12 w 76"/>
                <a:gd name="T41" fmla="*/ 17 h 115"/>
                <a:gd name="T42" fmla="*/ 6 w 76"/>
                <a:gd name="T43" fmla="*/ 18 h 115"/>
                <a:gd name="T44" fmla="*/ 2 w 76"/>
                <a:gd name="T45" fmla="*/ 17 h 115"/>
                <a:gd name="T46" fmla="*/ 0 w 76"/>
                <a:gd name="T47" fmla="*/ 14 h 115"/>
                <a:gd name="T48" fmla="*/ 0 w 76"/>
                <a:gd name="T49" fmla="*/ 14 h 11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6" h="115">
                  <a:moveTo>
                    <a:pt x="0" y="83"/>
                  </a:moveTo>
                  <a:lnTo>
                    <a:pt x="0" y="83"/>
                  </a:lnTo>
                  <a:lnTo>
                    <a:pt x="15" y="82"/>
                  </a:lnTo>
                  <a:cubicBezTo>
                    <a:pt x="16" y="89"/>
                    <a:pt x="19" y="95"/>
                    <a:pt x="23" y="98"/>
                  </a:cubicBezTo>
                  <a:cubicBezTo>
                    <a:pt x="27" y="102"/>
                    <a:pt x="31" y="104"/>
                    <a:pt x="37" y="104"/>
                  </a:cubicBezTo>
                  <a:cubicBezTo>
                    <a:pt x="44" y="104"/>
                    <a:pt x="50" y="101"/>
                    <a:pt x="54" y="96"/>
                  </a:cubicBezTo>
                  <a:cubicBezTo>
                    <a:pt x="59" y="91"/>
                    <a:pt x="61" y="84"/>
                    <a:pt x="61" y="76"/>
                  </a:cubicBezTo>
                  <a:cubicBezTo>
                    <a:pt x="61" y="68"/>
                    <a:pt x="59" y="62"/>
                    <a:pt x="55" y="57"/>
                  </a:cubicBezTo>
                  <a:cubicBezTo>
                    <a:pt x="50" y="52"/>
                    <a:pt x="44" y="50"/>
                    <a:pt x="37" y="50"/>
                  </a:cubicBezTo>
                  <a:cubicBezTo>
                    <a:pt x="32" y="50"/>
                    <a:pt x="28" y="51"/>
                    <a:pt x="25" y="53"/>
                  </a:cubicBezTo>
                  <a:cubicBezTo>
                    <a:pt x="21" y="55"/>
                    <a:pt x="18" y="58"/>
                    <a:pt x="16" y="61"/>
                  </a:cubicBezTo>
                  <a:lnTo>
                    <a:pt x="3" y="59"/>
                  </a:lnTo>
                  <a:lnTo>
                    <a:pt x="14" y="0"/>
                  </a:lnTo>
                  <a:lnTo>
                    <a:pt x="71" y="0"/>
                  </a:lnTo>
                  <a:lnTo>
                    <a:pt x="71" y="14"/>
                  </a:lnTo>
                  <a:lnTo>
                    <a:pt x="25" y="14"/>
                  </a:lnTo>
                  <a:lnTo>
                    <a:pt x="19" y="45"/>
                  </a:lnTo>
                  <a:cubicBezTo>
                    <a:pt x="26" y="40"/>
                    <a:pt x="33" y="38"/>
                    <a:pt x="41" y="38"/>
                  </a:cubicBezTo>
                  <a:cubicBezTo>
                    <a:pt x="51" y="38"/>
                    <a:pt x="59" y="41"/>
                    <a:pt x="66" y="48"/>
                  </a:cubicBezTo>
                  <a:cubicBezTo>
                    <a:pt x="73" y="55"/>
                    <a:pt x="76" y="64"/>
                    <a:pt x="76" y="75"/>
                  </a:cubicBezTo>
                  <a:cubicBezTo>
                    <a:pt x="76" y="85"/>
                    <a:pt x="73" y="94"/>
                    <a:pt x="67" y="102"/>
                  </a:cubicBezTo>
                  <a:cubicBezTo>
                    <a:pt x="60" y="111"/>
                    <a:pt x="50" y="115"/>
                    <a:pt x="37" y="115"/>
                  </a:cubicBezTo>
                  <a:cubicBezTo>
                    <a:pt x="27" y="115"/>
                    <a:pt x="18" y="113"/>
                    <a:pt x="12" y="107"/>
                  </a:cubicBezTo>
                  <a:cubicBezTo>
                    <a:pt x="5" y="101"/>
                    <a:pt x="1" y="93"/>
                    <a:pt x="0" y="8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EFD0B9A-C478-2844-AE52-9594DBC1C7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1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3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7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3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3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3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CC1052-C12A-C84F-AFA5-047EB2E9D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FFF5EC0-1EA1-B840-A65F-056C87D497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36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3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6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49" y="103"/>
                    <a:pt x="54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4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69026DA-A1E8-9741-83D2-CF676B525E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6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4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7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49" y="103"/>
                    <a:pt x="54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4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C3A451A-6E36-384D-A5AF-C9D22C86B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8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F85C4EE-2D21-C748-8F00-B55DF64B0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2" y="3821"/>
              <a:ext cx="48" cy="73"/>
            </a:xfrm>
            <a:custGeom>
              <a:avLst/>
              <a:gdLst>
                <a:gd name="T0" fmla="*/ 0 w 76"/>
                <a:gd name="T1" fmla="*/ 14 h 115"/>
                <a:gd name="T2" fmla="*/ 0 w 76"/>
                <a:gd name="T3" fmla="*/ 14 h 115"/>
                <a:gd name="T4" fmla="*/ 3 w 76"/>
                <a:gd name="T5" fmla="*/ 13 h 115"/>
                <a:gd name="T6" fmla="*/ 4 w 76"/>
                <a:gd name="T7" fmla="*/ 16 h 115"/>
                <a:gd name="T8" fmla="*/ 6 w 76"/>
                <a:gd name="T9" fmla="*/ 17 h 115"/>
                <a:gd name="T10" fmla="*/ 8 w 76"/>
                <a:gd name="T11" fmla="*/ 16 h 115"/>
                <a:gd name="T12" fmla="*/ 10 w 76"/>
                <a:gd name="T13" fmla="*/ 12 h 115"/>
                <a:gd name="T14" fmla="*/ 8 w 76"/>
                <a:gd name="T15" fmla="*/ 10 h 115"/>
                <a:gd name="T16" fmla="*/ 6 w 76"/>
                <a:gd name="T17" fmla="*/ 8 h 115"/>
                <a:gd name="T18" fmla="*/ 4 w 76"/>
                <a:gd name="T19" fmla="*/ 9 h 115"/>
                <a:gd name="T20" fmla="*/ 3 w 76"/>
                <a:gd name="T21" fmla="*/ 10 h 115"/>
                <a:gd name="T22" fmla="*/ 1 w 76"/>
                <a:gd name="T23" fmla="*/ 10 h 115"/>
                <a:gd name="T24" fmla="*/ 2 w 76"/>
                <a:gd name="T25" fmla="*/ 0 h 115"/>
                <a:gd name="T26" fmla="*/ 11 w 76"/>
                <a:gd name="T27" fmla="*/ 0 h 115"/>
                <a:gd name="T28" fmla="*/ 11 w 76"/>
                <a:gd name="T29" fmla="*/ 3 h 115"/>
                <a:gd name="T30" fmla="*/ 4 w 76"/>
                <a:gd name="T31" fmla="*/ 3 h 115"/>
                <a:gd name="T32" fmla="*/ 3 w 76"/>
                <a:gd name="T33" fmla="*/ 7 h 115"/>
                <a:gd name="T34" fmla="*/ 6 w 76"/>
                <a:gd name="T35" fmla="*/ 6 h 115"/>
                <a:gd name="T36" fmla="*/ 10 w 76"/>
                <a:gd name="T37" fmla="*/ 8 h 115"/>
                <a:gd name="T38" fmla="*/ 12 w 76"/>
                <a:gd name="T39" fmla="*/ 12 h 115"/>
                <a:gd name="T40" fmla="*/ 11 w 76"/>
                <a:gd name="T41" fmla="*/ 17 h 115"/>
                <a:gd name="T42" fmla="*/ 6 w 76"/>
                <a:gd name="T43" fmla="*/ 18 h 115"/>
                <a:gd name="T44" fmla="*/ 2 w 76"/>
                <a:gd name="T45" fmla="*/ 17 h 115"/>
                <a:gd name="T46" fmla="*/ 0 w 76"/>
                <a:gd name="T47" fmla="*/ 14 h 115"/>
                <a:gd name="T48" fmla="*/ 0 w 76"/>
                <a:gd name="T49" fmla="*/ 14 h 11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6" h="115">
                  <a:moveTo>
                    <a:pt x="0" y="83"/>
                  </a:moveTo>
                  <a:lnTo>
                    <a:pt x="0" y="83"/>
                  </a:lnTo>
                  <a:lnTo>
                    <a:pt x="15" y="82"/>
                  </a:lnTo>
                  <a:cubicBezTo>
                    <a:pt x="16" y="89"/>
                    <a:pt x="18" y="95"/>
                    <a:pt x="22" y="98"/>
                  </a:cubicBezTo>
                  <a:cubicBezTo>
                    <a:pt x="26" y="102"/>
                    <a:pt x="31" y="104"/>
                    <a:pt x="37" y="104"/>
                  </a:cubicBezTo>
                  <a:cubicBezTo>
                    <a:pt x="43" y="104"/>
                    <a:pt x="49" y="101"/>
                    <a:pt x="54" y="96"/>
                  </a:cubicBezTo>
                  <a:cubicBezTo>
                    <a:pt x="58" y="91"/>
                    <a:pt x="61" y="84"/>
                    <a:pt x="61" y="76"/>
                  </a:cubicBezTo>
                  <a:cubicBezTo>
                    <a:pt x="61" y="68"/>
                    <a:pt x="58" y="62"/>
                    <a:pt x="54" y="57"/>
                  </a:cubicBezTo>
                  <a:cubicBezTo>
                    <a:pt x="49" y="52"/>
                    <a:pt x="44" y="50"/>
                    <a:pt x="36" y="50"/>
                  </a:cubicBezTo>
                  <a:cubicBezTo>
                    <a:pt x="32" y="50"/>
                    <a:pt x="28" y="51"/>
                    <a:pt x="24" y="53"/>
                  </a:cubicBezTo>
                  <a:cubicBezTo>
                    <a:pt x="20" y="55"/>
                    <a:pt x="18" y="58"/>
                    <a:pt x="15" y="61"/>
                  </a:cubicBezTo>
                  <a:lnTo>
                    <a:pt x="2" y="59"/>
                  </a:lnTo>
                  <a:lnTo>
                    <a:pt x="13" y="0"/>
                  </a:lnTo>
                  <a:lnTo>
                    <a:pt x="70" y="0"/>
                  </a:lnTo>
                  <a:lnTo>
                    <a:pt x="70" y="14"/>
                  </a:lnTo>
                  <a:lnTo>
                    <a:pt x="25" y="14"/>
                  </a:lnTo>
                  <a:lnTo>
                    <a:pt x="18" y="45"/>
                  </a:lnTo>
                  <a:cubicBezTo>
                    <a:pt x="25" y="40"/>
                    <a:pt x="32" y="38"/>
                    <a:pt x="40" y="38"/>
                  </a:cubicBezTo>
                  <a:cubicBezTo>
                    <a:pt x="50" y="38"/>
                    <a:pt x="58" y="41"/>
                    <a:pt x="65" y="48"/>
                  </a:cubicBezTo>
                  <a:cubicBezTo>
                    <a:pt x="72" y="55"/>
                    <a:pt x="76" y="64"/>
                    <a:pt x="76" y="75"/>
                  </a:cubicBezTo>
                  <a:cubicBezTo>
                    <a:pt x="76" y="85"/>
                    <a:pt x="73" y="94"/>
                    <a:pt x="67" y="102"/>
                  </a:cubicBezTo>
                  <a:cubicBezTo>
                    <a:pt x="59" y="111"/>
                    <a:pt x="49" y="115"/>
                    <a:pt x="37" y="115"/>
                  </a:cubicBezTo>
                  <a:cubicBezTo>
                    <a:pt x="26" y="115"/>
                    <a:pt x="18" y="113"/>
                    <a:pt x="11" y="107"/>
                  </a:cubicBezTo>
                  <a:cubicBezTo>
                    <a:pt x="4" y="101"/>
                    <a:pt x="1" y="93"/>
                    <a:pt x="0" y="8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129FA9A-2634-DE42-BA61-25921A625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9" y="3820"/>
              <a:ext cx="27" cy="73"/>
            </a:xfrm>
            <a:custGeom>
              <a:avLst/>
              <a:gdLst>
                <a:gd name="T0" fmla="*/ 7 w 42"/>
                <a:gd name="T1" fmla="*/ 18 h 115"/>
                <a:gd name="T2" fmla="*/ 7 w 42"/>
                <a:gd name="T3" fmla="*/ 18 h 115"/>
                <a:gd name="T4" fmla="*/ 5 w 42"/>
                <a:gd name="T5" fmla="*/ 18 h 115"/>
                <a:gd name="T6" fmla="*/ 5 w 42"/>
                <a:gd name="T7" fmla="*/ 4 h 115"/>
                <a:gd name="T8" fmla="*/ 3 w 42"/>
                <a:gd name="T9" fmla="*/ 6 h 115"/>
                <a:gd name="T10" fmla="*/ 0 w 42"/>
                <a:gd name="T11" fmla="*/ 7 h 115"/>
                <a:gd name="T12" fmla="*/ 0 w 42"/>
                <a:gd name="T13" fmla="*/ 4 h 115"/>
                <a:gd name="T14" fmla="*/ 3 w 42"/>
                <a:gd name="T15" fmla="*/ 3 h 115"/>
                <a:gd name="T16" fmla="*/ 6 w 42"/>
                <a:gd name="T17" fmla="*/ 0 h 115"/>
                <a:gd name="T18" fmla="*/ 7 w 42"/>
                <a:gd name="T19" fmla="*/ 0 h 115"/>
                <a:gd name="T20" fmla="*/ 7 w 42"/>
                <a:gd name="T21" fmla="*/ 18 h 1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15">
                  <a:moveTo>
                    <a:pt x="42" y="115"/>
                  </a:moveTo>
                  <a:lnTo>
                    <a:pt x="42" y="115"/>
                  </a:lnTo>
                  <a:lnTo>
                    <a:pt x="28" y="115"/>
                  </a:lnTo>
                  <a:lnTo>
                    <a:pt x="28" y="26"/>
                  </a:lnTo>
                  <a:cubicBezTo>
                    <a:pt x="24" y="29"/>
                    <a:pt x="20" y="32"/>
                    <a:pt x="14" y="36"/>
                  </a:cubicBezTo>
                  <a:cubicBezTo>
                    <a:pt x="9" y="39"/>
                    <a:pt x="4" y="41"/>
                    <a:pt x="0" y="43"/>
                  </a:cubicBezTo>
                  <a:lnTo>
                    <a:pt x="0" y="29"/>
                  </a:lnTo>
                  <a:cubicBezTo>
                    <a:pt x="7" y="26"/>
                    <a:pt x="14" y="21"/>
                    <a:pt x="20" y="16"/>
                  </a:cubicBezTo>
                  <a:cubicBezTo>
                    <a:pt x="26" y="11"/>
                    <a:pt x="30" y="5"/>
                    <a:pt x="33" y="0"/>
                  </a:cubicBezTo>
                  <a:lnTo>
                    <a:pt x="42" y="0"/>
                  </a:lnTo>
                  <a:lnTo>
                    <a:pt x="42" y="1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95A67753-6D32-1F4B-BA09-D25C26055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4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A11668E-F9CD-924B-9162-DA1A29F3F9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47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4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7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50" y="103"/>
                    <a:pt x="54" y="96"/>
                  </a:cubicBezTo>
                  <a:cubicBezTo>
                    <a:pt x="58" y="90"/>
                    <a:pt x="61" y="78"/>
                    <a:pt x="61" y="59"/>
                  </a:cubicBezTo>
                  <a:cubicBezTo>
                    <a:pt x="61" y="40"/>
                    <a:pt x="58" y="28"/>
                    <a:pt x="54" y="21"/>
                  </a:cubicBezTo>
                  <a:cubicBezTo>
                    <a:pt x="50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7A8DFF-9415-204D-8992-2B0F08B02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507"/>
              <a:ext cx="0" cy="2082"/>
            </a:xfrm>
            <a:custGeom>
              <a:avLst/>
              <a:gdLst>
                <a:gd name="T0" fmla="*/ 540 h 3264"/>
                <a:gd name="T1" fmla="*/ 540 h 3264"/>
                <a:gd name="T2" fmla="*/ 0 h 3264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3264">
                  <a:moveTo>
                    <a:pt x="0" y="3264"/>
                  </a:moveTo>
                  <a:lnTo>
                    <a:pt x="0" y="3264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5FA1613-3DF9-5D42-967F-DFAD5EACA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3589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8AA779A-009B-9D4B-8515-ED476539E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3069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ED853B8-3C9F-6C43-87CE-494F078C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548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7602237-173C-AF41-8640-3FC4678A3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028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C56CBAC-D8E6-314D-9CF9-DD6CA8A8F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507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7DDD4F3-0FB3-7B4A-A7BB-D1F9690A8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3647"/>
              <a:ext cx="9" cy="27"/>
            </a:xfrm>
            <a:custGeom>
              <a:avLst/>
              <a:gdLst>
                <a:gd name="T0" fmla="*/ 3 w 14"/>
                <a:gd name="T1" fmla="*/ 7 h 43"/>
                <a:gd name="T2" fmla="*/ 3 w 14"/>
                <a:gd name="T3" fmla="*/ 7 h 43"/>
                <a:gd name="T4" fmla="*/ 0 w 14"/>
                <a:gd name="T5" fmla="*/ 7 h 43"/>
                <a:gd name="T6" fmla="*/ 0 w 14"/>
                <a:gd name="T7" fmla="*/ 0 h 43"/>
                <a:gd name="T8" fmla="*/ 3 w 14"/>
                <a:gd name="T9" fmla="*/ 0 h 43"/>
                <a:gd name="T10" fmla="*/ 3 w 14"/>
                <a:gd name="T11" fmla="*/ 7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43">
                  <a:moveTo>
                    <a:pt x="14" y="43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8C56BEC-7FF6-C84D-8F65-F502E9C55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3605"/>
              <a:ext cx="73" cy="27"/>
            </a:xfrm>
            <a:custGeom>
              <a:avLst/>
              <a:gdLst>
                <a:gd name="T0" fmla="*/ 18 w 115"/>
                <a:gd name="T1" fmla="*/ 0 h 42"/>
                <a:gd name="T2" fmla="*/ 18 w 115"/>
                <a:gd name="T3" fmla="*/ 0 h 42"/>
                <a:gd name="T4" fmla="*/ 18 w 115"/>
                <a:gd name="T5" fmla="*/ 3 h 42"/>
                <a:gd name="T6" fmla="*/ 4 w 115"/>
                <a:gd name="T7" fmla="*/ 3 h 42"/>
                <a:gd name="T8" fmla="*/ 6 w 115"/>
                <a:gd name="T9" fmla="*/ 5 h 42"/>
                <a:gd name="T10" fmla="*/ 7 w 115"/>
                <a:gd name="T11" fmla="*/ 7 h 42"/>
                <a:gd name="T12" fmla="*/ 4 w 115"/>
                <a:gd name="T13" fmla="*/ 7 h 42"/>
                <a:gd name="T14" fmla="*/ 3 w 115"/>
                <a:gd name="T15" fmla="*/ 4 h 42"/>
                <a:gd name="T16" fmla="*/ 0 w 115"/>
                <a:gd name="T17" fmla="*/ 2 h 42"/>
                <a:gd name="T18" fmla="*/ 0 w 115"/>
                <a:gd name="T19" fmla="*/ 0 h 42"/>
                <a:gd name="T20" fmla="*/ 18 w 115"/>
                <a:gd name="T21" fmla="*/ 0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2">
                  <a:moveTo>
                    <a:pt x="115" y="0"/>
                  </a:moveTo>
                  <a:lnTo>
                    <a:pt x="115" y="0"/>
                  </a:lnTo>
                  <a:lnTo>
                    <a:pt x="115" y="14"/>
                  </a:lnTo>
                  <a:lnTo>
                    <a:pt x="25" y="14"/>
                  </a:lnTo>
                  <a:cubicBezTo>
                    <a:pt x="28" y="18"/>
                    <a:pt x="32" y="22"/>
                    <a:pt x="35" y="27"/>
                  </a:cubicBezTo>
                  <a:cubicBezTo>
                    <a:pt x="38" y="33"/>
                    <a:pt x="40" y="38"/>
                    <a:pt x="42" y="42"/>
                  </a:cubicBezTo>
                  <a:lnTo>
                    <a:pt x="28" y="42"/>
                  </a:lnTo>
                  <a:cubicBezTo>
                    <a:pt x="25" y="34"/>
                    <a:pt x="20" y="28"/>
                    <a:pt x="15" y="22"/>
                  </a:cubicBezTo>
                  <a:cubicBezTo>
                    <a:pt x="10" y="16"/>
                    <a:pt x="5" y="12"/>
                    <a:pt x="0" y="9"/>
                  </a:cubicBez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F302BF2E-AC92-DD4C-A5F9-F21A190D0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567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4D6749B-B749-EA4D-BC55-F12627787D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3507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8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3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35EEE93-2281-DB45-9730-8AE6237F1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3126"/>
              <a:ext cx="9" cy="28"/>
            </a:xfrm>
            <a:custGeom>
              <a:avLst/>
              <a:gdLst>
                <a:gd name="T0" fmla="*/ 3 w 14"/>
                <a:gd name="T1" fmla="*/ 8 h 43"/>
                <a:gd name="T2" fmla="*/ 3 w 14"/>
                <a:gd name="T3" fmla="*/ 8 h 43"/>
                <a:gd name="T4" fmla="*/ 0 w 14"/>
                <a:gd name="T5" fmla="*/ 8 h 43"/>
                <a:gd name="T6" fmla="*/ 0 w 14"/>
                <a:gd name="T7" fmla="*/ 0 h 43"/>
                <a:gd name="T8" fmla="*/ 3 w 14"/>
                <a:gd name="T9" fmla="*/ 0 h 43"/>
                <a:gd name="T10" fmla="*/ 3 w 14"/>
                <a:gd name="T11" fmla="*/ 8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43">
                  <a:moveTo>
                    <a:pt x="14" y="43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F4BE8BB-0F27-144B-9CF9-A36134D7CB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3071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1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8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7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2"/>
                    <a:pt x="91" y="4"/>
                  </a:cubicBezTo>
                  <a:cubicBezTo>
                    <a:pt x="99" y="7"/>
                    <a:pt x="105" y="11"/>
                    <a:pt x="110" y="17"/>
                  </a:cubicBezTo>
                  <a:cubicBezTo>
                    <a:pt x="114" y="22"/>
                    <a:pt x="117" y="29"/>
                    <a:pt x="117" y="38"/>
                  </a:cubicBezTo>
                  <a:cubicBezTo>
                    <a:pt x="117" y="49"/>
                    <a:pt x="113" y="57"/>
                    <a:pt x="105" y="64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8"/>
                  </a:cubicBezTo>
                  <a:cubicBezTo>
                    <a:pt x="105" y="31"/>
                    <a:pt x="102" y="26"/>
                    <a:pt x="96" y="21"/>
                  </a:cubicBezTo>
                  <a:cubicBezTo>
                    <a:pt x="89" y="17"/>
                    <a:pt x="77" y="15"/>
                    <a:pt x="58" y="15"/>
                  </a:cubicBezTo>
                  <a:cubicBezTo>
                    <a:pt x="39" y="15"/>
                    <a:pt x="27" y="17"/>
                    <a:pt x="21" y="21"/>
                  </a:cubicBezTo>
                  <a:cubicBezTo>
                    <a:pt x="14" y="26"/>
                    <a:pt x="11" y="31"/>
                    <a:pt x="11" y="38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F939AC1-34FC-5C40-AFC4-41D0469DF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047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710ADE1-BF11-6243-B488-09F75CF86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985"/>
              <a:ext cx="74" cy="48"/>
            </a:xfrm>
            <a:custGeom>
              <a:avLst/>
              <a:gdLst>
                <a:gd name="T0" fmla="*/ 14 w 115"/>
                <a:gd name="T1" fmla="*/ 12 h 76"/>
                <a:gd name="T2" fmla="*/ 14 w 115"/>
                <a:gd name="T3" fmla="*/ 12 h 76"/>
                <a:gd name="T4" fmla="*/ 14 w 115"/>
                <a:gd name="T5" fmla="*/ 10 h 76"/>
                <a:gd name="T6" fmla="*/ 17 w 115"/>
                <a:gd name="T7" fmla="*/ 8 h 76"/>
                <a:gd name="T8" fmla="*/ 17 w 115"/>
                <a:gd name="T9" fmla="*/ 6 h 76"/>
                <a:gd name="T10" fmla="*/ 16 w 115"/>
                <a:gd name="T11" fmla="*/ 4 h 76"/>
                <a:gd name="T12" fmla="*/ 13 w 115"/>
                <a:gd name="T13" fmla="*/ 3 h 76"/>
                <a:gd name="T14" fmla="*/ 10 w 115"/>
                <a:gd name="T15" fmla="*/ 4 h 76"/>
                <a:gd name="T16" fmla="*/ 9 w 115"/>
                <a:gd name="T17" fmla="*/ 6 h 76"/>
                <a:gd name="T18" fmla="*/ 9 w 115"/>
                <a:gd name="T19" fmla="*/ 8 h 76"/>
                <a:gd name="T20" fmla="*/ 10 w 115"/>
                <a:gd name="T21" fmla="*/ 10 h 76"/>
                <a:gd name="T22" fmla="*/ 10 w 115"/>
                <a:gd name="T23" fmla="*/ 12 h 76"/>
                <a:gd name="T24" fmla="*/ 0 w 115"/>
                <a:gd name="T25" fmla="*/ 10 h 76"/>
                <a:gd name="T26" fmla="*/ 0 w 115"/>
                <a:gd name="T27" fmla="*/ 1 h 76"/>
                <a:gd name="T28" fmla="*/ 2 w 115"/>
                <a:gd name="T29" fmla="*/ 1 h 76"/>
                <a:gd name="T30" fmla="*/ 2 w 115"/>
                <a:gd name="T31" fmla="*/ 8 h 76"/>
                <a:gd name="T32" fmla="*/ 8 w 115"/>
                <a:gd name="T33" fmla="*/ 9 h 76"/>
                <a:gd name="T34" fmla="*/ 6 w 115"/>
                <a:gd name="T35" fmla="*/ 6 h 76"/>
                <a:gd name="T36" fmla="*/ 8 w 115"/>
                <a:gd name="T37" fmla="*/ 2 h 76"/>
                <a:gd name="T38" fmla="*/ 13 w 115"/>
                <a:gd name="T39" fmla="*/ 0 h 76"/>
                <a:gd name="T40" fmla="*/ 17 w 115"/>
                <a:gd name="T41" fmla="*/ 2 h 76"/>
                <a:gd name="T42" fmla="*/ 20 w 115"/>
                <a:gd name="T43" fmla="*/ 6 h 76"/>
                <a:gd name="T44" fmla="*/ 18 w 115"/>
                <a:gd name="T45" fmla="*/ 10 h 76"/>
                <a:gd name="T46" fmla="*/ 14 w 115"/>
                <a:gd name="T47" fmla="*/ 12 h 76"/>
                <a:gd name="T48" fmla="*/ 14 w 115"/>
                <a:gd name="T49" fmla="*/ 12 h 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15" h="76">
                  <a:moveTo>
                    <a:pt x="83" y="76"/>
                  </a:moveTo>
                  <a:lnTo>
                    <a:pt x="83" y="76"/>
                  </a:lnTo>
                  <a:lnTo>
                    <a:pt x="81" y="62"/>
                  </a:lnTo>
                  <a:cubicBezTo>
                    <a:pt x="89" y="60"/>
                    <a:pt x="94" y="58"/>
                    <a:pt x="98" y="54"/>
                  </a:cubicBezTo>
                  <a:cubicBezTo>
                    <a:pt x="101" y="50"/>
                    <a:pt x="103" y="45"/>
                    <a:pt x="103" y="40"/>
                  </a:cubicBezTo>
                  <a:cubicBezTo>
                    <a:pt x="103" y="33"/>
                    <a:pt x="101" y="27"/>
                    <a:pt x="95" y="22"/>
                  </a:cubicBezTo>
                  <a:cubicBezTo>
                    <a:pt x="90" y="18"/>
                    <a:pt x="84" y="15"/>
                    <a:pt x="75" y="15"/>
                  </a:cubicBezTo>
                  <a:cubicBezTo>
                    <a:pt x="67" y="15"/>
                    <a:pt x="61" y="18"/>
                    <a:pt x="56" y="22"/>
                  </a:cubicBezTo>
                  <a:cubicBezTo>
                    <a:pt x="52" y="27"/>
                    <a:pt x="49" y="33"/>
                    <a:pt x="49" y="40"/>
                  </a:cubicBezTo>
                  <a:cubicBezTo>
                    <a:pt x="49" y="44"/>
                    <a:pt x="50" y="48"/>
                    <a:pt x="52" y="52"/>
                  </a:cubicBezTo>
                  <a:cubicBezTo>
                    <a:pt x="54" y="56"/>
                    <a:pt x="57" y="59"/>
                    <a:pt x="60" y="61"/>
                  </a:cubicBezTo>
                  <a:lnTo>
                    <a:pt x="59" y="74"/>
                  </a:lnTo>
                  <a:lnTo>
                    <a:pt x="0" y="63"/>
                  </a:lnTo>
                  <a:lnTo>
                    <a:pt x="0" y="6"/>
                  </a:lnTo>
                  <a:lnTo>
                    <a:pt x="13" y="6"/>
                  </a:lnTo>
                  <a:lnTo>
                    <a:pt x="13" y="52"/>
                  </a:lnTo>
                  <a:lnTo>
                    <a:pt x="44" y="58"/>
                  </a:lnTo>
                  <a:cubicBezTo>
                    <a:pt x="39" y="51"/>
                    <a:pt x="37" y="44"/>
                    <a:pt x="37" y="36"/>
                  </a:cubicBezTo>
                  <a:cubicBezTo>
                    <a:pt x="37" y="26"/>
                    <a:pt x="40" y="18"/>
                    <a:pt x="47" y="11"/>
                  </a:cubicBezTo>
                  <a:cubicBezTo>
                    <a:pt x="54" y="4"/>
                    <a:pt x="63" y="0"/>
                    <a:pt x="74" y="0"/>
                  </a:cubicBezTo>
                  <a:cubicBezTo>
                    <a:pt x="84" y="0"/>
                    <a:pt x="93" y="3"/>
                    <a:pt x="101" y="9"/>
                  </a:cubicBezTo>
                  <a:cubicBezTo>
                    <a:pt x="110" y="17"/>
                    <a:pt x="115" y="27"/>
                    <a:pt x="115" y="40"/>
                  </a:cubicBezTo>
                  <a:cubicBezTo>
                    <a:pt x="115" y="50"/>
                    <a:pt x="112" y="58"/>
                    <a:pt x="106" y="65"/>
                  </a:cubicBezTo>
                  <a:cubicBezTo>
                    <a:pt x="100" y="72"/>
                    <a:pt x="92" y="75"/>
                    <a:pt x="83" y="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6F5014E6-5483-F540-80FF-E9895007B1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568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7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2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841DB98A-A8A3-EC4E-8323-D1CB6619F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543"/>
              <a:ext cx="10" cy="11"/>
            </a:xfrm>
            <a:custGeom>
              <a:avLst/>
              <a:gdLst>
                <a:gd name="T0" fmla="*/ 3 w 16"/>
                <a:gd name="T1" fmla="*/ 3 h 17"/>
                <a:gd name="T2" fmla="*/ 3 w 16"/>
                <a:gd name="T3" fmla="*/ 3 h 17"/>
                <a:gd name="T4" fmla="*/ 0 w 16"/>
                <a:gd name="T5" fmla="*/ 3 h 17"/>
                <a:gd name="T6" fmla="*/ 0 w 16"/>
                <a:gd name="T7" fmla="*/ 0 h 17"/>
                <a:gd name="T8" fmla="*/ 3 w 16"/>
                <a:gd name="T9" fmla="*/ 0 h 17"/>
                <a:gd name="T10" fmla="*/ 3 w 16"/>
                <a:gd name="T11" fmla="*/ 3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7">
                  <a:moveTo>
                    <a:pt x="16" y="17"/>
                  </a:moveTo>
                  <a:lnTo>
                    <a:pt x="16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EF2CA51B-0422-9649-841E-AC90719BBC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482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1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8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7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2"/>
                    <a:pt x="91" y="4"/>
                  </a:cubicBezTo>
                  <a:cubicBezTo>
                    <a:pt x="99" y="7"/>
                    <a:pt x="105" y="11"/>
                    <a:pt x="110" y="17"/>
                  </a:cubicBezTo>
                  <a:cubicBezTo>
                    <a:pt x="114" y="22"/>
                    <a:pt x="117" y="29"/>
                    <a:pt x="117" y="38"/>
                  </a:cubicBezTo>
                  <a:cubicBezTo>
                    <a:pt x="117" y="49"/>
                    <a:pt x="113" y="57"/>
                    <a:pt x="105" y="64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8"/>
                  </a:cubicBezTo>
                  <a:cubicBezTo>
                    <a:pt x="105" y="31"/>
                    <a:pt x="102" y="26"/>
                    <a:pt x="96" y="21"/>
                  </a:cubicBezTo>
                  <a:cubicBezTo>
                    <a:pt x="89" y="17"/>
                    <a:pt x="77" y="15"/>
                    <a:pt x="58" y="15"/>
                  </a:cubicBezTo>
                  <a:cubicBezTo>
                    <a:pt x="39" y="15"/>
                    <a:pt x="27" y="17"/>
                    <a:pt x="21" y="21"/>
                  </a:cubicBezTo>
                  <a:cubicBezTo>
                    <a:pt x="14" y="26"/>
                    <a:pt x="11" y="31"/>
                    <a:pt x="11" y="38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89678B40-0CC1-6F47-90AE-90EEC1D6E6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047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7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5"/>
                    <a:pt x="3" y="21"/>
                  </a:cubicBezTo>
                  <a:cubicBezTo>
                    <a:pt x="6" y="16"/>
                    <a:pt x="9" y="12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0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3"/>
                    <a:pt x="105" y="37"/>
                  </a:cubicBezTo>
                  <a:cubicBezTo>
                    <a:pt x="105" y="30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7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937FC5C3-68D7-764A-B001-8F8983476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022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B0A92B3-5381-224A-BB6A-CC578772B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961"/>
              <a:ext cx="74" cy="48"/>
            </a:xfrm>
            <a:custGeom>
              <a:avLst/>
              <a:gdLst>
                <a:gd name="T0" fmla="*/ 14 w 115"/>
                <a:gd name="T1" fmla="*/ 12 h 76"/>
                <a:gd name="T2" fmla="*/ 14 w 115"/>
                <a:gd name="T3" fmla="*/ 12 h 76"/>
                <a:gd name="T4" fmla="*/ 14 w 115"/>
                <a:gd name="T5" fmla="*/ 10 h 76"/>
                <a:gd name="T6" fmla="*/ 17 w 115"/>
                <a:gd name="T7" fmla="*/ 8 h 76"/>
                <a:gd name="T8" fmla="*/ 17 w 115"/>
                <a:gd name="T9" fmla="*/ 6 h 76"/>
                <a:gd name="T10" fmla="*/ 16 w 115"/>
                <a:gd name="T11" fmla="*/ 4 h 76"/>
                <a:gd name="T12" fmla="*/ 13 w 115"/>
                <a:gd name="T13" fmla="*/ 3 h 76"/>
                <a:gd name="T14" fmla="*/ 10 w 115"/>
                <a:gd name="T15" fmla="*/ 4 h 76"/>
                <a:gd name="T16" fmla="*/ 9 w 115"/>
                <a:gd name="T17" fmla="*/ 6 h 76"/>
                <a:gd name="T18" fmla="*/ 9 w 115"/>
                <a:gd name="T19" fmla="*/ 8 h 76"/>
                <a:gd name="T20" fmla="*/ 10 w 115"/>
                <a:gd name="T21" fmla="*/ 9 h 76"/>
                <a:gd name="T22" fmla="*/ 10 w 115"/>
                <a:gd name="T23" fmla="*/ 11 h 76"/>
                <a:gd name="T24" fmla="*/ 0 w 115"/>
                <a:gd name="T25" fmla="*/ 10 h 76"/>
                <a:gd name="T26" fmla="*/ 0 w 115"/>
                <a:gd name="T27" fmla="*/ 1 h 76"/>
                <a:gd name="T28" fmla="*/ 2 w 115"/>
                <a:gd name="T29" fmla="*/ 1 h 76"/>
                <a:gd name="T30" fmla="*/ 2 w 115"/>
                <a:gd name="T31" fmla="*/ 8 h 76"/>
                <a:gd name="T32" fmla="*/ 8 w 115"/>
                <a:gd name="T33" fmla="*/ 9 h 76"/>
                <a:gd name="T34" fmla="*/ 6 w 115"/>
                <a:gd name="T35" fmla="*/ 6 h 76"/>
                <a:gd name="T36" fmla="*/ 8 w 115"/>
                <a:gd name="T37" fmla="*/ 2 h 76"/>
                <a:gd name="T38" fmla="*/ 13 w 115"/>
                <a:gd name="T39" fmla="*/ 0 h 76"/>
                <a:gd name="T40" fmla="*/ 17 w 115"/>
                <a:gd name="T41" fmla="*/ 2 h 76"/>
                <a:gd name="T42" fmla="*/ 20 w 115"/>
                <a:gd name="T43" fmla="*/ 6 h 76"/>
                <a:gd name="T44" fmla="*/ 18 w 115"/>
                <a:gd name="T45" fmla="*/ 10 h 76"/>
                <a:gd name="T46" fmla="*/ 14 w 115"/>
                <a:gd name="T47" fmla="*/ 12 h 76"/>
                <a:gd name="T48" fmla="*/ 14 w 115"/>
                <a:gd name="T49" fmla="*/ 12 h 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15" h="76">
                  <a:moveTo>
                    <a:pt x="83" y="76"/>
                  </a:moveTo>
                  <a:lnTo>
                    <a:pt x="83" y="76"/>
                  </a:lnTo>
                  <a:lnTo>
                    <a:pt x="81" y="61"/>
                  </a:lnTo>
                  <a:cubicBezTo>
                    <a:pt x="89" y="60"/>
                    <a:pt x="94" y="57"/>
                    <a:pt x="98" y="53"/>
                  </a:cubicBezTo>
                  <a:cubicBezTo>
                    <a:pt x="101" y="49"/>
                    <a:pt x="103" y="45"/>
                    <a:pt x="103" y="39"/>
                  </a:cubicBezTo>
                  <a:cubicBezTo>
                    <a:pt x="103" y="32"/>
                    <a:pt x="101" y="26"/>
                    <a:pt x="95" y="22"/>
                  </a:cubicBezTo>
                  <a:cubicBezTo>
                    <a:pt x="90" y="17"/>
                    <a:pt x="84" y="15"/>
                    <a:pt x="75" y="15"/>
                  </a:cubicBezTo>
                  <a:cubicBezTo>
                    <a:pt x="67" y="15"/>
                    <a:pt x="61" y="17"/>
                    <a:pt x="56" y="22"/>
                  </a:cubicBezTo>
                  <a:cubicBezTo>
                    <a:pt x="52" y="26"/>
                    <a:pt x="49" y="32"/>
                    <a:pt x="49" y="39"/>
                  </a:cubicBezTo>
                  <a:cubicBezTo>
                    <a:pt x="49" y="44"/>
                    <a:pt x="50" y="48"/>
                    <a:pt x="52" y="51"/>
                  </a:cubicBezTo>
                  <a:cubicBezTo>
                    <a:pt x="54" y="55"/>
                    <a:pt x="57" y="58"/>
                    <a:pt x="60" y="60"/>
                  </a:cubicBezTo>
                  <a:lnTo>
                    <a:pt x="59" y="73"/>
                  </a:lnTo>
                  <a:lnTo>
                    <a:pt x="0" y="62"/>
                  </a:lnTo>
                  <a:lnTo>
                    <a:pt x="0" y="5"/>
                  </a:lnTo>
                  <a:lnTo>
                    <a:pt x="13" y="5"/>
                  </a:lnTo>
                  <a:lnTo>
                    <a:pt x="13" y="51"/>
                  </a:lnTo>
                  <a:lnTo>
                    <a:pt x="44" y="57"/>
                  </a:lnTo>
                  <a:cubicBezTo>
                    <a:pt x="39" y="50"/>
                    <a:pt x="37" y="43"/>
                    <a:pt x="37" y="35"/>
                  </a:cubicBezTo>
                  <a:cubicBezTo>
                    <a:pt x="37" y="25"/>
                    <a:pt x="40" y="17"/>
                    <a:pt x="47" y="10"/>
                  </a:cubicBezTo>
                  <a:cubicBezTo>
                    <a:pt x="54" y="3"/>
                    <a:pt x="63" y="0"/>
                    <a:pt x="74" y="0"/>
                  </a:cubicBezTo>
                  <a:cubicBezTo>
                    <a:pt x="84" y="0"/>
                    <a:pt x="93" y="3"/>
                    <a:pt x="101" y="9"/>
                  </a:cubicBezTo>
                  <a:cubicBezTo>
                    <a:pt x="110" y="16"/>
                    <a:pt x="115" y="26"/>
                    <a:pt x="115" y="39"/>
                  </a:cubicBezTo>
                  <a:cubicBezTo>
                    <a:pt x="115" y="49"/>
                    <a:pt x="112" y="58"/>
                    <a:pt x="106" y="64"/>
                  </a:cubicBezTo>
                  <a:cubicBezTo>
                    <a:pt x="100" y="71"/>
                    <a:pt x="92" y="75"/>
                    <a:pt x="83" y="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E4A7A1A6-B76C-DE4F-AB0D-F888079E2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540"/>
              <a:ext cx="73" cy="27"/>
            </a:xfrm>
            <a:custGeom>
              <a:avLst/>
              <a:gdLst>
                <a:gd name="T0" fmla="*/ 18 w 115"/>
                <a:gd name="T1" fmla="*/ 0 h 42"/>
                <a:gd name="T2" fmla="*/ 18 w 115"/>
                <a:gd name="T3" fmla="*/ 0 h 42"/>
                <a:gd name="T4" fmla="*/ 18 w 115"/>
                <a:gd name="T5" fmla="*/ 3 h 42"/>
                <a:gd name="T6" fmla="*/ 4 w 115"/>
                <a:gd name="T7" fmla="*/ 3 h 42"/>
                <a:gd name="T8" fmla="*/ 6 w 115"/>
                <a:gd name="T9" fmla="*/ 5 h 42"/>
                <a:gd name="T10" fmla="*/ 7 w 115"/>
                <a:gd name="T11" fmla="*/ 7 h 42"/>
                <a:gd name="T12" fmla="*/ 4 w 115"/>
                <a:gd name="T13" fmla="*/ 7 h 42"/>
                <a:gd name="T14" fmla="*/ 3 w 115"/>
                <a:gd name="T15" fmla="*/ 4 h 42"/>
                <a:gd name="T16" fmla="*/ 0 w 115"/>
                <a:gd name="T17" fmla="*/ 2 h 42"/>
                <a:gd name="T18" fmla="*/ 0 w 115"/>
                <a:gd name="T19" fmla="*/ 0 h 42"/>
                <a:gd name="T20" fmla="*/ 18 w 115"/>
                <a:gd name="T21" fmla="*/ 0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2">
                  <a:moveTo>
                    <a:pt x="115" y="0"/>
                  </a:moveTo>
                  <a:lnTo>
                    <a:pt x="115" y="0"/>
                  </a:lnTo>
                  <a:lnTo>
                    <a:pt x="115" y="14"/>
                  </a:lnTo>
                  <a:lnTo>
                    <a:pt x="25" y="14"/>
                  </a:lnTo>
                  <a:cubicBezTo>
                    <a:pt x="28" y="18"/>
                    <a:pt x="32" y="22"/>
                    <a:pt x="35" y="28"/>
                  </a:cubicBezTo>
                  <a:cubicBezTo>
                    <a:pt x="38" y="33"/>
                    <a:pt x="40" y="38"/>
                    <a:pt x="42" y="42"/>
                  </a:cubicBezTo>
                  <a:lnTo>
                    <a:pt x="28" y="42"/>
                  </a:lnTo>
                  <a:cubicBezTo>
                    <a:pt x="25" y="35"/>
                    <a:pt x="20" y="28"/>
                    <a:pt x="15" y="22"/>
                  </a:cubicBezTo>
                  <a:cubicBezTo>
                    <a:pt x="10" y="16"/>
                    <a:pt x="5" y="12"/>
                    <a:pt x="0" y="9"/>
                  </a:cubicBez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C4D79B5-BA22-FB43-8DBD-E7B453CBD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502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FD15CD93-BB76-624F-A422-BC4A9B580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1441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0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7"/>
                    <a:pt x="77" y="14"/>
                    <a:pt x="58" y="14"/>
                  </a:cubicBezTo>
                  <a:cubicBezTo>
                    <a:pt x="39" y="14"/>
                    <a:pt x="27" y="17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0CF6CCC-A610-1B44-BBDA-C9F18BFDC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424"/>
              <a:ext cx="2617" cy="2249"/>
            </a:xfrm>
            <a:custGeom>
              <a:avLst/>
              <a:gdLst>
                <a:gd name="T0" fmla="*/ 0 w 4102"/>
                <a:gd name="T1" fmla="*/ 584 h 3526"/>
                <a:gd name="T2" fmla="*/ 0 w 4102"/>
                <a:gd name="T3" fmla="*/ 584 h 3526"/>
                <a:gd name="T4" fmla="*/ 679 w 4102"/>
                <a:gd name="T5" fmla="*/ 584 h 3526"/>
                <a:gd name="T6" fmla="*/ 679 w 4102"/>
                <a:gd name="T7" fmla="*/ 0 h 3526"/>
                <a:gd name="T8" fmla="*/ 0 w 4102"/>
                <a:gd name="T9" fmla="*/ 0 h 3526"/>
                <a:gd name="T10" fmla="*/ 0 w 4102"/>
                <a:gd name="T11" fmla="*/ 584 h 35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02" h="3526">
                  <a:moveTo>
                    <a:pt x="0" y="3526"/>
                  </a:moveTo>
                  <a:lnTo>
                    <a:pt x="0" y="3526"/>
                  </a:lnTo>
                  <a:lnTo>
                    <a:pt x="4102" y="3526"/>
                  </a:lnTo>
                  <a:lnTo>
                    <a:pt x="4102" y="0"/>
                  </a:lnTo>
                  <a:lnTo>
                    <a:pt x="0" y="0"/>
                  </a:lnTo>
                  <a:lnTo>
                    <a:pt x="0" y="3526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53" name="Freeform 57">
              <a:extLst>
                <a:ext uri="{FF2B5EF4-FFF2-40B4-BE49-F238E27FC236}">
                  <a16:creationId xmlns:a16="http://schemas.microsoft.com/office/drawing/2014/main" id="{439E67E2-76B1-9042-AB89-EFFDC56A62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09" y="2548"/>
              <a:ext cx="2617" cy="0"/>
            </a:xfrm>
            <a:custGeom>
              <a:avLst/>
              <a:gdLst>
                <a:gd name="T0" fmla="*/ 0 w 4102"/>
                <a:gd name="T1" fmla="*/ 17 w 4102"/>
                <a:gd name="T2" fmla="*/ 26 w 4102"/>
                <a:gd name="T3" fmla="*/ 36 w 4102"/>
                <a:gd name="T4" fmla="*/ 53 w 4102"/>
                <a:gd name="T5" fmla="*/ 62 w 4102"/>
                <a:gd name="T6" fmla="*/ 71 w 4102"/>
                <a:gd name="T7" fmla="*/ 89 w 4102"/>
                <a:gd name="T8" fmla="*/ 97 w 4102"/>
                <a:gd name="T9" fmla="*/ 107 w 4102"/>
                <a:gd name="T10" fmla="*/ 124 w 4102"/>
                <a:gd name="T11" fmla="*/ 133 w 4102"/>
                <a:gd name="T12" fmla="*/ 142 w 4102"/>
                <a:gd name="T13" fmla="*/ 159 w 4102"/>
                <a:gd name="T14" fmla="*/ 168 w 4102"/>
                <a:gd name="T15" fmla="*/ 177 w 4102"/>
                <a:gd name="T16" fmla="*/ 195 w 4102"/>
                <a:gd name="T17" fmla="*/ 204 w 4102"/>
                <a:gd name="T18" fmla="*/ 212 w 4102"/>
                <a:gd name="T19" fmla="*/ 230 w 4102"/>
                <a:gd name="T20" fmla="*/ 239 w 4102"/>
                <a:gd name="T21" fmla="*/ 248 w 4102"/>
                <a:gd name="T22" fmla="*/ 265 w 4102"/>
                <a:gd name="T23" fmla="*/ 274 w 4102"/>
                <a:gd name="T24" fmla="*/ 283 w 4102"/>
                <a:gd name="T25" fmla="*/ 300 w 4102"/>
                <a:gd name="T26" fmla="*/ 309 w 4102"/>
                <a:gd name="T27" fmla="*/ 318 w 4102"/>
                <a:gd name="T28" fmla="*/ 336 w 4102"/>
                <a:gd name="T29" fmla="*/ 345 w 4102"/>
                <a:gd name="T30" fmla="*/ 353 w 4102"/>
                <a:gd name="T31" fmla="*/ 371 w 4102"/>
                <a:gd name="T32" fmla="*/ 380 w 4102"/>
                <a:gd name="T33" fmla="*/ 389 w 4102"/>
                <a:gd name="T34" fmla="*/ 406 w 4102"/>
                <a:gd name="T35" fmla="*/ 415 w 4102"/>
                <a:gd name="T36" fmla="*/ 424 w 4102"/>
                <a:gd name="T37" fmla="*/ 442 w 4102"/>
                <a:gd name="T38" fmla="*/ 451 w 4102"/>
                <a:gd name="T39" fmla="*/ 460 w 4102"/>
                <a:gd name="T40" fmla="*/ 477 w 4102"/>
                <a:gd name="T41" fmla="*/ 486 w 4102"/>
                <a:gd name="T42" fmla="*/ 495 w 4102"/>
                <a:gd name="T43" fmla="*/ 513 w 4102"/>
                <a:gd name="T44" fmla="*/ 522 w 4102"/>
                <a:gd name="T45" fmla="*/ 530 w 4102"/>
                <a:gd name="T46" fmla="*/ 548 w 4102"/>
                <a:gd name="T47" fmla="*/ 557 w 4102"/>
                <a:gd name="T48" fmla="*/ 566 w 4102"/>
                <a:gd name="T49" fmla="*/ 584 w 4102"/>
                <a:gd name="T50" fmla="*/ 592 w 4102"/>
                <a:gd name="T51" fmla="*/ 601 w 4102"/>
                <a:gd name="T52" fmla="*/ 619 w 4102"/>
                <a:gd name="T53" fmla="*/ 628 w 4102"/>
                <a:gd name="T54" fmla="*/ 637 w 4102"/>
                <a:gd name="T55" fmla="*/ 655 w 4102"/>
                <a:gd name="T56" fmla="*/ 663 w 4102"/>
                <a:gd name="T57" fmla="*/ 672 w 410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</a:gdLst>
              <a:ahLst/>
              <a:cxnLst>
                <a:cxn ang="T58">
                  <a:pos x="T0" y="0"/>
                </a:cxn>
                <a:cxn ang="T59">
                  <a:pos x="T1" y="0"/>
                </a:cxn>
                <a:cxn ang="T60">
                  <a:pos x="T2" y="0"/>
                </a:cxn>
                <a:cxn ang="T61">
                  <a:pos x="T3" y="0"/>
                </a:cxn>
                <a:cxn ang="T62">
                  <a:pos x="T4" y="0"/>
                </a:cxn>
                <a:cxn ang="T63">
                  <a:pos x="T5" y="0"/>
                </a:cxn>
                <a:cxn ang="T64">
                  <a:pos x="T6" y="0"/>
                </a:cxn>
                <a:cxn ang="T65">
                  <a:pos x="T7" y="0"/>
                </a:cxn>
                <a:cxn ang="T66">
                  <a:pos x="T8" y="0"/>
                </a:cxn>
                <a:cxn ang="T67">
                  <a:pos x="T9" y="0"/>
                </a:cxn>
                <a:cxn ang="T68">
                  <a:pos x="T10" y="0"/>
                </a:cxn>
                <a:cxn ang="T69">
                  <a:pos x="T11" y="0"/>
                </a:cxn>
                <a:cxn ang="T70">
                  <a:pos x="T12" y="0"/>
                </a:cxn>
                <a:cxn ang="T71">
                  <a:pos x="T13" y="0"/>
                </a:cxn>
                <a:cxn ang="T72">
                  <a:pos x="T14" y="0"/>
                </a:cxn>
                <a:cxn ang="T73">
                  <a:pos x="T15" y="0"/>
                </a:cxn>
                <a:cxn ang="T74">
                  <a:pos x="T16" y="0"/>
                </a:cxn>
                <a:cxn ang="T75">
                  <a:pos x="T17" y="0"/>
                </a:cxn>
                <a:cxn ang="T76">
                  <a:pos x="T18" y="0"/>
                </a:cxn>
                <a:cxn ang="T77">
                  <a:pos x="T19" y="0"/>
                </a:cxn>
                <a:cxn ang="T78">
                  <a:pos x="T20" y="0"/>
                </a:cxn>
                <a:cxn ang="T79">
                  <a:pos x="T21" y="0"/>
                </a:cxn>
                <a:cxn ang="T80">
                  <a:pos x="T22" y="0"/>
                </a:cxn>
                <a:cxn ang="T81">
                  <a:pos x="T23" y="0"/>
                </a:cxn>
                <a:cxn ang="T82">
                  <a:pos x="T24" y="0"/>
                </a:cxn>
                <a:cxn ang="T83">
                  <a:pos x="T25" y="0"/>
                </a:cxn>
                <a:cxn ang="T84">
                  <a:pos x="T26" y="0"/>
                </a:cxn>
                <a:cxn ang="T85">
                  <a:pos x="T27" y="0"/>
                </a:cxn>
                <a:cxn ang="T86">
                  <a:pos x="T28" y="0"/>
                </a:cxn>
                <a:cxn ang="T87">
                  <a:pos x="T29" y="0"/>
                </a:cxn>
                <a:cxn ang="T88">
                  <a:pos x="T30" y="0"/>
                </a:cxn>
                <a:cxn ang="T89">
                  <a:pos x="T31" y="0"/>
                </a:cxn>
                <a:cxn ang="T90">
                  <a:pos x="T32" y="0"/>
                </a:cxn>
                <a:cxn ang="T91">
                  <a:pos x="T33" y="0"/>
                </a:cxn>
                <a:cxn ang="T92">
                  <a:pos x="T34" y="0"/>
                </a:cxn>
                <a:cxn ang="T93">
                  <a:pos x="T35" y="0"/>
                </a:cxn>
                <a:cxn ang="T94">
                  <a:pos x="T36" y="0"/>
                </a:cxn>
                <a:cxn ang="T95">
                  <a:pos x="T37" y="0"/>
                </a:cxn>
                <a:cxn ang="T96">
                  <a:pos x="T38" y="0"/>
                </a:cxn>
                <a:cxn ang="T97">
                  <a:pos x="T39" y="0"/>
                </a:cxn>
                <a:cxn ang="T98">
                  <a:pos x="T40" y="0"/>
                </a:cxn>
                <a:cxn ang="T99">
                  <a:pos x="T41" y="0"/>
                </a:cxn>
                <a:cxn ang="T100">
                  <a:pos x="T42" y="0"/>
                </a:cxn>
                <a:cxn ang="T101">
                  <a:pos x="T43" y="0"/>
                </a:cxn>
                <a:cxn ang="T102">
                  <a:pos x="T44" y="0"/>
                </a:cxn>
                <a:cxn ang="T103">
                  <a:pos x="T45" y="0"/>
                </a:cxn>
                <a:cxn ang="T104">
                  <a:pos x="T46" y="0"/>
                </a:cxn>
                <a:cxn ang="T105">
                  <a:pos x="T47" y="0"/>
                </a:cxn>
                <a:cxn ang="T106">
                  <a:pos x="T48" y="0"/>
                </a:cxn>
                <a:cxn ang="T107">
                  <a:pos x="T49" y="0"/>
                </a:cxn>
                <a:cxn ang="T108">
                  <a:pos x="T50" y="0"/>
                </a:cxn>
                <a:cxn ang="T109">
                  <a:pos x="T51" y="0"/>
                </a:cxn>
                <a:cxn ang="T110">
                  <a:pos x="T52" y="0"/>
                </a:cxn>
                <a:cxn ang="T111">
                  <a:pos x="T53" y="0"/>
                </a:cxn>
                <a:cxn ang="T112">
                  <a:pos x="T54" y="0"/>
                </a:cxn>
                <a:cxn ang="T113">
                  <a:pos x="T55" y="0"/>
                </a:cxn>
                <a:cxn ang="T114">
                  <a:pos x="T56" y="0"/>
                </a:cxn>
                <a:cxn ang="T115">
                  <a:pos x="T57" y="0"/>
                </a:cxn>
              </a:cxnLst>
              <a:rect l="0" t="0" r="r" b="b"/>
              <a:pathLst>
                <a:path w="4102">
                  <a:moveTo>
                    <a:pt x="0" y="0"/>
                  </a:moveTo>
                  <a:lnTo>
                    <a:pt x="0" y="0"/>
                  </a:lnTo>
                  <a:lnTo>
                    <a:pt x="54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60" y="0"/>
                  </a:lnTo>
                  <a:moveTo>
                    <a:pt x="214" y="0"/>
                  </a:moveTo>
                  <a:lnTo>
                    <a:pt x="214" y="0"/>
                  </a:lnTo>
                  <a:lnTo>
                    <a:pt x="267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74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81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87" y="0"/>
                  </a:lnTo>
                  <a:moveTo>
                    <a:pt x="641" y="0"/>
                  </a:moveTo>
                  <a:lnTo>
                    <a:pt x="641" y="0"/>
                  </a:lnTo>
                  <a:lnTo>
                    <a:pt x="694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801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908" y="0"/>
                  </a:lnTo>
                  <a:moveTo>
                    <a:pt x="961" y="0"/>
                  </a:moveTo>
                  <a:lnTo>
                    <a:pt x="961" y="0"/>
                  </a:lnTo>
                  <a:lnTo>
                    <a:pt x="1014" y="0"/>
                  </a:lnTo>
                  <a:moveTo>
                    <a:pt x="1068" y="0"/>
                  </a:moveTo>
                  <a:lnTo>
                    <a:pt x="1068" y="0"/>
                  </a:lnTo>
                  <a:lnTo>
                    <a:pt x="1121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228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335" y="0"/>
                  </a:lnTo>
                  <a:moveTo>
                    <a:pt x="1388" y="0"/>
                  </a:moveTo>
                  <a:lnTo>
                    <a:pt x="1388" y="0"/>
                  </a:lnTo>
                  <a:lnTo>
                    <a:pt x="1441" y="0"/>
                  </a:lnTo>
                  <a:moveTo>
                    <a:pt x="1495" y="0"/>
                  </a:moveTo>
                  <a:lnTo>
                    <a:pt x="1495" y="0"/>
                  </a:lnTo>
                  <a:lnTo>
                    <a:pt x="1548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55" y="0"/>
                  </a:lnTo>
                  <a:moveTo>
                    <a:pt x="1708" y="0"/>
                  </a:moveTo>
                  <a:lnTo>
                    <a:pt x="1708" y="0"/>
                  </a:lnTo>
                  <a:lnTo>
                    <a:pt x="1761" y="0"/>
                  </a:lnTo>
                  <a:moveTo>
                    <a:pt x="1815" y="0"/>
                  </a:moveTo>
                  <a:lnTo>
                    <a:pt x="1815" y="0"/>
                  </a:lnTo>
                  <a:lnTo>
                    <a:pt x="1868" y="0"/>
                  </a:lnTo>
                  <a:moveTo>
                    <a:pt x="1922" y="0"/>
                  </a:moveTo>
                  <a:lnTo>
                    <a:pt x="1922" y="0"/>
                  </a:lnTo>
                  <a:lnTo>
                    <a:pt x="1975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82" y="0"/>
                  </a:lnTo>
                  <a:moveTo>
                    <a:pt x="2135" y="0"/>
                  </a:moveTo>
                  <a:lnTo>
                    <a:pt x="2135" y="0"/>
                  </a:lnTo>
                  <a:lnTo>
                    <a:pt x="2188" y="0"/>
                  </a:lnTo>
                  <a:moveTo>
                    <a:pt x="2242" y="0"/>
                  </a:moveTo>
                  <a:lnTo>
                    <a:pt x="2242" y="0"/>
                  </a:lnTo>
                  <a:lnTo>
                    <a:pt x="2295" y="0"/>
                  </a:lnTo>
                  <a:moveTo>
                    <a:pt x="2349" y="0"/>
                  </a:moveTo>
                  <a:lnTo>
                    <a:pt x="2349" y="0"/>
                  </a:lnTo>
                  <a:lnTo>
                    <a:pt x="2402" y="0"/>
                  </a:lnTo>
                  <a:moveTo>
                    <a:pt x="2455" y="0"/>
                  </a:moveTo>
                  <a:lnTo>
                    <a:pt x="2455" y="0"/>
                  </a:lnTo>
                  <a:lnTo>
                    <a:pt x="2509" y="0"/>
                  </a:lnTo>
                  <a:moveTo>
                    <a:pt x="2562" y="0"/>
                  </a:moveTo>
                  <a:lnTo>
                    <a:pt x="2562" y="0"/>
                  </a:lnTo>
                  <a:lnTo>
                    <a:pt x="2615" y="0"/>
                  </a:lnTo>
                  <a:moveTo>
                    <a:pt x="2669" y="0"/>
                  </a:moveTo>
                  <a:lnTo>
                    <a:pt x="2669" y="0"/>
                  </a:lnTo>
                  <a:lnTo>
                    <a:pt x="2722" y="0"/>
                  </a:lnTo>
                  <a:moveTo>
                    <a:pt x="2776" y="0"/>
                  </a:moveTo>
                  <a:lnTo>
                    <a:pt x="2776" y="0"/>
                  </a:lnTo>
                  <a:lnTo>
                    <a:pt x="2829" y="0"/>
                  </a:lnTo>
                  <a:moveTo>
                    <a:pt x="2882" y="0"/>
                  </a:moveTo>
                  <a:lnTo>
                    <a:pt x="2882" y="0"/>
                  </a:lnTo>
                  <a:lnTo>
                    <a:pt x="2936" y="0"/>
                  </a:lnTo>
                  <a:moveTo>
                    <a:pt x="2989" y="0"/>
                  </a:moveTo>
                  <a:lnTo>
                    <a:pt x="2989" y="0"/>
                  </a:lnTo>
                  <a:lnTo>
                    <a:pt x="3042" y="0"/>
                  </a:lnTo>
                  <a:moveTo>
                    <a:pt x="3096" y="0"/>
                  </a:moveTo>
                  <a:lnTo>
                    <a:pt x="3096" y="0"/>
                  </a:lnTo>
                  <a:lnTo>
                    <a:pt x="3149" y="0"/>
                  </a:lnTo>
                  <a:moveTo>
                    <a:pt x="3203" y="0"/>
                  </a:moveTo>
                  <a:lnTo>
                    <a:pt x="3203" y="0"/>
                  </a:lnTo>
                  <a:lnTo>
                    <a:pt x="3256" y="0"/>
                  </a:lnTo>
                  <a:moveTo>
                    <a:pt x="3309" y="0"/>
                  </a:moveTo>
                  <a:lnTo>
                    <a:pt x="3309" y="0"/>
                  </a:lnTo>
                  <a:lnTo>
                    <a:pt x="3363" y="0"/>
                  </a:lnTo>
                  <a:moveTo>
                    <a:pt x="3416" y="0"/>
                  </a:moveTo>
                  <a:lnTo>
                    <a:pt x="3416" y="0"/>
                  </a:lnTo>
                  <a:lnTo>
                    <a:pt x="3469" y="0"/>
                  </a:lnTo>
                  <a:moveTo>
                    <a:pt x="3523" y="0"/>
                  </a:moveTo>
                  <a:lnTo>
                    <a:pt x="3523" y="0"/>
                  </a:lnTo>
                  <a:lnTo>
                    <a:pt x="3576" y="0"/>
                  </a:lnTo>
                  <a:moveTo>
                    <a:pt x="3629" y="0"/>
                  </a:moveTo>
                  <a:lnTo>
                    <a:pt x="3629" y="0"/>
                  </a:lnTo>
                  <a:lnTo>
                    <a:pt x="3683" y="0"/>
                  </a:lnTo>
                  <a:moveTo>
                    <a:pt x="3736" y="0"/>
                  </a:moveTo>
                  <a:lnTo>
                    <a:pt x="3736" y="0"/>
                  </a:lnTo>
                  <a:lnTo>
                    <a:pt x="3790" y="0"/>
                  </a:lnTo>
                  <a:moveTo>
                    <a:pt x="3843" y="0"/>
                  </a:moveTo>
                  <a:lnTo>
                    <a:pt x="3843" y="0"/>
                  </a:lnTo>
                  <a:lnTo>
                    <a:pt x="3896" y="0"/>
                  </a:lnTo>
                  <a:moveTo>
                    <a:pt x="3950" y="0"/>
                  </a:moveTo>
                  <a:lnTo>
                    <a:pt x="3950" y="0"/>
                  </a:lnTo>
                  <a:lnTo>
                    <a:pt x="4003" y="0"/>
                  </a:lnTo>
                  <a:moveTo>
                    <a:pt x="4056" y="0"/>
                  </a:moveTo>
                  <a:lnTo>
                    <a:pt x="4056" y="0"/>
                  </a:lnTo>
                  <a:lnTo>
                    <a:pt x="4102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54" name="Ovaal 53">
            <a:extLst>
              <a:ext uri="{FF2B5EF4-FFF2-40B4-BE49-F238E27FC236}">
                <a16:creationId xmlns:a16="http://schemas.microsoft.com/office/drawing/2014/main" id="{60201AD4-AF3E-D442-8AF7-82F9E5DBC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4561" y="4402900"/>
            <a:ext cx="136525" cy="134937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kstvak 57">
                <a:extLst>
                  <a:ext uri="{FF2B5EF4-FFF2-40B4-BE49-F238E27FC236}">
                    <a16:creationId xmlns:a16="http://schemas.microsoft.com/office/drawing/2014/main" id="{D42B1A8F-42D5-7543-8B3E-4E96FC6F190F}"/>
                  </a:ext>
                </a:extLst>
              </p:cNvPr>
              <p:cNvSpPr txBox="1"/>
              <p:nvPr/>
            </p:nvSpPr>
            <p:spPr>
              <a:xfrm>
                <a:off x="6308731" y="4217085"/>
                <a:ext cx="615656" cy="4500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nl-BE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accPr>
                        <m:e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nl-BE" b="1" dirty="0">
                  <a:solidFill>
                    <a:schemeClr val="tx1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8" name="Tekstvak 57">
                <a:extLst>
                  <a:ext uri="{FF2B5EF4-FFF2-40B4-BE49-F238E27FC236}">
                    <a16:creationId xmlns:a16="http://schemas.microsoft.com/office/drawing/2014/main" id="{D42B1A8F-42D5-7543-8B3E-4E96FC6F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731" y="4217085"/>
                <a:ext cx="615656" cy="4500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hthoek 58">
            <a:extLst>
              <a:ext uri="{FF2B5EF4-FFF2-40B4-BE49-F238E27FC236}">
                <a16:creationId xmlns:a16="http://schemas.microsoft.com/office/drawing/2014/main" id="{BD363719-4D16-3E4B-A223-FD404FD4A1A6}"/>
              </a:ext>
            </a:extLst>
          </p:cNvPr>
          <p:cNvSpPr/>
          <p:nvPr/>
        </p:nvSpPr>
        <p:spPr>
          <a:xfrm>
            <a:off x="539945" y="3748150"/>
            <a:ext cx="4564904" cy="10464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s-IS" altLang="nl-BE" sz="2000" b="1" dirty="0">
                <a:latin typeface="+mn-lt"/>
              </a:rPr>
              <a:t>Als we geen andere info hebben...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s-IS" sz="2000" b="1" dirty="0">
                <a:solidFill>
                  <a:schemeClr val="accent6"/>
                </a:solidFill>
                <a:latin typeface="+mn-lt"/>
              </a:rPr>
              <a:t>Als we weten dat motivatie ertoe doet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s-IS" altLang="nl-BE" sz="2000" b="1" dirty="0">
                <a:solidFill>
                  <a:srgbClr val="FF0000"/>
                </a:solidFill>
                <a:latin typeface="+mn-lt"/>
              </a:rPr>
              <a:t>Feitelijke score…</a:t>
            </a:r>
            <a:endParaRPr lang="nl-BE" sz="2000" b="1" dirty="0">
              <a:solidFill>
                <a:schemeClr val="accent3"/>
              </a:solidFill>
              <a:latin typeface="+mn-lt"/>
            </a:endParaRPr>
          </a:p>
        </p:txBody>
      </p:sp>
      <p:cxnSp>
        <p:nvCxnSpPr>
          <p:cNvPr id="56" name="Rechte verbindingslijn 55">
            <a:extLst>
              <a:ext uri="{FF2B5EF4-FFF2-40B4-BE49-F238E27FC236}">
                <a16:creationId xmlns:a16="http://schemas.microsoft.com/office/drawing/2014/main" id="{E9542954-3A94-364C-A3C6-710B87160B4C}"/>
              </a:ext>
            </a:extLst>
          </p:cNvPr>
          <p:cNvCxnSpPr>
            <a:cxnSpLocks/>
          </p:cNvCxnSpPr>
          <p:nvPr/>
        </p:nvCxnSpPr>
        <p:spPr>
          <a:xfrm flipV="1">
            <a:off x="6277704" y="2970237"/>
            <a:ext cx="3523594" cy="3019062"/>
          </a:xfrm>
          <a:prstGeom prst="lin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EC406F8-61A7-D542-9D86-15EBB50D1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50</a:t>
            </a:fld>
            <a:endParaRPr lang="nl-BE" dirty="0"/>
          </a:p>
        </p:txBody>
      </p:sp>
      <p:sp>
        <p:nvSpPr>
          <p:cNvPr id="64" name="Ovaal 63">
            <a:extLst>
              <a:ext uri="{FF2B5EF4-FFF2-40B4-BE49-F238E27FC236}">
                <a16:creationId xmlns:a16="http://schemas.microsoft.com/office/drawing/2014/main" id="{CEE5AC7D-B4E6-6F4F-818B-B7C8C58F28D3}"/>
              </a:ext>
            </a:extLst>
          </p:cNvPr>
          <p:cNvSpPr/>
          <p:nvPr/>
        </p:nvSpPr>
        <p:spPr bwMode="auto">
          <a:xfrm>
            <a:off x="8854243" y="3658554"/>
            <a:ext cx="136525" cy="134937"/>
          </a:xfrm>
          <a:prstGeom prst="ellipse">
            <a:avLst/>
          </a:prstGeom>
          <a:solidFill>
            <a:schemeClr val="accent6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nl-BE">
              <a:latin typeface="Times New Roman" pitchFamily="-111" charset="0"/>
            </a:endParaRPr>
          </a:p>
        </p:txBody>
      </p:sp>
      <p:cxnSp>
        <p:nvCxnSpPr>
          <p:cNvPr id="66" name="Rechte verbindingslijn met pijl 65">
            <a:extLst>
              <a:ext uri="{FF2B5EF4-FFF2-40B4-BE49-F238E27FC236}">
                <a16:creationId xmlns:a16="http://schemas.microsoft.com/office/drawing/2014/main" id="{25140C97-2308-3647-8445-74058A55F5C6}"/>
              </a:ext>
            </a:extLst>
          </p:cNvPr>
          <p:cNvCxnSpPr>
            <a:cxnSpLocks noChangeShapeType="1"/>
            <a:endCxn id="54" idx="0"/>
          </p:cNvCxnSpPr>
          <p:nvPr/>
        </p:nvCxnSpPr>
        <p:spPr bwMode="auto">
          <a:xfrm>
            <a:off x="8928849" y="3794604"/>
            <a:ext cx="3975" cy="608296"/>
          </a:xfrm>
          <a:prstGeom prst="straightConnector1">
            <a:avLst/>
          </a:prstGeom>
          <a:noFill/>
          <a:ln w="22225" algn="ctr">
            <a:solidFill>
              <a:schemeClr val="accent6">
                <a:lumMod val="40000"/>
                <a:lumOff val="60000"/>
              </a:schemeClr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72936936-B436-5E49-8A6F-EAF23D3ED0B4}"/>
                  </a:ext>
                </a:extLst>
              </p:cNvPr>
              <p:cNvSpPr txBox="1"/>
              <p:nvPr/>
            </p:nvSpPr>
            <p:spPr>
              <a:xfrm>
                <a:off x="8903844" y="3594299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l-BE" i="1" dirty="0">
                  <a:solidFill>
                    <a:schemeClr val="bg1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72936936-B436-5E49-8A6F-EAF23D3ED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844" y="3594299"/>
                <a:ext cx="408965" cy="496945"/>
              </a:xfrm>
              <a:prstGeom prst="rect">
                <a:avLst/>
              </a:prstGeom>
              <a:blipFill>
                <a:blip r:embed="rId4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AE8799BE-43AF-AF40-8100-05C82F31ACB8}"/>
                  </a:ext>
                </a:extLst>
              </p:cNvPr>
              <p:cNvSpPr txBox="1"/>
              <p:nvPr/>
            </p:nvSpPr>
            <p:spPr>
              <a:xfrm>
                <a:off x="9031384" y="3934586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16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sz="1600" i="1" smtClean="0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1600" b="0" i="1" smtClean="0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nl-BE" sz="16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nl-BE" sz="1600" b="0" i="1" smtClean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− </m:t>
                      </m:r>
                      <m:acc>
                        <m:accPr>
                          <m:chr m:val="̅"/>
                          <m:ctrlPr>
                            <a:rPr lang="nl-BE" sz="16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accPr>
                        <m:e>
                          <m:r>
                            <a:rPr lang="nl-BE" sz="16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nl-BE" sz="16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AE8799BE-43AF-AF40-8100-05C82F31A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84" y="3934586"/>
                <a:ext cx="408965" cy="496945"/>
              </a:xfrm>
              <a:prstGeom prst="rect">
                <a:avLst/>
              </a:prstGeom>
              <a:blipFill>
                <a:blip r:embed="rId5"/>
                <a:stretch>
                  <a:fillRect l="-18182" t="-7500" r="-6363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Rechte verbindingslijn met pijl 66">
            <a:extLst>
              <a:ext uri="{FF2B5EF4-FFF2-40B4-BE49-F238E27FC236}">
                <a16:creationId xmlns:a16="http://schemas.microsoft.com/office/drawing/2014/main" id="{27EFDB0B-1991-2E4D-A2B3-9EC2F1E430F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930443" y="3236281"/>
            <a:ext cx="0" cy="422275"/>
          </a:xfrm>
          <a:prstGeom prst="straightConnector1">
            <a:avLst/>
          </a:prstGeom>
          <a:noFill/>
          <a:ln w="22225" algn="ctr">
            <a:solidFill>
              <a:schemeClr val="accent2">
                <a:lumMod val="40000"/>
                <a:lumOff val="60000"/>
              </a:schemeClr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kstvak 67">
                <a:extLst>
                  <a:ext uri="{FF2B5EF4-FFF2-40B4-BE49-F238E27FC236}">
                    <a16:creationId xmlns:a16="http://schemas.microsoft.com/office/drawing/2014/main" id="{3B1A2A4F-8FCE-A440-B06F-F831DAF1BF19}"/>
                  </a:ext>
                </a:extLst>
              </p:cNvPr>
              <p:cNvSpPr txBox="1"/>
              <p:nvPr/>
            </p:nvSpPr>
            <p:spPr>
              <a:xfrm>
                <a:off x="8742504" y="2798497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l-BE" i="1" dirty="0">
                  <a:solidFill>
                    <a:schemeClr val="bg1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8" name="Tekstvak 67">
                <a:extLst>
                  <a:ext uri="{FF2B5EF4-FFF2-40B4-BE49-F238E27FC236}">
                    <a16:creationId xmlns:a16="http://schemas.microsoft.com/office/drawing/2014/main" id="{3B1A2A4F-8FCE-A440-B06F-F831DAF1B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2504" y="2798497"/>
                <a:ext cx="408965" cy="4969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kstvak 70">
                <a:extLst>
                  <a:ext uri="{FF2B5EF4-FFF2-40B4-BE49-F238E27FC236}">
                    <a16:creationId xmlns:a16="http://schemas.microsoft.com/office/drawing/2014/main" id="{BA1B6864-246B-8443-A7E8-A922C5DB3C3E}"/>
                  </a:ext>
                </a:extLst>
              </p:cNvPr>
              <p:cNvSpPr txBox="1"/>
              <p:nvPr/>
            </p:nvSpPr>
            <p:spPr>
              <a:xfrm>
                <a:off x="9027077" y="3248129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16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nl-BE" sz="16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nl-BE" sz="16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nl-BE" sz="1600" b="0" i="1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nl-BE" sz="16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sz="1600" b="0" i="1" smtClean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1600" b="0" i="1" smtClean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nl-BE" sz="16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l-BE" sz="1600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1" name="Tekstvak 70">
                <a:extLst>
                  <a:ext uri="{FF2B5EF4-FFF2-40B4-BE49-F238E27FC236}">
                    <a16:creationId xmlns:a16="http://schemas.microsoft.com/office/drawing/2014/main" id="{BA1B6864-246B-8443-A7E8-A922C5DB3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077" y="3248129"/>
                <a:ext cx="408965" cy="496945"/>
              </a:xfrm>
              <a:prstGeom prst="rect">
                <a:avLst/>
              </a:prstGeom>
              <a:blipFill>
                <a:blip r:embed="rId7"/>
                <a:stretch>
                  <a:fillRect l="-14706" t="-7500" r="-4117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kstvak 73">
            <a:extLst>
              <a:ext uri="{FF2B5EF4-FFF2-40B4-BE49-F238E27FC236}">
                <a16:creationId xmlns:a16="http://schemas.microsoft.com/office/drawing/2014/main" id="{657A98E8-DBC8-DA4A-BAE9-CA53D21AF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4163" y="2444771"/>
            <a:ext cx="10005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600" baseline="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basis SSE</a:t>
            </a:r>
          </a:p>
        </p:txBody>
      </p:sp>
      <p:sp>
        <p:nvSpPr>
          <p:cNvPr id="75" name="Tekstvak 74">
            <a:extLst>
              <a:ext uri="{FF2B5EF4-FFF2-40B4-BE49-F238E27FC236}">
                <a16:creationId xmlns:a16="http://schemas.microsoft.com/office/drawing/2014/main" id="{A03D8772-54AE-6F47-AFEA-7635BBEB0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3207" y="2650869"/>
            <a:ext cx="20003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400" i="1" baseline="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Sum of Squares of Errors</a:t>
            </a:r>
          </a:p>
        </p:txBody>
      </p:sp>
      <p:sp>
        <p:nvSpPr>
          <p:cNvPr id="76" name="Tekstvak 75">
            <a:extLst>
              <a:ext uri="{FF2B5EF4-FFF2-40B4-BE49-F238E27FC236}">
                <a16:creationId xmlns:a16="http://schemas.microsoft.com/office/drawing/2014/main" id="{466BDA38-9353-3947-9A85-64AF70B3F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583" y="3917294"/>
            <a:ext cx="101181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600" baseline="0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basis RSS</a:t>
            </a:r>
          </a:p>
        </p:txBody>
      </p:sp>
      <p:sp>
        <p:nvSpPr>
          <p:cNvPr id="77" name="Tekstvak 76">
            <a:extLst>
              <a:ext uri="{FF2B5EF4-FFF2-40B4-BE49-F238E27FC236}">
                <a16:creationId xmlns:a16="http://schemas.microsoft.com/office/drawing/2014/main" id="{C24BFDA0-B742-9147-937A-561C764AC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1799" y="4131681"/>
            <a:ext cx="22143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400" i="1" baseline="0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Regression Sum of Squares</a:t>
            </a:r>
          </a:p>
        </p:txBody>
      </p:sp>
      <p:sp>
        <p:nvSpPr>
          <p:cNvPr id="65" name="Ovaal 64">
            <a:extLst>
              <a:ext uri="{FF2B5EF4-FFF2-40B4-BE49-F238E27FC236}">
                <a16:creationId xmlns:a16="http://schemas.microsoft.com/office/drawing/2014/main" id="{A81935F9-CF4F-DF4B-B087-595289C50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6724" y="3093406"/>
            <a:ext cx="136525" cy="134937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accent2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BE" altLang="nl-BE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2" name="Rechte verbindingslijn met pijl 71">
            <a:extLst>
              <a:ext uri="{FF2B5EF4-FFF2-40B4-BE49-F238E27FC236}">
                <a16:creationId xmlns:a16="http://schemas.microsoft.com/office/drawing/2014/main" id="{6D7E9919-26EB-B648-90A3-997169B5B11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700300" y="3250046"/>
            <a:ext cx="0" cy="1152854"/>
          </a:xfrm>
          <a:prstGeom prst="straightConnector1">
            <a:avLst/>
          </a:prstGeom>
          <a:noFill/>
          <a:ln w="22225" algn="ctr">
            <a:solidFill>
              <a:schemeClr val="accent3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Tekstvak 72">
            <a:extLst>
              <a:ext uri="{FF2B5EF4-FFF2-40B4-BE49-F238E27FC236}">
                <a16:creationId xmlns:a16="http://schemas.microsoft.com/office/drawing/2014/main" id="{FAE25219-AFB4-3348-9601-911FC6A70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816" y="2985583"/>
            <a:ext cx="8947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400" baseline="0" dirty="0">
                <a:solidFill>
                  <a:schemeClr val="accent3"/>
                </a:solidFill>
                <a:latin typeface="Times New Roman" panose="02020603050405020304" pitchFamily="18" charset="0"/>
              </a:rPr>
              <a:t>basis TSS</a:t>
            </a:r>
          </a:p>
        </p:txBody>
      </p:sp>
      <p:sp>
        <p:nvSpPr>
          <p:cNvPr id="78" name="Tekstvak 77">
            <a:extLst>
              <a:ext uri="{FF2B5EF4-FFF2-40B4-BE49-F238E27FC236}">
                <a16:creationId xmlns:a16="http://schemas.microsoft.com/office/drawing/2014/main" id="{51D5343D-D232-874B-94AF-5537617CC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0496" y="3203070"/>
            <a:ext cx="170360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400" i="1" baseline="0" dirty="0">
                <a:solidFill>
                  <a:schemeClr val="accent3"/>
                </a:solidFill>
                <a:latin typeface="Times New Roman" panose="02020603050405020304" pitchFamily="18" charset="0"/>
              </a:rPr>
              <a:t>Total Sum of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kstvak 78">
                <a:extLst>
                  <a:ext uri="{FF2B5EF4-FFF2-40B4-BE49-F238E27FC236}">
                    <a16:creationId xmlns:a16="http://schemas.microsoft.com/office/drawing/2014/main" id="{11FDA259-F644-0449-8E39-224CC171CCF7}"/>
                  </a:ext>
                </a:extLst>
              </p:cNvPr>
              <p:cNvSpPr txBox="1"/>
              <p:nvPr/>
            </p:nvSpPr>
            <p:spPr>
              <a:xfrm>
                <a:off x="7974603" y="3622310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nl-BE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nl-BE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nl-BE" sz="20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nl-BE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accPr>
                        <m:e>
                          <m:r>
                            <a:rPr lang="nl-BE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nl-BE" sz="2000" dirty="0">
                  <a:solidFill>
                    <a:schemeClr val="accent3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9" name="Tekstvak 78">
                <a:extLst>
                  <a:ext uri="{FF2B5EF4-FFF2-40B4-BE49-F238E27FC236}">
                    <a16:creationId xmlns:a16="http://schemas.microsoft.com/office/drawing/2014/main" id="{11FDA259-F644-0449-8E39-224CC171C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603" y="3622310"/>
                <a:ext cx="408965" cy="496945"/>
              </a:xfrm>
              <a:prstGeom prst="rect">
                <a:avLst/>
              </a:prstGeom>
              <a:blipFill>
                <a:blip r:embed="rId8"/>
                <a:stretch>
                  <a:fillRect l="-18182" r="-78788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kstvak 54">
            <a:extLst>
              <a:ext uri="{FF2B5EF4-FFF2-40B4-BE49-F238E27FC236}">
                <a16:creationId xmlns:a16="http://schemas.microsoft.com/office/drawing/2014/main" id="{94D2865B-B195-BE02-71BD-CFFD046411D5}"/>
              </a:ext>
            </a:extLst>
          </p:cNvPr>
          <p:cNvSpPr txBox="1"/>
          <p:nvPr/>
        </p:nvSpPr>
        <p:spPr>
          <a:xfrm>
            <a:off x="7325991" y="6380488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sz="1600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Autonome motivatie</a:t>
            </a:r>
          </a:p>
        </p:txBody>
      </p:sp>
      <p:sp>
        <p:nvSpPr>
          <p:cNvPr id="57" name="Tekstvak 56">
            <a:extLst>
              <a:ext uri="{FF2B5EF4-FFF2-40B4-BE49-F238E27FC236}">
                <a16:creationId xmlns:a16="http://schemas.microsoft.com/office/drawing/2014/main" id="{40E97C01-31AE-D48B-7EA9-D99EA3DB6180}"/>
              </a:ext>
            </a:extLst>
          </p:cNvPr>
          <p:cNvSpPr txBox="1"/>
          <p:nvPr/>
        </p:nvSpPr>
        <p:spPr>
          <a:xfrm rot="16200000">
            <a:off x="4629881" y="4320342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sz="1600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Resultaat Statistiek B</a:t>
            </a:r>
          </a:p>
        </p:txBody>
      </p:sp>
    </p:spTree>
    <p:extLst>
      <p:ext uri="{BB962C8B-B14F-4D97-AF65-F5344CB8AC3E}">
        <p14:creationId xmlns:p14="http://schemas.microsoft.com/office/powerpoint/2010/main" val="26276604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86AF7-2311-3A49-84CF-C521268D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goed is het model?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5156021-CE2C-794F-8DBA-37752D4A1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Methode 2</a:t>
            </a:r>
          </a:p>
          <a:p>
            <a:pPr lvl="1"/>
            <a:r>
              <a:rPr lang="nl-BE" b="1" dirty="0">
                <a:solidFill>
                  <a:schemeClr val="accent3"/>
                </a:solidFill>
              </a:rPr>
              <a:t>TSS</a:t>
            </a:r>
            <a:r>
              <a:rPr lang="nl-BE" dirty="0"/>
              <a:t>: onafhankelijk van model/regressielijn</a:t>
            </a:r>
          </a:p>
          <a:p>
            <a:pPr lvl="1"/>
            <a:r>
              <a:rPr lang="nl-BE" u="sng" dirty="0"/>
              <a:t>Doel</a:t>
            </a:r>
            <a:r>
              <a:rPr lang="nl-BE" dirty="0"/>
              <a:t>:</a:t>
            </a:r>
          </a:p>
          <a:p>
            <a:pPr lvl="2"/>
            <a:r>
              <a:rPr lang="nl-BE" b="1" dirty="0">
                <a:solidFill>
                  <a:schemeClr val="accent2"/>
                </a:solidFill>
              </a:rPr>
              <a:t>SSE</a:t>
            </a:r>
            <a:r>
              <a:rPr lang="nl-BE" dirty="0"/>
              <a:t> </a:t>
            </a:r>
            <a:r>
              <a:rPr lang="nl-BE" b="1" dirty="0">
                <a:solidFill>
                  <a:srgbClr val="FF0000"/>
                </a:solidFill>
              </a:rPr>
              <a:t>zo klein mogelijk</a:t>
            </a:r>
          </a:p>
          <a:p>
            <a:pPr lvl="2"/>
            <a:r>
              <a:rPr lang="nl-BE" b="1" dirty="0">
                <a:solidFill>
                  <a:schemeClr val="accent6"/>
                </a:solidFill>
              </a:rPr>
              <a:t>RSS zo groot mogelijk</a:t>
            </a:r>
          </a:p>
          <a:p>
            <a:pPr lvl="1"/>
            <a:endParaRPr lang="nl-BE" dirty="0"/>
          </a:p>
          <a:p>
            <a:pPr marL="0" indent="0">
              <a:buNone/>
            </a:pPr>
            <a:endParaRPr lang="nl-BE" sz="2000" b="0" i="1" dirty="0"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6EA76B-F85A-A846-9DBE-339EECE74C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3895" y="2947241"/>
            <a:ext cx="3837403" cy="3340989"/>
            <a:chOff x="2789" y="1424"/>
            <a:chExt cx="2837" cy="247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D0B3E2-012E-E14F-89B5-E0EF4E245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3673"/>
              <a:ext cx="2423" cy="0"/>
            </a:xfrm>
            <a:custGeom>
              <a:avLst/>
              <a:gdLst>
                <a:gd name="T0" fmla="*/ 0 w 3798"/>
                <a:gd name="T1" fmla="*/ 0 w 3798"/>
                <a:gd name="T2" fmla="*/ 629 w 3798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3798">
                  <a:moveTo>
                    <a:pt x="0" y="0"/>
                  </a:moveTo>
                  <a:lnTo>
                    <a:pt x="0" y="0"/>
                  </a:lnTo>
                  <a:lnTo>
                    <a:pt x="3798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96A611-22BD-FD49-B127-A79E0EF74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127C87E-77C4-9F41-A81A-01E233438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3902716-A6B1-2142-890D-2CE148B29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63DBEBE-F6A0-394A-B2E3-7D6F76A53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07B878B-A6A0-534D-8614-45C845244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" y="3673"/>
              <a:ext cx="0" cy="61"/>
            </a:xfrm>
            <a:custGeom>
              <a:avLst/>
              <a:gdLst>
                <a:gd name="T0" fmla="*/ 0 h 96"/>
                <a:gd name="T1" fmla="*/ 0 h 96"/>
                <a:gd name="T2" fmla="*/ 16 h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96">
                  <a:moveTo>
                    <a:pt x="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4B987B1-F3FA-C844-BEBC-F8C4FFABA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3863"/>
              <a:ext cx="28" cy="8"/>
            </a:xfrm>
            <a:custGeom>
              <a:avLst/>
              <a:gdLst>
                <a:gd name="T0" fmla="*/ 0 w 44"/>
                <a:gd name="T1" fmla="*/ 2 h 14"/>
                <a:gd name="T2" fmla="*/ 0 w 44"/>
                <a:gd name="T3" fmla="*/ 2 h 14"/>
                <a:gd name="T4" fmla="*/ 0 w 44"/>
                <a:gd name="T5" fmla="*/ 0 h 14"/>
                <a:gd name="T6" fmla="*/ 7 w 44"/>
                <a:gd name="T7" fmla="*/ 0 h 14"/>
                <a:gd name="T8" fmla="*/ 7 w 44"/>
                <a:gd name="T9" fmla="*/ 2 h 14"/>
                <a:gd name="T10" fmla="*/ 0 w 44"/>
                <a:gd name="T11" fmla="*/ 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14"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44" y="0"/>
                  </a:lnTo>
                  <a:lnTo>
                    <a:pt x="44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5C05A4-C25E-0D49-89BE-6D1A4E24D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3820"/>
              <a:ext cx="27" cy="73"/>
            </a:xfrm>
            <a:custGeom>
              <a:avLst/>
              <a:gdLst>
                <a:gd name="T0" fmla="*/ 7 w 42"/>
                <a:gd name="T1" fmla="*/ 18 h 115"/>
                <a:gd name="T2" fmla="*/ 7 w 42"/>
                <a:gd name="T3" fmla="*/ 18 h 115"/>
                <a:gd name="T4" fmla="*/ 5 w 42"/>
                <a:gd name="T5" fmla="*/ 18 h 115"/>
                <a:gd name="T6" fmla="*/ 5 w 42"/>
                <a:gd name="T7" fmla="*/ 4 h 115"/>
                <a:gd name="T8" fmla="*/ 3 w 42"/>
                <a:gd name="T9" fmla="*/ 6 h 115"/>
                <a:gd name="T10" fmla="*/ 0 w 42"/>
                <a:gd name="T11" fmla="*/ 7 h 115"/>
                <a:gd name="T12" fmla="*/ 0 w 42"/>
                <a:gd name="T13" fmla="*/ 4 h 115"/>
                <a:gd name="T14" fmla="*/ 4 w 42"/>
                <a:gd name="T15" fmla="*/ 3 h 115"/>
                <a:gd name="T16" fmla="*/ 6 w 42"/>
                <a:gd name="T17" fmla="*/ 0 h 115"/>
                <a:gd name="T18" fmla="*/ 7 w 42"/>
                <a:gd name="T19" fmla="*/ 0 h 115"/>
                <a:gd name="T20" fmla="*/ 7 w 42"/>
                <a:gd name="T21" fmla="*/ 18 h 1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15">
                  <a:moveTo>
                    <a:pt x="42" y="115"/>
                  </a:moveTo>
                  <a:lnTo>
                    <a:pt x="42" y="115"/>
                  </a:lnTo>
                  <a:lnTo>
                    <a:pt x="28" y="115"/>
                  </a:lnTo>
                  <a:lnTo>
                    <a:pt x="28" y="26"/>
                  </a:lnTo>
                  <a:cubicBezTo>
                    <a:pt x="25" y="29"/>
                    <a:pt x="20" y="32"/>
                    <a:pt x="15" y="36"/>
                  </a:cubicBezTo>
                  <a:cubicBezTo>
                    <a:pt x="9" y="39"/>
                    <a:pt x="4" y="41"/>
                    <a:pt x="0" y="43"/>
                  </a:cubicBezTo>
                  <a:lnTo>
                    <a:pt x="0" y="29"/>
                  </a:lnTo>
                  <a:cubicBezTo>
                    <a:pt x="8" y="26"/>
                    <a:pt x="15" y="21"/>
                    <a:pt x="21" y="16"/>
                  </a:cubicBezTo>
                  <a:cubicBezTo>
                    <a:pt x="26" y="11"/>
                    <a:pt x="31" y="5"/>
                    <a:pt x="33" y="0"/>
                  </a:cubicBezTo>
                  <a:lnTo>
                    <a:pt x="42" y="0"/>
                  </a:lnTo>
                  <a:lnTo>
                    <a:pt x="42" y="1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10CD9C8-6859-4D44-BED2-278F08F34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44FA3A6-7798-6A49-B514-8D392968A1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2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4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8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3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4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3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37187DE-5870-F745-A456-2E4772A7C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863"/>
              <a:ext cx="28" cy="8"/>
            </a:xfrm>
            <a:custGeom>
              <a:avLst/>
              <a:gdLst>
                <a:gd name="T0" fmla="*/ 0 w 43"/>
                <a:gd name="T1" fmla="*/ 2 h 14"/>
                <a:gd name="T2" fmla="*/ 0 w 43"/>
                <a:gd name="T3" fmla="*/ 2 h 14"/>
                <a:gd name="T4" fmla="*/ 0 w 43"/>
                <a:gd name="T5" fmla="*/ 0 h 14"/>
                <a:gd name="T6" fmla="*/ 8 w 43"/>
                <a:gd name="T7" fmla="*/ 0 h 14"/>
                <a:gd name="T8" fmla="*/ 8 w 43"/>
                <a:gd name="T9" fmla="*/ 2 h 14"/>
                <a:gd name="T10" fmla="*/ 0 w 43"/>
                <a:gd name="T11" fmla="*/ 2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4">
                  <a:moveTo>
                    <a:pt x="0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1F50AB5-099C-0243-BF28-2C8295F9D6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2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4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8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4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2C2C456-0922-C145-938E-E3D835A83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1E60341-FD58-804B-A536-5DD729BDF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821"/>
              <a:ext cx="49" cy="73"/>
            </a:xfrm>
            <a:custGeom>
              <a:avLst/>
              <a:gdLst>
                <a:gd name="T0" fmla="*/ 0 w 76"/>
                <a:gd name="T1" fmla="*/ 14 h 115"/>
                <a:gd name="T2" fmla="*/ 0 w 76"/>
                <a:gd name="T3" fmla="*/ 14 h 115"/>
                <a:gd name="T4" fmla="*/ 3 w 76"/>
                <a:gd name="T5" fmla="*/ 13 h 115"/>
                <a:gd name="T6" fmla="*/ 4 w 76"/>
                <a:gd name="T7" fmla="*/ 16 h 115"/>
                <a:gd name="T8" fmla="*/ 6 w 76"/>
                <a:gd name="T9" fmla="*/ 17 h 115"/>
                <a:gd name="T10" fmla="*/ 10 w 76"/>
                <a:gd name="T11" fmla="*/ 16 h 115"/>
                <a:gd name="T12" fmla="*/ 10 w 76"/>
                <a:gd name="T13" fmla="*/ 12 h 115"/>
                <a:gd name="T14" fmla="*/ 10 w 76"/>
                <a:gd name="T15" fmla="*/ 10 h 115"/>
                <a:gd name="T16" fmla="*/ 6 w 76"/>
                <a:gd name="T17" fmla="*/ 8 h 115"/>
                <a:gd name="T18" fmla="*/ 4 w 76"/>
                <a:gd name="T19" fmla="*/ 9 h 115"/>
                <a:gd name="T20" fmla="*/ 3 w 76"/>
                <a:gd name="T21" fmla="*/ 10 h 115"/>
                <a:gd name="T22" fmla="*/ 1 w 76"/>
                <a:gd name="T23" fmla="*/ 10 h 115"/>
                <a:gd name="T24" fmla="*/ 3 w 76"/>
                <a:gd name="T25" fmla="*/ 0 h 115"/>
                <a:gd name="T26" fmla="*/ 12 w 76"/>
                <a:gd name="T27" fmla="*/ 0 h 115"/>
                <a:gd name="T28" fmla="*/ 12 w 76"/>
                <a:gd name="T29" fmla="*/ 3 h 115"/>
                <a:gd name="T30" fmla="*/ 4 w 76"/>
                <a:gd name="T31" fmla="*/ 3 h 115"/>
                <a:gd name="T32" fmla="*/ 3 w 76"/>
                <a:gd name="T33" fmla="*/ 7 h 115"/>
                <a:gd name="T34" fmla="*/ 7 w 76"/>
                <a:gd name="T35" fmla="*/ 6 h 115"/>
                <a:gd name="T36" fmla="*/ 12 w 76"/>
                <a:gd name="T37" fmla="*/ 8 h 115"/>
                <a:gd name="T38" fmla="*/ 14 w 76"/>
                <a:gd name="T39" fmla="*/ 12 h 115"/>
                <a:gd name="T40" fmla="*/ 12 w 76"/>
                <a:gd name="T41" fmla="*/ 17 h 115"/>
                <a:gd name="T42" fmla="*/ 6 w 76"/>
                <a:gd name="T43" fmla="*/ 18 h 115"/>
                <a:gd name="T44" fmla="*/ 2 w 76"/>
                <a:gd name="T45" fmla="*/ 17 h 115"/>
                <a:gd name="T46" fmla="*/ 0 w 76"/>
                <a:gd name="T47" fmla="*/ 14 h 115"/>
                <a:gd name="T48" fmla="*/ 0 w 76"/>
                <a:gd name="T49" fmla="*/ 14 h 11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6" h="115">
                  <a:moveTo>
                    <a:pt x="0" y="83"/>
                  </a:moveTo>
                  <a:lnTo>
                    <a:pt x="0" y="83"/>
                  </a:lnTo>
                  <a:lnTo>
                    <a:pt x="15" y="82"/>
                  </a:lnTo>
                  <a:cubicBezTo>
                    <a:pt x="16" y="89"/>
                    <a:pt x="19" y="95"/>
                    <a:pt x="23" y="98"/>
                  </a:cubicBezTo>
                  <a:cubicBezTo>
                    <a:pt x="27" y="102"/>
                    <a:pt x="31" y="104"/>
                    <a:pt x="37" y="104"/>
                  </a:cubicBezTo>
                  <a:cubicBezTo>
                    <a:pt x="44" y="104"/>
                    <a:pt x="50" y="101"/>
                    <a:pt x="54" y="96"/>
                  </a:cubicBezTo>
                  <a:cubicBezTo>
                    <a:pt x="59" y="91"/>
                    <a:pt x="61" y="84"/>
                    <a:pt x="61" y="76"/>
                  </a:cubicBezTo>
                  <a:cubicBezTo>
                    <a:pt x="61" y="68"/>
                    <a:pt x="59" y="62"/>
                    <a:pt x="55" y="57"/>
                  </a:cubicBezTo>
                  <a:cubicBezTo>
                    <a:pt x="50" y="52"/>
                    <a:pt x="44" y="50"/>
                    <a:pt x="37" y="50"/>
                  </a:cubicBezTo>
                  <a:cubicBezTo>
                    <a:pt x="32" y="50"/>
                    <a:pt x="28" y="51"/>
                    <a:pt x="25" y="53"/>
                  </a:cubicBezTo>
                  <a:cubicBezTo>
                    <a:pt x="21" y="55"/>
                    <a:pt x="18" y="58"/>
                    <a:pt x="16" y="61"/>
                  </a:cubicBezTo>
                  <a:lnTo>
                    <a:pt x="3" y="59"/>
                  </a:lnTo>
                  <a:lnTo>
                    <a:pt x="14" y="0"/>
                  </a:lnTo>
                  <a:lnTo>
                    <a:pt x="71" y="0"/>
                  </a:lnTo>
                  <a:lnTo>
                    <a:pt x="71" y="14"/>
                  </a:lnTo>
                  <a:lnTo>
                    <a:pt x="25" y="14"/>
                  </a:lnTo>
                  <a:lnTo>
                    <a:pt x="19" y="45"/>
                  </a:lnTo>
                  <a:cubicBezTo>
                    <a:pt x="26" y="40"/>
                    <a:pt x="33" y="38"/>
                    <a:pt x="41" y="38"/>
                  </a:cubicBezTo>
                  <a:cubicBezTo>
                    <a:pt x="51" y="38"/>
                    <a:pt x="59" y="41"/>
                    <a:pt x="66" y="48"/>
                  </a:cubicBezTo>
                  <a:cubicBezTo>
                    <a:pt x="73" y="55"/>
                    <a:pt x="76" y="64"/>
                    <a:pt x="76" y="75"/>
                  </a:cubicBezTo>
                  <a:cubicBezTo>
                    <a:pt x="76" y="85"/>
                    <a:pt x="73" y="94"/>
                    <a:pt x="67" y="102"/>
                  </a:cubicBezTo>
                  <a:cubicBezTo>
                    <a:pt x="60" y="111"/>
                    <a:pt x="50" y="115"/>
                    <a:pt x="37" y="115"/>
                  </a:cubicBezTo>
                  <a:cubicBezTo>
                    <a:pt x="27" y="115"/>
                    <a:pt x="18" y="113"/>
                    <a:pt x="12" y="107"/>
                  </a:cubicBezTo>
                  <a:cubicBezTo>
                    <a:pt x="5" y="101"/>
                    <a:pt x="1" y="93"/>
                    <a:pt x="0" y="8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EFD0B9A-C478-2844-AE52-9594DBC1C7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1" y="3820"/>
              <a:ext cx="47" cy="74"/>
            </a:xfrm>
            <a:custGeom>
              <a:avLst/>
              <a:gdLst>
                <a:gd name="T0" fmla="*/ 0 w 74"/>
                <a:gd name="T1" fmla="*/ 9 h 117"/>
                <a:gd name="T2" fmla="*/ 0 w 74"/>
                <a:gd name="T3" fmla="*/ 9 h 117"/>
                <a:gd name="T4" fmla="*/ 1 w 74"/>
                <a:gd name="T5" fmla="*/ 4 h 117"/>
                <a:gd name="T6" fmla="*/ 3 w 74"/>
                <a:gd name="T7" fmla="*/ 1 h 117"/>
                <a:gd name="T8" fmla="*/ 6 w 74"/>
                <a:gd name="T9" fmla="*/ 0 h 117"/>
                <a:gd name="T10" fmla="*/ 9 w 74"/>
                <a:gd name="T11" fmla="*/ 1 h 117"/>
                <a:gd name="T12" fmla="*/ 11 w 74"/>
                <a:gd name="T13" fmla="*/ 3 h 117"/>
                <a:gd name="T14" fmla="*/ 11 w 74"/>
                <a:gd name="T15" fmla="*/ 5 h 117"/>
                <a:gd name="T16" fmla="*/ 12 w 74"/>
                <a:gd name="T17" fmla="*/ 9 h 117"/>
                <a:gd name="T18" fmla="*/ 11 w 74"/>
                <a:gd name="T19" fmla="*/ 15 h 117"/>
                <a:gd name="T20" fmla="*/ 10 w 74"/>
                <a:gd name="T21" fmla="*/ 18 h 117"/>
                <a:gd name="T22" fmla="*/ 6 w 74"/>
                <a:gd name="T23" fmla="*/ 19 h 117"/>
                <a:gd name="T24" fmla="*/ 2 w 74"/>
                <a:gd name="T25" fmla="*/ 17 h 117"/>
                <a:gd name="T26" fmla="*/ 0 w 74"/>
                <a:gd name="T27" fmla="*/ 9 h 117"/>
                <a:gd name="T28" fmla="*/ 0 w 74"/>
                <a:gd name="T29" fmla="*/ 9 h 117"/>
                <a:gd name="T30" fmla="*/ 3 w 74"/>
                <a:gd name="T31" fmla="*/ 9 h 117"/>
                <a:gd name="T32" fmla="*/ 3 w 74"/>
                <a:gd name="T33" fmla="*/ 9 h 117"/>
                <a:gd name="T34" fmla="*/ 3 w 74"/>
                <a:gd name="T35" fmla="*/ 16 h 117"/>
                <a:gd name="T36" fmla="*/ 6 w 74"/>
                <a:gd name="T37" fmla="*/ 17 h 117"/>
                <a:gd name="T38" fmla="*/ 9 w 74"/>
                <a:gd name="T39" fmla="*/ 16 h 117"/>
                <a:gd name="T40" fmla="*/ 10 w 74"/>
                <a:gd name="T41" fmla="*/ 9 h 117"/>
                <a:gd name="T42" fmla="*/ 9 w 74"/>
                <a:gd name="T43" fmla="*/ 3 h 117"/>
                <a:gd name="T44" fmla="*/ 6 w 74"/>
                <a:gd name="T45" fmla="*/ 2 h 117"/>
                <a:gd name="T46" fmla="*/ 3 w 74"/>
                <a:gd name="T47" fmla="*/ 3 h 117"/>
                <a:gd name="T48" fmla="*/ 3 w 74"/>
                <a:gd name="T49" fmla="*/ 9 h 117"/>
                <a:gd name="T50" fmla="*/ 3 w 74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4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1" y="35"/>
                    <a:pt x="4" y="26"/>
                  </a:cubicBezTo>
                  <a:cubicBezTo>
                    <a:pt x="7" y="18"/>
                    <a:pt x="11" y="12"/>
                    <a:pt x="16" y="7"/>
                  </a:cubicBezTo>
                  <a:cubicBezTo>
                    <a:pt x="22" y="3"/>
                    <a:pt x="29" y="0"/>
                    <a:pt x="37" y="0"/>
                  </a:cubicBezTo>
                  <a:cubicBezTo>
                    <a:pt x="43" y="0"/>
                    <a:pt x="49" y="2"/>
                    <a:pt x="53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0" y="25"/>
                    <a:pt x="72" y="32"/>
                  </a:cubicBezTo>
                  <a:cubicBezTo>
                    <a:pt x="73" y="39"/>
                    <a:pt x="74" y="48"/>
                    <a:pt x="74" y="59"/>
                  </a:cubicBezTo>
                  <a:cubicBezTo>
                    <a:pt x="74" y="72"/>
                    <a:pt x="73" y="83"/>
                    <a:pt x="70" y="92"/>
                  </a:cubicBezTo>
                  <a:cubicBezTo>
                    <a:pt x="67" y="100"/>
                    <a:pt x="63" y="106"/>
                    <a:pt x="58" y="111"/>
                  </a:cubicBezTo>
                  <a:cubicBezTo>
                    <a:pt x="52" y="115"/>
                    <a:pt x="45" y="117"/>
                    <a:pt x="37" y="117"/>
                  </a:cubicBezTo>
                  <a:cubicBezTo>
                    <a:pt x="26" y="117"/>
                    <a:pt x="17" y="113"/>
                    <a:pt x="11" y="106"/>
                  </a:cubicBezTo>
                  <a:cubicBezTo>
                    <a:pt x="3" y="96"/>
                    <a:pt x="0" y="80"/>
                    <a:pt x="0" y="59"/>
                  </a:cubicBezTo>
                  <a:close/>
                  <a:moveTo>
                    <a:pt x="14" y="59"/>
                  </a:moveTo>
                  <a:lnTo>
                    <a:pt x="14" y="59"/>
                  </a:lnTo>
                  <a:cubicBezTo>
                    <a:pt x="14" y="78"/>
                    <a:pt x="16" y="90"/>
                    <a:pt x="21" y="97"/>
                  </a:cubicBezTo>
                  <a:cubicBezTo>
                    <a:pt x="25" y="103"/>
                    <a:pt x="31" y="106"/>
                    <a:pt x="37" y="106"/>
                  </a:cubicBezTo>
                  <a:cubicBezTo>
                    <a:pt x="43" y="106"/>
                    <a:pt x="49" y="103"/>
                    <a:pt x="53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3" y="21"/>
                  </a:cubicBezTo>
                  <a:cubicBezTo>
                    <a:pt x="49" y="15"/>
                    <a:pt x="43" y="12"/>
                    <a:pt x="37" y="12"/>
                  </a:cubicBezTo>
                  <a:cubicBezTo>
                    <a:pt x="30" y="12"/>
                    <a:pt x="25" y="15"/>
                    <a:pt x="21" y="20"/>
                  </a:cubicBezTo>
                  <a:cubicBezTo>
                    <a:pt x="17" y="27"/>
                    <a:pt x="14" y="40"/>
                    <a:pt x="14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CC1052-C12A-C84F-AFA5-047EB2E9D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FFF5EC0-1EA1-B840-A65F-056C87D497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36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3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6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49" y="103"/>
                    <a:pt x="54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4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69026DA-A1E8-9741-83D2-CF676B525E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6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4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7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49" y="103"/>
                    <a:pt x="54" y="96"/>
                  </a:cubicBezTo>
                  <a:cubicBezTo>
                    <a:pt x="58" y="90"/>
                    <a:pt x="60" y="78"/>
                    <a:pt x="60" y="59"/>
                  </a:cubicBezTo>
                  <a:cubicBezTo>
                    <a:pt x="60" y="40"/>
                    <a:pt x="58" y="28"/>
                    <a:pt x="54" y="21"/>
                  </a:cubicBezTo>
                  <a:cubicBezTo>
                    <a:pt x="49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C3A451A-6E36-384D-A5AF-C9D22C86B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8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F85C4EE-2D21-C748-8F00-B55DF64B0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2" y="3821"/>
              <a:ext cx="48" cy="73"/>
            </a:xfrm>
            <a:custGeom>
              <a:avLst/>
              <a:gdLst>
                <a:gd name="T0" fmla="*/ 0 w 76"/>
                <a:gd name="T1" fmla="*/ 14 h 115"/>
                <a:gd name="T2" fmla="*/ 0 w 76"/>
                <a:gd name="T3" fmla="*/ 14 h 115"/>
                <a:gd name="T4" fmla="*/ 3 w 76"/>
                <a:gd name="T5" fmla="*/ 13 h 115"/>
                <a:gd name="T6" fmla="*/ 4 w 76"/>
                <a:gd name="T7" fmla="*/ 16 h 115"/>
                <a:gd name="T8" fmla="*/ 6 w 76"/>
                <a:gd name="T9" fmla="*/ 17 h 115"/>
                <a:gd name="T10" fmla="*/ 8 w 76"/>
                <a:gd name="T11" fmla="*/ 16 h 115"/>
                <a:gd name="T12" fmla="*/ 10 w 76"/>
                <a:gd name="T13" fmla="*/ 12 h 115"/>
                <a:gd name="T14" fmla="*/ 8 w 76"/>
                <a:gd name="T15" fmla="*/ 10 h 115"/>
                <a:gd name="T16" fmla="*/ 6 w 76"/>
                <a:gd name="T17" fmla="*/ 8 h 115"/>
                <a:gd name="T18" fmla="*/ 4 w 76"/>
                <a:gd name="T19" fmla="*/ 9 h 115"/>
                <a:gd name="T20" fmla="*/ 3 w 76"/>
                <a:gd name="T21" fmla="*/ 10 h 115"/>
                <a:gd name="T22" fmla="*/ 1 w 76"/>
                <a:gd name="T23" fmla="*/ 10 h 115"/>
                <a:gd name="T24" fmla="*/ 2 w 76"/>
                <a:gd name="T25" fmla="*/ 0 h 115"/>
                <a:gd name="T26" fmla="*/ 11 w 76"/>
                <a:gd name="T27" fmla="*/ 0 h 115"/>
                <a:gd name="T28" fmla="*/ 11 w 76"/>
                <a:gd name="T29" fmla="*/ 3 h 115"/>
                <a:gd name="T30" fmla="*/ 4 w 76"/>
                <a:gd name="T31" fmla="*/ 3 h 115"/>
                <a:gd name="T32" fmla="*/ 3 w 76"/>
                <a:gd name="T33" fmla="*/ 7 h 115"/>
                <a:gd name="T34" fmla="*/ 6 w 76"/>
                <a:gd name="T35" fmla="*/ 6 h 115"/>
                <a:gd name="T36" fmla="*/ 10 w 76"/>
                <a:gd name="T37" fmla="*/ 8 h 115"/>
                <a:gd name="T38" fmla="*/ 12 w 76"/>
                <a:gd name="T39" fmla="*/ 12 h 115"/>
                <a:gd name="T40" fmla="*/ 11 w 76"/>
                <a:gd name="T41" fmla="*/ 17 h 115"/>
                <a:gd name="T42" fmla="*/ 6 w 76"/>
                <a:gd name="T43" fmla="*/ 18 h 115"/>
                <a:gd name="T44" fmla="*/ 2 w 76"/>
                <a:gd name="T45" fmla="*/ 17 h 115"/>
                <a:gd name="T46" fmla="*/ 0 w 76"/>
                <a:gd name="T47" fmla="*/ 14 h 115"/>
                <a:gd name="T48" fmla="*/ 0 w 76"/>
                <a:gd name="T49" fmla="*/ 14 h 11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6" h="115">
                  <a:moveTo>
                    <a:pt x="0" y="83"/>
                  </a:moveTo>
                  <a:lnTo>
                    <a:pt x="0" y="83"/>
                  </a:lnTo>
                  <a:lnTo>
                    <a:pt x="15" y="82"/>
                  </a:lnTo>
                  <a:cubicBezTo>
                    <a:pt x="16" y="89"/>
                    <a:pt x="18" y="95"/>
                    <a:pt x="22" y="98"/>
                  </a:cubicBezTo>
                  <a:cubicBezTo>
                    <a:pt x="26" y="102"/>
                    <a:pt x="31" y="104"/>
                    <a:pt x="37" y="104"/>
                  </a:cubicBezTo>
                  <a:cubicBezTo>
                    <a:pt x="43" y="104"/>
                    <a:pt x="49" y="101"/>
                    <a:pt x="54" y="96"/>
                  </a:cubicBezTo>
                  <a:cubicBezTo>
                    <a:pt x="58" y="91"/>
                    <a:pt x="61" y="84"/>
                    <a:pt x="61" y="76"/>
                  </a:cubicBezTo>
                  <a:cubicBezTo>
                    <a:pt x="61" y="68"/>
                    <a:pt x="58" y="62"/>
                    <a:pt x="54" y="57"/>
                  </a:cubicBezTo>
                  <a:cubicBezTo>
                    <a:pt x="49" y="52"/>
                    <a:pt x="44" y="50"/>
                    <a:pt x="36" y="50"/>
                  </a:cubicBezTo>
                  <a:cubicBezTo>
                    <a:pt x="32" y="50"/>
                    <a:pt x="28" y="51"/>
                    <a:pt x="24" y="53"/>
                  </a:cubicBezTo>
                  <a:cubicBezTo>
                    <a:pt x="20" y="55"/>
                    <a:pt x="18" y="58"/>
                    <a:pt x="15" y="61"/>
                  </a:cubicBezTo>
                  <a:lnTo>
                    <a:pt x="2" y="59"/>
                  </a:lnTo>
                  <a:lnTo>
                    <a:pt x="13" y="0"/>
                  </a:lnTo>
                  <a:lnTo>
                    <a:pt x="70" y="0"/>
                  </a:lnTo>
                  <a:lnTo>
                    <a:pt x="70" y="14"/>
                  </a:lnTo>
                  <a:lnTo>
                    <a:pt x="25" y="14"/>
                  </a:lnTo>
                  <a:lnTo>
                    <a:pt x="18" y="45"/>
                  </a:lnTo>
                  <a:cubicBezTo>
                    <a:pt x="25" y="40"/>
                    <a:pt x="32" y="38"/>
                    <a:pt x="40" y="38"/>
                  </a:cubicBezTo>
                  <a:cubicBezTo>
                    <a:pt x="50" y="38"/>
                    <a:pt x="58" y="41"/>
                    <a:pt x="65" y="48"/>
                  </a:cubicBezTo>
                  <a:cubicBezTo>
                    <a:pt x="72" y="55"/>
                    <a:pt x="76" y="64"/>
                    <a:pt x="76" y="75"/>
                  </a:cubicBezTo>
                  <a:cubicBezTo>
                    <a:pt x="76" y="85"/>
                    <a:pt x="73" y="94"/>
                    <a:pt x="67" y="102"/>
                  </a:cubicBezTo>
                  <a:cubicBezTo>
                    <a:pt x="59" y="111"/>
                    <a:pt x="49" y="115"/>
                    <a:pt x="37" y="115"/>
                  </a:cubicBezTo>
                  <a:cubicBezTo>
                    <a:pt x="26" y="115"/>
                    <a:pt x="18" y="113"/>
                    <a:pt x="11" y="107"/>
                  </a:cubicBezTo>
                  <a:cubicBezTo>
                    <a:pt x="4" y="101"/>
                    <a:pt x="1" y="93"/>
                    <a:pt x="0" y="8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129FA9A-2634-DE42-BA61-25921A625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9" y="3820"/>
              <a:ext cx="27" cy="73"/>
            </a:xfrm>
            <a:custGeom>
              <a:avLst/>
              <a:gdLst>
                <a:gd name="T0" fmla="*/ 7 w 42"/>
                <a:gd name="T1" fmla="*/ 18 h 115"/>
                <a:gd name="T2" fmla="*/ 7 w 42"/>
                <a:gd name="T3" fmla="*/ 18 h 115"/>
                <a:gd name="T4" fmla="*/ 5 w 42"/>
                <a:gd name="T5" fmla="*/ 18 h 115"/>
                <a:gd name="T6" fmla="*/ 5 w 42"/>
                <a:gd name="T7" fmla="*/ 4 h 115"/>
                <a:gd name="T8" fmla="*/ 3 w 42"/>
                <a:gd name="T9" fmla="*/ 6 h 115"/>
                <a:gd name="T10" fmla="*/ 0 w 42"/>
                <a:gd name="T11" fmla="*/ 7 h 115"/>
                <a:gd name="T12" fmla="*/ 0 w 42"/>
                <a:gd name="T13" fmla="*/ 4 h 115"/>
                <a:gd name="T14" fmla="*/ 3 w 42"/>
                <a:gd name="T15" fmla="*/ 3 h 115"/>
                <a:gd name="T16" fmla="*/ 6 w 42"/>
                <a:gd name="T17" fmla="*/ 0 h 115"/>
                <a:gd name="T18" fmla="*/ 7 w 42"/>
                <a:gd name="T19" fmla="*/ 0 h 115"/>
                <a:gd name="T20" fmla="*/ 7 w 42"/>
                <a:gd name="T21" fmla="*/ 18 h 1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15">
                  <a:moveTo>
                    <a:pt x="42" y="115"/>
                  </a:moveTo>
                  <a:lnTo>
                    <a:pt x="42" y="115"/>
                  </a:lnTo>
                  <a:lnTo>
                    <a:pt x="28" y="115"/>
                  </a:lnTo>
                  <a:lnTo>
                    <a:pt x="28" y="26"/>
                  </a:lnTo>
                  <a:cubicBezTo>
                    <a:pt x="24" y="29"/>
                    <a:pt x="20" y="32"/>
                    <a:pt x="14" y="36"/>
                  </a:cubicBezTo>
                  <a:cubicBezTo>
                    <a:pt x="9" y="39"/>
                    <a:pt x="4" y="41"/>
                    <a:pt x="0" y="43"/>
                  </a:cubicBezTo>
                  <a:lnTo>
                    <a:pt x="0" y="29"/>
                  </a:lnTo>
                  <a:cubicBezTo>
                    <a:pt x="7" y="26"/>
                    <a:pt x="14" y="21"/>
                    <a:pt x="20" y="16"/>
                  </a:cubicBezTo>
                  <a:cubicBezTo>
                    <a:pt x="26" y="11"/>
                    <a:pt x="30" y="5"/>
                    <a:pt x="33" y="0"/>
                  </a:cubicBezTo>
                  <a:lnTo>
                    <a:pt x="42" y="0"/>
                  </a:lnTo>
                  <a:lnTo>
                    <a:pt x="42" y="1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95A67753-6D32-1F4B-BA09-D25C26055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4" y="3883"/>
              <a:ext cx="10" cy="10"/>
            </a:xfrm>
            <a:custGeom>
              <a:avLst/>
              <a:gdLst>
                <a:gd name="T0" fmla="*/ 0 w 16"/>
                <a:gd name="T1" fmla="*/ 3 h 16"/>
                <a:gd name="T2" fmla="*/ 0 w 16"/>
                <a:gd name="T3" fmla="*/ 3 h 16"/>
                <a:gd name="T4" fmla="*/ 0 w 16"/>
                <a:gd name="T5" fmla="*/ 0 h 16"/>
                <a:gd name="T6" fmla="*/ 3 w 16"/>
                <a:gd name="T7" fmla="*/ 0 h 16"/>
                <a:gd name="T8" fmla="*/ 3 w 16"/>
                <a:gd name="T9" fmla="*/ 3 h 16"/>
                <a:gd name="T10" fmla="*/ 0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0" y="1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A11668E-F9CD-924B-9162-DA1A29F3F9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47" y="3820"/>
              <a:ext cx="48" cy="74"/>
            </a:xfrm>
            <a:custGeom>
              <a:avLst/>
              <a:gdLst>
                <a:gd name="T0" fmla="*/ 0 w 75"/>
                <a:gd name="T1" fmla="*/ 9 h 117"/>
                <a:gd name="T2" fmla="*/ 0 w 75"/>
                <a:gd name="T3" fmla="*/ 9 h 117"/>
                <a:gd name="T4" fmla="*/ 1 w 75"/>
                <a:gd name="T5" fmla="*/ 4 h 117"/>
                <a:gd name="T6" fmla="*/ 3 w 75"/>
                <a:gd name="T7" fmla="*/ 1 h 117"/>
                <a:gd name="T8" fmla="*/ 6 w 75"/>
                <a:gd name="T9" fmla="*/ 0 h 117"/>
                <a:gd name="T10" fmla="*/ 9 w 75"/>
                <a:gd name="T11" fmla="*/ 1 h 117"/>
                <a:gd name="T12" fmla="*/ 11 w 75"/>
                <a:gd name="T13" fmla="*/ 3 h 117"/>
                <a:gd name="T14" fmla="*/ 12 w 75"/>
                <a:gd name="T15" fmla="*/ 5 h 117"/>
                <a:gd name="T16" fmla="*/ 13 w 75"/>
                <a:gd name="T17" fmla="*/ 9 h 117"/>
                <a:gd name="T18" fmla="*/ 12 w 75"/>
                <a:gd name="T19" fmla="*/ 15 h 117"/>
                <a:gd name="T20" fmla="*/ 10 w 75"/>
                <a:gd name="T21" fmla="*/ 18 h 117"/>
                <a:gd name="T22" fmla="*/ 6 w 75"/>
                <a:gd name="T23" fmla="*/ 19 h 117"/>
                <a:gd name="T24" fmla="*/ 2 w 75"/>
                <a:gd name="T25" fmla="*/ 17 h 117"/>
                <a:gd name="T26" fmla="*/ 0 w 75"/>
                <a:gd name="T27" fmla="*/ 9 h 117"/>
                <a:gd name="T28" fmla="*/ 0 w 75"/>
                <a:gd name="T29" fmla="*/ 9 h 117"/>
                <a:gd name="T30" fmla="*/ 3 w 75"/>
                <a:gd name="T31" fmla="*/ 9 h 117"/>
                <a:gd name="T32" fmla="*/ 3 w 75"/>
                <a:gd name="T33" fmla="*/ 9 h 117"/>
                <a:gd name="T34" fmla="*/ 3 w 75"/>
                <a:gd name="T35" fmla="*/ 16 h 117"/>
                <a:gd name="T36" fmla="*/ 6 w 75"/>
                <a:gd name="T37" fmla="*/ 17 h 117"/>
                <a:gd name="T38" fmla="*/ 9 w 75"/>
                <a:gd name="T39" fmla="*/ 16 h 117"/>
                <a:gd name="T40" fmla="*/ 10 w 75"/>
                <a:gd name="T41" fmla="*/ 9 h 117"/>
                <a:gd name="T42" fmla="*/ 9 w 75"/>
                <a:gd name="T43" fmla="*/ 3 h 117"/>
                <a:gd name="T44" fmla="*/ 6 w 75"/>
                <a:gd name="T45" fmla="*/ 2 h 117"/>
                <a:gd name="T46" fmla="*/ 4 w 75"/>
                <a:gd name="T47" fmla="*/ 3 h 117"/>
                <a:gd name="T48" fmla="*/ 3 w 75"/>
                <a:gd name="T49" fmla="*/ 9 h 117"/>
                <a:gd name="T50" fmla="*/ 3 w 75"/>
                <a:gd name="T51" fmla="*/ 9 h 1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5" h="117">
                  <a:moveTo>
                    <a:pt x="0" y="59"/>
                  </a:moveTo>
                  <a:lnTo>
                    <a:pt x="0" y="59"/>
                  </a:lnTo>
                  <a:cubicBezTo>
                    <a:pt x="0" y="45"/>
                    <a:pt x="2" y="35"/>
                    <a:pt x="4" y="26"/>
                  </a:cubicBezTo>
                  <a:cubicBezTo>
                    <a:pt x="7" y="18"/>
                    <a:pt x="11" y="12"/>
                    <a:pt x="17" y="7"/>
                  </a:cubicBezTo>
                  <a:cubicBezTo>
                    <a:pt x="22" y="3"/>
                    <a:pt x="29" y="0"/>
                    <a:pt x="38" y="0"/>
                  </a:cubicBezTo>
                  <a:cubicBezTo>
                    <a:pt x="44" y="0"/>
                    <a:pt x="49" y="2"/>
                    <a:pt x="54" y="4"/>
                  </a:cubicBezTo>
                  <a:cubicBezTo>
                    <a:pt x="58" y="7"/>
                    <a:pt x="62" y="10"/>
                    <a:pt x="65" y="15"/>
                  </a:cubicBezTo>
                  <a:cubicBezTo>
                    <a:pt x="68" y="20"/>
                    <a:pt x="71" y="25"/>
                    <a:pt x="72" y="32"/>
                  </a:cubicBezTo>
                  <a:cubicBezTo>
                    <a:pt x="74" y="39"/>
                    <a:pt x="75" y="48"/>
                    <a:pt x="75" y="59"/>
                  </a:cubicBezTo>
                  <a:cubicBezTo>
                    <a:pt x="75" y="72"/>
                    <a:pt x="74" y="83"/>
                    <a:pt x="71" y="92"/>
                  </a:cubicBezTo>
                  <a:cubicBezTo>
                    <a:pt x="68" y="100"/>
                    <a:pt x="64" y="106"/>
                    <a:pt x="58" y="111"/>
                  </a:cubicBezTo>
                  <a:cubicBezTo>
                    <a:pt x="53" y="115"/>
                    <a:pt x="46" y="117"/>
                    <a:pt x="38" y="117"/>
                  </a:cubicBezTo>
                  <a:cubicBezTo>
                    <a:pt x="27" y="117"/>
                    <a:pt x="18" y="113"/>
                    <a:pt x="12" y="106"/>
                  </a:cubicBezTo>
                  <a:cubicBezTo>
                    <a:pt x="4" y="96"/>
                    <a:pt x="0" y="80"/>
                    <a:pt x="0" y="59"/>
                  </a:cubicBezTo>
                  <a:close/>
                  <a:moveTo>
                    <a:pt x="15" y="59"/>
                  </a:moveTo>
                  <a:lnTo>
                    <a:pt x="15" y="59"/>
                  </a:lnTo>
                  <a:cubicBezTo>
                    <a:pt x="15" y="78"/>
                    <a:pt x="17" y="90"/>
                    <a:pt x="21" y="97"/>
                  </a:cubicBezTo>
                  <a:cubicBezTo>
                    <a:pt x="26" y="103"/>
                    <a:pt x="31" y="106"/>
                    <a:pt x="38" y="106"/>
                  </a:cubicBezTo>
                  <a:cubicBezTo>
                    <a:pt x="44" y="106"/>
                    <a:pt x="50" y="103"/>
                    <a:pt x="54" y="96"/>
                  </a:cubicBezTo>
                  <a:cubicBezTo>
                    <a:pt x="58" y="90"/>
                    <a:pt x="61" y="78"/>
                    <a:pt x="61" y="59"/>
                  </a:cubicBezTo>
                  <a:cubicBezTo>
                    <a:pt x="61" y="40"/>
                    <a:pt x="58" y="28"/>
                    <a:pt x="54" y="21"/>
                  </a:cubicBezTo>
                  <a:cubicBezTo>
                    <a:pt x="50" y="15"/>
                    <a:pt x="44" y="12"/>
                    <a:pt x="37" y="12"/>
                  </a:cubicBezTo>
                  <a:cubicBezTo>
                    <a:pt x="31" y="12"/>
                    <a:pt x="26" y="15"/>
                    <a:pt x="22" y="20"/>
                  </a:cubicBezTo>
                  <a:cubicBezTo>
                    <a:pt x="17" y="27"/>
                    <a:pt x="15" y="40"/>
                    <a:pt x="15" y="5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7A8DFF-9415-204D-8992-2B0F08B02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507"/>
              <a:ext cx="0" cy="2082"/>
            </a:xfrm>
            <a:custGeom>
              <a:avLst/>
              <a:gdLst>
                <a:gd name="T0" fmla="*/ 540 h 3264"/>
                <a:gd name="T1" fmla="*/ 540 h 3264"/>
                <a:gd name="T2" fmla="*/ 0 h 3264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3264">
                  <a:moveTo>
                    <a:pt x="0" y="3264"/>
                  </a:moveTo>
                  <a:lnTo>
                    <a:pt x="0" y="3264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5FA1613-3DF9-5D42-967F-DFAD5EACA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3589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8AA779A-009B-9D4B-8515-ED476539E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3069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ED853B8-3C9F-6C43-87CE-494F078C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548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7602237-173C-AF41-8640-3FC4678A3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028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C56CBAC-D8E6-314D-9CF9-DD6CA8A8F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507"/>
              <a:ext cx="61" cy="0"/>
            </a:xfrm>
            <a:custGeom>
              <a:avLst/>
              <a:gdLst>
                <a:gd name="T0" fmla="*/ 16 w 96"/>
                <a:gd name="T1" fmla="*/ 16 w 96"/>
                <a:gd name="T2" fmla="*/ 0 w 96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0" t="0" r="r" b="b"/>
              <a:pathLst>
                <a:path w="96">
                  <a:moveTo>
                    <a:pt x="96" y="0"/>
                  </a:moveTo>
                  <a:lnTo>
                    <a:pt x="96" y="0"/>
                  </a:ln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7DDD4F3-0FB3-7B4A-A7BB-D1F9690A8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3647"/>
              <a:ext cx="9" cy="27"/>
            </a:xfrm>
            <a:custGeom>
              <a:avLst/>
              <a:gdLst>
                <a:gd name="T0" fmla="*/ 3 w 14"/>
                <a:gd name="T1" fmla="*/ 7 h 43"/>
                <a:gd name="T2" fmla="*/ 3 w 14"/>
                <a:gd name="T3" fmla="*/ 7 h 43"/>
                <a:gd name="T4" fmla="*/ 0 w 14"/>
                <a:gd name="T5" fmla="*/ 7 h 43"/>
                <a:gd name="T6" fmla="*/ 0 w 14"/>
                <a:gd name="T7" fmla="*/ 0 h 43"/>
                <a:gd name="T8" fmla="*/ 3 w 14"/>
                <a:gd name="T9" fmla="*/ 0 h 43"/>
                <a:gd name="T10" fmla="*/ 3 w 14"/>
                <a:gd name="T11" fmla="*/ 7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43">
                  <a:moveTo>
                    <a:pt x="14" y="43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8C56BEC-7FF6-C84D-8F65-F502E9C55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3605"/>
              <a:ext cx="73" cy="27"/>
            </a:xfrm>
            <a:custGeom>
              <a:avLst/>
              <a:gdLst>
                <a:gd name="T0" fmla="*/ 18 w 115"/>
                <a:gd name="T1" fmla="*/ 0 h 42"/>
                <a:gd name="T2" fmla="*/ 18 w 115"/>
                <a:gd name="T3" fmla="*/ 0 h 42"/>
                <a:gd name="T4" fmla="*/ 18 w 115"/>
                <a:gd name="T5" fmla="*/ 3 h 42"/>
                <a:gd name="T6" fmla="*/ 4 w 115"/>
                <a:gd name="T7" fmla="*/ 3 h 42"/>
                <a:gd name="T8" fmla="*/ 6 w 115"/>
                <a:gd name="T9" fmla="*/ 5 h 42"/>
                <a:gd name="T10" fmla="*/ 7 w 115"/>
                <a:gd name="T11" fmla="*/ 7 h 42"/>
                <a:gd name="T12" fmla="*/ 4 w 115"/>
                <a:gd name="T13" fmla="*/ 7 h 42"/>
                <a:gd name="T14" fmla="*/ 3 w 115"/>
                <a:gd name="T15" fmla="*/ 4 h 42"/>
                <a:gd name="T16" fmla="*/ 0 w 115"/>
                <a:gd name="T17" fmla="*/ 2 h 42"/>
                <a:gd name="T18" fmla="*/ 0 w 115"/>
                <a:gd name="T19" fmla="*/ 0 h 42"/>
                <a:gd name="T20" fmla="*/ 18 w 115"/>
                <a:gd name="T21" fmla="*/ 0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2">
                  <a:moveTo>
                    <a:pt x="115" y="0"/>
                  </a:moveTo>
                  <a:lnTo>
                    <a:pt x="115" y="0"/>
                  </a:lnTo>
                  <a:lnTo>
                    <a:pt x="115" y="14"/>
                  </a:lnTo>
                  <a:lnTo>
                    <a:pt x="25" y="14"/>
                  </a:lnTo>
                  <a:cubicBezTo>
                    <a:pt x="28" y="18"/>
                    <a:pt x="32" y="22"/>
                    <a:pt x="35" y="27"/>
                  </a:cubicBezTo>
                  <a:cubicBezTo>
                    <a:pt x="38" y="33"/>
                    <a:pt x="40" y="38"/>
                    <a:pt x="42" y="42"/>
                  </a:cubicBezTo>
                  <a:lnTo>
                    <a:pt x="28" y="42"/>
                  </a:lnTo>
                  <a:cubicBezTo>
                    <a:pt x="25" y="34"/>
                    <a:pt x="20" y="28"/>
                    <a:pt x="15" y="22"/>
                  </a:cubicBezTo>
                  <a:cubicBezTo>
                    <a:pt x="10" y="16"/>
                    <a:pt x="5" y="12"/>
                    <a:pt x="0" y="9"/>
                  </a:cubicBez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F302BF2E-AC92-DD4C-A5F9-F21A190D0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567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4D6749B-B749-EA4D-BC55-F12627787D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3507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8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3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35EEE93-2281-DB45-9730-8AE6237F1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3126"/>
              <a:ext cx="9" cy="28"/>
            </a:xfrm>
            <a:custGeom>
              <a:avLst/>
              <a:gdLst>
                <a:gd name="T0" fmla="*/ 3 w 14"/>
                <a:gd name="T1" fmla="*/ 8 h 43"/>
                <a:gd name="T2" fmla="*/ 3 w 14"/>
                <a:gd name="T3" fmla="*/ 8 h 43"/>
                <a:gd name="T4" fmla="*/ 0 w 14"/>
                <a:gd name="T5" fmla="*/ 8 h 43"/>
                <a:gd name="T6" fmla="*/ 0 w 14"/>
                <a:gd name="T7" fmla="*/ 0 h 43"/>
                <a:gd name="T8" fmla="*/ 3 w 14"/>
                <a:gd name="T9" fmla="*/ 0 h 43"/>
                <a:gd name="T10" fmla="*/ 3 w 14"/>
                <a:gd name="T11" fmla="*/ 8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43">
                  <a:moveTo>
                    <a:pt x="14" y="43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F4BE8BB-0F27-144B-9CF9-A36134D7CB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3071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1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8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7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2"/>
                    <a:pt x="91" y="4"/>
                  </a:cubicBezTo>
                  <a:cubicBezTo>
                    <a:pt x="99" y="7"/>
                    <a:pt x="105" y="11"/>
                    <a:pt x="110" y="17"/>
                  </a:cubicBezTo>
                  <a:cubicBezTo>
                    <a:pt x="114" y="22"/>
                    <a:pt x="117" y="29"/>
                    <a:pt x="117" y="38"/>
                  </a:cubicBezTo>
                  <a:cubicBezTo>
                    <a:pt x="117" y="49"/>
                    <a:pt x="113" y="57"/>
                    <a:pt x="105" y="64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8"/>
                  </a:cubicBezTo>
                  <a:cubicBezTo>
                    <a:pt x="105" y="31"/>
                    <a:pt x="102" y="26"/>
                    <a:pt x="96" y="21"/>
                  </a:cubicBezTo>
                  <a:cubicBezTo>
                    <a:pt x="89" y="17"/>
                    <a:pt x="77" y="15"/>
                    <a:pt x="58" y="15"/>
                  </a:cubicBezTo>
                  <a:cubicBezTo>
                    <a:pt x="39" y="15"/>
                    <a:pt x="27" y="17"/>
                    <a:pt x="21" y="21"/>
                  </a:cubicBezTo>
                  <a:cubicBezTo>
                    <a:pt x="14" y="26"/>
                    <a:pt x="11" y="31"/>
                    <a:pt x="11" y="38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F939AC1-34FC-5C40-AFC4-41D0469DF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047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710ADE1-BF11-6243-B488-09F75CF86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985"/>
              <a:ext cx="74" cy="48"/>
            </a:xfrm>
            <a:custGeom>
              <a:avLst/>
              <a:gdLst>
                <a:gd name="T0" fmla="*/ 14 w 115"/>
                <a:gd name="T1" fmla="*/ 12 h 76"/>
                <a:gd name="T2" fmla="*/ 14 w 115"/>
                <a:gd name="T3" fmla="*/ 12 h 76"/>
                <a:gd name="T4" fmla="*/ 14 w 115"/>
                <a:gd name="T5" fmla="*/ 10 h 76"/>
                <a:gd name="T6" fmla="*/ 17 w 115"/>
                <a:gd name="T7" fmla="*/ 8 h 76"/>
                <a:gd name="T8" fmla="*/ 17 w 115"/>
                <a:gd name="T9" fmla="*/ 6 h 76"/>
                <a:gd name="T10" fmla="*/ 16 w 115"/>
                <a:gd name="T11" fmla="*/ 4 h 76"/>
                <a:gd name="T12" fmla="*/ 13 w 115"/>
                <a:gd name="T13" fmla="*/ 3 h 76"/>
                <a:gd name="T14" fmla="*/ 10 w 115"/>
                <a:gd name="T15" fmla="*/ 4 h 76"/>
                <a:gd name="T16" fmla="*/ 9 w 115"/>
                <a:gd name="T17" fmla="*/ 6 h 76"/>
                <a:gd name="T18" fmla="*/ 9 w 115"/>
                <a:gd name="T19" fmla="*/ 8 h 76"/>
                <a:gd name="T20" fmla="*/ 10 w 115"/>
                <a:gd name="T21" fmla="*/ 10 h 76"/>
                <a:gd name="T22" fmla="*/ 10 w 115"/>
                <a:gd name="T23" fmla="*/ 12 h 76"/>
                <a:gd name="T24" fmla="*/ 0 w 115"/>
                <a:gd name="T25" fmla="*/ 10 h 76"/>
                <a:gd name="T26" fmla="*/ 0 w 115"/>
                <a:gd name="T27" fmla="*/ 1 h 76"/>
                <a:gd name="T28" fmla="*/ 2 w 115"/>
                <a:gd name="T29" fmla="*/ 1 h 76"/>
                <a:gd name="T30" fmla="*/ 2 w 115"/>
                <a:gd name="T31" fmla="*/ 8 h 76"/>
                <a:gd name="T32" fmla="*/ 8 w 115"/>
                <a:gd name="T33" fmla="*/ 9 h 76"/>
                <a:gd name="T34" fmla="*/ 6 w 115"/>
                <a:gd name="T35" fmla="*/ 6 h 76"/>
                <a:gd name="T36" fmla="*/ 8 w 115"/>
                <a:gd name="T37" fmla="*/ 2 h 76"/>
                <a:gd name="T38" fmla="*/ 13 w 115"/>
                <a:gd name="T39" fmla="*/ 0 h 76"/>
                <a:gd name="T40" fmla="*/ 17 w 115"/>
                <a:gd name="T41" fmla="*/ 2 h 76"/>
                <a:gd name="T42" fmla="*/ 20 w 115"/>
                <a:gd name="T43" fmla="*/ 6 h 76"/>
                <a:gd name="T44" fmla="*/ 18 w 115"/>
                <a:gd name="T45" fmla="*/ 10 h 76"/>
                <a:gd name="T46" fmla="*/ 14 w 115"/>
                <a:gd name="T47" fmla="*/ 12 h 76"/>
                <a:gd name="T48" fmla="*/ 14 w 115"/>
                <a:gd name="T49" fmla="*/ 12 h 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15" h="76">
                  <a:moveTo>
                    <a:pt x="83" y="76"/>
                  </a:moveTo>
                  <a:lnTo>
                    <a:pt x="83" y="76"/>
                  </a:lnTo>
                  <a:lnTo>
                    <a:pt x="81" y="62"/>
                  </a:lnTo>
                  <a:cubicBezTo>
                    <a:pt x="89" y="60"/>
                    <a:pt x="94" y="58"/>
                    <a:pt x="98" y="54"/>
                  </a:cubicBezTo>
                  <a:cubicBezTo>
                    <a:pt x="101" y="50"/>
                    <a:pt x="103" y="45"/>
                    <a:pt x="103" y="40"/>
                  </a:cubicBezTo>
                  <a:cubicBezTo>
                    <a:pt x="103" y="33"/>
                    <a:pt x="101" y="27"/>
                    <a:pt x="95" y="22"/>
                  </a:cubicBezTo>
                  <a:cubicBezTo>
                    <a:pt x="90" y="18"/>
                    <a:pt x="84" y="15"/>
                    <a:pt x="75" y="15"/>
                  </a:cubicBezTo>
                  <a:cubicBezTo>
                    <a:pt x="67" y="15"/>
                    <a:pt x="61" y="18"/>
                    <a:pt x="56" y="22"/>
                  </a:cubicBezTo>
                  <a:cubicBezTo>
                    <a:pt x="52" y="27"/>
                    <a:pt x="49" y="33"/>
                    <a:pt x="49" y="40"/>
                  </a:cubicBezTo>
                  <a:cubicBezTo>
                    <a:pt x="49" y="44"/>
                    <a:pt x="50" y="48"/>
                    <a:pt x="52" y="52"/>
                  </a:cubicBezTo>
                  <a:cubicBezTo>
                    <a:pt x="54" y="56"/>
                    <a:pt x="57" y="59"/>
                    <a:pt x="60" y="61"/>
                  </a:cubicBezTo>
                  <a:lnTo>
                    <a:pt x="59" y="74"/>
                  </a:lnTo>
                  <a:lnTo>
                    <a:pt x="0" y="63"/>
                  </a:lnTo>
                  <a:lnTo>
                    <a:pt x="0" y="6"/>
                  </a:lnTo>
                  <a:lnTo>
                    <a:pt x="13" y="6"/>
                  </a:lnTo>
                  <a:lnTo>
                    <a:pt x="13" y="52"/>
                  </a:lnTo>
                  <a:lnTo>
                    <a:pt x="44" y="58"/>
                  </a:lnTo>
                  <a:cubicBezTo>
                    <a:pt x="39" y="51"/>
                    <a:pt x="37" y="44"/>
                    <a:pt x="37" y="36"/>
                  </a:cubicBezTo>
                  <a:cubicBezTo>
                    <a:pt x="37" y="26"/>
                    <a:pt x="40" y="18"/>
                    <a:pt x="47" y="11"/>
                  </a:cubicBezTo>
                  <a:cubicBezTo>
                    <a:pt x="54" y="4"/>
                    <a:pt x="63" y="0"/>
                    <a:pt x="74" y="0"/>
                  </a:cubicBezTo>
                  <a:cubicBezTo>
                    <a:pt x="84" y="0"/>
                    <a:pt x="93" y="3"/>
                    <a:pt x="101" y="9"/>
                  </a:cubicBezTo>
                  <a:cubicBezTo>
                    <a:pt x="110" y="17"/>
                    <a:pt x="115" y="27"/>
                    <a:pt x="115" y="40"/>
                  </a:cubicBezTo>
                  <a:cubicBezTo>
                    <a:pt x="115" y="50"/>
                    <a:pt x="112" y="58"/>
                    <a:pt x="106" y="65"/>
                  </a:cubicBezTo>
                  <a:cubicBezTo>
                    <a:pt x="100" y="72"/>
                    <a:pt x="92" y="75"/>
                    <a:pt x="83" y="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6F5014E6-5483-F540-80FF-E9895007B1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568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7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2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841DB98A-A8A3-EC4E-8323-D1CB6619F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543"/>
              <a:ext cx="10" cy="11"/>
            </a:xfrm>
            <a:custGeom>
              <a:avLst/>
              <a:gdLst>
                <a:gd name="T0" fmla="*/ 3 w 16"/>
                <a:gd name="T1" fmla="*/ 3 h 17"/>
                <a:gd name="T2" fmla="*/ 3 w 16"/>
                <a:gd name="T3" fmla="*/ 3 h 17"/>
                <a:gd name="T4" fmla="*/ 0 w 16"/>
                <a:gd name="T5" fmla="*/ 3 h 17"/>
                <a:gd name="T6" fmla="*/ 0 w 16"/>
                <a:gd name="T7" fmla="*/ 0 h 17"/>
                <a:gd name="T8" fmla="*/ 3 w 16"/>
                <a:gd name="T9" fmla="*/ 0 h 17"/>
                <a:gd name="T10" fmla="*/ 3 w 16"/>
                <a:gd name="T11" fmla="*/ 3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7">
                  <a:moveTo>
                    <a:pt x="16" y="17"/>
                  </a:moveTo>
                  <a:lnTo>
                    <a:pt x="16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EF2CA51B-0422-9649-841E-AC90719BBC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482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1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8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7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2"/>
                    <a:pt x="91" y="4"/>
                  </a:cubicBezTo>
                  <a:cubicBezTo>
                    <a:pt x="99" y="7"/>
                    <a:pt x="105" y="11"/>
                    <a:pt x="110" y="17"/>
                  </a:cubicBezTo>
                  <a:cubicBezTo>
                    <a:pt x="114" y="22"/>
                    <a:pt x="117" y="29"/>
                    <a:pt x="117" y="38"/>
                  </a:cubicBezTo>
                  <a:cubicBezTo>
                    <a:pt x="117" y="49"/>
                    <a:pt x="113" y="57"/>
                    <a:pt x="105" y="64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8"/>
                  </a:cubicBezTo>
                  <a:cubicBezTo>
                    <a:pt x="105" y="31"/>
                    <a:pt x="102" y="26"/>
                    <a:pt x="96" y="21"/>
                  </a:cubicBezTo>
                  <a:cubicBezTo>
                    <a:pt x="89" y="17"/>
                    <a:pt x="77" y="15"/>
                    <a:pt x="58" y="15"/>
                  </a:cubicBezTo>
                  <a:cubicBezTo>
                    <a:pt x="39" y="15"/>
                    <a:pt x="27" y="17"/>
                    <a:pt x="21" y="21"/>
                  </a:cubicBezTo>
                  <a:cubicBezTo>
                    <a:pt x="14" y="26"/>
                    <a:pt x="11" y="31"/>
                    <a:pt x="11" y="38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89678B40-0CC1-6F47-90AE-90EEC1D6E6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2047"/>
              <a:ext cx="75" cy="47"/>
            </a:xfrm>
            <a:custGeom>
              <a:avLst/>
              <a:gdLst>
                <a:gd name="T0" fmla="*/ 10 w 117"/>
                <a:gd name="T1" fmla="*/ 12 h 74"/>
                <a:gd name="T2" fmla="*/ 10 w 117"/>
                <a:gd name="T3" fmla="*/ 12 h 74"/>
                <a:gd name="T4" fmla="*/ 4 w 117"/>
                <a:gd name="T5" fmla="*/ 11 h 74"/>
                <a:gd name="T6" fmla="*/ 1 w 117"/>
                <a:gd name="T7" fmla="*/ 10 h 74"/>
                <a:gd name="T8" fmla="*/ 0 w 117"/>
                <a:gd name="T9" fmla="*/ 6 h 74"/>
                <a:gd name="T10" fmla="*/ 1 w 117"/>
                <a:gd name="T11" fmla="*/ 3 h 74"/>
                <a:gd name="T12" fmla="*/ 3 w 117"/>
                <a:gd name="T13" fmla="*/ 2 h 74"/>
                <a:gd name="T14" fmla="*/ 5 w 117"/>
                <a:gd name="T15" fmla="*/ 1 h 74"/>
                <a:gd name="T16" fmla="*/ 10 w 117"/>
                <a:gd name="T17" fmla="*/ 0 h 74"/>
                <a:gd name="T18" fmla="*/ 15 w 117"/>
                <a:gd name="T19" fmla="*/ 1 h 74"/>
                <a:gd name="T20" fmla="*/ 19 w 117"/>
                <a:gd name="T21" fmla="*/ 3 h 74"/>
                <a:gd name="T22" fmla="*/ 20 w 117"/>
                <a:gd name="T23" fmla="*/ 6 h 74"/>
                <a:gd name="T24" fmla="*/ 18 w 117"/>
                <a:gd name="T25" fmla="*/ 10 h 74"/>
                <a:gd name="T26" fmla="*/ 10 w 117"/>
                <a:gd name="T27" fmla="*/ 12 h 74"/>
                <a:gd name="T28" fmla="*/ 10 w 117"/>
                <a:gd name="T29" fmla="*/ 12 h 74"/>
                <a:gd name="T30" fmla="*/ 10 w 117"/>
                <a:gd name="T31" fmla="*/ 10 h 74"/>
                <a:gd name="T32" fmla="*/ 10 w 117"/>
                <a:gd name="T33" fmla="*/ 10 h 74"/>
                <a:gd name="T34" fmla="*/ 17 w 117"/>
                <a:gd name="T35" fmla="*/ 9 h 74"/>
                <a:gd name="T36" fmla="*/ 18 w 117"/>
                <a:gd name="T37" fmla="*/ 6 h 74"/>
                <a:gd name="T38" fmla="*/ 17 w 117"/>
                <a:gd name="T39" fmla="*/ 3 h 74"/>
                <a:gd name="T40" fmla="*/ 10 w 117"/>
                <a:gd name="T41" fmla="*/ 3 h 74"/>
                <a:gd name="T42" fmla="*/ 3 w 117"/>
                <a:gd name="T43" fmla="*/ 3 h 74"/>
                <a:gd name="T44" fmla="*/ 2 w 117"/>
                <a:gd name="T45" fmla="*/ 6 h 74"/>
                <a:gd name="T46" fmla="*/ 3 w 117"/>
                <a:gd name="T47" fmla="*/ 9 h 74"/>
                <a:gd name="T48" fmla="*/ 10 w 117"/>
                <a:gd name="T49" fmla="*/ 10 h 74"/>
                <a:gd name="T50" fmla="*/ 10 w 117"/>
                <a:gd name="T51" fmla="*/ 10 h 7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4">
                  <a:moveTo>
                    <a:pt x="58" y="74"/>
                  </a:moveTo>
                  <a:lnTo>
                    <a:pt x="58" y="74"/>
                  </a:lnTo>
                  <a:cubicBezTo>
                    <a:pt x="45" y="74"/>
                    <a:pt x="34" y="73"/>
                    <a:pt x="26" y="70"/>
                  </a:cubicBezTo>
                  <a:cubicBezTo>
                    <a:pt x="17" y="67"/>
                    <a:pt x="11" y="63"/>
                    <a:pt x="6" y="58"/>
                  </a:cubicBezTo>
                  <a:cubicBezTo>
                    <a:pt x="2" y="52"/>
                    <a:pt x="0" y="45"/>
                    <a:pt x="0" y="37"/>
                  </a:cubicBezTo>
                  <a:cubicBezTo>
                    <a:pt x="0" y="31"/>
                    <a:pt x="1" y="25"/>
                    <a:pt x="3" y="21"/>
                  </a:cubicBezTo>
                  <a:cubicBezTo>
                    <a:pt x="6" y="16"/>
                    <a:pt x="9" y="12"/>
                    <a:pt x="14" y="9"/>
                  </a:cubicBezTo>
                  <a:cubicBezTo>
                    <a:pt x="19" y="6"/>
                    <a:pt x="24" y="4"/>
                    <a:pt x="31" y="2"/>
                  </a:cubicBezTo>
                  <a:cubicBezTo>
                    <a:pt x="38" y="0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4"/>
                    <a:pt x="58" y="74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3"/>
                  </a:cubicBezTo>
                  <a:cubicBezTo>
                    <a:pt x="102" y="49"/>
                    <a:pt x="105" y="43"/>
                    <a:pt x="105" y="37"/>
                  </a:cubicBezTo>
                  <a:cubicBezTo>
                    <a:pt x="105" y="30"/>
                    <a:pt x="102" y="25"/>
                    <a:pt x="96" y="21"/>
                  </a:cubicBezTo>
                  <a:cubicBezTo>
                    <a:pt x="89" y="16"/>
                    <a:pt x="77" y="14"/>
                    <a:pt x="58" y="14"/>
                  </a:cubicBezTo>
                  <a:cubicBezTo>
                    <a:pt x="39" y="14"/>
                    <a:pt x="27" y="16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7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937FC5C3-68D7-764A-B001-8F8983476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022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B0A92B3-5381-224A-BB6A-CC578772B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961"/>
              <a:ext cx="74" cy="48"/>
            </a:xfrm>
            <a:custGeom>
              <a:avLst/>
              <a:gdLst>
                <a:gd name="T0" fmla="*/ 14 w 115"/>
                <a:gd name="T1" fmla="*/ 12 h 76"/>
                <a:gd name="T2" fmla="*/ 14 w 115"/>
                <a:gd name="T3" fmla="*/ 12 h 76"/>
                <a:gd name="T4" fmla="*/ 14 w 115"/>
                <a:gd name="T5" fmla="*/ 10 h 76"/>
                <a:gd name="T6" fmla="*/ 17 w 115"/>
                <a:gd name="T7" fmla="*/ 8 h 76"/>
                <a:gd name="T8" fmla="*/ 17 w 115"/>
                <a:gd name="T9" fmla="*/ 6 h 76"/>
                <a:gd name="T10" fmla="*/ 16 w 115"/>
                <a:gd name="T11" fmla="*/ 4 h 76"/>
                <a:gd name="T12" fmla="*/ 13 w 115"/>
                <a:gd name="T13" fmla="*/ 3 h 76"/>
                <a:gd name="T14" fmla="*/ 10 w 115"/>
                <a:gd name="T15" fmla="*/ 4 h 76"/>
                <a:gd name="T16" fmla="*/ 9 w 115"/>
                <a:gd name="T17" fmla="*/ 6 h 76"/>
                <a:gd name="T18" fmla="*/ 9 w 115"/>
                <a:gd name="T19" fmla="*/ 8 h 76"/>
                <a:gd name="T20" fmla="*/ 10 w 115"/>
                <a:gd name="T21" fmla="*/ 9 h 76"/>
                <a:gd name="T22" fmla="*/ 10 w 115"/>
                <a:gd name="T23" fmla="*/ 11 h 76"/>
                <a:gd name="T24" fmla="*/ 0 w 115"/>
                <a:gd name="T25" fmla="*/ 10 h 76"/>
                <a:gd name="T26" fmla="*/ 0 w 115"/>
                <a:gd name="T27" fmla="*/ 1 h 76"/>
                <a:gd name="T28" fmla="*/ 2 w 115"/>
                <a:gd name="T29" fmla="*/ 1 h 76"/>
                <a:gd name="T30" fmla="*/ 2 w 115"/>
                <a:gd name="T31" fmla="*/ 8 h 76"/>
                <a:gd name="T32" fmla="*/ 8 w 115"/>
                <a:gd name="T33" fmla="*/ 9 h 76"/>
                <a:gd name="T34" fmla="*/ 6 w 115"/>
                <a:gd name="T35" fmla="*/ 6 h 76"/>
                <a:gd name="T36" fmla="*/ 8 w 115"/>
                <a:gd name="T37" fmla="*/ 2 h 76"/>
                <a:gd name="T38" fmla="*/ 13 w 115"/>
                <a:gd name="T39" fmla="*/ 0 h 76"/>
                <a:gd name="T40" fmla="*/ 17 w 115"/>
                <a:gd name="T41" fmla="*/ 2 h 76"/>
                <a:gd name="T42" fmla="*/ 20 w 115"/>
                <a:gd name="T43" fmla="*/ 6 h 76"/>
                <a:gd name="T44" fmla="*/ 18 w 115"/>
                <a:gd name="T45" fmla="*/ 10 h 76"/>
                <a:gd name="T46" fmla="*/ 14 w 115"/>
                <a:gd name="T47" fmla="*/ 12 h 76"/>
                <a:gd name="T48" fmla="*/ 14 w 115"/>
                <a:gd name="T49" fmla="*/ 12 h 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15" h="76">
                  <a:moveTo>
                    <a:pt x="83" y="76"/>
                  </a:moveTo>
                  <a:lnTo>
                    <a:pt x="83" y="76"/>
                  </a:lnTo>
                  <a:lnTo>
                    <a:pt x="81" y="61"/>
                  </a:lnTo>
                  <a:cubicBezTo>
                    <a:pt x="89" y="60"/>
                    <a:pt x="94" y="57"/>
                    <a:pt x="98" y="53"/>
                  </a:cubicBezTo>
                  <a:cubicBezTo>
                    <a:pt x="101" y="49"/>
                    <a:pt x="103" y="45"/>
                    <a:pt x="103" y="39"/>
                  </a:cubicBezTo>
                  <a:cubicBezTo>
                    <a:pt x="103" y="32"/>
                    <a:pt x="101" y="26"/>
                    <a:pt x="95" y="22"/>
                  </a:cubicBezTo>
                  <a:cubicBezTo>
                    <a:pt x="90" y="17"/>
                    <a:pt x="84" y="15"/>
                    <a:pt x="75" y="15"/>
                  </a:cubicBezTo>
                  <a:cubicBezTo>
                    <a:pt x="67" y="15"/>
                    <a:pt x="61" y="17"/>
                    <a:pt x="56" y="22"/>
                  </a:cubicBezTo>
                  <a:cubicBezTo>
                    <a:pt x="52" y="26"/>
                    <a:pt x="49" y="32"/>
                    <a:pt x="49" y="39"/>
                  </a:cubicBezTo>
                  <a:cubicBezTo>
                    <a:pt x="49" y="44"/>
                    <a:pt x="50" y="48"/>
                    <a:pt x="52" y="51"/>
                  </a:cubicBezTo>
                  <a:cubicBezTo>
                    <a:pt x="54" y="55"/>
                    <a:pt x="57" y="58"/>
                    <a:pt x="60" y="60"/>
                  </a:cubicBezTo>
                  <a:lnTo>
                    <a:pt x="59" y="73"/>
                  </a:lnTo>
                  <a:lnTo>
                    <a:pt x="0" y="62"/>
                  </a:lnTo>
                  <a:lnTo>
                    <a:pt x="0" y="5"/>
                  </a:lnTo>
                  <a:lnTo>
                    <a:pt x="13" y="5"/>
                  </a:lnTo>
                  <a:lnTo>
                    <a:pt x="13" y="51"/>
                  </a:lnTo>
                  <a:lnTo>
                    <a:pt x="44" y="57"/>
                  </a:lnTo>
                  <a:cubicBezTo>
                    <a:pt x="39" y="50"/>
                    <a:pt x="37" y="43"/>
                    <a:pt x="37" y="35"/>
                  </a:cubicBezTo>
                  <a:cubicBezTo>
                    <a:pt x="37" y="25"/>
                    <a:pt x="40" y="17"/>
                    <a:pt x="47" y="10"/>
                  </a:cubicBezTo>
                  <a:cubicBezTo>
                    <a:pt x="54" y="3"/>
                    <a:pt x="63" y="0"/>
                    <a:pt x="74" y="0"/>
                  </a:cubicBezTo>
                  <a:cubicBezTo>
                    <a:pt x="84" y="0"/>
                    <a:pt x="93" y="3"/>
                    <a:pt x="101" y="9"/>
                  </a:cubicBezTo>
                  <a:cubicBezTo>
                    <a:pt x="110" y="16"/>
                    <a:pt x="115" y="26"/>
                    <a:pt x="115" y="39"/>
                  </a:cubicBezTo>
                  <a:cubicBezTo>
                    <a:pt x="115" y="49"/>
                    <a:pt x="112" y="58"/>
                    <a:pt x="106" y="64"/>
                  </a:cubicBezTo>
                  <a:cubicBezTo>
                    <a:pt x="100" y="71"/>
                    <a:pt x="92" y="75"/>
                    <a:pt x="83" y="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E4A7A1A6-B76C-DE4F-AB0D-F888079E2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540"/>
              <a:ext cx="73" cy="27"/>
            </a:xfrm>
            <a:custGeom>
              <a:avLst/>
              <a:gdLst>
                <a:gd name="T0" fmla="*/ 18 w 115"/>
                <a:gd name="T1" fmla="*/ 0 h 42"/>
                <a:gd name="T2" fmla="*/ 18 w 115"/>
                <a:gd name="T3" fmla="*/ 0 h 42"/>
                <a:gd name="T4" fmla="*/ 18 w 115"/>
                <a:gd name="T5" fmla="*/ 3 h 42"/>
                <a:gd name="T6" fmla="*/ 4 w 115"/>
                <a:gd name="T7" fmla="*/ 3 h 42"/>
                <a:gd name="T8" fmla="*/ 6 w 115"/>
                <a:gd name="T9" fmla="*/ 5 h 42"/>
                <a:gd name="T10" fmla="*/ 7 w 115"/>
                <a:gd name="T11" fmla="*/ 7 h 42"/>
                <a:gd name="T12" fmla="*/ 4 w 115"/>
                <a:gd name="T13" fmla="*/ 7 h 42"/>
                <a:gd name="T14" fmla="*/ 3 w 115"/>
                <a:gd name="T15" fmla="*/ 4 h 42"/>
                <a:gd name="T16" fmla="*/ 0 w 115"/>
                <a:gd name="T17" fmla="*/ 2 h 42"/>
                <a:gd name="T18" fmla="*/ 0 w 115"/>
                <a:gd name="T19" fmla="*/ 0 h 42"/>
                <a:gd name="T20" fmla="*/ 18 w 115"/>
                <a:gd name="T21" fmla="*/ 0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2">
                  <a:moveTo>
                    <a:pt x="115" y="0"/>
                  </a:moveTo>
                  <a:lnTo>
                    <a:pt x="115" y="0"/>
                  </a:lnTo>
                  <a:lnTo>
                    <a:pt x="115" y="14"/>
                  </a:lnTo>
                  <a:lnTo>
                    <a:pt x="25" y="14"/>
                  </a:lnTo>
                  <a:cubicBezTo>
                    <a:pt x="28" y="18"/>
                    <a:pt x="32" y="22"/>
                    <a:pt x="35" y="28"/>
                  </a:cubicBezTo>
                  <a:cubicBezTo>
                    <a:pt x="38" y="33"/>
                    <a:pt x="40" y="38"/>
                    <a:pt x="42" y="42"/>
                  </a:cubicBezTo>
                  <a:lnTo>
                    <a:pt x="28" y="42"/>
                  </a:lnTo>
                  <a:cubicBezTo>
                    <a:pt x="25" y="35"/>
                    <a:pt x="20" y="28"/>
                    <a:pt x="15" y="22"/>
                  </a:cubicBezTo>
                  <a:cubicBezTo>
                    <a:pt x="10" y="16"/>
                    <a:pt x="5" y="12"/>
                    <a:pt x="0" y="9"/>
                  </a:cubicBez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C4D79B5-BA22-FB43-8DBD-E7B453CBD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502"/>
              <a:ext cx="10" cy="10"/>
            </a:xfrm>
            <a:custGeom>
              <a:avLst/>
              <a:gdLst>
                <a:gd name="T0" fmla="*/ 3 w 16"/>
                <a:gd name="T1" fmla="*/ 3 h 16"/>
                <a:gd name="T2" fmla="*/ 3 w 16"/>
                <a:gd name="T3" fmla="*/ 3 h 16"/>
                <a:gd name="T4" fmla="*/ 0 w 16"/>
                <a:gd name="T5" fmla="*/ 3 h 16"/>
                <a:gd name="T6" fmla="*/ 0 w 16"/>
                <a:gd name="T7" fmla="*/ 0 h 16"/>
                <a:gd name="T8" fmla="*/ 3 w 16"/>
                <a:gd name="T9" fmla="*/ 0 h 16"/>
                <a:gd name="T10" fmla="*/ 3 w 16"/>
                <a:gd name="T11" fmla="*/ 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">
                  <a:moveTo>
                    <a:pt x="16" y="16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FD15CD93-BB76-624F-A422-BC4A9B580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" y="1441"/>
              <a:ext cx="75" cy="48"/>
            </a:xfrm>
            <a:custGeom>
              <a:avLst/>
              <a:gdLst>
                <a:gd name="T0" fmla="*/ 10 w 117"/>
                <a:gd name="T1" fmla="*/ 13 h 75"/>
                <a:gd name="T2" fmla="*/ 10 w 117"/>
                <a:gd name="T3" fmla="*/ 13 h 75"/>
                <a:gd name="T4" fmla="*/ 4 w 117"/>
                <a:gd name="T5" fmla="*/ 12 h 75"/>
                <a:gd name="T6" fmla="*/ 1 w 117"/>
                <a:gd name="T7" fmla="*/ 10 h 75"/>
                <a:gd name="T8" fmla="*/ 0 w 117"/>
                <a:gd name="T9" fmla="*/ 6 h 75"/>
                <a:gd name="T10" fmla="*/ 1 w 117"/>
                <a:gd name="T11" fmla="*/ 3 h 75"/>
                <a:gd name="T12" fmla="*/ 3 w 117"/>
                <a:gd name="T13" fmla="*/ 2 h 75"/>
                <a:gd name="T14" fmla="*/ 5 w 117"/>
                <a:gd name="T15" fmla="*/ 1 h 75"/>
                <a:gd name="T16" fmla="*/ 10 w 117"/>
                <a:gd name="T17" fmla="*/ 0 h 75"/>
                <a:gd name="T18" fmla="*/ 15 w 117"/>
                <a:gd name="T19" fmla="*/ 1 h 75"/>
                <a:gd name="T20" fmla="*/ 19 w 117"/>
                <a:gd name="T21" fmla="*/ 3 h 75"/>
                <a:gd name="T22" fmla="*/ 20 w 117"/>
                <a:gd name="T23" fmla="*/ 6 h 75"/>
                <a:gd name="T24" fmla="*/ 18 w 117"/>
                <a:gd name="T25" fmla="*/ 11 h 75"/>
                <a:gd name="T26" fmla="*/ 10 w 117"/>
                <a:gd name="T27" fmla="*/ 13 h 75"/>
                <a:gd name="T28" fmla="*/ 10 w 117"/>
                <a:gd name="T29" fmla="*/ 13 h 75"/>
                <a:gd name="T30" fmla="*/ 10 w 117"/>
                <a:gd name="T31" fmla="*/ 10 h 75"/>
                <a:gd name="T32" fmla="*/ 10 w 117"/>
                <a:gd name="T33" fmla="*/ 10 h 75"/>
                <a:gd name="T34" fmla="*/ 17 w 117"/>
                <a:gd name="T35" fmla="*/ 9 h 75"/>
                <a:gd name="T36" fmla="*/ 18 w 117"/>
                <a:gd name="T37" fmla="*/ 6 h 75"/>
                <a:gd name="T38" fmla="*/ 17 w 117"/>
                <a:gd name="T39" fmla="*/ 3 h 75"/>
                <a:gd name="T40" fmla="*/ 10 w 117"/>
                <a:gd name="T41" fmla="*/ 3 h 75"/>
                <a:gd name="T42" fmla="*/ 3 w 117"/>
                <a:gd name="T43" fmla="*/ 3 h 75"/>
                <a:gd name="T44" fmla="*/ 2 w 117"/>
                <a:gd name="T45" fmla="*/ 6 h 75"/>
                <a:gd name="T46" fmla="*/ 3 w 117"/>
                <a:gd name="T47" fmla="*/ 9 h 75"/>
                <a:gd name="T48" fmla="*/ 10 w 117"/>
                <a:gd name="T49" fmla="*/ 10 h 75"/>
                <a:gd name="T50" fmla="*/ 10 w 117"/>
                <a:gd name="T51" fmla="*/ 10 h 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7" h="75">
                  <a:moveTo>
                    <a:pt x="58" y="75"/>
                  </a:moveTo>
                  <a:lnTo>
                    <a:pt x="58" y="75"/>
                  </a:lnTo>
                  <a:cubicBezTo>
                    <a:pt x="45" y="75"/>
                    <a:pt x="34" y="73"/>
                    <a:pt x="26" y="70"/>
                  </a:cubicBezTo>
                  <a:cubicBezTo>
                    <a:pt x="17" y="68"/>
                    <a:pt x="11" y="64"/>
                    <a:pt x="6" y="58"/>
                  </a:cubicBezTo>
                  <a:cubicBezTo>
                    <a:pt x="2" y="53"/>
                    <a:pt x="0" y="46"/>
                    <a:pt x="0" y="37"/>
                  </a:cubicBezTo>
                  <a:cubicBezTo>
                    <a:pt x="0" y="31"/>
                    <a:pt x="1" y="26"/>
                    <a:pt x="3" y="21"/>
                  </a:cubicBezTo>
                  <a:cubicBezTo>
                    <a:pt x="6" y="16"/>
                    <a:pt x="9" y="13"/>
                    <a:pt x="14" y="10"/>
                  </a:cubicBezTo>
                  <a:cubicBezTo>
                    <a:pt x="19" y="7"/>
                    <a:pt x="24" y="4"/>
                    <a:pt x="31" y="3"/>
                  </a:cubicBezTo>
                  <a:cubicBezTo>
                    <a:pt x="38" y="1"/>
                    <a:pt x="47" y="0"/>
                    <a:pt x="58" y="0"/>
                  </a:cubicBezTo>
                  <a:cubicBezTo>
                    <a:pt x="72" y="0"/>
                    <a:pt x="83" y="1"/>
                    <a:pt x="91" y="4"/>
                  </a:cubicBezTo>
                  <a:cubicBezTo>
                    <a:pt x="99" y="7"/>
                    <a:pt x="105" y="11"/>
                    <a:pt x="110" y="16"/>
                  </a:cubicBezTo>
                  <a:cubicBezTo>
                    <a:pt x="114" y="22"/>
                    <a:pt x="117" y="29"/>
                    <a:pt x="117" y="37"/>
                  </a:cubicBezTo>
                  <a:cubicBezTo>
                    <a:pt x="117" y="48"/>
                    <a:pt x="113" y="57"/>
                    <a:pt x="105" y="63"/>
                  </a:cubicBezTo>
                  <a:cubicBezTo>
                    <a:pt x="95" y="71"/>
                    <a:pt x="80" y="75"/>
                    <a:pt x="58" y="75"/>
                  </a:cubicBezTo>
                  <a:close/>
                  <a:moveTo>
                    <a:pt x="58" y="60"/>
                  </a:moveTo>
                  <a:lnTo>
                    <a:pt x="58" y="60"/>
                  </a:lnTo>
                  <a:cubicBezTo>
                    <a:pt x="77" y="60"/>
                    <a:pt x="90" y="58"/>
                    <a:pt x="96" y="54"/>
                  </a:cubicBezTo>
                  <a:cubicBezTo>
                    <a:pt x="102" y="49"/>
                    <a:pt x="105" y="44"/>
                    <a:pt x="105" y="37"/>
                  </a:cubicBezTo>
                  <a:cubicBezTo>
                    <a:pt x="105" y="31"/>
                    <a:pt x="102" y="25"/>
                    <a:pt x="96" y="21"/>
                  </a:cubicBezTo>
                  <a:cubicBezTo>
                    <a:pt x="89" y="17"/>
                    <a:pt x="77" y="14"/>
                    <a:pt x="58" y="14"/>
                  </a:cubicBezTo>
                  <a:cubicBezTo>
                    <a:pt x="39" y="14"/>
                    <a:pt x="27" y="17"/>
                    <a:pt x="21" y="21"/>
                  </a:cubicBezTo>
                  <a:cubicBezTo>
                    <a:pt x="14" y="25"/>
                    <a:pt x="11" y="31"/>
                    <a:pt x="11" y="37"/>
                  </a:cubicBezTo>
                  <a:cubicBezTo>
                    <a:pt x="11" y="44"/>
                    <a:pt x="14" y="49"/>
                    <a:pt x="20" y="53"/>
                  </a:cubicBezTo>
                  <a:cubicBezTo>
                    <a:pt x="27" y="58"/>
                    <a:pt x="39" y="60"/>
                    <a:pt x="58" y="6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B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0CF6CCC-A610-1B44-BBDA-C9F18BFDC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424"/>
              <a:ext cx="2617" cy="2249"/>
            </a:xfrm>
            <a:custGeom>
              <a:avLst/>
              <a:gdLst>
                <a:gd name="T0" fmla="*/ 0 w 4102"/>
                <a:gd name="T1" fmla="*/ 584 h 3526"/>
                <a:gd name="T2" fmla="*/ 0 w 4102"/>
                <a:gd name="T3" fmla="*/ 584 h 3526"/>
                <a:gd name="T4" fmla="*/ 679 w 4102"/>
                <a:gd name="T5" fmla="*/ 584 h 3526"/>
                <a:gd name="T6" fmla="*/ 679 w 4102"/>
                <a:gd name="T7" fmla="*/ 0 h 3526"/>
                <a:gd name="T8" fmla="*/ 0 w 4102"/>
                <a:gd name="T9" fmla="*/ 0 h 3526"/>
                <a:gd name="T10" fmla="*/ 0 w 4102"/>
                <a:gd name="T11" fmla="*/ 584 h 35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02" h="3526">
                  <a:moveTo>
                    <a:pt x="0" y="3526"/>
                  </a:moveTo>
                  <a:lnTo>
                    <a:pt x="0" y="3526"/>
                  </a:lnTo>
                  <a:lnTo>
                    <a:pt x="4102" y="3526"/>
                  </a:lnTo>
                  <a:lnTo>
                    <a:pt x="4102" y="0"/>
                  </a:lnTo>
                  <a:lnTo>
                    <a:pt x="0" y="0"/>
                  </a:lnTo>
                  <a:lnTo>
                    <a:pt x="0" y="3526"/>
                  </a:ln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  <p:sp>
          <p:nvSpPr>
            <p:cNvPr id="53" name="Freeform 57">
              <a:extLst>
                <a:ext uri="{FF2B5EF4-FFF2-40B4-BE49-F238E27FC236}">
                  <a16:creationId xmlns:a16="http://schemas.microsoft.com/office/drawing/2014/main" id="{439E67E2-76B1-9042-AB89-EFFDC56A62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09" y="2548"/>
              <a:ext cx="2617" cy="0"/>
            </a:xfrm>
            <a:custGeom>
              <a:avLst/>
              <a:gdLst>
                <a:gd name="T0" fmla="*/ 0 w 4102"/>
                <a:gd name="T1" fmla="*/ 17 w 4102"/>
                <a:gd name="T2" fmla="*/ 26 w 4102"/>
                <a:gd name="T3" fmla="*/ 36 w 4102"/>
                <a:gd name="T4" fmla="*/ 53 w 4102"/>
                <a:gd name="T5" fmla="*/ 62 w 4102"/>
                <a:gd name="T6" fmla="*/ 71 w 4102"/>
                <a:gd name="T7" fmla="*/ 89 w 4102"/>
                <a:gd name="T8" fmla="*/ 97 w 4102"/>
                <a:gd name="T9" fmla="*/ 107 w 4102"/>
                <a:gd name="T10" fmla="*/ 124 w 4102"/>
                <a:gd name="T11" fmla="*/ 133 w 4102"/>
                <a:gd name="T12" fmla="*/ 142 w 4102"/>
                <a:gd name="T13" fmla="*/ 159 w 4102"/>
                <a:gd name="T14" fmla="*/ 168 w 4102"/>
                <a:gd name="T15" fmla="*/ 177 w 4102"/>
                <a:gd name="T16" fmla="*/ 195 w 4102"/>
                <a:gd name="T17" fmla="*/ 204 w 4102"/>
                <a:gd name="T18" fmla="*/ 212 w 4102"/>
                <a:gd name="T19" fmla="*/ 230 w 4102"/>
                <a:gd name="T20" fmla="*/ 239 w 4102"/>
                <a:gd name="T21" fmla="*/ 248 w 4102"/>
                <a:gd name="T22" fmla="*/ 265 w 4102"/>
                <a:gd name="T23" fmla="*/ 274 w 4102"/>
                <a:gd name="T24" fmla="*/ 283 w 4102"/>
                <a:gd name="T25" fmla="*/ 300 w 4102"/>
                <a:gd name="T26" fmla="*/ 309 w 4102"/>
                <a:gd name="T27" fmla="*/ 318 w 4102"/>
                <a:gd name="T28" fmla="*/ 336 w 4102"/>
                <a:gd name="T29" fmla="*/ 345 w 4102"/>
                <a:gd name="T30" fmla="*/ 353 w 4102"/>
                <a:gd name="T31" fmla="*/ 371 w 4102"/>
                <a:gd name="T32" fmla="*/ 380 w 4102"/>
                <a:gd name="T33" fmla="*/ 389 w 4102"/>
                <a:gd name="T34" fmla="*/ 406 w 4102"/>
                <a:gd name="T35" fmla="*/ 415 w 4102"/>
                <a:gd name="T36" fmla="*/ 424 w 4102"/>
                <a:gd name="T37" fmla="*/ 442 w 4102"/>
                <a:gd name="T38" fmla="*/ 451 w 4102"/>
                <a:gd name="T39" fmla="*/ 460 w 4102"/>
                <a:gd name="T40" fmla="*/ 477 w 4102"/>
                <a:gd name="T41" fmla="*/ 486 w 4102"/>
                <a:gd name="T42" fmla="*/ 495 w 4102"/>
                <a:gd name="T43" fmla="*/ 513 w 4102"/>
                <a:gd name="T44" fmla="*/ 522 w 4102"/>
                <a:gd name="T45" fmla="*/ 530 w 4102"/>
                <a:gd name="T46" fmla="*/ 548 w 4102"/>
                <a:gd name="T47" fmla="*/ 557 w 4102"/>
                <a:gd name="T48" fmla="*/ 566 w 4102"/>
                <a:gd name="T49" fmla="*/ 584 w 4102"/>
                <a:gd name="T50" fmla="*/ 592 w 4102"/>
                <a:gd name="T51" fmla="*/ 601 w 4102"/>
                <a:gd name="T52" fmla="*/ 619 w 4102"/>
                <a:gd name="T53" fmla="*/ 628 w 4102"/>
                <a:gd name="T54" fmla="*/ 637 w 4102"/>
                <a:gd name="T55" fmla="*/ 655 w 4102"/>
                <a:gd name="T56" fmla="*/ 663 w 4102"/>
                <a:gd name="T57" fmla="*/ 672 w 410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</a:gdLst>
              <a:ahLst/>
              <a:cxnLst>
                <a:cxn ang="T58">
                  <a:pos x="T0" y="0"/>
                </a:cxn>
                <a:cxn ang="T59">
                  <a:pos x="T1" y="0"/>
                </a:cxn>
                <a:cxn ang="T60">
                  <a:pos x="T2" y="0"/>
                </a:cxn>
                <a:cxn ang="T61">
                  <a:pos x="T3" y="0"/>
                </a:cxn>
                <a:cxn ang="T62">
                  <a:pos x="T4" y="0"/>
                </a:cxn>
                <a:cxn ang="T63">
                  <a:pos x="T5" y="0"/>
                </a:cxn>
                <a:cxn ang="T64">
                  <a:pos x="T6" y="0"/>
                </a:cxn>
                <a:cxn ang="T65">
                  <a:pos x="T7" y="0"/>
                </a:cxn>
                <a:cxn ang="T66">
                  <a:pos x="T8" y="0"/>
                </a:cxn>
                <a:cxn ang="T67">
                  <a:pos x="T9" y="0"/>
                </a:cxn>
                <a:cxn ang="T68">
                  <a:pos x="T10" y="0"/>
                </a:cxn>
                <a:cxn ang="T69">
                  <a:pos x="T11" y="0"/>
                </a:cxn>
                <a:cxn ang="T70">
                  <a:pos x="T12" y="0"/>
                </a:cxn>
                <a:cxn ang="T71">
                  <a:pos x="T13" y="0"/>
                </a:cxn>
                <a:cxn ang="T72">
                  <a:pos x="T14" y="0"/>
                </a:cxn>
                <a:cxn ang="T73">
                  <a:pos x="T15" y="0"/>
                </a:cxn>
                <a:cxn ang="T74">
                  <a:pos x="T16" y="0"/>
                </a:cxn>
                <a:cxn ang="T75">
                  <a:pos x="T17" y="0"/>
                </a:cxn>
                <a:cxn ang="T76">
                  <a:pos x="T18" y="0"/>
                </a:cxn>
                <a:cxn ang="T77">
                  <a:pos x="T19" y="0"/>
                </a:cxn>
                <a:cxn ang="T78">
                  <a:pos x="T20" y="0"/>
                </a:cxn>
                <a:cxn ang="T79">
                  <a:pos x="T21" y="0"/>
                </a:cxn>
                <a:cxn ang="T80">
                  <a:pos x="T22" y="0"/>
                </a:cxn>
                <a:cxn ang="T81">
                  <a:pos x="T23" y="0"/>
                </a:cxn>
                <a:cxn ang="T82">
                  <a:pos x="T24" y="0"/>
                </a:cxn>
                <a:cxn ang="T83">
                  <a:pos x="T25" y="0"/>
                </a:cxn>
                <a:cxn ang="T84">
                  <a:pos x="T26" y="0"/>
                </a:cxn>
                <a:cxn ang="T85">
                  <a:pos x="T27" y="0"/>
                </a:cxn>
                <a:cxn ang="T86">
                  <a:pos x="T28" y="0"/>
                </a:cxn>
                <a:cxn ang="T87">
                  <a:pos x="T29" y="0"/>
                </a:cxn>
                <a:cxn ang="T88">
                  <a:pos x="T30" y="0"/>
                </a:cxn>
                <a:cxn ang="T89">
                  <a:pos x="T31" y="0"/>
                </a:cxn>
                <a:cxn ang="T90">
                  <a:pos x="T32" y="0"/>
                </a:cxn>
                <a:cxn ang="T91">
                  <a:pos x="T33" y="0"/>
                </a:cxn>
                <a:cxn ang="T92">
                  <a:pos x="T34" y="0"/>
                </a:cxn>
                <a:cxn ang="T93">
                  <a:pos x="T35" y="0"/>
                </a:cxn>
                <a:cxn ang="T94">
                  <a:pos x="T36" y="0"/>
                </a:cxn>
                <a:cxn ang="T95">
                  <a:pos x="T37" y="0"/>
                </a:cxn>
                <a:cxn ang="T96">
                  <a:pos x="T38" y="0"/>
                </a:cxn>
                <a:cxn ang="T97">
                  <a:pos x="T39" y="0"/>
                </a:cxn>
                <a:cxn ang="T98">
                  <a:pos x="T40" y="0"/>
                </a:cxn>
                <a:cxn ang="T99">
                  <a:pos x="T41" y="0"/>
                </a:cxn>
                <a:cxn ang="T100">
                  <a:pos x="T42" y="0"/>
                </a:cxn>
                <a:cxn ang="T101">
                  <a:pos x="T43" y="0"/>
                </a:cxn>
                <a:cxn ang="T102">
                  <a:pos x="T44" y="0"/>
                </a:cxn>
                <a:cxn ang="T103">
                  <a:pos x="T45" y="0"/>
                </a:cxn>
                <a:cxn ang="T104">
                  <a:pos x="T46" y="0"/>
                </a:cxn>
                <a:cxn ang="T105">
                  <a:pos x="T47" y="0"/>
                </a:cxn>
                <a:cxn ang="T106">
                  <a:pos x="T48" y="0"/>
                </a:cxn>
                <a:cxn ang="T107">
                  <a:pos x="T49" y="0"/>
                </a:cxn>
                <a:cxn ang="T108">
                  <a:pos x="T50" y="0"/>
                </a:cxn>
                <a:cxn ang="T109">
                  <a:pos x="T51" y="0"/>
                </a:cxn>
                <a:cxn ang="T110">
                  <a:pos x="T52" y="0"/>
                </a:cxn>
                <a:cxn ang="T111">
                  <a:pos x="T53" y="0"/>
                </a:cxn>
                <a:cxn ang="T112">
                  <a:pos x="T54" y="0"/>
                </a:cxn>
                <a:cxn ang="T113">
                  <a:pos x="T55" y="0"/>
                </a:cxn>
                <a:cxn ang="T114">
                  <a:pos x="T56" y="0"/>
                </a:cxn>
                <a:cxn ang="T115">
                  <a:pos x="T57" y="0"/>
                </a:cxn>
              </a:cxnLst>
              <a:rect l="0" t="0" r="r" b="b"/>
              <a:pathLst>
                <a:path w="4102">
                  <a:moveTo>
                    <a:pt x="0" y="0"/>
                  </a:moveTo>
                  <a:lnTo>
                    <a:pt x="0" y="0"/>
                  </a:lnTo>
                  <a:lnTo>
                    <a:pt x="54" y="0"/>
                  </a:lnTo>
                  <a:moveTo>
                    <a:pt x="107" y="0"/>
                  </a:moveTo>
                  <a:lnTo>
                    <a:pt x="107" y="0"/>
                  </a:lnTo>
                  <a:lnTo>
                    <a:pt x="160" y="0"/>
                  </a:lnTo>
                  <a:moveTo>
                    <a:pt x="214" y="0"/>
                  </a:moveTo>
                  <a:lnTo>
                    <a:pt x="214" y="0"/>
                  </a:lnTo>
                  <a:lnTo>
                    <a:pt x="267" y="0"/>
                  </a:lnTo>
                  <a:moveTo>
                    <a:pt x="320" y="0"/>
                  </a:moveTo>
                  <a:lnTo>
                    <a:pt x="320" y="0"/>
                  </a:lnTo>
                  <a:lnTo>
                    <a:pt x="374" y="0"/>
                  </a:lnTo>
                  <a:moveTo>
                    <a:pt x="427" y="0"/>
                  </a:moveTo>
                  <a:lnTo>
                    <a:pt x="427" y="0"/>
                  </a:lnTo>
                  <a:lnTo>
                    <a:pt x="481" y="0"/>
                  </a:lnTo>
                  <a:moveTo>
                    <a:pt x="534" y="0"/>
                  </a:moveTo>
                  <a:lnTo>
                    <a:pt x="534" y="0"/>
                  </a:lnTo>
                  <a:lnTo>
                    <a:pt x="587" y="0"/>
                  </a:lnTo>
                  <a:moveTo>
                    <a:pt x="641" y="0"/>
                  </a:moveTo>
                  <a:lnTo>
                    <a:pt x="641" y="0"/>
                  </a:lnTo>
                  <a:lnTo>
                    <a:pt x="694" y="0"/>
                  </a:lnTo>
                  <a:moveTo>
                    <a:pt x="747" y="0"/>
                  </a:moveTo>
                  <a:lnTo>
                    <a:pt x="747" y="0"/>
                  </a:lnTo>
                  <a:lnTo>
                    <a:pt x="801" y="0"/>
                  </a:lnTo>
                  <a:moveTo>
                    <a:pt x="854" y="0"/>
                  </a:moveTo>
                  <a:lnTo>
                    <a:pt x="854" y="0"/>
                  </a:lnTo>
                  <a:lnTo>
                    <a:pt x="908" y="0"/>
                  </a:lnTo>
                  <a:moveTo>
                    <a:pt x="961" y="0"/>
                  </a:moveTo>
                  <a:lnTo>
                    <a:pt x="961" y="0"/>
                  </a:lnTo>
                  <a:lnTo>
                    <a:pt x="1014" y="0"/>
                  </a:lnTo>
                  <a:moveTo>
                    <a:pt x="1068" y="0"/>
                  </a:moveTo>
                  <a:lnTo>
                    <a:pt x="1068" y="0"/>
                  </a:lnTo>
                  <a:lnTo>
                    <a:pt x="1121" y="0"/>
                  </a:lnTo>
                  <a:moveTo>
                    <a:pt x="1174" y="0"/>
                  </a:moveTo>
                  <a:lnTo>
                    <a:pt x="1174" y="0"/>
                  </a:lnTo>
                  <a:lnTo>
                    <a:pt x="1228" y="0"/>
                  </a:lnTo>
                  <a:moveTo>
                    <a:pt x="1281" y="0"/>
                  </a:moveTo>
                  <a:lnTo>
                    <a:pt x="1281" y="0"/>
                  </a:lnTo>
                  <a:lnTo>
                    <a:pt x="1335" y="0"/>
                  </a:lnTo>
                  <a:moveTo>
                    <a:pt x="1388" y="0"/>
                  </a:moveTo>
                  <a:lnTo>
                    <a:pt x="1388" y="0"/>
                  </a:lnTo>
                  <a:lnTo>
                    <a:pt x="1441" y="0"/>
                  </a:lnTo>
                  <a:moveTo>
                    <a:pt x="1495" y="0"/>
                  </a:moveTo>
                  <a:lnTo>
                    <a:pt x="1495" y="0"/>
                  </a:lnTo>
                  <a:lnTo>
                    <a:pt x="1548" y="0"/>
                  </a:lnTo>
                  <a:moveTo>
                    <a:pt x="1601" y="0"/>
                  </a:moveTo>
                  <a:lnTo>
                    <a:pt x="1601" y="0"/>
                  </a:lnTo>
                  <a:lnTo>
                    <a:pt x="1655" y="0"/>
                  </a:lnTo>
                  <a:moveTo>
                    <a:pt x="1708" y="0"/>
                  </a:moveTo>
                  <a:lnTo>
                    <a:pt x="1708" y="0"/>
                  </a:lnTo>
                  <a:lnTo>
                    <a:pt x="1761" y="0"/>
                  </a:lnTo>
                  <a:moveTo>
                    <a:pt x="1815" y="0"/>
                  </a:moveTo>
                  <a:lnTo>
                    <a:pt x="1815" y="0"/>
                  </a:lnTo>
                  <a:lnTo>
                    <a:pt x="1868" y="0"/>
                  </a:lnTo>
                  <a:moveTo>
                    <a:pt x="1922" y="0"/>
                  </a:moveTo>
                  <a:lnTo>
                    <a:pt x="1922" y="0"/>
                  </a:lnTo>
                  <a:lnTo>
                    <a:pt x="1975" y="0"/>
                  </a:lnTo>
                  <a:moveTo>
                    <a:pt x="2028" y="0"/>
                  </a:moveTo>
                  <a:lnTo>
                    <a:pt x="2028" y="0"/>
                  </a:lnTo>
                  <a:lnTo>
                    <a:pt x="2082" y="0"/>
                  </a:lnTo>
                  <a:moveTo>
                    <a:pt x="2135" y="0"/>
                  </a:moveTo>
                  <a:lnTo>
                    <a:pt x="2135" y="0"/>
                  </a:lnTo>
                  <a:lnTo>
                    <a:pt x="2188" y="0"/>
                  </a:lnTo>
                  <a:moveTo>
                    <a:pt x="2242" y="0"/>
                  </a:moveTo>
                  <a:lnTo>
                    <a:pt x="2242" y="0"/>
                  </a:lnTo>
                  <a:lnTo>
                    <a:pt x="2295" y="0"/>
                  </a:lnTo>
                  <a:moveTo>
                    <a:pt x="2349" y="0"/>
                  </a:moveTo>
                  <a:lnTo>
                    <a:pt x="2349" y="0"/>
                  </a:lnTo>
                  <a:lnTo>
                    <a:pt x="2402" y="0"/>
                  </a:lnTo>
                  <a:moveTo>
                    <a:pt x="2455" y="0"/>
                  </a:moveTo>
                  <a:lnTo>
                    <a:pt x="2455" y="0"/>
                  </a:lnTo>
                  <a:lnTo>
                    <a:pt x="2509" y="0"/>
                  </a:lnTo>
                  <a:moveTo>
                    <a:pt x="2562" y="0"/>
                  </a:moveTo>
                  <a:lnTo>
                    <a:pt x="2562" y="0"/>
                  </a:lnTo>
                  <a:lnTo>
                    <a:pt x="2615" y="0"/>
                  </a:lnTo>
                  <a:moveTo>
                    <a:pt x="2669" y="0"/>
                  </a:moveTo>
                  <a:lnTo>
                    <a:pt x="2669" y="0"/>
                  </a:lnTo>
                  <a:lnTo>
                    <a:pt x="2722" y="0"/>
                  </a:lnTo>
                  <a:moveTo>
                    <a:pt x="2776" y="0"/>
                  </a:moveTo>
                  <a:lnTo>
                    <a:pt x="2776" y="0"/>
                  </a:lnTo>
                  <a:lnTo>
                    <a:pt x="2829" y="0"/>
                  </a:lnTo>
                  <a:moveTo>
                    <a:pt x="2882" y="0"/>
                  </a:moveTo>
                  <a:lnTo>
                    <a:pt x="2882" y="0"/>
                  </a:lnTo>
                  <a:lnTo>
                    <a:pt x="2936" y="0"/>
                  </a:lnTo>
                  <a:moveTo>
                    <a:pt x="2989" y="0"/>
                  </a:moveTo>
                  <a:lnTo>
                    <a:pt x="2989" y="0"/>
                  </a:lnTo>
                  <a:lnTo>
                    <a:pt x="3042" y="0"/>
                  </a:lnTo>
                  <a:moveTo>
                    <a:pt x="3096" y="0"/>
                  </a:moveTo>
                  <a:lnTo>
                    <a:pt x="3096" y="0"/>
                  </a:lnTo>
                  <a:lnTo>
                    <a:pt x="3149" y="0"/>
                  </a:lnTo>
                  <a:moveTo>
                    <a:pt x="3203" y="0"/>
                  </a:moveTo>
                  <a:lnTo>
                    <a:pt x="3203" y="0"/>
                  </a:lnTo>
                  <a:lnTo>
                    <a:pt x="3256" y="0"/>
                  </a:lnTo>
                  <a:moveTo>
                    <a:pt x="3309" y="0"/>
                  </a:moveTo>
                  <a:lnTo>
                    <a:pt x="3309" y="0"/>
                  </a:lnTo>
                  <a:lnTo>
                    <a:pt x="3363" y="0"/>
                  </a:lnTo>
                  <a:moveTo>
                    <a:pt x="3416" y="0"/>
                  </a:moveTo>
                  <a:lnTo>
                    <a:pt x="3416" y="0"/>
                  </a:lnTo>
                  <a:lnTo>
                    <a:pt x="3469" y="0"/>
                  </a:lnTo>
                  <a:moveTo>
                    <a:pt x="3523" y="0"/>
                  </a:moveTo>
                  <a:lnTo>
                    <a:pt x="3523" y="0"/>
                  </a:lnTo>
                  <a:lnTo>
                    <a:pt x="3576" y="0"/>
                  </a:lnTo>
                  <a:moveTo>
                    <a:pt x="3629" y="0"/>
                  </a:moveTo>
                  <a:lnTo>
                    <a:pt x="3629" y="0"/>
                  </a:lnTo>
                  <a:lnTo>
                    <a:pt x="3683" y="0"/>
                  </a:lnTo>
                  <a:moveTo>
                    <a:pt x="3736" y="0"/>
                  </a:moveTo>
                  <a:lnTo>
                    <a:pt x="3736" y="0"/>
                  </a:lnTo>
                  <a:lnTo>
                    <a:pt x="3790" y="0"/>
                  </a:lnTo>
                  <a:moveTo>
                    <a:pt x="3843" y="0"/>
                  </a:moveTo>
                  <a:lnTo>
                    <a:pt x="3843" y="0"/>
                  </a:lnTo>
                  <a:lnTo>
                    <a:pt x="3896" y="0"/>
                  </a:lnTo>
                  <a:moveTo>
                    <a:pt x="3950" y="0"/>
                  </a:moveTo>
                  <a:lnTo>
                    <a:pt x="3950" y="0"/>
                  </a:lnTo>
                  <a:lnTo>
                    <a:pt x="4003" y="0"/>
                  </a:lnTo>
                  <a:moveTo>
                    <a:pt x="4056" y="0"/>
                  </a:moveTo>
                  <a:lnTo>
                    <a:pt x="4056" y="0"/>
                  </a:lnTo>
                  <a:lnTo>
                    <a:pt x="4102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54" name="Ovaal 53">
            <a:extLst>
              <a:ext uri="{FF2B5EF4-FFF2-40B4-BE49-F238E27FC236}">
                <a16:creationId xmlns:a16="http://schemas.microsoft.com/office/drawing/2014/main" id="{60201AD4-AF3E-D442-8AF7-82F9E5DBC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4561" y="4402900"/>
            <a:ext cx="136525" cy="134937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BE" altLang="nl-BE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kstvak 57">
                <a:extLst>
                  <a:ext uri="{FF2B5EF4-FFF2-40B4-BE49-F238E27FC236}">
                    <a16:creationId xmlns:a16="http://schemas.microsoft.com/office/drawing/2014/main" id="{D42B1A8F-42D5-7543-8B3E-4E96FC6F190F}"/>
                  </a:ext>
                </a:extLst>
              </p:cNvPr>
              <p:cNvSpPr txBox="1"/>
              <p:nvPr/>
            </p:nvSpPr>
            <p:spPr>
              <a:xfrm>
                <a:off x="6308731" y="4217085"/>
                <a:ext cx="615656" cy="4500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nl-BE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accPr>
                        <m:e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nl-BE" b="1" dirty="0">
                  <a:solidFill>
                    <a:schemeClr val="tx1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8" name="Tekstvak 57">
                <a:extLst>
                  <a:ext uri="{FF2B5EF4-FFF2-40B4-BE49-F238E27FC236}">
                    <a16:creationId xmlns:a16="http://schemas.microsoft.com/office/drawing/2014/main" id="{D42B1A8F-42D5-7543-8B3E-4E96FC6F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731" y="4217085"/>
                <a:ext cx="615656" cy="4500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Rechte verbindingslijn 55">
            <a:extLst>
              <a:ext uri="{FF2B5EF4-FFF2-40B4-BE49-F238E27FC236}">
                <a16:creationId xmlns:a16="http://schemas.microsoft.com/office/drawing/2014/main" id="{E9542954-3A94-364C-A3C6-710B87160B4C}"/>
              </a:ext>
            </a:extLst>
          </p:cNvPr>
          <p:cNvCxnSpPr>
            <a:cxnSpLocks/>
          </p:cNvCxnSpPr>
          <p:nvPr/>
        </p:nvCxnSpPr>
        <p:spPr>
          <a:xfrm flipV="1">
            <a:off x="6277704" y="2970237"/>
            <a:ext cx="3523594" cy="3019062"/>
          </a:xfrm>
          <a:prstGeom prst="lin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EC406F8-61A7-D542-9D86-15EBB50D1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51</a:t>
            </a:fld>
            <a:endParaRPr lang="nl-BE" dirty="0"/>
          </a:p>
        </p:txBody>
      </p:sp>
      <p:sp>
        <p:nvSpPr>
          <p:cNvPr id="64" name="Ovaal 63">
            <a:extLst>
              <a:ext uri="{FF2B5EF4-FFF2-40B4-BE49-F238E27FC236}">
                <a16:creationId xmlns:a16="http://schemas.microsoft.com/office/drawing/2014/main" id="{CEE5AC7D-B4E6-6F4F-818B-B7C8C58F28D3}"/>
              </a:ext>
            </a:extLst>
          </p:cNvPr>
          <p:cNvSpPr/>
          <p:nvPr/>
        </p:nvSpPr>
        <p:spPr bwMode="auto">
          <a:xfrm>
            <a:off x="8854243" y="3658554"/>
            <a:ext cx="136525" cy="134937"/>
          </a:xfrm>
          <a:prstGeom prst="ellipse">
            <a:avLst/>
          </a:prstGeom>
          <a:solidFill>
            <a:schemeClr val="accent6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nl-BE">
              <a:latin typeface="Times New Roman" pitchFamily="-111" charset="0"/>
            </a:endParaRPr>
          </a:p>
        </p:txBody>
      </p:sp>
      <p:cxnSp>
        <p:nvCxnSpPr>
          <p:cNvPr id="66" name="Rechte verbindingslijn met pijl 65">
            <a:extLst>
              <a:ext uri="{FF2B5EF4-FFF2-40B4-BE49-F238E27FC236}">
                <a16:creationId xmlns:a16="http://schemas.microsoft.com/office/drawing/2014/main" id="{25140C97-2308-3647-8445-74058A55F5C6}"/>
              </a:ext>
            </a:extLst>
          </p:cNvPr>
          <p:cNvCxnSpPr>
            <a:cxnSpLocks noChangeShapeType="1"/>
            <a:endCxn id="54" idx="0"/>
          </p:cNvCxnSpPr>
          <p:nvPr/>
        </p:nvCxnSpPr>
        <p:spPr bwMode="auto">
          <a:xfrm>
            <a:off x="8928849" y="3794604"/>
            <a:ext cx="3975" cy="608296"/>
          </a:xfrm>
          <a:prstGeom prst="straightConnector1">
            <a:avLst/>
          </a:prstGeom>
          <a:noFill/>
          <a:ln w="22225" algn="ctr">
            <a:solidFill>
              <a:schemeClr val="accent6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72936936-B436-5E49-8A6F-EAF23D3ED0B4}"/>
                  </a:ext>
                </a:extLst>
              </p:cNvPr>
              <p:cNvSpPr txBox="1"/>
              <p:nvPr/>
            </p:nvSpPr>
            <p:spPr>
              <a:xfrm>
                <a:off x="8903844" y="3594299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l-BE" i="1" dirty="0">
                  <a:solidFill>
                    <a:schemeClr val="bg1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9" name="Tekstvak 68">
                <a:extLst>
                  <a:ext uri="{FF2B5EF4-FFF2-40B4-BE49-F238E27FC236}">
                    <a16:creationId xmlns:a16="http://schemas.microsoft.com/office/drawing/2014/main" id="{72936936-B436-5E49-8A6F-EAF23D3ED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844" y="3594299"/>
                <a:ext cx="408965" cy="496945"/>
              </a:xfrm>
              <a:prstGeom prst="rect">
                <a:avLst/>
              </a:prstGeom>
              <a:blipFill>
                <a:blip r:embed="rId4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AE8799BE-43AF-AF40-8100-05C82F31ACB8}"/>
                  </a:ext>
                </a:extLst>
              </p:cNvPr>
              <p:cNvSpPr txBox="1"/>
              <p:nvPr/>
            </p:nvSpPr>
            <p:spPr>
              <a:xfrm>
                <a:off x="9031384" y="3934586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160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sz="1600" i="1" smtClean="0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1600" b="0" i="1" smtClean="0">
                                  <a:solidFill>
                                    <a:schemeClr val="accent6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nl-BE" sz="16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nl-BE" sz="1600" b="0" i="1" smtClean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− </m:t>
                      </m:r>
                      <m:acc>
                        <m:accPr>
                          <m:chr m:val="̅"/>
                          <m:ctrlPr>
                            <a:rPr lang="nl-BE" sz="16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accPr>
                        <m:e>
                          <m:r>
                            <a:rPr lang="nl-BE" sz="16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nl-BE" sz="16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0" name="Tekstvak 69">
                <a:extLst>
                  <a:ext uri="{FF2B5EF4-FFF2-40B4-BE49-F238E27FC236}">
                    <a16:creationId xmlns:a16="http://schemas.microsoft.com/office/drawing/2014/main" id="{AE8799BE-43AF-AF40-8100-05C82F31A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84" y="3934586"/>
                <a:ext cx="408965" cy="496945"/>
              </a:xfrm>
              <a:prstGeom prst="rect">
                <a:avLst/>
              </a:prstGeom>
              <a:blipFill>
                <a:blip r:embed="rId5"/>
                <a:stretch>
                  <a:fillRect l="-18182" t="-7500" r="-6363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Rechte verbindingslijn met pijl 66">
            <a:extLst>
              <a:ext uri="{FF2B5EF4-FFF2-40B4-BE49-F238E27FC236}">
                <a16:creationId xmlns:a16="http://schemas.microsoft.com/office/drawing/2014/main" id="{27EFDB0B-1991-2E4D-A2B3-9EC2F1E430F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930443" y="3236281"/>
            <a:ext cx="0" cy="422275"/>
          </a:xfrm>
          <a:prstGeom prst="straightConnector1">
            <a:avLst/>
          </a:prstGeom>
          <a:noFill/>
          <a:ln w="22225" algn="ctr">
            <a:solidFill>
              <a:schemeClr val="accent2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kstvak 67">
                <a:extLst>
                  <a:ext uri="{FF2B5EF4-FFF2-40B4-BE49-F238E27FC236}">
                    <a16:creationId xmlns:a16="http://schemas.microsoft.com/office/drawing/2014/main" id="{3B1A2A4F-8FCE-A440-B06F-F831DAF1BF19}"/>
                  </a:ext>
                </a:extLst>
              </p:cNvPr>
              <p:cNvSpPr txBox="1"/>
              <p:nvPr/>
            </p:nvSpPr>
            <p:spPr>
              <a:xfrm>
                <a:off x="8742504" y="2798497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nl-B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l-BE" i="1" dirty="0">
                  <a:solidFill>
                    <a:schemeClr val="bg1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8" name="Tekstvak 67">
                <a:extLst>
                  <a:ext uri="{FF2B5EF4-FFF2-40B4-BE49-F238E27FC236}">
                    <a16:creationId xmlns:a16="http://schemas.microsoft.com/office/drawing/2014/main" id="{3B1A2A4F-8FCE-A440-B06F-F831DAF1B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2504" y="2798497"/>
                <a:ext cx="408965" cy="4969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kstvak 70">
                <a:extLst>
                  <a:ext uri="{FF2B5EF4-FFF2-40B4-BE49-F238E27FC236}">
                    <a16:creationId xmlns:a16="http://schemas.microsoft.com/office/drawing/2014/main" id="{BA1B6864-246B-8443-A7E8-A922C5DB3C3E}"/>
                  </a:ext>
                </a:extLst>
              </p:cNvPr>
              <p:cNvSpPr txBox="1"/>
              <p:nvPr/>
            </p:nvSpPr>
            <p:spPr>
              <a:xfrm>
                <a:off x="9027077" y="3248129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16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nl-BE" sz="16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nl-BE" sz="16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nl-BE" sz="1600" b="0" i="1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nl-BE" sz="16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nl-BE" sz="1600" b="0" i="1" smtClean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accPr>
                            <m:e>
                              <m:r>
                                <a:rPr lang="nl-BE" sz="1600" b="0" i="1" smtClean="0">
                                  <a:solidFill>
                                    <a:schemeClr val="accent5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nl-BE" sz="16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l-BE" sz="1600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1" name="Tekstvak 70">
                <a:extLst>
                  <a:ext uri="{FF2B5EF4-FFF2-40B4-BE49-F238E27FC236}">
                    <a16:creationId xmlns:a16="http://schemas.microsoft.com/office/drawing/2014/main" id="{BA1B6864-246B-8443-A7E8-A922C5DB3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077" y="3248129"/>
                <a:ext cx="408965" cy="496945"/>
              </a:xfrm>
              <a:prstGeom prst="rect">
                <a:avLst/>
              </a:prstGeom>
              <a:blipFill>
                <a:blip r:embed="rId7"/>
                <a:stretch>
                  <a:fillRect l="-14706" t="-7500" r="-4117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kstvak 73">
            <a:extLst>
              <a:ext uri="{FF2B5EF4-FFF2-40B4-BE49-F238E27FC236}">
                <a16:creationId xmlns:a16="http://schemas.microsoft.com/office/drawing/2014/main" id="{657A98E8-DBC8-DA4A-BAE9-CA53D21AF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4163" y="2444771"/>
            <a:ext cx="10005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600" baseline="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basis SSE</a:t>
            </a:r>
          </a:p>
        </p:txBody>
      </p:sp>
      <p:sp>
        <p:nvSpPr>
          <p:cNvPr id="75" name="Tekstvak 74">
            <a:extLst>
              <a:ext uri="{FF2B5EF4-FFF2-40B4-BE49-F238E27FC236}">
                <a16:creationId xmlns:a16="http://schemas.microsoft.com/office/drawing/2014/main" id="{A03D8772-54AE-6F47-AFEA-7635BBEB0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3207" y="2650869"/>
            <a:ext cx="20003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400" i="1" baseline="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Sum of Squares of Errors</a:t>
            </a:r>
          </a:p>
        </p:txBody>
      </p:sp>
      <p:sp>
        <p:nvSpPr>
          <p:cNvPr id="76" name="Tekstvak 75">
            <a:extLst>
              <a:ext uri="{FF2B5EF4-FFF2-40B4-BE49-F238E27FC236}">
                <a16:creationId xmlns:a16="http://schemas.microsoft.com/office/drawing/2014/main" id="{466BDA38-9353-3947-9A85-64AF70B3F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583" y="3917294"/>
            <a:ext cx="101181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600" baseline="0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basis RSS</a:t>
            </a:r>
          </a:p>
        </p:txBody>
      </p:sp>
      <p:sp>
        <p:nvSpPr>
          <p:cNvPr id="77" name="Tekstvak 76">
            <a:extLst>
              <a:ext uri="{FF2B5EF4-FFF2-40B4-BE49-F238E27FC236}">
                <a16:creationId xmlns:a16="http://schemas.microsoft.com/office/drawing/2014/main" id="{C24BFDA0-B742-9147-937A-561C764AC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1799" y="4131681"/>
            <a:ext cx="22143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400" i="1" baseline="0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Regression Sum of Squares</a:t>
            </a:r>
          </a:p>
        </p:txBody>
      </p:sp>
      <p:sp>
        <p:nvSpPr>
          <p:cNvPr id="65" name="Ovaal 64">
            <a:extLst>
              <a:ext uri="{FF2B5EF4-FFF2-40B4-BE49-F238E27FC236}">
                <a16:creationId xmlns:a16="http://schemas.microsoft.com/office/drawing/2014/main" id="{A81935F9-CF4F-DF4B-B087-595289C50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6724" y="3093406"/>
            <a:ext cx="136525" cy="134937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accent2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BE" altLang="nl-BE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2" name="Rechte verbindingslijn met pijl 71">
            <a:extLst>
              <a:ext uri="{FF2B5EF4-FFF2-40B4-BE49-F238E27FC236}">
                <a16:creationId xmlns:a16="http://schemas.microsoft.com/office/drawing/2014/main" id="{6D7E9919-26EB-B648-90A3-997169B5B11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700300" y="3250046"/>
            <a:ext cx="0" cy="1152854"/>
          </a:xfrm>
          <a:prstGeom prst="straightConnector1">
            <a:avLst/>
          </a:prstGeom>
          <a:noFill/>
          <a:ln w="22225" algn="ctr">
            <a:solidFill>
              <a:schemeClr val="accent3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Tekstvak 72">
            <a:extLst>
              <a:ext uri="{FF2B5EF4-FFF2-40B4-BE49-F238E27FC236}">
                <a16:creationId xmlns:a16="http://schemas.microsoft.com/office/drawing/2014/main" id="{FAE25219-AFB4-3348-9601-911FC6A70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816" y="2985583"/>
            <a:ext cx="8947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400" baseline="0" dirty="0">
                <a:solidFill>
                  <a:schemeClr val="accent3"/>
                </a:solidFill>
                <a:latin typeface="Times New Roman" panose="02020603050405020304" pitchFamily="18" charset="0"/>
              </a:rPr>
              <a:t>basis TSS</a:t>
            </a:r>
          </a:p>
        </p:txBody>
      </p:sp>
      <p:sp>
        <p:nvSpPr>
          <p:cNvPr id="78" name="Tekstvak 77">
            <a:extLst>
              <a:ext uri="{FF2B5EF4-FFF2-40B4-BE49-F238E27FC236}">
                <a16:creationId xmlns:a16="http://schemas.microsoft.com/office/drawing/2014/main" id="{51D5343D-D232-874B-94AF-5537617CC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0496" y="3203070"/>
            <a:ext cx="170360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nl-BE" altLang="nl-BE" sz="1400" i="1" baseline="0" dirty="0">
                <a:solidFill>
                  <a:schemeClr val="accent3"/>
                </a:solidFill>
                <a:latin typeface="Times New Roman" panose="02020603050405020304" pitchFamily="18" charset="0"/>
              </a:rPr>
              <a:t>Total Sum of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kstvak 78">
                <a:extLst>
                  <a:ext uri="{FF2B5EF4-FFF2-40B4-BE49-F238E27FC236}">
                    <a16:creationId xmlns:a16="http://schemas.microsoft.com/office/drawing/2014/main" id="{11FDA259-F644-0449-8E39-224CC171CCF7}"/>
                  </a:ext>
                </a:extLst>
              </p:cNvPr>
              <p:cNvSpPr txBox="1"/>
              <p:nvPr/>
            </p:nvSpPr>
            <p:spPr>
              <a:xfrm>
                <a:off x="7974603" y="3622310"/>
                <a:ext cx="408965" cy="4969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nl-BE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nl-BE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nl-BE" sz="20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nl-BE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accPr>
                        <m:e>
                          <m:r>
                            <a:rPr lang="nl-BE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nl-BE" sz="2000" dirty="0">
                  <a:solidFill>
                    <a:schemeClr val="accent3"/>
                  </a:solidFill>
                  <a:latin typeface="Gotham" panose="02000603040000020004" pitchFamily="2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9" name="Tekstvak 78">
                <a:extLst>
                  <a:ext uri="{FF2B5EF4-FFF2-40B4-BE49-F238E27FC236}">
                    <a16:creationId xmlns:a16="http://schemas.microsoft.com/office/drawing/2014/main" id="{11FDA259-F644-0449-8E39-224CC171C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603" y="3622310"/>
                <a:ext cx="408965" cy="496945"/>
              </a:xfrm>
              <a:prstGeom prst="rect">
                <a:avLst/>
              </a:prstGeom>
              <a:blipFill>
                <a:blip r:embed="rId8"/>
                <a:stretch>
                  <a:fillRect l="-18182" r="-78788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kstvak 80">
                <a:extLst>
                  <a:ext uri="{FF2B5EF4-FFF2-40B4-BE49-F238E27FC236}">
                    <a16:creationId xmlns:a16="http://schemas.microsoft.com/office/drawing/2014/main" id="{3D9BE8E1-135A-5D4D-BEC0-63AFF82199A9}"/>
                  </a:ext>
                </a:extLst>
              </p:cNvPr>
              <p:cNvSpPr txBox="1"/>
              <p:nvPr/>
            </p:nvSpPr>
            <p:spPr>
              <a:xfrm>
                <a:off x="1461231" y="4300485"/>
                <a:ext cx="408965" cy="3874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nl-BE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nl-BE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𝑅</m:t>
                        </m:r>
                      </m:e>
                      <m:sup>
                        <m:r>
                          <a:rPr lang="nl-BE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nl-BE" sz="4400" dirty="0">
                    <a:solidFill>
                      <a:schemeClr val="tx1"/>
                    </a:solidFill>
                    <a:latin typeface="Gotham" panose="02000603040000020004" pitchFamily="2" charset="0"/>
                    <a:ea typeface="Verdana" panose="020B0604030504040204" pitchFamily="34" charset="0"/>
                    <a:cs typeface="Verdana" panose="020B060403050404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sz="4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nl-BE" sz="4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𝑅𝑆𝑆</m:t>
                        </m:r>
                      </m:num>
                      <m:den>
                        <m:r>
                          <a:rPr lang="nl-BE" sz="4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𝑇𝑆𝑆</m:t>
                        </m:r>
                      </m:den>
                    </m:f>
                  </m:oMath>
                </a14:m>
                <a:r>
                  <a:rPr lang="nl-BE" sz="4400" dirty="0">
                    <a:solidFill>
                      <a:schemeClr val="tx1"/>
                    </a:solidFill>
                    <a:latin typeface="Gotham" panose="02000603040000020004" pitchFamily="2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1" name="Tekstvak 80">
                <a:extLst>
                  <a:ext uri="{FF2B5EF4-FFF2-40B4-BE49-F238E27FC236}">
                    <a16:creationId xmlns:a16="http://schemas.microsoft.com/office/drawing/2014/main" id="{3D9BE8E1-135A-5D4D-BEC0-63AFF8219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231" y="4300485"/>
                <a:ext cx="408965" cy="387445"/>
              </a:xfrm>
              <a:prstGeom prst="rect">
                <a:avLst/>
              </a:prstGeom>
              <a:blipFill>
                <a:blip r:embed="rId9"/>
                <a:stretch>
                  <a:fillRect l="-45455" t="-6250" r="-351515" b="-19062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kstvak 54">
            <a:extLst>
              <a:ext uri="{FF2B5EF4-FFF2-40B4-BE49-F238E27FC236}">
                <a16:creationId xmlns:a16="http://schemas.microsoft.com/office/drawing/2014/main" id="{E034BCC7-E475-5E3A-8930-9C96513A9884}"/>
              </a:ext>
            </a:extLst>
          </p:cNvPr>
          <p:cNvSpPr txBox="1"/>
          <p:nvPr/>
        </p:nvSpPr>
        <p:spPr>
          <a:xfrm>
            <a:off x="7325991" y="6380488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sz="1600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Autonome motivatie</a:t>
            </a:r>
          </a:p>
        </p:txBody>
      </p:sp>
      <p:sp>
        <p:nvSpPr>
          <p:cNvPr id="57" name="Tekstvak 56">
            <a:extLst>
              <a:ext uri="{FF2B5EF4-FFF2-40B4-BE49-F238E27FC236}">
                <a16:creationId xmlns:a16="http://schemas.microsoft.com/office/drawing/2014/main" id="{54077257-D117-118D-F22F-4A85BFF8B9AF}"/>
              </a:ext>
            </a:extLst>
          </p:cNvPr>
          <p:cNvSpPr txBox="1"/>
          <p:nvPr/>
        </p:nvSpPr>
        <p:spPr>
          <a:xfrm rot="16200000">
            <a:off x="4629881" y="4320342"/>
            <a:ext cx="2133601" cy="24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NL" sz="1600" dirty="0">
                <a:solidFill>
                  <a:srgbClr val="0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Resultaat Statistiek B</a:t>
            </a:r>
          </a:p>
        </p:txBody>
      </p:sp>
    </p:spTree>
    <p:extLst>
      <p:ext uri="{BB962C8B-B14F-4D97-AF65-F5344CB8AC3E}">
        <p14:creationId xmlns:p14="http://schemas.microsoft.com/office/powerpoint/2010/main" val="6950892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C62ABF-FA98-224C-80D0-32D8EEAF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   egressie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FBF0C84-80EF-D34A-9358-9BF7585BD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52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7D5E720-9E63-0846-9387-C25CBD5C4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Model1 &lt;- lm(Resultaat ~ Autonome_mot, data = StatistiekB)</a:t>
            </a:r>
          </a:p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summary(Model1)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lm(formula = Resultaat ~ Autonome_mot, data = StatistiekB)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Min      1Q  Median      3Q     Max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-3.3142 -0.7346 -0.0244  0.7036  3.4245 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Estimate Std. Error t value Pr(&gt;|t|)   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2.345113   0.275843   8.502 3.43e-16 ***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Autonome_mot 0.144893   0.004531  31.979  &lt; 2e-16 ***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’ 1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1.006 on 414 degrees of freedom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(84 observations deleted due to missingness)</a:t>
            </a:r>
          </a:p>
          <a:p>
            <a:pPr marL="0" indent="0">
              <a:buNone/>
            </a:pPr>
            <a:r>
              <a:rPr lang="nl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0.7118,	Adjusted R-squared:  0.7111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 1023 on 1 and 414 DF,  p-value: &lt; 2.2e-16</a:t>
            </a:r>
          </a:p>
        </p:txBody>
      </p:sp>
      <p:pic>
        <p:nvPicPr>
          <p:cNvPr id="5" name="Picture 2" descr="Afbeeldingsresultaat voor R">
            <a:extLst>
              <a:ext uri="{FF2B5EF4-FFF2-40B4-BE49-F238E27FC236}">
                <a16:creationId xmlns:a16="http://schemas.microsoft.com/office/drawing/2014/main" id="{946DB829-E028-2A41-BAE7-67414F2B4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88" y="662915"/>
            <a:ext cx="504703" cy="50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927DE697-3010-A148-9621-1CA765F6D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18520"/>
              </p:ext>
            </p:extLst>
          </p:nvPr>
        </p:nvGraphicFramePr>
        <p:xfrm>
          <a:off x="10168128" y="207218"/>
          <a:ext cx="1853184" cy="187508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1853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Model schatten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Slope en intercept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Significantie parameters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400" b="1" dirty="0"/>
                        <a:t>Model fit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4590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C62ABF-FA98-224C-80D0-32D8EEAF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   egressie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FBF0C84-80EF-D34A-9358-9BF7585BD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53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7D5E720-9E63-0846-9387-C25CBD5C4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Model1 &lt;- lm(Resultaat ~ Autonome_mot, data = StatistiekB)</a:t>
            </a:r>
          </a:p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summary(Model1)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lm(formula = Resultaat ~ Autonome_mot, data = StatistiekB)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Min      1Q  Median      3Q     Max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-3.3142 -0.7346 -0.0244  0.7036  3.4245 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Estimate Std. Error t value Pr(&gt;|t|)   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2.345113   0.275843   8.502 3.43e-16 ***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Autonome_mot 0.144893   0.004531  31.979  &lt; 2e-16 ***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’ 1</a:t>
            </a:r>
          </a:p>
          <a:p>
            <a:pPr marL="0" indent="0">
              <a:buNone/>
            </a:pPr>
            <a:endParaRPr lang="nl-BE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1.006 on 414 degrees of freedom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(84 observations deleted due to missingness)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0.7118,	Adjusted R-squared:  0.7111 </a:t>
            </a:r>
          </a:p>
          <a:p>
            <a:pPr marL="0" indent="0">
              <a:buNone/>
            </a:pPr>
            <a:r>
              <a:rPr lang="nl-BE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 1023 on 1 and 414 DF,  </a:t>
            </a:r>
            <a:r>
              <a:rPr lang="nl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p-value: &lt; 2.2e-16</a:t>
            </a:r>
          </a:p>
        </p:txBody>
      </p:sp>
      <p:pic>
        <p:nvPicPr>
          <p:cNvPr id="5" name="Picture 2" descr="Afbeeldingsresultaat voor R">
            <a:extLst>
              <a:ext uri="{FF2B5EF4-FFF2-40B4-BE49-F238E27FC236}">
                <a16:creationId xmlns:a16="http://schemas.microsoft.com/office/drawing/2014/main" id="{946DB829-E028-2A41-BAE7-67414F2B4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88" y="662915"/>
            <a:ext cx="504703" cy="50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927DE697-3010-A148-9621-1CA765F6D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363285"/>
              </p:ext>
            </p:extLst>
          </p:nvPr>
        </p:nvGraphicFramePr>
        <p:xfrm>
          <a:off x="10168128" y="207218"/>
          <a:ext cx="1853184" cy="187508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1853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Model schatten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Slope en intercept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Significantie parameters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Model fit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400" b="1" dirty="0"/>
                        <a:t>Significantie model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BE" sz="1200" dirty="0"/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5239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C62ABF-FA98-224C-80D0-32D8EEAF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   egressie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FBF0C84-80EF-D34A-9358-9BF7585BD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54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7D5E720-9E63-0846-9387-C25CBD5C4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plot(StatistiekB$Autonome_mot, StatistiekB$Resultaat,</a:t>
            </a:r>
          </a:p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xlab = "Autonome motivatie", ylab = "Resultaat", col = "blue")</a:t>
            </a:r>
          </a:p>
          <a:p>
            <a:pPr marL="0" indent="0">
              <a:buNone/>
            </a:pPr>
            <a:r>
              <a:rPr lang="nl-BE" sz="12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abline(reg = Model1)</a:t>
            </a:r>
          </a:p>
          <a:p>
            <a:pPr marL="0" indent="0">
              <a:buNone/>
            </a:pPr>
            <a:endParaRPr lang="nl-BE" sz="120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2" descr="Afbeeldingsresultaat voor R">
            <a:extLst>
              <a:ext uri="{FF2B5EF4-FFF2-40B4-BE49-F238E27FC236}">
                <a16:creationId xmlns:a16="http://schemas.microsoft.com/office/drawing/2014/main" id="{946DB829-E028-2A41-BAE7-67414F2B4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88" y="662915"/>
            <a:ext cx="504703" cy="50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927DE697-3010-A148-9621-1CA765F6D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358107"/>
              </p:ext>
            </p:extLst>
          </p:nvPr>
        </p:nvGraphicFramePr>
        <p:xfrm>
          <a:off x="10168128" y="207218"/>
          <a:ext cx="1853184" cy="1875080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1853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Model schatten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Slope en intercept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Significantie parameters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200" dirty="0"/>
                        <a:t>Model fit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algn="ctr"/>
                      <a:r>
                        <a:rPr lang="nl-BE" sz="1200" b="0" dirty="0"/>
                        <a:t>Significantie model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46"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400" b="1" dirty="0"/>
                        <a:t>Visueel voorstellen</a:t>
                      </a:r>
                    </a:p>
                  </a:txBody>
                  <a:tcPr marL="91410" marR="91410" marT="45735" marB="4573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Afbeelding 6">
            <a:extLst>
              <a:ext uri="{FF2B5EF4-FFF2-40B4-BE49-F238E27FC236}">
                <a16:creationId xmlns:a16="http://schemas.microsoft.com/office/drawing/2014/main" id="{DEB5CB8A-210C-3545-A84F-39E31A4D1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857" y="2258842"/>
            <a:ext cx="5918906" cy="3311964"/>
          </a:xfrm>
          <a:prstGeom prst="rect">
            <a:avLst/>
          </a:prstGeom>
        </p:spPr>
      </p:pic>
      <p:sp>
        <p:nvSpPr>
          <p:cNvPr id="8" name="Wolkvormige toelichting 7">
            <a:extLst>
              <a:ext uri="{FF2B5EF4-FFF2-40B4-BE49-F238E27FC236}">
                <a16:creationId xmlns:a16="http://schemas.microsoft.com/office/drawing/2014/main" id="{E9834367-2BE4-8A4B-A3A1-0709D9CB4FD1}"/>
              </a:ext>
            </a:extLst>
          </p:cNvPr>
          <p:cNvSpPr/>
          <p:nvPr/>
        </p:nvSpPr>
        <p:spPr bwMode="auto">
          <a:xfrm>
            <a:off x="7351776" y="4542598"/>
            <a:ext cx="4742688" cy="1694689"/>
          </a:xfrm>
          <a:prstGeom prst="cloudCallout">
            <a:avLst>
              <a:gd name="adj1" fmla="val -74201"/>
              <a:gd name="adj2" fmla="val -216637"/>
            </a:avLst>
          </a:prstGeom>
          <a:solidFill>
            <a:srgbClr val="2A77CF"/>
          </a:solidFill>
          <a:ln>
            <a:solidFill>
              <a:srgbClr val="2A77CF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929DC46-0501-0B49-8238-D99290C54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5672" y="5169778"/>
            <a:ext cx="3850577" cy="4291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11" charset="-128"/>
              </a:defRPr>
            </a:lvl9pPr>
          </a:lstStyle>
          <a:p>
            <a:pPr>
              <a:buFontTx/>
              <a:buNone/>
              <a:defRPr/>
            </a:pPr>
            <a:r>
              <a:rPr lang="nl-BE" sz="1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&gt; plot(Gegevens$x, Gegevens$y)</a:t>
            </a:r>
          </a:p>
          <a:p>
            <a:pPr>
              <a:buFontTx/>
              <a:buNone/>
              <a:defRPr/>
            </a:pPr>
            <a:r>
              <a:rPr lang="nl-BE" sz="1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&gt; abline(reg=Model1</a:t>
            </a:r>
            <a:r>
              <a:rPr lang="nl-BE" sz="1400" kern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ea typeface="ＭＳ Ｐゴシック" charset="-128"/>
                <a:cs typeface="Courier New" pitchFamily="49" charset="0"/>
              </a:rPr>
              <a:t>)</a:t>
            </a:r>
          </a:p>
          <a:p>
            <a:pPr>
              <a:defRPr/>
            </a:pPr>
            <a:endParaRPr lang="nl-BE" sz="14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  <a:p>
            <a:pPr marL="0" indent="0">
              <a:buFontTx/>
              <a:buNone/>
              <a:defRPr/>
            </a:pPr>
            <a:endParaRPr lang="nl-BE" sz="14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  <a:p>
            <a:pPr>
              <a:defRPr/>
            </a:pPr>
            <a:endParaRPr lang="nl-NL" sz="1400" b="1" kern="0" baseline="0" dirty="0">
              <a:latin typeface="Courier New" panose="02070309020205020404" pitchFamily="49" charset="0"/>
              <a:ea typeface="ＭＳ Ｐゴシック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119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55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Bivariate regressieanalyse samengevat…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64313" y="2272145"/>
            <a:ext cx="5365090" cy="3965142"/>
          </a:xfrm>
        </p:spPr>
        <p:txBody>
          <a:bodyPr/>
          <a:lstStyle/>
          <a:p>
            <a:r>
              <a:rPr lang="nl-BE" dirty="0"/>
              <a:t>Intercept + slope</a:t>
            </a:r>
          </a:p>
          <a:p>
            <a:r>
              <a:rPr lang="nl-BE" dirty="0"/>
              <a:t>Statistische significantie parameters?</a:t>
            </a:r>
          </a:p>
          <a:p>
            <a:r>
              <a:rPr lang="nl-BE" dirty="0"/>
              <a:t>Model fit? (</a:t>
            </a:r>
            <a:r>
              <a:rPr lang="nl-BE" i="1" dirty="0"/>
              <a:t>R</a:t>
            </a:r>
            <a:r>
              <a:rPr lang="nl-BE" i="1" baseline="30000" dirty="0"/>
              <a:t>2</a:t>
            </a:r>
            <a:r>
              <a:rPr lang="nl-BE" dirty="0"/>
              <a:t>)</a:t>
            </a:r>
          </a:p>
          <a:p>
            <a:r>
              <a:rPr lang="nl-BE" dirty="0"/>
              <a:t>Statistische significantie model?</a:t>
            </a:r>
          </a:p>
          <a:p>
            <a:r>
              <a:rPr lang="nl-BE" dirty="0"/>
              <a:t>(Visualisatie a.d.h.v. scatterplot met regressielijn)</a:t>
            </a:r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02CB0FD9-9CCA-654F-A7ED-877FDBB83B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t="-37075" b="-37075"/>
          <a:stretch/>
        </p:blipFill>
        <p:spPr>
          <a:xfrm>
            <a:off x="623889" y="620713"/>
            <a:ext cx="5145732" cy="5616575"/>
          </a:xfrm>
          <a:solidFill>
            <a:schemeClr val="accent4"/>
          </a:solidFill>
        </p:spPr>
      </p:pic>
    </p:spTree>
    <p:extLst>
      <p:ext uri="{BB962C8B-B14F-4D97-AF65-F5344CB8AC3E}">
        <p14:creationId xmlns:p14="http://schemas.microsoft.com/office/powerpoint/2010/main" val="3015256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B22E76-2806-584A-A6BE-AB07F6EE2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Huiswerk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233C605-2ED2-F44A-A358-6A35CD7A3F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56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913B50C-7025-3A46-B273-07690D17F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Hoofdstuk rond meervoudige regressieanalyse en assumpties bij regressieanalyse doornemen</a:t>
            </a:r>
          </a:p>
          <a:p>
            <a:r>
              <a:rPr lang="nl-BE" dirty="0"/>
              <a:t>Bijhorende videolessen bekijken</a:t>
            </a:r>
          </a:p>
          <a:p>
            <a:r>
              <a:rPr lang="nl-BE" dirty="0"/>
              <a:t>Script!</a:t>
            </a:r>
          </a:p>
          <a:p>
            <a:endParaRPr lang="nl-BE" dirty="0"/>
          </a:p>
          <a:p>
            <a:r>
              <a:rPr lang="nl-BE" dirty="0"/>
              <a:t>ZSO 5 en 6</a:t>
            </a:r>
          </a:p>
        </p:txBody>
      </p:sp>
    </p:spTree>
    <p:extLst>
      <p:ext uri="{BB962C8B-B14F-4D97-AF65-F5344CB8AC3E}">
        <p14:creationId xmlns:p14="http://schemas.microsoft.com/office/powerpoint/2010/main" val="161828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6FC219E-2B52-8B46-BCE5-D6ECF9B24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57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D75492-2D3D-2347-964F-1B7AC12D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444CAC1-9DC2-6147-B2F3-EFB051D818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BE" dirty="0"/>
              <a:t>Virtuele oefenruimtes</a:t>
            </a:r>
          </a:p>
          <a:p>
            <a:r>
              <a:rPr lang="nl-BE" dirty="0"/>
              <a:t>Individueel oefenen </a:t>
            </a:r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47588DA9-5F49-F746-B1D9-BBA874481F4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-300680" b="-300680"/>
          <a:stretch/>
        </p:blipFill>
        <p:spPr/>
      </p:pic>
    </p:spTree>
    <p:extLst>
      <p:ext uri="{BB962C8B-B14F-4D97-AF65-F5344CB8AC3E}">
        <p14:creationId xmlns:p14="http://schemas.microsoft.com/office/powerpoint/2010/main" val="4236631438"/>
      </p:ext>
    </p:extLst>
  </p:cSld>
  <p:clrMapOvr>
    <a:masterClrMapping/>
  </p:clrMapOvr>
</p:sld>
</file>

<file path=ppt/theme/theme1.xml><?xml version="1.0" encoding="utf-8"?>
<a:theme xmlns:a="http://schemas.openxmlformats.org/drawingml/2006/main" name="UAntwerpen-inhoud">
  <a:themeElements>
    <a:clrScheme name="Kleuren_universiteitAntwerpen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EA2C38"/>
      </a:accent2>
      <a:accent3>
        <a:srgbClr val="44B8F3"/>
      </a:accent3>
      <a:accent4>
        <a:srgbClr val="ADA500"/>
      </a:accent4>
      <a:accent5>
        <a:srgbClr val="AC242A"/>
      </a:accent5>
      <a:accent6>
        <a:srgbClr val="65A812"/>
      </a:accent6>
      <a:hlink>
        <a:srgbClr val="006CA9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xtLst>
          <a:ext uri="{91240B29-F687-4f45-9708-019B960494DF}">
            <a14:hiddenLine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180000" tIns="180000" rIns="180000" bIns="180000" anchor="ctr"/>
      <a:lstStyle>
        <a:defPPr marL="179388" indent="-179388">
          <a:spcAft>
            <a:spcPts val="450"/>
          </a:spcAft>
          <a:buFont typeface="Arial" charset="0"/>
          <a:buChar char="•"/>
          <a:defRPr sz="1600" dirty="0">
            <a:latin typeface="Verdana" charset="0"/>
            <a:ea typeface="Verdana Regular" charset="0"/>
            <a:cs typeface="Verdana Regular" charset="0"/>
            <a:sym typeface="Securitas Sans Light" charset="0"/>
          </a:defRPr>
        </a:defPPr>
      </a:lstStyle>
    </a:spDef>
    <a:lnDef>
      <a:spPr>
        <a:ln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2800" b="1" dirty="0">
            <a:solidFill>
              <a:schemeClr val="bg1"/>
            </a:solidFill>
            <a:latin typeface="Gotham" panose="02000603040000020004" pitchFamily="2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dp_powerpoint" id="{FEF18948-FC9D-1340-AA00-430FBBA861E5}" vid="{591CA67A-998E-6049-B579-1B92244B0BFA}"/>
    </a:ext>
  </a:extLst>
</a:theme>
</file>

<file path=ppt/theme/theme2.xml><?xml version="1.0" encoding="utf-8"?>
<a:theme xmlns:a="http://schemas.openxmlformats.org/drawingml/2006/main" name="UAntwerpen_titelslide">
  <a:themeElements>
    <a:clrScheme name="Kleuren_universiteitAntwerpen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EA2C38"/>
      </a:accent2>
      <a:accent3>
        <a:srgbClr val="44B8F3"/>
      </a:accent3>
      <a:accent4>
        <a:srgbClr val="ADA500"/>
      </a:accent4>
      <a:accent5>
        <a:srgbClr val="AC242A"/>
      </a:accent5>
      <a:accent6>
        <a:srgbClr val="65A812"/>
      </a:accent6>
      <a:hlink>
        <a:srgbClr val="006CA9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3E4096B1224744B14B28F94E3FEB1B" ma:contentTypeVersion="8" ma:contentTypeDescription="Een nieuw document maken." ma:contentTypeScope="" ma:versionID="dd69ad4b946f0bf0a6a24c2874057b2a">
  <xsd:schema xmlns:xsd="http://www.w3.org/2001/XMLSchema" xmlns:xs="http://www.w3.org/2001/XMLSchema" xmlns:p="http://schemas.microsoft.com/office/2006/metadata/properties" xmlns:ns2="6b30ab21-c247-4d68-a057-2d2e000e95f9" targetNamespace="http://schemas.microsoft.com/office/2006/metadata/properties" ma:root="true" ma:fieldsID="89681776de429ea430604d1296cc4f75" ns2:_="">
    <xsd:import namespace="6b30ab21-c247-4d68-a057-2d2e000e9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30ab21-c247-4d68-a057-2d2e000e9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6F64033-C93B-473D-A003-5A50047DAE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30ab21-c247-4d68-a057-2d2e000e9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B9CE59-5EAD-4028-B644-D15F631B81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D0706A-AC24-4388-8FEC-96752209316E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6b30ab21-c247-4d68-a057-2d2e000e95f9"/>
    <ds:schemaRef ds:uri="http://purl.org/dc/dcmitype/"/>
    <ds:schemaRef ds:uri="http://purl.org/dc/terms/"/>
    <ds:schemaRef ds:uri="http://www.w3.org/XML/1998/namespace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vdp_powerpoint</Template>
  <TotalTime>10949</TotalTime>
  <Words>3070</Words>
  <Application>Microsoft Macintosh PowerPoint</Application>
  <PresentationFormat>Breedbeeld</PresentationFormat>
  <Paragraphs>820</Paragraphs>
  <Slides>57</Slides>
  <Notes>54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15</vt:i4>
      </vt:variant>
      <vt:variant>
        <vt:lpstr>Thema</vt:lpstr>
      </vt:variant>
      <vt:variant>
        <vt:i4>2</vt:i4>
      </vt:variant>
      <vt:variant>
        <vt:lpstr>Ingesloten OLE-bronprogramma's</vt:lpstr>
      </vt:variant>
      <vt:variant>
        <vt:i4>2</vt:i4>
      </vt:variant>
      <vt:variant>
        <vt:lpstr>Diatitels</vt:lpstr>
      </vt:variant>
      <vt:variant>
        <vt:i4>57</vt:i4>
      </vt:variant>
    </vt:vector>
  </HeadingPairs>
  <TitlesOfParts>
    <vt:vector size="76" baseType="lpstr">
      <vt:lpstr>ＭＳ Ｐゴシック</vt:lpstr>
      <vt:lpstr>Arial</vt:lpstr>
      <vt:lpstr>Calibri</vt:lpstr>
      <vt:lpstr>Calibri Light</vt:lpstr>
      <vt:lpstr>Cambria</vt:lpstr>
      <vt:lpstr>Cambria Math</vt:lpstr>
      <vt:lpstr>Courier New</vt:lpstr>
      <vt:lpstr>Gotham</vt:lpstr>
      <vt:lpstr>ITC Officina Sans Std Book</vt:lpstr>
      <vt:lpstr>StarSymbol</vt:lpstr>
      <vt:lpstr>Symbol</vt:lpstr>
      <vt:lpstr>Times New Roman</vt:lpstr>
      <vt:lpstr>Trebuchet MS</vt:lpstr>
      <vt:lpstr>Verdana</vt:lpstr>
      <vt:lpstr>Wingdings</vt:lpstr>
      <vt:lpstr>UAntwerpen-inhoud</vt:lpstr>
      <vt:lpstr>UAntwerpen_titelslide</vt:lpstr>
      <vt:lpstr>Vergelijking</vt:lpstr>
      <vt:lpstr>Werkblad</vt:lpstr>
      <vt:lpstr>Statistiek B – contactmoment 3</vt:lpstr>
      <vt:lpstr>PowerPoint-presentatie</vt:lpstr>
      <vt:lpstr>Te.   ugblik   </vt:lpstr>
      <vt:lpstr>Die verdomde p-waarde…</vt:lpstr>
      <vt:lpstr>Conclusies?</vt:lpstr>
      <vt:lpstr>Correlaties</vt:lpstr>
      <vt:lpstr>Tussen welke variabelen kan je een correlatie nagaan?</vt:lpstr>
      <vt:lpstr>Tussen welke variabelen kan je een correlatie nagaan?</vt:lpstr>
      <vt:lpstr>Visueel nagaan van een verband</vt:lpstr>
      <vt:lpstr>Richting en sterkte van een verband</vt:lpstr>
      <vt:lpstr>Voorbeelden?</vt:lpstr>
      <vt:lpstr>Voorbeelden?</vt:lpstr>
      <vt:lpstr>Principe achter covariantie</vt:lpstr>
      <vt:lpstr>Principe achter covariantie</vt:lpstr>
      <vt:lpstr>Principe achter covariantie</vt:lpstr>
      <vt:lpstr>Principe achter covariantie</vt:lpstr>
      <vt:lpstr>Principe achter covariantie</vt:lpstr>
      <vt:lpstr>Interpretatie van covariantie</vt:lpstr>
      <vt:lpstr>Interpretatie van covariantie</vt:lpstr>
      <vt:lpstr>Pearson correlatie (rxy)</vt:lpstr>
      <vt:lpstr>Pearson correlatie (rxy)</vt:lpstr>
      <vt:lpstr>Interpretatie effectgrootte</vt:lpstr>
      <vt:lpstr>Veel correlaties in R  (OLP2 functies)</vt:lpstr>
      <vt:lpstr>Veel correlaties plotten in R</vt:lpstr>
      <vt:lpstr>Correlaties samengevat…</vt:lpstr>
      <vt:lpstr>Bivariate regressieanalyse</vt:lpstr>
      <vt:lpstr>Een voorbeeld</vt:lpstr>
      <vt:lpstr>Correlatie</vt:lpstr>
      <vt:lpstr>Functies</vt:lpstr>
      <vt:lpstr>Functies</vt:lpstr>
      <vt:lpstr>Functies</vt:lpstr>
      <vt:lpstr>Functies</vt:lpstr>
      <vt:lpstr>Functies</vt:lpstr>
      <vt:lpstr>Functies</vt:lpstr>
      <vt:lpstr>Functies</vt:lpstr>
      <vt:lpstr>Functies: exact</vt:lpstr>
      <vt:lpstr>Functies: INexact verband</vt:lpstr>
      <vt:lpstr>Terug naar ons voorbeeld…</vt:lpstr>
      <vt:lpstr>Welke functie past het best?</vt:lpstr>
      <vt:lpstr>Welke functie past het best?</vt:lpstr>
      <vt:lpstr>Welke functie past het best?</vt:lpstr>
      <vt:lpstr>   egressie</vt:lpstr>
      <vt:lpstr>   egressie</vt:lpstr>
      <vt:lpstr>   egressie</vt:lpstr>
      <vt:lpstr>Hoe goed is het model?</vt:lpstr>
      <vt:lpstr>Hoe goed is het model?</vt:lpstr>
      <vt:lpstr>Hoe goed is het model?</vt:lpstr>
      <vt:lpstr>Hoe goed is het model?</vt:lpstr>
      <vt:lpstr>Hoe goed is het model?</vt:lpstr>
      <vt:lpstr>Hoe goed is het model?</vt:lpstr>
      <vt:lpstr>Hoe goed is het model?</vt:lpstr>
      <vt:lpstr>   egressie</vt:lpstr>
      <vt:lpstr>   egressie</vt:lpstr>
      <vt:lpstr>   egressie</vt:lpstr>
      <vt:lpstr>Bivariate regressieanalyse samengevat…</vt:lpstr>
      <vt:lpstr>Huiswerk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Sven De Maeyer</cp:lastModifiedBy>
  <cp:revision>251</cp:revision>
  <cp:lastPrinted>2021-02-10T11:32:39Z</cp:lastPrinted>
  <dcterms:created xsi:type="dcterms:W3CDTF">2020-12-07T09:05:54Z</dcterms:created>
  <dcterms:modified xsi:type="dcterms:W3CDTF">2026-02-24T18:55:39Z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0x010100D33E4096B1224744B14B28F94E3FEB1B</vt:lpwstr>
  </property>
</Properties>
</file>